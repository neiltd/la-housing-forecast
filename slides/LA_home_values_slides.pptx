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Hi everyone. We forecast home values in the Los Angeles metro, using Zillow's monthly index from 2000 to August 2026. The line shows the whole story: a boom and bust in the 2000s, a long recovery, a pandemic surge, then a stall. Our question: how well can we forecast LA home values up to a year ahead, and what works best? We compare traditional time-series models with an alternative many people now try first: asking an AI chatbot. From here on we just say AI, or LLM. We asked each one through its API, one fresh question at a time, with no conversation history.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From 2000 to 2026, LA home values grew about 5.6 percent a year on average, with a 39 percent crash from 2006 to 2012. The typical home is worth about 952 thousand dollars, 1.3 percent below the January 2025 peak. The orange line takes out inflation: in today's dollars, LA is about 7 percent below its 2022 peak, not 1 percent. The bottom panel shows why this is a hard test: the 30-year mortgage rate went from 2.7 percent in 2021 to 7.6 percent in 2023, and the shaded test window runs right through that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That history gives us a difficult forecasting test. Our data: the Zillow index, about 500 neighborhoods, the mortgage rate, and payroll jobs for LA and Orange County. We compared fourteen models, from a simple naive-drift benchmark to neural networks and Amazon's Chronos foundation model, plus three AI models. Every model setting, including the mortgage-rate lag, was chosen on training data only. Our main test is a rolling-origin test: we repeat a twelve-month forecast at eighteen start dates, every three months. The score is the average absolute percentage error across those months and dates. Lower is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ARIMAX, which is ARIMA plus the mortgage rate, had the lowest average error, 2.67 percent, just ahead of plain ARIMA at 2.77. The gap is small. Neural networks landed in the middle, tree models lower, and Prophet had the highest error in our test. The ranking holds in dollars too. One honest point: at twelve months ahead, ARIMAX and naive drift, which just extends the historical average growth, both have errors of about five percent: 5.0 and 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Why test at eighteen dates instead of one? In a single 80/20 split, LightGBM, circled in red, won with 2.2 percent error. Across our rolling tests it ranked tenth, and ARIMAX, in green, was first. The long test forecasts 64 months at once, so it is a different task. The ranking depends on the forecast period and horizon, so we put more weight on repeated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[Jeremy] We then asked whether AI could improve on these results. AI introduces another testing problem: they may recognize the historical period. We asked Claude, GPT and Gemini to forecast the same eighteen dates, each as a fresh API request with only the data up to that date. At first they looked brilliant: 1.3 to 1.6 percent error, better than every model. But all eighteen dates are before their training cutoff, so these periods may already be familiar to them. When we hid the place, the dates and the mortgage rate, Claude's error rose to 2.8 percent, GPT's to 2.7 and Gemini's to 3.0. Their average errors were close to ARIMAX's, and at month 12 our statistical test did not detect a difference.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[Jeremy] Here is how we gave the AI fewer clues. Named says Los Angeles, with real dates. Blind hides the place and dates but keeps the real mortgage rate, and that is enough: asked to identify the blind series, Claude named Los Angeles 16 times out of 18 and got the dates exactly right. Masked shows only the last ten years, rescaled, with no rate. Claude never named LA, though it could still guess the period from the shape, so masking reduces the clues rather than removing them. The chart shows a forecast made in April 2022, just before the downturn. With the clues, Claude forecast a fall, close to what happened. With the masked prompt, Claude predicted continued growth, as ARIMAX did. The masked forecast and ARIMAX both missed the downturn. One more check: given 26 years of masked data instead of 10, Claude called the 2022 fall and scored 2.47 percent. A longer history gives the dates away, so masking is a dial, not a switch.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We also examined the relationship with rates and produced a forecast for August 2027. Top: our VAR estimates how LA values respond after a one-point rise in the mortgage rate: little at first, about 4.5 percent lower after a year and 9 after two. That is a predictive relationship, not a proven causal effect, and the Granger test is borderline, p equals 0.052. Inside ARIMAX neither the rate nor jobs is significant on its own, and jobs, income and crime didn't improve the forecast. Still, the rate helps out of sample. It enters with a two-year lag, so a twelve-month forecast never needs future rates. Bottom: ARIMAX forecasts about 998 thousand dollars by August 2027, up 4.8 percent. The band is the ARIMA 80 percent interval, for context: from minus 6 to plus 17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[Jin] That forecast describes the metro average. Individual neighborhoods look very different. Of 496 neighborhoods with recent data, 220 rose more than 2 percent in the last year, 216 stayed within 2 percent, and 60 fell. [Switch to the browser.] Blue is rising, red is falling. The map shows gains in selected coastal neighborhoods, including North of Montana, Point Dume and Corona del Mar, and declines in parts of central LA such as Koreatown and Downtown. [Click one neighborhood.] Each shows its value, its change and our 12-month forecast. [Back to the slides.] Higher starting prices were associated with larger declines in LA County after 2022. We tested neighborhood forecasts the same rolling way, at five yearly dates for about 400 neighborhoods: ARIMA for each neighborhood had 2.8 percent error, the naive benchmark 3.5.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Our answer: a simple ARIMAX had the lowest average error, about 2.7 percent; a full year out, the naive benchmark was just as good; and masked AI showed no clear advantage. Four takeaways. Simple models were competitive. AI needs tests on new outcomes before we can judge its forecasting value; the recognition checks suggest historical familiarity contributed to its apparent advantage. Mortgage rates matter, slowly, while jobs, income and crime didn't improve the forecast. And the metro average is only part of the picture. Next, we would test more cities, and score the AI live after its training cutoff.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neiltd.github.io/la-housing-forecast/"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up to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Monthly Zillow home values for the LA metro, January 2000 to August 2026, with mortgage rates and neighborhood data</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WHY LA, WHY NOW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After decades of growth, LA home values have stalled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before and after inflation, peaks marked, above the 30-year mortgage rate; test window shaded" title="LA ZHVI 2000-2026 before and after inflation, peaks marked, above the 30-year mortgage rate; test window shaded"/>
          <p:cNvPicPr>
            <a:picLocks noChangeAspect="1"/>
          </p:cNvPicPr>
          <p:nvPr/>
        </p:nvPicPr>
        <p:blipFill>
          <a:blip r:embed="rId2"/>
          <a:stretch>
            <a:fillRect/>
          </a:stretch>
        </p:blipFill>
        <p:spPr>
          <a:xfrm>
            <a:off x="1000669" y="1569720"/>
            <a:ext cx="4125141"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home value, LA metro, August 2026</a:t>
            </a:r>
          </a:p>
        </p:txBody>
      </p:sp>
      <p:sp>
        <p:nvSpPr>
          <p:cNvPr id="10" name="TextBox 9"/>
          <p:cNvSpPr txBox="1"/>
          <p:nvPr/>
        </p:nvSpPr>
        <p:spPr>
          <a:xfrm>
            <a:off x="5989320" y="2363216"/>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769616"/>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Below the January 2025 peak, before inflation</a:t>
            </a:r>
          </a:p>
        </p:txBody>
      </p:sp>
      <p:sp>
        <p:nvSpPr>
          <p:cNvPr id="12" name="TextBox 11"/>
          <p:cNvSpPr txBox="1"/>
          <p:nvPr/>
        </p:nvSpPr>
        <p:spPr>
          <a:xfrm>
            <a:off x="5989320" y="3065272"/>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-7.1%</a:t>
            </a:r>
          </a:p>
        </p:txBody>
      </p:sp>
      <p:sp>
        <p:nvSpPr>
          <p:cNvPr id="13" name="TextBox 12"/>
          <p:cNvSpPr txBox="1"/>
          <p:nvPr/>
        </p:nvSpPr>
        <p:spPr>
          <a:xfrm>
            <a:off x="5989320" y="3471672"/>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Below the May 2022 peak, after inflation</a:t>
            </a:r>
          </a:p>
        </p:txBody>
      </p:sp>
      <p:sp>
        <p:nvSpPr>
          <p:cNvPr id="14" name="TextBox 13"/>
          <p:cNvSpPr txBox="1"/>
          <p:nvPr/>
        </p:nvSpPr>
        <p:spPr>
          <a:xfrm>
            <a:off x="5989320" y="3767328"/>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5" name="TextBox 14"/>
          <p:cNvSpPr txBox="1"/>
          <p:nvPr/>
        </p:nvSpPr>
        <p:spPr>
          <a:xfrm>
            <a:off x="5989320" y="4173728"/>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at 18 forecast dates</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HOW WE SCORE  </a:t>
            </a:r>
            <a:r>
              <a:rPr sz="1250" b="0" i="0">
                <a:solidFill>
                  <a:srgbClr val="16213E"/>
                </a:solidFill>
                <a:latin typeface="Arial"/>
              </a:rPr>
              <a:t>MAPE measures how far forecasts are from actual values, in percent. We average the absolute errors across months 1 to 12 and all 18 start dates. Lower is better.</a:t>
            </a:r>
          </a:p>
        </p:txBody>
      </p:sp>
      <p:sp>
        <p:nvSpPr>
          <p:cNvPr id="10" name="TextBox 9"/>
          <p:cNvSpPr txBox="1"/>
          <p:nvPr/>
        </p:nvSpPr>
        <p:spPr>
          <a:xfrm>
            <a:off x="365760"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664208"/>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35610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57860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274929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AI</a:t>
            </a:r>
          </a:p>
        </p:txBody>
      </p:sp>
      <p:sp>
        <p:nvSpPr>
          <p:cNvPr id="19" name="Rectangle 18"/>
          <p:cNvSpPr/>
          <p:nvPr/>
        </p:nvSpPr>
        <p:spPr>
          <a:xfrm>
            <a:off x="3291839" y="1664208"/>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356104"/>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272796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289864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1211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AI models (LLMs)</a:t>
            </a:r>
          </a:p>
        </p:txBody>
      </p:sp>
      <p:sp>
        <p:nvSpPr>
          <p:cNvPr id="27" name="TextBox 26"/>
          <p:cNvSpPr txBox="1"/>
          <p:nvPr/>
        </p:nvSpPr>
        <p:spPr>
          <a:xfrm>
            <a:off x="3291839" y="32918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HOW WE TESTED</a:t>
            </a:r>
          </a:p>
        </p:txBody>
      </p:sp>
      <p:sp>
        <p:nvSpPr>
          <p:cNvPr id="29" name="Rectangle 28"/>
          <p:cNvSpPr/>
          <p:nvPr/>
        </p:nvSpPr>
        <p:spPr>
          <a:xfrm>
            <a:off x="6217919" y="1664208"/>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1. Rolling-origin test (main)</a:t>
            </a:r>
          </a:p>
        </p:txBody>
      </p:sp>
      <p:sp>
        <p:nvSpPr>
          <p:cNvPr id="31" name="TextBox 30"/>
          <p:cNvSpPr txBox="1"/>
          <p:nvPr/>
        </p:nvSpPr>
        <p:spPr>
          <a:xfrm>
            <a:off x="6217919" y="196291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Repeated 12-month forecasts: update every 3 months, 18 start dates</a:t>
            </a:r>
          </a:p>
        </p:txBody>
      </p:sp>
      <p:sp>
        <p:nvSpPr>
          <p:cNvPr id="32" name="TextBox 31"/>
          <p:cNvSpPr txBox="1"/>
          <p:nvPr/>
        </p:nvSpPr>
        <p:spPr>
          <a:xfrm>
            <a:off x="6217919" y="23347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2. One long forecast</a:t>
            </a:r>
          </a:p>
        </p:txBody>
      </p:sp>
      <p:sp>
        <p:nvSpPr>
          <p:cNvPr id="33" name="TextBox 32"/>
          <p:cNvSpPr txBox="1"/>
          <p:nvPr/>
        </p:nvSpPr>
        <p:spPr>
          <a:xfrm>
            <a:off x="6217919" y="2505456"/>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on the first 80% (to April 2021), then forecast the next 64 months in one shot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ROLLING-ORIGIN TEST</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ARIMAX had the lowest average forecast error</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289304"/>
          <a:ext cx="5394960" cy="3259835"/>
        </p:xfrm>
        <a:graphic>
          <a:graphicData uri="http://schemas.openxmlformats.org/drawingml/2006/chart">
            <c:chart xmlns:c="http://schemas.openxmlformats.org/drawingml/2006/chart" r:id="rId2"/>
          </a:graphicData>
        </a:graphic>
      </p:graphicFrame>
      <p:sp>
        <p:nvSpPr>
          <p:cNvPr id="8" name="TextBox 7"/>
          <p:cNvSpPr txBox="1"/>
          <p:nvPr/>
        </p:nvSpPr>
        <p:spPr>
          <a:xfrm>
            <a:off x="6126480" y="1380744"/>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 (MAPE)</a:t>
            </a:r>
          </a:p>
        </p:txBody>
      </p:sp>
      <p:sp>
        <p:nvSpPr>
          <p:cNvPr id="9" name="TextBox 8"/>
          <p:cNvSpPr txBox="1"/>
          <p:nvPr/>
        </p:nvSpPr>
        <p:spPr>
          <a:xfrm>
            <a:off x="6126480" y="1691640"/>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569464"/>
            <a:ext cx="260604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average error across months 1 to 12. ARIMAX adds mortgage-rate information to ARIMA; plain ARIMA was close, at 2.77%. At month 12 alone: ARIMAX 5.0%, naive drift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ONE LONG FORECAST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LightGBM ranked first in one long test, but tenth in repeated 12-month tests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5 by 3 grid of 15 model forecasts from May 2021 against actual LA values; LightGBM circled in red, ARIMAX in green" title="5 by 3 grid of 15 model forecasts from May 2021 against actual LA values; LightGBM circled in red, ARIMAX in green"/>
          <p:cNvPicPr>
            <a:picLocks noChangeAspect="1"/>
          </p:cNvPicPr>
          <p:nvPr/>
        </p:nvPicPr>
        <p:blipFill>
          <a:blip r:embed="rId2"/>
          <a:stretch>
            <a:fillRect/>
          </a:stretch>
        </p:blipFill>
        <p:spPr>
          <a:xfrm>
            <a:off x="558447" y="1542288"/>
            <a:ext cx="5329625" cy="3052571"/>
          </a:xfrm>
          <a:prstGeom prst="rect">
            <a:avLst/>
          </a:prstGeom>
        </p:spPr>
      </p:pic>
      <p:sp>
        <p:nvSpPr>
          <p:cNvPr id="8" name="TextBox 7"/>
          <p:cNvSpPr txBox="1"/>
          <p:nvPr/>
        </p:nvSpPr>
        <p:spPr>
          <a:xfrm>
            <a:off x="630936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30936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30936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1st in the 64-month test (2.2% error), 10th in repeated 12-month tests. LightGBM's lead did not hold under our main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AI's edge faded once we removed the clues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712810"/>
            <a:ext cx="5577840" cy="269323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CLAUDE: NAMED → MASKED</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average error rose from 1.3% to 2.8%, close to ARIMAX's 2.67%. These historical periods may already be familiar to the 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Masking cut recognition, but didn't remove it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Claude named LA in 16/18 blind and 0/18 masked prompts, yet dated masked data to about a month. Given 26 years, not 10, it called the 2022 fall (2.47% error).</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rates</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Most clues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Place, dates hidden; rates kept</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Rates can reveal dates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10 years, rescaled; no place, dates, rates</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Fewest clues</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4077069" y="1289304"/>
            <a:ext cx="4053101" cy="24002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with a delay; we forecast +4.8%</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sp>
        <p:nvSpPr>
          <p:cNvPr id="7" name="TextBox 6"/>
          <p:cNvSpPr txBox="1"/>
          <p:nvPr/>
        </p:nvSpPr>
        <p:spPr>
          <a:xfrm>
            <a:off x="457200" y="1261872"/>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ESTIMATED HOME-VALUE RESPONSE TO A 1-POINT MORTGAGE-RATE SHOCK</a:t>
            </a:r>
          </a:p>
        </p:txBody>
      </p:sp>
      <p:pic>
        <p:nvPicPr>
          <p:cNvPr id="8" name="Picture 7"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106683" y="1536192"/>
            <a:ext cx="4278872" cy="1300733"/>
          </a:xfrm>
          <a:prstGeom prst="rect">
            <a:avLst/>
          </a:prstGeom>
        </p:spPr>
      </p:pic>
      <p:sp>
        <p:nvSpPr>
          <p:cNvPr id="9" name="TextBox 8"/>
          <p:cNvSpPr txBox="1"/>
          <p:nvPr/>
        </p:nvSpPr>
        <p:spPr>
          <a:xfrm>
            <a:off x="6263640" y="1554480"/>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B4400B"/>
                </a:solidFill>
                <a:latin typeface="Arial"/>
              </a:rPr>
              <a:t>−9.2%</a:t>
            </a:r>
          </a:p>
        </p:txBody>
      </p:sp>
      <p:sp>
        <p:nvSpPr>
          <p:cNvPr id="10" name="TextBox 9"/>
          <p:cNvSpPr txBox="1"/>
          <p:nvPr/>
        </p:nvSpPr>
        <p:spPr>
          <a:xfrm>
            <a:off x="6263640" y="1857248"/>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VAR-estimated response after two years (−4.5% after one)</a:t>
            </a:r>
          </a:p>
        </p:txBody>
      </p:sp>
      <p:sp>
        <p:nvSpPr>
          <p:cNvPr id="11" name="TextBox 10"/>
          <p:cNvSpPr txBox="1"/>
          <p:nvPr/>
        </p:nvSpPr>
        <p:spPr>
          <a:xfrm>
            <a:off x="6263640" y="2182368"/>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p = 0.052</a:t>
            </a:r>
          </a:p>
        </p:txBody>
      </p:sp>
      <p:sp>
        <p:nvSpPr>
          <p:cNvPr id="12" name="TextBox 11"/>
          <p:cNvSpPr txBox="1"/>
          <p:nvPr/>
        </p:nvSpPr>
        <p:spPr>
          <a:xfrm>
            <a:off x="6263640" y="2485136"/>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Granger: borderline. ARIMAX: rate p = 0.16, jobs p = 0.29</a:t>
            </a:r>
          </a:p>
        </p:txBody>
      </p:sp>
      <p:sp>
        <p:nvSpPr>
          <p:cNvPr id="13" name="Rectangle 12"/>
          <p:cNvSpPr/>
          <p:nvPr/>
        </p:nvSpPr>
        <p:spPr>
          <a:xfrm>
            <a:off x="457200" y="2873501"/>
            <a:ext cx="8229600" cy="10972"/>
          </a:xfrm>
          <a:prstGeom prst="rect">
            <a:avLst/>
          </a:prstGeom>
          <a:solidFill>
            <a:srgbClr val="6B6F76"/>
          </a:solidFill>
          <a:ln>
            <a:noFill/>
          </a:ln>
          <a:effectLst/>
        </p:spPr>
        <p:txBody>
          <a:bodyPr rtlCol="0" anchor="ctr"/>
          <a:lstStyle/>
          <a:p>
            <a:pPr algn="ctr"/>
          </a:p>
        </p:txBody>
      </p:sp>
      <p:sp>
        <p:nvSpPr>
          <p:cNvPr id="14" name="TextBox 13"/>
          <p:cNvSpPr txBox="1"/>
          <p:nvPr/>
        </p:nvSpPr>
        <p:spPr>
          <a:xfrm>
            <a:off x="457200" y="2928365"/>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OUR FORECAST: ABOUT 5% HIGHER BY AUGUST 2027, WITH A WIDE RANGE</a:t>
            </a:r>
          </a:p>
        </p:txBody>
      </p:sp>
      <p:pic>
        <p:nvPicPr>
          <p:cNvPr id="15" name="Picture 14"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109393" y="3202685"/>
            <a:ext cx="4273453" cy="1300733"/>
          </a:xfrm>
          <a:prstGeom prst="rect">
            <a:avLst/>
          </a:prstGeom>
        </p:spPr>
      </p:pic>
      <p:sp>
        <p:nvSpPr>
          <p:cNvPr id="16" name="TextBox 15"/>
          <p:cNvSpPr txBox="1"/>
          <p:nvPr/>
        </p:nvSpPr>
        <p:spPr>
          <a:xfrm>
            <a:off x="6263640" y="3220973"/>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F6F8B"/>
                </a:solidFill>
                <a:latin typeface="Arial"/>
              </a:rPr>
              <a:t>$998K (+4.8%)</a:t>
            </a:r>
          </a:p>
        </p:txBody>
      </p:sp>
      <p:sp>
        <p:nvSpPr>
          <p:cNvPr id="17" name="TextBox 16"/>
          <p:cNvSpPr txBox="1"/>
          <p:nvPr/>
        </p:nvSpPr>
        <p:spPr>
          <a:xfrm>
            <a:off x="6263640" y="352374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ARIMAX forecast, August 2027</a:t>
            </a:r>
          </a:p>
        </p:txBody>
      </p:sp>
      <p:sp>
        <p:nvSpPr>
          <p:cNvPr id="18" name="TextBox 17"/>
          <p:cNvSpPr txBox="1"/>
          <p:nvPr/>
        </p:nvSpPr>
        <p:spPr>
          <a:xfrm>
            <a:off x="6263640" y="3713734"/>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-6% to +17%</a:t>
            </a:r>
          </a:p>
        </p:txBody>
      </p:sp>
      <p:sp>
        <p:nvSpPr>
          <p:cNvPr id="19" name="TextBox 18"/>
          <p:cNvSpPr txBox="1"/>
          <p:nvPr/>
        </p:nvSpPr>
        <p:spPr>
          <a:xfrm>
            <a:off x="6263640" y="4016502"/>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for context: ARIMA's 80% interval by August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Some neighborhoods are rising while others are falling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297760" y="1569720"/>
            <a:ext cx="3073758"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rising &gt;2% · within ±2% · falling &gt;2%, last 12 months (496 neighborhoods with recent data)</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in LA County, doubling the starting home value went with a 1.2-point larger decline after the 2022 peak</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hlinkClick r:id="rId3"/>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answer: simple models held up best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4050791"/>
            <a:ext cx="8229600" cy="498347"/>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4090659"/>
            <a:ext cx="64008" cy="418612"/>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4050791"/>
            <a:ext cx="7827264" cy="498347"/>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models were competitive</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ARIMAX had the lowest average error; naive drift was equally competitive at month 12.</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Test AI on outcomes it cannot know</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Historical AI tests can be affected by recognition of past events.</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Jobs, income and crime didn't improve the forecast; turning points stayed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is only part of the picture</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Results varied; per-neighborhood ARIMA beat naive drift (2.8% vs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

<file path=[Content_Types].xml><?xml version="1.0" encoding="utf-8"?>
<Types xmlns="http://schemas.openxmlformats.org/package/2006/content-types">
  <Default Extension="bin" ContentType="application/vnd.openxmlformats-officedocument.presentationml.printerSettings"/>
  <Default Extension="jpeg" ContentType="image/jpeg"/>
  <Default Extension="png" ContentType="image/png"/>
  <Default Extension="rels" ContentType="application/vnd.openxmlformats-package.relationships+xml"/>
  <Default Extension="xlsx" ContentType="application/vnd.openxmlformats-officedocument.spreadsheetml.sheet"/>
  <Default Extension="xml" ContentType="application/xml"/>
  <Override PartName="/docProps/app.xml" ContentType="application/vnd.openxmlformats-officedocument.extended-properties+xml"/>
  <Override PartName="/docProps/core.xml" ContentType="application/vnd.openxmlformats-package.core-properties+xml"/>
  <Override PartName="/ppt/charts/chart1.xml" ContentType="application/vnd.openxmlformats-officedocument.drawingml.chart+xml"/>
  <Override PartName="/ppt/notesMasters/notesMaster1.xml" ContentType="application/vnd.openxmlformats-officedocument.presentationml.notesMaster+xml"/>
  <Override PartName="/ppt/notesSlides/notesSlide1.xml" ContentType="application/vnd.openxmlformats-officedocument.presentationml.notesSlide+xml"/>
  <Override PartName="/ppt/notesSlides/notesSlide10.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theme/theme2.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7"/>
    <p:sldId id="257" r:id="rId9"/>
    <p:sldId id="258" r:id="rId10"/>
    <p:sldId id="259" r:id="rId11"/>
    <p:sldId id="260" r:id="rId12"/>
    <p:sldId id="261" r:id="rId13"/>
    <p:sldId id="262" r:id="rId14"/>
    <p:sldId id="263" r:id="rId15"/>
    <p:sldId id="264" r:id="rId16"/>
    <p:sldId id="265" r:id="rId17"/>
  </p:sldIdLst>
  <p:sldSz cx="9144000" cy="5143500" type="screen4x3"/>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p:restoredTop sz="94660"/>
  </p:normalViewPr>
  <p:slideViewPr>
    <p:cSldViewPr snapToGrid="0" snapToObjects="1">
      <p:cViewPr varScale="1">
        <p:scale>
          <a:sx n="124" d="100"/>
          <a:sy n="124" d="100"/>
        </p:scale>
        <p:origin x="-1512" y="-112"/>
      </p:cViewPr>
      <p:guideLst>
        <p:guide orient="horz" pos="2160"/>
        <p:guide pos="2880"/>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printerSettings" Target="printerSettings/printerSettings1.bin"/><Relationship Id="rId3" Type="http://schemas.openxmlformats.org/officeDocument/2006/relationships/presProps" Target="presProps.xml"/><Relationship Id="rId4" Type="http://schemas.openxmlformats.org/officeDocument/2006/relationships/viewProps" Target="viewProps.xml"/><Relationship Id="rId5" Type="http://schemas.openxmlformats.org/officeDocument/2006/relationships/theme" Target="theme/theme1.xml"/><Relationship Id="rId6" Type="http://schemas.openxmlformats.org/officeDocument/2006/relationships/tableStyles" Target="tableStyles.xml"/><Relationship Id="rId7" Type="http://schemas.openxmlformats.org/officeDocument/2006/relationships/slide" Target="slides/slide1.xml"/><Relationship Id="rId8" Type="http://schemas.openxmlformats.org/officeDocument/2006/relationships/notesMaster" Target="notesMasters/notesMaster1.xml"/><Relationship Id="rId9" Type="http://schemas.openxmlformats.org/officeDocument/2006/relationships/slide" Target="slides/slide2.xml"/><Relationship Id="rId10" Type="http://schemas.openxmlformats.org/officeDocument/2006/relationships/slide" Target="slides/slide3.xml"/><Relationship Id="rId11" Type="http://schemas.openxmlformats.org/officeDocument/2006/relationships/slide" Target="slides/slide4.xml"/><Relationship Id="rId12" Type="http://schemas.openxmlformats.org/officeDocument/2006/relationships/slide" Target="slides/slide5.xml"/><Relationship Id="rId13" Type="http://schemas.openxmlformats.org/officeDocument/2006/relationships/slide" Target="slides/slide6.xml"/><Relationship Id="rId14" Type="http://schemas.openxmlformats.org/officeDocument/2006/relationships/slide" Target="slides/slide7.xml"/><Relationship Id="rId15" Type="http://schemas.openxmlformats.org/officeDocument/2006/relationships/slide" Target="slides/slide8.xml"/><Relationship Id="rId16" Type="http://schemas.openxmlformats.org/officeDocument/2006/relationships/slide" Target="slides/slide9.xml"/><Relationship Id="rId17" Type="http://schemas.openxmlformats.org/officeDocument/2006/relationships/slide" Target="slides/slide10.xml"/></Relationships>
</file>

<file path=ppt/charts/_rels/chart1.xml.rels><?xml version='1.0' encoding='UTF-8' standalone='yes'?>
<Relationships xmlns="http://schemas.openxmlformats.org/package/2006/relationships"><Relationship Id="rId1" Type="http://schemas.openxmlformats.org/officeDocument/2006/relationships/package" Target="../embeddings/Microsoft_Excel_Sheet1.xlsx"/></Relationships>
</file>

<file path=ppt/charts/chart1.xml><?xml version="1.0" encoding="utf-8"?>
<c:chartSpace xmlns:c="http://schemas.openxmlformats.org/drawingml/2006/chart" xmlns:a="http://schemas.openxmlformats.org/drawingml/2006/main" xmlns:r="http://schemas.openxmlformats.org/officeDocument/2006/relationships">
  <c:date1904 val="0"/>
  <c:chart>
    <c:autoTitleDeleted val="1"/>
    <c:plotArea>
      <c:barChart>
        <c:barDir val="bar"/>
        <c:grouping val="clustered"/>
        <c:ser>
          <c:idx val="0"/>
          <c:order val="0"/>
          <c:tx>
            <c:strRef>
              <c:f>Sheet1!$B$1</c:f>
              <c:strCache>
                <c:ptCount val="1"/>
                <c:pt idx="0">
                  <c:v>Avg % error, 1-12 months</c:v>
                </c:pt>
              </c:strCache>
            </c:strRef>
          </c:tx>
          <c:spPr>
            <a:solidFill>
              <a:srgbClr val="1F6F8B"/>
            </a:solidFill>
            <a:ln w="31750">
              <a:solidFill>
                <a:srgbClr val="1F6F8B"/>
              </a:solidFill>
            </a:ln>
          </c:spPr>
          <c:dPt>
            <c:idx val="0"/>
            <c:spPr>
              <a:solidFill>
                <a:srgbClr val="B8BECC"/>
              </a:solidFill>
            </c:spPr>
          </c:dPt>
          <c:dPt>
            <c:idx val="1"/>
            <c:spPr>
              <a:solidFill>
                <a:srgbClr val="B8BECC"/>
              </a:solidFill>
            </c:spPr>
          </c:dPt>
          <c:dPt>
            <c:idx val="2"/>
            <c:spPr>
              <a:solidFill>
                <a:srgbClr val="B8BECC"/>
              </a:solidFill>
            </c:spPr>
          </c:dPt>
          <c:dPt>
            <c:idx val="3"/>
            <c:spPr>
              <a:solidFill>
                <a:srgbClr val="B8BECC"/>
              </a:solidFill>
            </c:spPr>
          </c:dPt>
          <c:dPt>
            <c:idx val="4"/>
            <c:spPr>
              <a:solidFill>
                <a:srgbClr val="B8BECC"/>
              </a:solidFill>
            </c:spPr>
          </c:dPt>
          <c:dPt>
            <c:idx val="5"/>
            <c:spPr>
              <a:solidFill>
                <a:srgbClr val="B8BECC"/>
              </a:solidFill>
            </c:spPr>
          </c:dPt>
          <c:dPt>
            <c:idx val="6"/>
            <c:spPr>
              <a:solidFill>
                <a:srgbClr val="B8BECC"/>
              </a:solidFill>
            </c:spPr>
          </c:dPt>
          <c:dPt>
            <c:idx val="7"/>
            <c:spPr>
              <a:solidFill>
                <a:srgbClr val="B8BECC"/>
              </a:solidFill>
            </c:spPr>
          </c:dPt>
          <c:dPt>
            <c:idx val="8"/>
            <c:spPr>
              <a:solidFill>
                <a:srgbClr val="B8BECC"/>
              </a:solidFill>
            </c:spPr>
          </c:dPt>
          <c:dPt>
            <c:idx val="9"/>
            <c:spPr>
              <a:solidFill>
                <a:srgbClr val="B8BECC"/>
              </a:solidFill>
            </c:spPr>
          </c:dPt>
          <c:dPt>
            <c:idx val="10"/>
            <c:spPr>
              <a:solidFill>
                <a:srgbClr val="B8BECC"/>
              </a:solidFill>
            </c:spPr>
          </c:dPt>
          <c:dPt>
            <c:idx val="11"/>
            <c:spPr>
              <a:solidFill>
                <a:srgbClr val="B8BECC"/>
              </a:solidFill>
            </c:spPr>
          </c:dPt>
          <c:dPt>
            <c:idx val="12"/>
            <c:spPr>
              <a:solidFill>
                <a:srgbClr val="B8BECC"/>
              </a:solidFill>
            </c:spPr>
          </c:dPt>
          <c:dPt>
            <c:idx val="13"/>
            <c:spPr>
              <a:solidFill>
                <a:srgbClr val="1F6F8B"/>
              </a:solidFill>
            </c:spPr>
          </c:dPt>
          <c:cat>
            <c:strRef>
              <c:f>Sheet1!$A$2:$A$15</c:f>
              <c:strCache>
                <c:ptCount val="14"/>
                <c:pt idx="0">
                  <c:v>Prophet</c:v>
                </c:pt>
                <c:pt idx="1">
                  <c:v>Prophet + COVID &amp; rates</c:v>
                </c:pt>
                <c:pt idx="2">
                  <c:v>XGBoost</c:v>
                </c:pt>
                <c:pt idx="3">
                  <c:v>Factor VAR (neighborhoods)</c:v>
                </c:pt>
                <c:pt idx="4">
                  <c:v>LightGBM</c:v>
                </c:pt>
                <c:pt idx="5">
                  <c:v>Chronos (foundation model)</c:v>
                </c:pt>
                <c:pt idx="6">
                  <c:v>Holt (damped)</c:v>
                </c:pt>
                <c:pt idx="7">
                  <c:v>Naive drift</c:v>
                </c:pt>
                <c:pt idx="8">
                  <c:v>GRU</c:v>
                </c:pt>
                <c:pt idx="9">
                  <c:v>LSTM</c:v>
                </c:pt>
                <c:pt idx="10">
                  <c:v>VAR (growth + rate)</c:v>
                </c:pt>
                <c:pt idx="11">
                  <c:v>ARIMAX + jobs</c:v>
                </c:pt>
                <c:pt idx="12">
                  <c:v>ARIMA</c:v>
                </c:pt>
                <c:pt idx="13">
                  <c:v>ARIMAX</c:v>
                </c:pt>
              </c:strCache>
            </c:strRef>
          </c:cat>
          <c:val>
            <c:numRef>
              <c:f>Sheet1!$B$2:$B$15</c:f>
              <c:numCache>
                <c:formatCode>General</c:formatCode>
                <c:ptCount val="14"/>
                <c:pt idx="0">
                  <c:v>6.89</c:v>
                </c:pt>
                <c:pt idx="1">
                  <c:v>5.12</c:v>
                </c:pt>
                <c:pt idx="2">
                  <c:v>3.65</c:v>
                </c:pt>
                <c:pt idx="3">
                  <c:v>3.64</c:v>
                </c:pt>
                <c:pt idx="4">
                  <c:v>3.6</c:v>
                </c:pt>
                <c:pt idx="5">
                  <c:v>3.56</c:v>
                </c:pt>
                <c:pt idx="6">
                  <c:v>3.39</c:v>
                </c:pt>
                <c:pt idx="7">
                  <c:v>3.27</c:v>
                </c:pt>
                <c:pt idx="8">
                  <c:v>3.18</c:v>
                </c:pt>
                <c:pt idx="9">
                  <c:v>3.02</c:v>
                </c:pt>
                <c:pt idx="10">
                  <c:v>2.93</c:v>
                </c:pt>
                <c:pt idx="11">
                  <c:v>2.81</c:v>
                </c:pt>
                <c:pt idx="12">
                  <c:v>2.77</c:v>
                </c:pt>
                <c:pt idx="13">
                  <c:v>2.67</c:v>
                </c:pt>
              </c:numCache>
            </c:numRef>
          </c:val>
        </c:ser>
        <c:axId val="-2068027336"/>
        <c:axId val="-2113994440"/>
      </c:barChart>
      <c:catAx>
        <c:axId val="-2068027336"/>
        <c:scaling>
          <c:orientation val="minMax"/>
        </c:scaling>
        <c:delete val="0"/>
        <c:axPos val="l"/>
        <c:majorTickMark val="out"/>
        <c:minorTickMark val="none"/>
        <c:tickLblPos val="nextTo"/>
        <c:spPr>
          <a:ln>
            <a:solidFill>
              <a:srgbClr val="E7E9F0"/>
            </a:solidFill>
          </a:ln>
        </c:spPr>
        <c:txPr>
          <a:bodyPr/>
          <a:lstStyle/>
          <a:p>
            <a:pPr>
              <a:defRPr sz="1000">
                <a:solidFill>
                  <a:srgbClr val="222A37"/>
                </a:solidFill>
                <a:latin typeface="Arial"/>
                <a:ea typeface="Arial"/>
              </a:defRPr>
            </a:pPr>
          </a:p>
        </c:txPr>
        <c:crossAx val="-2113994440"/>
        <c:crosses val="autoZero"/>
        <c:auto val="1"/>
        <c:lblAlgn val="ctr"/>
        <c:lblOffset val="100"/>
        <c:noMultiLvlLbl val="0"/>
      </c:catAx>
      <c:valAx>
        <c:axId val="-2113994440"/>
        <c:scaling>
          <c:min val="0.0"/>
        </c:scaling>
        <c:delete val="0"/>
        <c:axPos val="b"/>
        <c:majorGridlines>
          <c:spPr>
            <a:ln w="6350">
              <a:solidFill>
                <a:srgbClr val="E7E9F0"/>
              </a:solidFill>
            </a:ln>
          </c:spPr>
        </c:majorGridlines>
        <c:numFmt formatCode="0.00&quot;%&quot;" sourceLinked="0"/>
        <c:majorTickMark val="out"/>
        <c:minorTickMark val="none"/>
        <c:tickLblPos val="nextTo"/>
        <c:spPr>
          <a:ln>
            <a:solidFill>
              <a:srgbClr val="E7E9F0"/>
            </a:solidFill>
          </a:ln>
        </c:spPr>
        <c:txPr>
          <a:bodyPr/>
          <a:lstStyle/>
          <a:p>
            <a:pPr>
              <a:defRPr sz="1000">
                <a:solidFill>
                  <a:srgbClr val="222A37"/>
                </a:solidFill>
                <a:latin typeface="Arial"/>
                <a:ea typeface="Arial"/>
              </a:defRPr>
            </a:pPr>
          </a:p>
        </c:txPr>
        <c:crossAx val="-2068027336"/>
        <c:crosses val="autoZero"/>
      </c:valAx>
    </c:plotArea>
    <c:dispBlanksAs val="gap"/>
  </c:chart>
  <c:txPr>
    <a:bodyPr/>
    <a:lstStyle/>
    <a:p>
      <a:pPr>
        <a:defRPr sz="1100">
          <a:solidFill>
            <a:srgbClr val="222A37"/>
          </a:solidFill>
          <a:latin typeface="Arial"/>
          <a:ea typeface="Arial"/>
        </a:defRPr>
      </a:pPr>
      <a:endParaRPr lang="en-US"/>
    </a:p>
  </c:txPr>
  <c:externalData r:id="rId1">
    <c:autoUpdate val="0"/>
  </c:externalData>
</c:chartSpace>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p="http://schemas.openxmlformats.org/presentationml/2006/main" xmlns:r="http://schemas.openxmlformats.org/officeDocument/2006/relationships">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7200"/>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7200"/>
          </a:xfrm>
          <a:prstGeom prst="rect">
            <a:avLst/>
          </a:prstGeom>
        </p:spPr>
        <p:txBody>
          <a:bodyPr vert="horz" lIns="91440" tIns="45720" rIns="91440" bIns="45720" rtlCol="0"/>
          <a:lstStyle>
            <a:lvl1pPr algn="r">
              <a:defRPr sz="1200"/>
            </a:lvl1pPr>
          </a:lstStyle>
          <a:p>
            <a:fld id="{0F89C1C7-3DCD-1040-A9CF-14679D8B5DDD}" type="datetimeFigureOut">
              <a:rPr lang="en-US" smtClean="0"/>
              <a:t>10/17/16</a:t>
            </a:fld>
            <a:endParaRPr lang="en-US"/>
          </a:p>
        </p:txBody>
      </p:sp>
      <p:sp>
        <p:nvSpPr>
          <p:cNvPr id="4" name="Slide Image Placeholder 3"/>
          <p:cNvSpPr>
            <a:spLocks noGrp="1" noRot="1" noChangeAspect="1"/>
          </p:cNvSpPr>
          <p:nvPr>
            <p:ph type="sldImg" idx="2"/>
          </p:nvPr>
        </p:nvSpPr>
        <p:spPr>
          <a:xfrm>
            <a:off x="1143000" y="685800"/>
            <a:ext cx="4572000" cy="34290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343400"/>
            <a:ext cx="5486400" cy="4114800"/>
          </a:xfrm>
          <a:prstGeom prst="rect">
            <a:avLst/>
          </a:prstGeom>
        </p:spPr>
        <p:txBody>
          <a:bodyPr vert="horz" lIns="91440" tIns="45720" rIns="91440" bIns="45720" rtlCol="0"/>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6" name="Footer Placeholder 5"/>
          <p:cNvSpPr>
            <a:spLocks noGrp="1"/>
          </p:cNvSpPr>
          <p:nvPr>
            <p:ph type="ftr" sz="quarter" idx="4"/>
          </p:nvPr>
        </p:nvSpPr>
        <p:spPr>
          <a:xfrm>
            <a:off x="0" y="8685213"/>
            <a:ext cx="2971800" cy="457200"/>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7200"/>
          </a:xfrm>
          <a:prstGeom prst="rect">
            <a:avLst/>
          </a:prstGeom>
        </p:spPr>
        <p:txBody>
          <a:bodyPr vert="horz" lIns="91440" tIns="45720" rIns="91440" bIns="45720" rtlCol="0" anchor="b"/>
          <a:lstStyle>
            <a:lvl1pPr algn="r">
              <a:defRPr sz="1200"/>
            </a:lvl1pPr>
          </a:lstStyle>
          <a:p>
            <a:fld id="{BB5E49A5-4136-284D-997B-48E1D791AD67}" type="slidenum">
              <a:rPr lang="en-US" smtClean="0"/>
              <a:t>‹#›</a:t>
            </a:fld>
            <a:endParaRPr lang="en-US"/>
          </a:p>
        </p:txBody>
      </p:sp>
    </p:spTree>
    <p:extLst>
      <p:ext uri="{BB962C8B-B14F-4D97-AF65-F5344CB8AC3E}">
        <p14:creationId xmlns:p14="http://schemas.microsoft.com/office/powerpoint/2010/main" val="2623252185"/>
      </p:ext>
    </p:extLst>
  </p:cSld>
  <p:clrMap bg1="lt1" tx1="dk1" bg2="lt2" tx2="dk2" accent1="accent1" accent2="accent2" accent3="accent3" accent4="accent4" accent5="accent5" accent6="accent6" hlink="hlink" folHlink="folHlink"/>
  <p:notesStyle>
    <a:lvl1pPr marL="0" algn="l" defTabSz="457200" rtl="0" eaLnBrk="1" latinLnBrk="0" hangingPunct="1">
      <a:defRPr sz="1200" kern="1200">
        <a:solidFill>
          <a:schemeClr val="tx1"/>
        </a:solidFill>
        <a:latin typeface="+mn-lt"/>
        <a:ea typeface="+mn-ea"/>
        <a:cs typeface="+mn-cs"/>
      </a:defRPr>
    </a:lvl1pPr>
    <a:lvl2pPr marL="457200" algn="l" defTabSz="457200" rtl="0" eaLnBrk="1" latinLnBrk="0" hangingPunct="1">
      <a:defRPr sz="1200" kern="1200">
        <a:solidFill>
          <a:schemeClr val="tx1"/>
        </a:solidFill>
        <a:latin typeface="+mn-lt"/>
        <a:ea typeface="+mn-ea"/>
        <a:cs typeface="+mn-cs"/>
      </a:defRPr>
    </a:lvl2pPr>
    <a:lvl3pPr marL="914400" algn="l" defTabSz="457200" rtl="0" eaLnBrk="1" latinLnBrk="0" hangingPunct="1">
      <a:defRPr sz="1200" kern="1200">
        <a:solidFill>
          <a:schemeClr val="tx1"/>
        </a:solidFill>
        <a:latin typeface="+mn-lt"/>
        <a:ea typeface="+mn-ea"/>
        <a:cs typeface="+mn-cs"/>
      </a:defRPr>
    </a:lvl3pPr>
    <a:lvl4pPr marL="1371600" algn="l" defTabSz="457200" rtl="0" eaLnBrk="1" latinLnBrk="0" hangingPunct="1">
      <a:defRPr sz="1200" kern="1200">
        <a:solidFill>
          <a:schemeClr val="tx1"/>
        </a:solidFill>
        <a:latin typeface="+mn-lt"/>
        <a:ea typeface="+mn-ea"/>
        <a:cs typeface="+mn-cs"/>
      </a:defRPr>
    </a:lvl4pPr>
    <a:lvl5pPr marL="1828800" algn="l" defTabSz="457200" rtl="0" eaLnBrk="1" latinLnBrk="0" hangingPunct="1">
      <a:defRPr sz="1200" kern="1200">
        <a:solidFill>
          <a:schemeClr val="tx1"/>
        </a:solidFill>
        <a:latin typeface="+mn-lt"/>
        <a:ea typeface="+mn-ea"/>
        <a:cs typeface="+mn-cs"/>
      </a:defRPr>
    </a:lvl5pPr>
    <a:lvl6pPr marL="2286000" algn="l" defTabSz="457200" rtl="0" eaLnBrk="1" latinLnBrk="0" hangingPunct="1">
      <a:defRPr sz="1200" kern="1200">
        <a:solidFill>
          <a:schemeClr val="tx1"/>
        </a:solidFill>
        <a:latin typeface="+mn-lt"/>
        <a:ea typeface="+mn-ea"/>
        <a:cs typeface="+mn-cs"/>
      </a:defRPr>
    </a:lvl6pPr>
    <a:lvl7pPr marL="2743200" algn="l" defTabSz="457200" rtl="0" eaLnBrk="1" latinLnBrk="0" hangingPunct="1">
      <a:defRPr sz="1200" kern="1200">
        <a:solidFill>
          <a:schemeClr val="tx1"/>
        </a:solidFill>
        <a:latin typeface="+mn-lt"/>
        <a:ea typeface="+mn-ea"/>
        <a:cs typeface="+mn-cs"/>
      </a:defRPr>
    </a:lvl7pPr>
    <a:lvl8pPr marL="3200400" algn="l" defTabSz="457200" rtl="0" eaLnBrk="1" latinLnBrk="0" hangingPunct="1">
      <a:defRPr sz="1200" kern="1200">
        <a:solidFill>
          <a:schemeClr val="tx1"/>
        </a:solidFill>
        <a:latin typeface="+mn-lt"/>
        <a:ea typeface="+mn-ea"/>
        <a:cs typeface="+mn-cs"/>
      </a:defRPr>
    </a:lvl8pPr>
    <a:lvl9pPr marL="3657600" algn="l" defTabSz="4572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xml"/></Relationships>
</file>

<file path=ppt/notesSlides/notesSlide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Hi everyone. Our project forecasts home values in the Los Angeles metro using Zillow's Home Value Index from January 2000 to August 2026. The line on the right is the whole story in one picture: a boom and bust in the 2000s, a long recovery, a pandemic surge, and then a stall. That stall lines up with mortgage rates more than doubling. So we asked two questions. Which forecasting method predicts LA home values best? And do mortgage rates help the forecast? We also went below the metro level to 499 neighborhoods, because the average hides a lot.</a:t>
            </a:r>
          </a:p>
        </p:txBody>
      </p:sp>
      <p:sp>
        <p:nvSpPr>
          <p:cNvPr id="4" name="Slide Number Placeholder 3"/>
          <p:cNvSpPr>
            <a:spLocks noGrp="1"/>
          </p:cNvSpPr>
          <p:nvPr>
            <p:ph type="sldNum" idx="5" sz="quarter"/>
          </p:nvPr>
        </p:nvSpPr>
        <p:spPr/>
      </p:sp>
    </p:spTree>
  </p:cSld>
  <p:clrMapOvr>
    <a:masterClrMapping/>
  </p:clrMapOvr>
</p:notes>
</file>

<file path=ppt/notesSlides/notesSlide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From 2000 to 2026, LA home values grew about 5.6 percent a year, with a 37 percent crash between 2006 and 2012 along the way. Today the typical home is worth about 952 thousand dollars, which is 1.3 percent below the January 2025 peak. The dashed line is a log-linear trend from lecture 3, about 4.5 percent a year. Prices were 54 percent above it in 2006 and 25 percent below it in 2012, and today they sit only about 3 percent above it, so the stall looks like prices returning to trend. After inflation the picture is the same: prices are about 3 percent below a 2.1 percent a year real trend, which matches the chart Professor Yu showed in class. The bottom panel shows why this period is interesting: the 30-year mortgage rate went from 2.7 percent in 2021 to 7.6 percent in 2023. The shaded area is our test window, so every model has to forecast through that rate shock.</a:t>
            </a:r>
          </a:p>
        </p:txBody>
      </p:sp>
      <p:sp>
        <p:nvSpPr>
          <p:cNvPr id="4" name="Slide Number Placeholder 3"/>
          <p:cNvSpPr>
            <a:spLocks noGrp="1"/>
          </p:cNvSpPr>
          <p:nvPr>
            <p:ph type="sldNum" idx="5" sz="quarter"/>
          </p:nvPr>
        </p:nvSpPr>
        <p:spPr/>
      </p:sp>
    </p:spTree>
  </p:cSld>
  <p:clrMapOvr>
    <a:masterClrMapping/>
  </p:clrMapOvr>
</p:notes>
</file>

<file path=ppt/notesSlides/notesSlide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Here is the setup. Our data: the Zillow index for the metro, 499 neighborhoods from Zillow's neighborhood file, the 30-year mortgage rate, and payroll jobs for LA and Orange County. We compared fourteen models in four families, from a naive drift baseline to LSTM and GRU networks and Amazon's Chronos foundation model, plus four models that use outside information. On top of those we asked three chat LLMs, Claude, GPT and Gemini, for forecasts at the same dates. And we scored them two ways. A blind 80/20 split, like most projects use, and a rolling-origin test where we refit every three months and forecast twelve months ahead, eighteen times. One warning: Zillow smooths this index, so next month is almost the same as this month and every decent model is about 0.1 percent off one month ahead. That tells us nothing, so we judge models at six to twelve months.</a:t>
            </a:r>
          </a:p>
        </p:txBody>
      </p:sp>
      <p:sp>
        <p:nvSpPr>
          <p:cNvPr id="4" name="Slide Number Placeholder 3"/>
          <p:cNvSpPr>
            <a:spLocks noGrp="1"/>
          </p:cNvSpPr>
          <p:nvPr>
            <p:ph type="sldNum" idx="5" sz="quarter"/>
          </p:nvPr>
        </p:nvSpPr>
        <p:spPr/>
      </p:sp>
    </p:spTree>
  </p:cSld>
  <p:clrMapOvr>
    <a:masterClrMapping/>
  </p:clrMapOvr>
</p:notes>
</file>

<file path=ppt/notesSlides/notesSlide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This is the main result, the rolling test. ARIMAX, which is ARIMA plus mortgage rates, had the lowest average error at 2.67 percent, with plain ARIMA right behind at 2.77. Adding payroll jobs did not help: ARIMAX with jobs came third at 2.81. The neural networks landed in the middle, the tree models near the bottom, and Prophet last at almost 7 percent, mostly because it fits a smooth trend and does not start from the latest value. The ranking holds if we score in dollars with RMSE instead: ARIMAX is still first at about 36 thousand dollars. Our read: with about 250 monthly observations of a smooth index, there just is not much nonlinear structure for machine learning to find.</a:t>
            </a:r>
          </a:p>
        </p:txBody>
      </p:sp>
      <p:sp>
        <p:nvSpPr>
          <p:cNvPr id="4" name="Slide Number Placeholder 3"/>
          <p:cNvSpPr>
            <a:spLocks noGrp="1"/>
          </p:cNvSpPr>
          <p:nvPr>
            <p:ph type="sldNum" idx="5" sz="quarter"/>
          </p:nvPr>
        </p:nvSpPr>
        <p:spPr/>
      </p:sp>
    </p:spTree>
  </p:cSld>
  <p:clrMapOvr>
    <a:masterClrMapping/>
  </p:clrMapOvr>
</p:notes>
</file>

<file path=ppt/notesSlides/notesSlide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Here is why the test design matters. In the single blind test, LightGBM won with a 2.2 percent error. It was the only model whose forecast bent, and it happened to bend in the right years. Across eighteen rolling tests it ranked tenth. Meanwhile VAR, LSTM and XGBoost took the 2021 boom and kept going, ending 25 to 35 percent too high. The lesson for us: one test window can crown the wrong model, so we trust the rolling test.</a:t>
            </a:r>
          </a:p>
        </p:txBody>
      </p:sp>
      <p:sp>
        <p:nvSpPr>
          <p:cNvPr id="4" name="Slide Number Placeholder 3"/>
          <p:cNvSpPr>
            <a:spLocks noGrp="1"/>
          </p:cNvSpPr>
          <p:nvPr>
            <p:ph type="sldNum" idx="5" sz="quarter"/>
          </p:nvPr>
        </p:nvSpPr>
        <p:spPr/>
      </p:sp>
    </p:spTree>
  </p:cSld>
  <p:clrMapOvr>
    <a:masterClrMapping/>
  </p:clrMapOvr>
</p:notes>
</file>

<file path=ppt/notesSlides/notesSlide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We also asked three chat LLMs, Claude, GPT and Gemini, to forecast at the same eighteen dates, through their APIs, one fresh request per prompt, with only the data up to each date and no code. At first they looked brilliant: between 1.3 and 1.6 percent error, far better than ARIMAX. But every one of these dates is before the models' training cutoff, so they may simply remember what LA prices did next. So we hid the clues: no place, no dates, no mortgage rate, only the last ten years of a rescaled index. Claude's error went from 1.3 to 2.8 percent, GPT's to 2.7, and Gemini's to 3.0. At twelve months ahead the drop is even bigger. Once they cannot recognize the period, the best LLMs forecast about as well as ARIMAX, not better. The lesson: you cannot backtest an LLM on years it has already read about.</a:t>
            </a:r>
          </a:p>
        </p:txBody>
      </p:sp>
      <p:sp>
        <p:nvSpPr>
          <p:cNvPr id="4" name="Slide Number Placeholder 3"/>
          <p:cNvSpPr>
            <a:spLocks noGrp="1"/>
          </p:cNvSpPr>
          <p:nvPr>
            <p:ph type="sldNum" idx="5" sz="quarter"/>
          </p:nvPr>
        </p:nvSpPr>
        <p:spPr/>
      </p:sp>
    </p:spTree>
  </p:cSld>
  <p:clrMapOvr>
    <a:masterClrMapping/>
  </p:clrMapOvr>
</p:notes>
</file>

<file path=ppt/notesSlides/notesSlide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How much do mortgage rates matter? We used the VAR from class and traced an impulse response: what happens to LA home values after a one-point rise in the mortgage rate. Values barely move for the first few months, then fall steadily: about 4.5 percent lower after a year and about 9 percent lower after two, and the 90 percent band stays below zero from about a year on. A Granger causality test agrees on the direction, though only borderline: past rates help predict home values, p equals 0.052, but past home values do not help predict rates. Inside ARIMAX itself, neither outside variable is significant on its own: the rate term has the expected negative sign but p is 0.16, and payroll jobs have p 0.29. The rate's value shows up out of sample, where ARIMAX ranks first. The effect is slow, which is why it only helps our forecasts at the 12-month horizon, and even there a simple naive drift is about as good. We also added local payroll jobs. They looked like a leading signal too, but only because of the 2020 job crash and rebound; using data before 2020, jobs predict nothing. Two checks. There is no look-ahead: ARIMAX uses rates from 24 months back, so a 12-month forecast only uses rates we already knew. And the effect is permanent while rates stay high: run out ten years, values settle about 12 percent lower.</a:t>
            </a:r>
          </a:p>
        </p:txBody>
      </p:sp>
      <p:sp>
        <p:nvSpPr>
          <p:cNvPr id="4" name="Slide Number Placeholder 3"/>
          <p:cNvSpPr>
            <a:spLocks noGrp="1"/>
          </p:cNvSpPr>
          <p:nvPr>
            <p:ph type="sldNum" idx="5" sz="quarter"/>
          </p:nvPr>
        </p:nvSpPr>
        <p:spPr/>
      </p:sp>
    </p:spTree>
  </p:cSld>
  <p:clrMapOvr>
    <a:masterClrMapping/>
  </p:clrMapOvr>
</p:notes>
</file>

<file path=ppt/notesSlides/notesSlide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Now below the metro level. Over the last twelve months, 220 LA-metro neighborhoods rose more than 2 percent, 216 were flat, and 60 fell. Let me show you on our live map. [Switch to the browser.] Each dot is a neighborhood; blue is rising, red is falling. Expensive coastal pockets like North of Montana in Santa Monica, Point Dume in Malibu and Corona del Mar are blue: the high-end areas that fell hardest in 2023 are leading now. Central LA, Koreatown, Westlake and Downtown, is red. [Click one neighborhood.] Each one shows its value, its change, and our 12-month forecast. Pacific Palisades is down because of the January 2025 fire, not the market. [Back to the slides.] After the 2022 rate jump, pricier LA County neighborhoods fell the most, and 152 of 496 are still below their 2022 peak.</a:t>
            </a:r>
          </a:p>
        </p:txBody>
      </p:sp>
      <p:sp>
        <p:nvSpPr>
          <p:cNvPr id="4" name="Slide Number Placeholder 3"/>
          <p:cNvSpPr>
            <a:spLocks noGrp="1"/>
          </p:cNvSpPr>
          <p:nvPr>
            <p:ph type="sldNum" idx="5" sz="quarter"/>
          </p:nvPr>
        </p:nvSpPr>
        <p:spPr/>
      </p:sp>
    </p:spTree>
  </p:cSld>
  <p:clrMapOvr>
    <a:masterClrMapping/>
  </p:clrMapOvr>
</p:notes>
</file>

<file path=ppt/notesSlides/notesSlide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 what happens next? Our best model forecasts the typical LA home at about 998 thousand dollars in August 2027, up 4.8 percent. ARIMA and naive drift agree closely. The honest headline is the range: the 80 percent interval runs from a 6 percent fall to a 17 percent rise. Neighborhood forecasts are a bit stronger in Orange County than in LA County. Because rates act with a two-year lag, today's rates mostly affect 2028, not this forecast. One caution from our misprediction check: like any ARIMA-type model, ours misses turning points. In early 2022 it forecast the boom to continue, 10 to 15 percent too high, and in January 2023 it forecast a further fall when prices rebounded. So treat this as the trend path, not a call on the next turn.</a:t>
            </a:r>
          </a:p>
        </p:txBody>
      </p:sp>
      <p:sp>
        <p:nvSpPr>
          <p:cNvPr id="4" name="Slide Number Placeholder 3"/>
          <p:cNvSpPr>
            <a:spLocks noGrp="1"/>
          </p:cNvSpPr>
          <p:nvPr>
            <p:ph type="sldNum" idx="5" sz="quarter"/>
          </p:nvPr>
        </p:nvSpPr>
        <p:spPr/>
      </p:sp>
    </p:spTree>
  </p:cSld>
  <p:clrMapOvr>
    <a:masterClrMapping/>
  </p:clrMapOvr>
</p:notes>
</file>

<file path=ppt/notesSlides/notesSlide1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Five takeaways. First, for a smooth monthly housing index, simple models beat complex ones, including the Chronos foundation model. Second, how you test decides who wins: one blind window would have picked the wrong model. Third, and the same lesson for AI: you cannot backtest a chat LLM on years it has already read about. Fourth, mortgage rates matter, but slowly: a one-point rise lowers values about nine percent over two years, and local jobs add nothing on top. And fifth, the metro average hides a split market. One common factor drives most of the movement across neighborhoods, but each neighborhood's own trend is what you need to forecast it. If you are buying or lending in LA, look at the neighborhood, not the metro number. Thank you.</a:t>
            </a:r>
          </a:p>
        </p:txBody>
      </p:sp>
      <p:sp>
        <p:nvSpPr>
          <p:cNvPr id="4" name="Slide Number Placeholder 3"/>
          <p:cNvSpPr>
            <a:spLocks noGrp="1"/>
          </p:cNvSpPr>
          <p:nvPr>
            <p:ph type="sldNum" idx="5" sz="quarter"/>
          </p:nvPr>
        </p:nvSpPr>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smtClean="0"/>
              <a:t>Click to edit Master title style</a:t>
            </a:r>
            <a:endParaRPr lang="en-US"/>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smtClean="0"/>
              <a:t>Click to edit Master subtitle style</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16807558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idx="1"/>
          </p:nvPr>
        </p:nvSpPr>
        <p:spPr/>
        <p:txBody>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61431425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smtClean="0"/>
              <a:t>Click to edit Master title style</a:t>
            </a:r>
            <a:endParaRPr lang="en-US"/>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smtClean="0"/>
              <a:t>Click to edit Master text styles</a:t>
            </a:r>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6064837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78224494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smtClean="0"/>
              <a:t>Click to edit Master title style</a:t>
            </a:r>
            <a:endParaRPr lang="en-US"/>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7" name="Date Placeholder 6"/>
          <p:cNvSpPr>
            <a:spLocks noGrp="1"/>
          </p:cNvSpPr>
          <p:nvPr>
            <p:ph type="dt" sz="half" idx="10"/>
          </p:nvPr>
        </p:nvSpPr>
        <p:spPr/>
        <p:txBody>
          <a:bodyPr/>
          <a:lstStyle/>
          <a:p>
            <a:fld id="{5BCAD085-E8A6-8845-BD4E-CB4CCA059FC4}" type="datetimeFigureOut">
              <a:rPr lang="en-US" smtClean="0"/>
              <a:t>1/27/13</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9015873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Date Placeholder 2"/>
          <p:cNvSpPr>
            <a:spLocks noGrp="1"/>
          </p:cNvSpPr>
          <p:nvPr>
            <p:ph type="dt" sz="half" idx="10"/>
          </p:nvPr>
        </p:nvSpPr>
        <p:spPr/>
        <p:txBody>
          <a:bodyPr/>
          <a:lstStyle/>
          <a:p>
            <a:fld id="{5BCAD085-E8A6-8845-BD4E-CB4CCA059FC4}" type="datetimeFigureOut">
              <a:rPr lang="en-US" smtClean="0"/>
              <a:t>1/27/13</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72702771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BCAD085-E8A6-8845-BD4E-CB4CCA059FC4}" type="datetimeFigureOut">
              <a:rPr lang="en-US" smtClean="0"/>
              <a:t>1/27/13</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21299981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smtClean="0"/>
              <a:t>Click to edit Master title style</a:t>
            </a:r>
            <a:endParaRPr lang="en-US"/>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84072656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smtClean="0"/>
              <a:t>Click to edit Master title style</a:t>
            </a:r>
            <a:endParaRPr lang="en-US"/>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88923693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Vertical Text Placeholder 2"/>
          <p:cNvSpPr>
            <a:spLocks noGrp="1"/>
          </p:cNvSpPr>
          <p:nvPr>
            <p:ph type="body" orient="vert" idx="1"/>
          </p:nvPr>
        </p:nvSpPr>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91092796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smtClean="0"/>
              <a:t>Click to edit Master title style</a:t>
            </a:r>
            <a:endParaRPr lang="en-US"/>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612223792"/>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smtClean="0"/>
              <a:t>Click to edit Master title style</a:t>
            </a:r>
            <a:endParaRPr lang="en-US"/>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5BCAD085-E8A6-8845-BD4E-CB4CCA059FC4}" type="datetimeFigureOut">
              <a:rPr lang="en-US" smtClean="0"/>
              <a:t>1/27/13</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1FF6DA9-008F-8B48-92A6-B652298478BF}" type="slidenum">
              <a:rPr lang="en-US" smtClean="0"/>
              <a:t>‹#›</a:t>
            </a:fld>
            <a:endParaRPr lang="en-US"/>
          </a:p>
        </p:txBody>
      </p:sp>
    </p:spTree>
    <p:extLst>
      <p:ext uri="{BB962C8B-B14F-4D97-AF65-F5344CB8AC3E}">
        <p14:creationId xmlns:p14="http://schemas.microsoft.com/office/powerpoint/2010/main" val="220997751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4572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 Id="rId3"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png"/><Relationship Id="rId3"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chart" Target="../charts/chart1.xml"/><Relationship Id="rId3"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png"/><Relationship Id="rId3"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4.png"/><Relationship Id="rId3"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5.png"/><Relationship Id="rId3"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6.png"/><Relationship Id="rId3"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7.png"/><Relationship Id="rId3"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0.xml"/></Relationships>
</file>

<file path=ppt/slides/slide1.xml><?xml version="1.0" encoding="utf-8"?>
<p:sld xmlns:a="http://schemas.openxmlformats.org/drawingml/2006/main" xmlns:p="http://schemas.openxmlformats.org/presentationml/2006/main" xmlns:r="http://schemas.openxmlformats.org/officeDocument/2006/relationships">
  <p:cSld>
    <p:bg>
      <p:bgPr>
        <a:solidFill>
          <a:srgbClr val="FAF8F4"/>
        </a:solidFill>
        <a:effectLst/>
      </p:bgPr>
    </p:bg>
    <p:spTree>
      <p:nvGrpSpPr>
        <p:cNvPr id="1" name=""/>
        <p:cNvGrpSpPr/>
        <p:nvPr/>
      </p:nvGrpSpPr>
      <p:grpSpPr/>
      <p:sp>
        <p:nvSpPr>
          <p:cNvPr id="2" name="TextBox 1"/>
          <p:cNvSpPr txBox="1"/>
          <p:nvPr/>
        </p:nvSpPr>
        <p:spPr>
          <a:xfrm>
            <a:off x="548640" y="502920"/>
            <a:ext cx="4206240" cy="274320"/>
          </a:xfrm>
          <a:prstGeom prst="rect">
            <a:avLst/>
          </a:prstGeom>
          <a:noFill/>
          <a:ln/>
        </p:spPr>
        <p:txBody>
          <a:bodyPr wrap="square" anchor="t" lIns="25400" rIns="25400" tIns="25400" bIns="25400">
            <a:spAutoFit/>
          </a:bodyPr>
          <a:lstStyle/>
          <a:p>
            <a:pPr algn="l">
              <a:lnSpc>
                <a:spcPct val="100000"/>
              </a:lnSpc>
              <a:spcBef>
                <a:spcPts val="0"/>
              </a:spcBef>
              <a:spcAft>
                <a:spcPts val="600"/>
              </a:spcAft>
            </a:pPr>
            <a:r>
              <a:rPr sz="950" b="1" i="0">
                <a:solidFill>
                  <a:srgbClr val="1F6F8B"/>
                </a:solidFill>
                <a:latin typeface="Arial"/>
              </a:rPr>
              <a:t>MGMTMSA 437 · FINAL PROJECT · OCTOBER 2026</a:t>
            </a:r>
          </a:p>
        </p:txBody>
      </p:sp>
      <p:sp>
        <p:nvSpPr>
          <p:cNvPr id="3" name="TextBox 2"/>
          <p:cNvSpPr txBox="1"/>
          <p:nvPr/>
        </p:nvSpPr>
        <p:spPr>
          <a:xfrm>
            <a:off x="548640" y="868680"/>
            <a:ext cx="4206240" cy="1737360"/>
          </a:xfrm>
          <a:prstGeom prst="rect">
            <a:avLst/>
          </a:prstGeom>
          <a:noFill/>
          <a:ln/>
        </p:spPr>
        <p:txBody>
          <a:bodyPr wrap="square" anchor="t" lIns="25400" rIns="25400" tIns="25400" bIns="25400">
            <a:spAutoFit/>
          </a:bodyPr>
          <a:lstStyle/>
          <a:p>
            <a:pPr algn="l">
              <a:lnSpc>
                <a:spcPct val="100000"/>
              </a:lnSpc>
              <a:spcBef>
                <a:spcPts val="0"/>
              </a:spcBef>
              <a:spcAft>
                <a:spcPts val="600"/>
              </a:spcAft>
            </a:pPr>
            <a:r>
              <a:rPr sz="3400" b="1" i="0">
                <a:solidFill>
                  <a:srgbClr val="16213E"/>
                </a:solidFill>
                <a:latin typeface="Arial"/>
              </a:rPr>
              <a:t>Forecasting LA Home Values</a:t>
            </a:r>
          </a:p>
        </p:txBody>
      </p:sp>
      <p:sp>
        <p:nvSpPr>
          <p:cNvPr id="4" name="Rectangle 3"/>
          <p:cNvSpPr/>
          <p:nvPr/>
        </p:nvSpPr>
        <p:spPr>
          <a:xfrm>
            <a:off x="548640" y="2697480"/>
            <a:ext cx="1097280" cy="36576"/>
          </a:xfrm>
          <a:prstGeom prst="rect">
            <a:avLst/>
          </a:prstGeom>
          <a:solidFill>
            <a:srgbClr val="B4400B"/>
          </a:solidFill>
          <a:ln>
            <a:noFill/>
          </a:ln>
          <a:effectLst/>
        </p:spPr>
        <p:txBody>
          <a:bodyPr rtlCol="0" anchor="ctr"/>
          <a:lstStyle/>
          <a:p>
            <a:pPr algn="ctr"/>
          </a:p>
        </p:txBody>
      </p:sp>
      <p:sp>
        <p:nvSpPr>
          <p:cNvPr id="5" name="TextBox 4"/>
          <p:cNvSpPr txBox="1"/>
          <p:nvPr/>
        </p:nvSpPr>
        <p:spPr>
          <a:xfrm>
            <a:off x="548640" y="2880360"/>
            <a:ext cx="4023360" cy="822960"/>
          </a:xfrm>
          <a:prstGeom prst="rect">
            <a:avLst/>
          </a:prstGeom>
          <a:noFill/>
          <a:ln/>
        </p:spPr>
        <p:txBody>
          <a:bodyPr wrap="square" anchor="t" lIns="25400" rIns="25400" tIns="25400" bIns="25400">
            <a:spAutoFit/>
          </a:bodyPr>
          <a:lstStyle/>
          <a:p>
            <a:pPr algn="l">
              <a:lnSpc>
                <a:spcPct val="100000"/>
              </a:lnSpc>
              <a:spcBef>
                <a:spcPts val="0"/>
              </a:spcBef>
              <a:spcAft>
                <a:spcPts val="600"/>
              </a:spcAft>
            </a:pPr>
            <a:r>
              <a:rPr sz="1400" b="0" i="0">
                <a:solidFill>
                  <a:srgbClr val="3D4A5C"/>
                </a:solidFill>
                <a:latin typeface="Arial"/>
              </a:rPr>
              <a:t>Mortgage rates more than doubled after 2021. Did LA home values get harder to predict?</a:t>
            </a:r>
          </a:p>
        </p:txBody>
      </p:sp>
      <p:sp>
        <p:nvSpPr>
          <p:cNvPr id="6" name="TextBox 5"/>
          <p:cNvSpPr txBox="1"/>
          <p:nvPr/>
        </p:nvSpPr>
        <p:spPr>
          <a:xfrm>
            <a:off x="548640" y="3703320"/>
            <a:ext cx="4206240" cy="457200"/>
          </a:xfrm>
          <a:prstGeom prst="rect">
            <a:avLst/>
          </a:prstGeom>
          <a:noFill/>
          <a:ln/>
        </p:spPr>
        <p:txBody>
          <a:bodyPr wrap="square" anchor="t" lIns="25400" rIns="25400" tIns="25400" bIns="25400">
            <a:spAutoFit/>
          </a:bodyPr>
          <a:lstStyle/>
          <a:p>
            <a:pPr algn="l">
              <a:lnSpc>
                <a:spcPct val="100000"/>
              </a:lnSpc>
              <a:spcBef>
                <a:spcPts val="0"/>
              </a:spcBef>
              <a:spcAft>
                <a:spcPts val="200"/>
              </a:spcAft>
            </a:pPr>
            <a:r>
              <a:rPr sz="1100" b="1" i="0">
                <a:solidFill>
                  <a:srgbClr val="16213E"/>
                </a:solidFill>
                <a:latin typeface="Arial"/>
              </a:rPr>
              <a:t>Yang Liu  ·  Jinwoo Roh</a:t>
            </a:r>
          </a:p>
          <a:p>
            <a:pPr algn="l">
              <a:lnSpc>
                <a:spcPct val="100000"/>
              </a:lnSpc>
              <a:spcBef>
                <a:spcPts val="0"/>
              </a:spcBef>
              <a:spcAft>
                <a:spcPts val="200"/>
              </a:spcAft>
            </a:pPr>
            <a:r>
              <a:rPr sz="1100" b="1" i="0">
                <a:solidFill>
                  <a:srgbClr val="16213E"/>
                </a:solidFill>
                <a:latin typeface="Arial"/>
              </a:rPr>
              <a:t>Yiu-Hon Lee  ·  Thanapol Doungsaeng</a:t>
            </a:r>
          </a:p>
        </p:txBody>
      </p:sp>
      <p:sp>
        <p:nvSpPr>
          <p:cNvPr id="7" name="TextBox 6"/>
          <p:cNvSpPr txBox="1"/>
          <p:nvPr/>
        </p:nvSpPr>
        <p:spPr>
          <a:xfrm>
            <a:off x="548640" y="4206240"/>
            <a:ext cx="4023360" cy="457200"/>
          </a:xfrm>
          <a:prstGeom prst="rect">
            <a:avLst/>
          </a:prstGeom>
          <a:noFill/>
          <a:ln/>
        </p:spPr>
        <p:txBody>
          <a:bodyPr wrap="square" anchor="t" lIns="25400" rIns="25400" tIns="25400" bIns="25400">
            <a:spAutoFit/>
          </a:bodyPr>
          <a:lstStyle/>
          <a:p>
            <a:pPr algn="l">
              <a:lnSpc>
                <a:spcPct val="100000"/>
              </a:lnSpc>
              <a:spcBef>
                <a:spcPts val="0"/>
              </a:spcBef>
              <a:spcAft>
                <a:spcPts val="600"/>
              </a:spcAft>
            </a:pPr>
            <a:r>
              <a:rPr sz="950" b="0" i="0">
                <a:solidFill>
                  <a:srgbClr val="6B6F76"/>
                </a:solidFill>
                <a:latin typeface="Arial"/>
              </a:rPr>
              <a:t>Zillow Home Value Index, LA metro, Jan 2000 to Aug 2026, plus 499 neighborhoods and the 30-year mortgage rate</a:t>
            </a:r>
          </a:p>
        </p:txBody>
      </p:sp>
      <p:pic>
        <p:nvPicPr>
          <p:cNvPr id="8" name="Picture 7" descr="LA metro typical home value 2000 to 2026 with a dashed 12-month forecast and its 80% band" title="LA metro typical home value 2000 to 2026 with a dashed 12-month forecast and its 80% band"/>
          <p:cNvPicPr>
            <a:picLocks noChangeAspect="1"/>
          </p:cNvPicPr>
          <p:nvPr/>
        </p:nvPicPr>
        <p:blipFill>
          <a:blip r:embed="rId2"/>
          <a:stretch>
            <a:fillRect/>
          </a:stretch>
        </p:blipFill>
        <p:spPr>
          <a:xfrm>
            <a:off x="4846320" y="1331021"/>
            <a:ext cx="3931920" cy="2550036"/>
          </a:xfrm>
          <a:prstGeom prst="rect">
            <a:avLst/>
          </a:prstGeom>
        </p:spPr>
      </p:pic>
      <p:sp>
        <p:nvSpPr>
          <p:cNvPr id="9" name="TextBox 8"/>
          <p:cNvSpPr txBox="1"/>
          <p:nvPr/>
        </p:nvSpPr>
        <p:spPr>
          <a:xfrm>
            <a:off x="4937760" y="4434840"/>
            <a:ext cx="3840480" cy="274320"/>
          </a:xfrm>
          <a:prstGeom prst="rect">
            <a:avLst/>
          </a:prstGeom>
          <a:noFill/>
          <a:ln/>
        </p:spPr>
        <p:txBody>
          <a:bodyPr wrap="square" anchor="t" lIns="25400" rIns="25400" tIns="25400" bIns="25400">
            <a:spAutoFit/>
          </a:bodyPr>
          <a:lstStyle/>
          <a:p>
            <a:pPr algn="l">
              <a:lnSpc>
                <a:spcPct val="100000"/>
              </a:lnSpc>
              <a:spcBef>
                <a:spcPts val="0"/>
              </a:spcBef>
              <a:spcAft>
                <a:spcPts val="600"/>
              </a:spcAft>
            </a:pPr>
            <a:r>
              <a:rPr sz="900" b="0" i="0">
                <a:solidFill>
                  <a:srgbClr val="6B6F76"/>
                </a:solidFill>
                <a:latin typeface="Arial"/>
              </a:rPr>
              <a:t>Solid: actual  ·  Dashed: our forecast to Aug 2027</a:t>
            </a:r>
          </a:p>
        </p:txBody>
      </p:sp>
    </p:spTree>
  </p:cSld>
  <p:clrMapOvr>
    <a:masterClrMapping/>
  </p:clrMapOvr>
</p:sld>
</file>

<file path=ppt/slides/slide2.xml><?xml version="1.0" encoding="utf-8"?>
<p:sld xmlns:a="http://schemas.openxmlformats.org/drawingml/2006/main" xmlns:p="http://schemas.openxmlformats.org/presentationml/2006/main" xmlns:r="http://schemas.openxmlformats.org/officeDocument/2006/relationships">
  <p:cSld>
    <p:bg>
      <p:bgPr>
        <a:solidFill>
          <a:srgbClr val="FAF8F4"/>
        </a:solidFill>
        <a:effectLst/>
      </p:bgPr>
    </p:bg>
    <p:spTree>
      <p:nvGrpSpPr>
        <p:cNvPr id="1" name=""/>
        <p:cNvGrpSpPr/>
        <p:nvPr/>
      </p:nvGrpSpPr>
      <p:grpSpPr/>
      <p:sp>
        <p:nvSpPr>
          <p:cNvPr id="2" name="deckkit-chrome-title"/>
          <p:cNvSpPr txBox="1"/>
          <p:nvPr/>
        </p:nvSpPr>
        <p:spPr>
          <a:xfrm>
            <a:off x="502920" y="274320"/>
            <a:ext cx="8138160" cy="274320"/>
          </a:xfrm>
          <a:prstGeom prst="rect">
            <a:avLst/>
          </a:prstGeom>
          <a:noFill/>
          <a:ln/>
        </p:spPr>
        <p:txBody>
          <a:bodyPr wrap="square" anchor="t" lIns="25400" rIns="25400" tIns="25400" bIns="25400">
            <a:spAutoFit/>
          </a:bodyPr>
          <a:lstStyle/>
          <a:p>
            <a:pPr algn="l">
              <a:lnSpc>
                <a:spcPct val="100000"/>
              </a:lnSpc>
              <a:spcBef>
                <a:spcPts val="0"/>
              </a:spcBef>
              <a:spcAft>
                <a:spcPts val="0"/>
              </a:spcAft>
            </a:pPr>
            <a:r>
              <a:rPr sz="1100" b="1" i="0">
                <a:solidFill>
                  <a:srgbClr val="1F6F8B"/>
                </a:solidFill>
                <a:latin typeface="Arial"/>
              </a:rPr>
              <a:t>THE QUESTION</a:t>
            </a:r>
          </a:p>
        </p:txBody>
      </p:sp>
      <p:sp>
        <p:nvSpPr>
          <p:cNvPr id="3" name="deckkit-chrome-title"/>
          <p:cNvSpPr txBox="1"/>
          <p:nvPr/>
        </p:nvSpPr>
        <p:spPr>
          <a:xfrm>
            <a:off x="502920" y="493776"/>
            <a:ext cx="8138160" cy="792479"/>
          </a:xfrm>
          <a:prstGeom prst="rect">
            <a:avLst/>
          </a:prstGeom>
          <a:noFill/>
          <a:ln/>
        </p:spPr>
        <p:txBody>
          <a:bodyPr wrap="square" anchor="t" lIns="25400" rIns="25400" tIns="25400" bIns="25400">
            <a:spAutoFit/>
          </a:bodyPr>
          <a:lstStyle/>
          <a:p>
            <a:pPr algn="l">
              <a:lnSpc>
                <a:spcPct val="100000"/>
              </a:lnSpc>
              <a:spcBef>
                <a:spcPts val="0"/>
              </a:spcBef>
              <a:spcAft>
                <a:spcPts val="0"/>
              </a:spcAft>
            </a:pPr>
            <a:r>
              <a:rPr sz="2600" b="1" i="0">
                <a:solidFill>
                  <a:srgbClr val="16213E"/>
                </a:solidFill>
                <a:latin typeface="Arial"/>
              </a:rPr>
              <a:t>LA values grew 5.6% a year for 26 years, then stalled when rates hit 7%</a:t>
            </a:r>
          </a:p>
        </p:txBody>
      </p:sp>
      <p:sp>
        <p:nvSpPr>
          <p:cNvPr id="4" name="deckkit-chrome-title"/>
          <p:cNvSpPr/>
          <p:nvPr/>
        </p:nvSpPr>
        <p:spPr>
          <a:xfrm>
            <a:off x="521207" y="1341120"/>
            <a:ext cx="1005840" cy="41148"/>
          </a:xfrm>
          <a:prstGeom prst="rect">
            <a:avLst/>
          </a:prstGeom>
          <a:solidFill>
            <a:srgbClr val="1F6F8B"/>
          </a:solidFill>
          <a:ln>
            <a:noFill/>
          </a:ln>
          <a:effectLst/>
        </p:spPr>
        <p:txBody>
          <a:bodyPr rtlCol="0" anchor="ctr"/>
          <a:lstStyle/>
          <a:p>
            <a:pPr algn="ctr"/>
          </a:p>
        </p:txBody>
      </p:sp>
      <p:sp>
        <p:nvSpPr>
          <p:cNvPr id="5" name="TextBox 4"/>
          <p:cNvSpPr txBox="1"/>
          <p:nvPr/>
        </p:nvSpPr>
        <p:spPr>
          <a:xfrm>
            <a:off x="502920" y="4823460"/>
            <a:ext cx="5486400" cy="274320"/>
          </a:xfrm>
          <a:prstGeom prst="rect">
            <a:avLst/>
          </a:prstGeom>
          <a:noFill/>
          <a:ln/>
        </p:spPr>
        <p:txBody>
          <a:bodyPr wrap="square" anchor="t" lIns="25400" rIns="25400" tIns="25400" bIns="25400">
            <a:spAutoFit/>
          </a:bodyPr>
          <a:lstStyle/>
          <a:p>
            <a:pPr algn="l">
              <a:lnSpc>
                <a:spcPct val="100000"/>
              </a:lnSpc>
              <a:spcBef>
                <a:spcPts val="0"/>
              </a:spcBef>
              <a:spcAft>
                <a:spcPts val="0"/>
              </a:spcAft>
            </a:pPr>
            <a:r>
              <a:rPr sz="800" b="0" i="0">
                <a:solidFill>
                  <a:srgbClr val="6B6F76"/>
                </a:solidFill>
                <a:latin typeface="Arial"/>
              </a:rPr>
              <a:t>MGMTMSA 437 · Forecasting LA Home Values · Data: Zillow ZHVI, FRED, BLS</a:t>
            </a:r>
          </a:p>
        </p:txBody>
      </p:sp>
      <p:sp>
        <p:nvSpPr>
          <p:cNvPr id="6" name="TextBox 5"/>
          <p:cNvSpPr txBox="1"/>
          <p:nvPr/>
        </p:nvSpPr>
        <p:spPr>
          <a:xfrm>
            <a:off x="8229600" y="4823460"/>
            <a:ext cx="548640" cy="274320"/>
          </a:xfrm>
          <a:prstGeom prst="rect">
            <a:avLst/>
          </a:prstGeom>
          <a:noFill/>
          <a:ln/>
        </p:spPr>
        <p:txBody>
          <a:bodyPr wrap="square" anchor="t" lIns="25400" rIns="25400" tIns="25400" bIns="25400">
            <a:spAutoFit/>
          </a:bodyPr>
          <a:lstStyle/>
          <a:p>
            <a:pPr algn="r">
              <a:lnSpc>
                <a:spcPct val="100000"/>
              </a:lnSpc>
              <a:spcBef>
                <a:spcPts val="0"/>
              </a:spcBef>
              <a:spcAft>
                <a:spcPts val="0"/>
              </a:spcAft>
            </a:pPr>
            <a:r>
              <a:rPr sz="900" b="1" i="0">
                <a:solidFill>
                  <a:srgbClr val="6B6F76"/>
                </a:solidFill>
                <a:latin typeface="Arial"/>
              </a:rPr>
              <a:t>2</a:t>
            </a:r>
          </a:p>
        </p:txBody>
      </p:sp>
      <p:pic>
        <p:nvPicPr>
          <p:cNvPr id="7" name="Picture 6" descr="LA ZHVI 2000-2026 above the 30-year mortgage rate; test window shaded" title="LA ZHVI 2000-2026 above the 30-year mortgage rate; test window shaded"/>
          <p:cNvPicPr>
            <a:picLocks noChangeAspect="1"/>
          </p:cNvPicPr>
          <p:nvPr/>
        </p:nvPicPr>
        <p:blipFill>
          <a:blip r:embed="rId2"/>
          <a:stretch>
            <a:fillRect/>
          </a:stretch>
        </p:blipFill>
        <p:spPr>
          <a:xfrm>
            <a:off x="794726" y="1569720"/>
            <a:ext cx="4537027" cy="2933699"/>
          </a:xfrm>
          <a:prstGeom prst="rect">
            <a:avLst/>
          </a:prstGeom>
        </p:spPr>
      </p:pic>
      <p:sp>
        <p:nvSpPr>
          <p:cNvPr id="8" name="TextBox 7"/>
          <p:cNvSpPr txBox="1"/>
          <p:nvPr/>
        </p:nvSpPr>
        <p:spPr>
          <a:xfrm>
            <a:off x="5989320" y="1661160"/>
            <a:ext cx="2743200" cy="406400"/>
          </a:xfrm>
          <a:prstGeom prst="rect">
            <a:avLst/>
          </a:prstGeom>
          <a:noFill/>
          <a:ln/>
        </p:spPr>
        <p:txBody>
          <a:bodyPr wrap="none" anchor="t" lIns="25400" rIns="25400" tIns="25400" bIns="25400">
            <a:spAutoFit/>
          </a:bodyPr>
          <a:lstStyle/>
          <a:p>
            <a:pPr algn="l">
              <a:lnSpc>
                <a:spcPct val="100000"/>
              </a:lnSpc>
              <a:spcBef>
                <a:spcPts val="0"/>
              </a:spcBef>
              <a:spcAft>
                <a:spcPts val="600"/>
              </a:spcAft>
            </a:pPr>
            <a:r>
              <a:rPr sz="2600" b="1" i="0">
                <a:solidFill>
                  <a:srgbClr val="16213E"/>
                </a:solidFill>
                <a:latin typeface="Arial"/>
              </a:rPr>
              <a:t>$952,601</a:t>
            </a:r>
          </a:p>
        </p:txBody>
      </p:sp>
      <p:sp>
        <p:nvSpPr>
          <p:cNvPr id="9" name="TextBox 8"/>
          <p:cNvSpPr txBox="1"/>
          <p:nvPr/>
        </p:nvSpPr>
        <p:spPr>
          <a:xfrm>
            <a:off x="5989320" y="2067560"/>
            <a:ext cx="2743200" cy="149352"/>
          </a:xfrm>
          <a:prstGeom prst="rect">
            <a:avLst/>
          </a:prstGeom>
          <a:noFill/>
          <a:ln/>
        </p:spPr>
        <p:txBody>
          <a:bodyPr wrap="square" anchor="t" lIns="25400" rIns="25400" tIns="25400" bIns="25400">
            <a:spAutoFit/>
          </a:bodyPr>
          <a:lstStyle/>
          <a:p>
            <a:pPr algn="l">
              <a:lnSpc>
                <a:spcPct val="100000"/>
              </a:lnSpc>
              <a:spcBef>
                <a:spcPts val="0"/>
              </a:spcBef>
              <a:spcAft>
                <a:spcPts val="600"/>
              </a:spcAft>
            </a:pPr>
            <a:r>
              <a:rPr sz="1050" b="0" i="0">
                <a:solidFill>
                  <a:srgbClr val="6B6F76"/>
                </a:solidFill>
                <a:latin typeface="Arial"/>
              </a:rPr>
              <a:t>typical LA-metro home, August 2026</a:t>
            </a:r>
          </a:p>
        </p:txBody>
      </p:sp>
      <p:sp>
        <p:nvSpPr>
          <p:cNvPr id="10" name="TextBox 9"/>
          <p:cNvSpPr txBox="1"/>
          <p:nvPr/>
        </p:nvSpPr>
        <p:spPr>
          <a:xfrm>
            <a:off x="5989320" y="2418080"/>
            <a:ext cx="2743200" cy="406400"/>
          </a:xfrm>
          <a:prstGeom prst="rect">
            <a:avLst/>
          </a:prstGeom>
          <a:noFill/>
          <a:ln/>
        </p:spPr>
        <p:txBody>
          <a:bodyPr wrap="none" anchor="t" lIns="25400" rIns="25400" tIns="25400" bIns="25400">
            <a:spAutoFit/>
          </a:bodyPr>
          <a:lstStyle/>
          <a:p>
            <a:pPr algn="l">
              <a:lnSpc>
                <a:spcPct val="100000"/>
              </a:lnSpc>
              <a:spcBef>
                <a:spcPts val="0"/>
              </a:spcBef>
              <a:spcAft>
                <a:spcPts val="600"/>
              </a:spcAft>
            </a:pPr>
            <a:r>
              <a:rPr sz="2600" b="1" i="0">
                <a:solidFill>
                  <a:srgbClr val="B4400B"/>
                </a:solidFill>
                <a:latin typeface="Arial"/>
              </a:rPr>
              <a:t>-1.3%</a:t>
            </a:r>
          </a:p>
        </p:txBody>
      </p:sp>
      <p:sp>
        <p:nvSpPr>
          <p:cNvPr id="11" name="TextBox 10"/>
          <p:cNvSpPr txBox="1"/>
          <p:nvPr/>
        </p:nvSpPr>
        <p:spPr>
          <a:xfrm>
            <a:off x="5989320" y="2824480"/>
            <a:ext cx="2743200" cy="149352"/>
          </a:xfrm>
          <a:prstGeom prst="rect">
            <a:avLst/>
          </a:prstGeom>
          <a:noFill/>
          <a:ln/>
        </p:spPr>
        <p:txBody>
          <a:bodyPr wrap="square" anchor="t" lIns="25400" rIns="25400" tIns="25400" bIns="25400">
            <a:spAutoFit/>
          </a:bodyPr>
          <a:lstStyle/>
          <a:p>
            <a:pPr algn="l">
              <a:lnSpc>
                <a:spcPct val="100000"/>
              </a:lnSpc>
              <a:spcBef>
                <a:spcPts val="0"/>
              </a:spcBef>
              <a:spcAft>
                <a:spcPts val="600"/>
              </a:spcAft>
            </a:pPr>
            <a:r>
              <a:rPr sz="1050" b="0" i="0">
                <a:solidFill>
                  <a:srgbClr val="6B6F76"/>
                </a:solidFill>
                <a:latin typeface="Arial"/>
              </a:rPr>
              <a:t>vs the January 2025 peak of $965,634</a:t>
            </a:r>
          </a:p>
        </p:txBody>
      </p:sp>
      <p:sp>
        <p:nvSpPr>
          <p:cNvPr id="12" name="TextBox 11"/>
          <p:cNvSpPr txBox="1"/>
          <p:nvPr/>
        </p:nvSpPr>
        <p:spPr>
          <a:xfrm>
            <a:off x="5989320" y="3175000"/>
            <a:ext cx="2743200" cy="406400"/>
          </a:xfrm>
          <a:prstGeom prst="rect">
            <a:avLst/>
          </a:prstGeom>
          <a:noFill/>
          <a:ln/>
        </p:spPr>
        <p:txBody>
          <a:bodyPr wrap="none" anchor="t" lIns="25400" rIns="25400" tIns="25400" bIns="25400">
            <a:spAutoFit/>
          </a:bodyPr>
          <a:lstStyle/>
          <a:p>
            <a:pPr algn="l">
              <a:lnSpc>
                <a:spcPct val="100000"/>
              </a:lnSpc>
              <a:spcBef>
                <a:spcPts val="0"/>
              </a:spcBef>
              <a:spcAft>
                <a:spcPts val="600"/>
              </a:spcAft>
            </a:pPr>
            <a:r>
              <a:rPr sz="2600" b="1" i="0">
                <a:solidFill>
                  <a:srgbClr val="B4400B"/>
                </a:solidFill>
                <a:latin typeface="Arial"/>
              </a:rPr>
              <a:t>2.7% → 7.6%</a:t>
            </a:r>
          </a:p>
        </p:txBody>
      </p:sp>
      <p:sp>
        <p:nvSpPr>
          <p:cNvPr id="13" name="TextBox 12"/>
          <p:cNvSpPr txBox="1"/>
          <p:nvPr/>
        </p:nvSpPr>
        <p:spPr>
          <a:xfrm>
            <a:off x="5989320" y="3581400"/>
            <a:ext cx="2743200" cy="149352"/>
          </a:xfrm>
          <a:prstGeom prst="rect">
            <a:avLst/>
          </a:prstGeom>
          <a:noFill/>
          <a:ln/>
        </p:spPr>
        <p:txBody>
          <a:bodyPr wrap="square" anchor="t" lIns="25400" rIns="25400" tIns="25400" bIns="25400">
            <a:spAutoFit/>
          </a:bodyPr>
          <a:lstStyle/>
          <a:p>
            <a:pPr algn="l">
              <a:lnSpc>
                <a:spcPct val="100000"/>
              </a:lnSpc>
              <a:spcBef>
                <a:spcPts val="0"/>
              </a:spcBef>
              <a:spcAft>
                <a:spcPts val="600"/>
              </a:spcAft>
            </a:pPr>
            <a:r>
              <a:rPr sz="1050" b="0" i="0">
                <a:solidFill>
                  <a:srgbClr val="6B6F76"/>
                </a:solidFill>
                <a:latin typeface="Arial"/>
              </a:rPr>
              <a:t>30-year mortgage rate, 2021 low to 2023 high</a:t>
            </a:r>
          </a:p>
        </p:txBody>
      </p:sp>
    </p:spTree>
  </p:cSld>
  <p:clrMapOvr>
    <a:masterClrMapping/>
  </p:clrMapOvr>
</p:sld>
</file>

<file path=ppt/slides/slide3.xml><?xml version="1.0" encoding="utf-8"?>
<p:sld xmlns:a="http://schemas.openxmlformats.org/drawingml/2006/main" xmlns:p="http://schemas.openxmlformats.org/presentationml/2006/main" xmlns:r="http://schemas.openxmlformats.org/officeDocument/2006/relationships">
  <p:cSld>
    <p:bg>
      <p:bgPr>
        <a:solidFill>
          <a:srgbClr val="FAF8F4"/>
        </a:solidFill>
        <a:effectLst/>
      </p:bgPr>
    </p:bg>
    <p:spTree>
      <p:nvGrpSpPr>
        <p:cNvPr id="1" name=""/>
        <p:cNvGrpSpPr/>
        <p:nvPr/>
      </p:nvGrpSpPr>
      <p:grpSpPr/>
      <p:sp>
        <p:nvSpPr>
          <p:cNvPr id="2" name="deckkit-chrome-title"/>
          <p:cNvSpPr txBox="1"/>
          <p:nvPr/>
        </p:nvSpPr>
        <p:spPr>
          <a:xfrm>
            <a:off x="502920" y="274320"/>
            <a:ext cx="8138160" cy="274320"/>
          </a:xfrm>
          <a:prstGeom prst="rect">
            <a:avLst/>
          </a:prstGeom>
          <a:noFill/>
          <a:ln/>
        </p:spPr>
        <p:txBody>
          <a:bodyPr wrap="square" anchor="t" lIns="25400" rIns="25400" tIns="25400" bIns="25400">
            <a:spAutoFit/>
          </a:bodyPr>
          <a:lstStyle/>
          <a:p>
            <a:pPr algn="l">
              <a:lnSpc>
                <a:spcPct val="100000"/>
              </a:lnSpc>
              <a:spcBef>
                <a:spcPts val="0"/>
              </a:spcBef>
              <a:spcAft>
                <a:spcPts val="0"/>
              </a:spcAft>
            </a:pPr>
            <a:r>
              <a:rPr sz="1100" b="1" i="0">
                <a:solidFill>
                  <a:srgbClr val="1F6F8B"/>
                </a:solidFill>
                <a:latin typeface="Arial"/>
              </a:rPr>
              <a:t>DATA AND DESIGN</a:t>
            </a:r>
          </a:p>
        </p:txBody>
      </p:sp>
      <p:sp>
        <p:nvSpPr>
          <p:cNvPr id="3" name="deckkit-chrome-title"/>
          <p:cNvSpPr txBox="1"/>
          <p:nvPr/>
        </p:nvSpPr>
        <p:spPr>
          <a:xfrm>
            <a:off x="502920" y="493776"/>
            <a:ext cx="8138160" cy="792479"/>
          </a:xfrm>
          <a:prstGeom prst="rect">
            <a:avLst/>
          </a:prstGeom>
          <a:noFill/>
          <a:ln/>
        </p:spPr>
        <p:txBody>
          <a:bodyPr wrap="square" anchor="t" lIns="25400" rIns="25400" tIns="25400" bIns="25400">
            <a:spAutoFit/>
          </a:bodyPr>
          <a:lstStyle/>
          <a:p>
            <a:pPr algn="l">
              <a:lnSpc>
                <a:spcPct val="100000"/>
              </a:lnSpc>
              <a:spcBef>
                <a:spcPts val="0"/>
              </a:spcBef>
              <a:spcAft>
                <a:spcPts val="0"/>
              </a:spcAft>
            </a:pPr>
            <a:r>
              <a:rPr sz="2600" b="1" i="0">
                <a:solidFill>
                  <a:srgbClr val="16213E"/>
                </a:solidFill>
                <a:latin typeface="Arial"/>
              </a:rPr>
              <a:t>We tested 14 models two ways, so no model could win by luck</a:t>
            </a:r>
          </a:p>
        </p:txBody>
      </p:sp>
      <p:sp>
        <p:nvSpPr>
          <p:cNvPr id="4" name="deckkit-chrome-title"/>
          <p:cNvSpPr/>
          <p:nvPr/>
        </p:nvSpPr>
        <p:spPr>
          <a:xfrm>
            <a:off x="521207" y="1341120"/>
            <a:ext cx="1005840" cy="41148"/>
          </a:xfrm>
          <a:prstGeom prst="rect">
            <a:avLst/>
          </a:prstGeom>
          <a:solidFill>
            <a:srgbClr val="1F6F8B"/>
          </a:solidFill>
          <a:ln>
            <a:noFill/>
          </a:ln>
          <a:effectLst/>
        </p:spPr>
        <p:txBody>
          <a:bodyPr rtlCol="0" anchor="ctr"/>
          <a:lstStyle/>
          <a:p>
            <a:pPr algn="ctr"/>
          </a:p>
        </p:txBody>
      </p:sp>
      <p:sp>
        <p:nvSpPr>
          <p:cNvPr id="5" name="TextBox 4"/>
          <p:cNvSpPr txBox="1"/>
          <p:nvPr/>
        </p:nvSpPr>
        <p:spPr>
          <a:xfrm>
            <a:off x="502920" y="4823460"/>
            <a:ext cx="5486400" cy="274320"/>
          </a:xfrm>
          <a:prstGeom prst="rect">
            <a:avLst/>
          </a:prstGeom>
          <a:noFill/>
          <a:ln/>
        </p:spPr>
        <p:txBody>
          <a:bodyPr wrap="square" anchor="t" lIns="25400" rIns="25400" tIns="25400" bIns="25400">
            <a:spAutoFit/>
          </a:bodyPr>
          <a:lstStyle/>
          <a:p>
            <a:pPr algn="l">
              <a:lnSpc>
                <a:spcPct val="100000"/>
              </a:lnSpc>
              <a:spcBef>
                <a:spcPts val="0"/>
              </a:spcBef>
              <a:spcAft>
                <a:spcPts val="0"/>
              </a:spcAft>
            </a:pPr>
            <a:r>
              <a:rPr sz="800" b="0" i="0">
                <a:solidFill>
                  <a:srgbClr val="6B6F76"/>
                </a:solidFill>
                <a:latin typeface="Arial"/>
              </a:rPr>
              <a:t>MGMTMSA 437 · Forecasting LA Home Values · Data: Zillow ZHVI, FRED, BLS</a:t>
            </a:r>
          </a:p>
        </p:txBody>
      </p:sp>
      <p:sp>
        <p:nvSpPr>
          <p:cNvPr id="6" name="TextBox 5"/>
          <p:cNvSpPr txBox="1"/>
          <p:nvPr/>
        </p:nvSpPr>
        <p:spPr>
          <a:xfrm>
            <a:off x="8229600" y="4823460"/>
            <a:ext cx="548640" cy="274320"/>
          </a:xfrm>
          <a:prstGeom prst="rect">
            <a:avLst/>
          </a:prstGeom>
          <a:noFill/>
          <a:ln/>
        </p:spPr>
        <p:txBody>
          <a:bodyPr wrap="square" anchor="t" lIns="25400" rIns="25400" tIns="25400" bIns="25400">
            <a:spAutoFit/>
          </a:bodyPr>
          <a:lstStyle/>
          <a:p>
            <a:pPr algn="r">
              <a:lnSpc>
                <a:spcPct val="100000"/>
              </a:lnSpc>
              <a:spcBef>
                <a:spcPts val="0"/>
              </a:spcBef>
              <a:spcAft>
                <a:spcPts val="0"/>
              </a:spcAft>
            </a:pPr>
            <a:r>
              <a:rPr sz="900" b="1" i="0">
                <a:solidFill>
                  <a:srgbClr val="6B6F76"/>
                </a:solidFill>
                <a:latin typeface="Arial"/>
              </a:rPr>
              <a:t>3</a:t>
            </a:r>
          </a:p>
        </p:txBody>
      </p:sp>
      <p:sp>
        <p:nvSpPr>
          <p:cNvPr id="7" name="Rounded Rectangle 6"/>
          <p:cNvSpPr/>
          <p:nvPr/>
        </p:nvSpPr>
        <p:spPr>
          <a:xfrm>
            <a:off x="457200" y="3826763"/>
            <a:ext cx="8229600" cy="722376"/>
          </a:xfrm>
          <a:prstGeom prst="roundRect">
            <a:avLst>
              <a:gd name="adj" fmla="val 8000"/>
            </a:avLst>
          </a:prstGeom>
          <a:solidFill>
            <a:srgbClr val="F3ECE3"/>
          </a:solidFill>
          <a:ln>
            <a:noFill/>
          </a:ln>
          <a:effectLst/>
        </p:spPr>
        <p:txBody>
          <a:bodyPr rtlCol="0" anchor="ctr"/>
          <a:lstStyle/>
          <a:p>
            <a:pPr algn="ctr"/>
          </a:p>
        </p:txBody>
      </p:sp>
      <p:sp>
        <p:nvSpPr>
          <p:cNvPr id="8" name="Rectangle 7"/>
          <p:cNvSpPr/>
          <p:nvPr/>
        </p:nvSpPr>
        <p:spPr>
          <a:xfrm>
            <a:off x="457200" y="3884554"/>
            <a:ext cx="64008" cy="606795"/>
          </a:xfrm>
          <a:prstGeom prst="rect">
            <a:avLst/>
          </a:prstGeom>
          <a:solidFill>
            <a:srgbClr val="B4400B"/>
          </a:solidFill>
          <a:ln>
            <a:noFill/>
          </a:ln>
          <a:effectLst/>
        </p:spPr>
        <p:txBody>
          <a:bodyPr rtlCol="0" anchor="ctr"/>
          <a:lstStyle/>
          <a:p>
            <a:pPr algn="ctr"/>
          </a:p>
        </p:txBody>
      </p:sp>
      <p:sp>
        <p:nvSpPr>
          <p:cNvPr id="9" name="TextBox 8"/>
          <p:cNvSpPr txBox="1"/>
          <p:nvPr/>
        </p:nvSpPr>
        <p:spPr>
          <a:xfrm>
            <a:off x="676656" y="3826763"/>
            <a:ext cx="7827264" cy="722376"/>
          </a:xfrm>
          <a:prstGeom prst="rect">
            <a:avLst/>
          </a:prstGeom>
          <a:noFill/>
          <a:ln/>
        </p:spPr>
        <p:txBody>
          <a:bodyPr wrap="square" anchor="ctr" lIns="25400" rIns="25400" tIns="25400" bIns="25400">
            <a:spAutoFit/>
          </a:bodyPr>
          <a:lstStyle/>
          <a:p>
            <a:pPr algn="l">
              <a:lnSpc>
                <a:spcPct val="108000"/>
              </a:lnSpc>
              <a:spcBef>
                <a:spcPts val="0"/>
              </a:spcBef>
              <a:spcAft>
                <a:spcPts val="0"/>
              </a:spcAft>
            </a:pPr>
            <a:r>
              <a:rPr sz="1100" b="1" i="0">
                <a:solidFill>
                  <a:srgbClr val="B4400B"/>
                </a:solidFill>
                <a:latin typeface="Arial"/>
              </a:rPr>
              <a:t>WHY NOT 1-MONTH ERRORS  </a:t>
            </a:r>
            <a:r>
              <a:rPr sz="1250" b="0" i="0">
                <a:solidFill>
                  <a:srgbClr val="16213E"/>
                </a:solidFill>
                <a:latin typeface="Arial"/>
              </a:rPr>
              <a:t>Zillow smooths this index, so every decent model is about 0.1% off one month ahead. We judge models at 6 to 12 months instead.</a:t>
            </a:r>
          </a:p>
        </p:txBody>
      </p:sp>
      <p:sp>
        <p:nvSpPr>
          <p:cNvPr id="10" name="TextBox 9"/>
          <p:cNvSpPr txBox="1"/>
          <p:nvPr/>
        </p:nvSpPr>
        <p:spPr>
          <a:xfrm>
            <a:off x="365760" y="1615440"/>
            <a:ext cx="2560319" cy="320040"/>
          </a:xfrm>
          <a:prstGeom prst="rect">
            <a:avLst/>
          </a:prstGeom>
          <a:noFill/>
          <a:ln/>
        </p:spPr>
        <p:txBody>
          <a:bodyPr wrap="square" anchor="t" lIns="25400" rIns="25400" tIns="25400" bIns="25400">
            <a:spAutoFit/>
          </a:bodyPr>
          <a:lstStyle/>
          <a:p>
            <a:pPr algn="l">
              <a:lnSpc>
                <a:spcPct val="100000"/>
              </a:lnSpc>
              <a:spcBef>
                <a:spcPts val="0"/>
              </a:spcBef>
              <a:spcAft>
                <a:spcPts val="600"/>
              </a:spcAft>
            </a:pPr>
            <a:r>
              <a:rPr sz="1050" b="1" i="0">
                <a:solidFill>
                  <a:srgbClr val="1F6F8B"/>
                </a:solidFill>
                <a:latin typeface="Arial"/>
              </a:rPr>
              <a:t>DATA</a:t>
            </a:r>
          </a:p>
        </p:txBody>
      </p:sp>
      <p:sp>
        <p:nvSpPr>
          <p:cNvPr id="11" name="Rectangle 10"/>
          <p:cNvSpPr/>
          <p:nvPr/>
        </p:nvSpPr>
        <p:spPr>
          <a:xfrm>
            <a:off x="365760" y="1944624"/>
            <a:ext cx="2560319" cy="9144"/>
          </a:xfrm>
          <a:prstGeom prst="rect">
            <a:avLst/>
          </a:prstGeom>
          <a:solidFill>
            <a:srgbClr val="6B6F76"/>
          </a:solidFill>
          <a:ln>
            <a:noFill/>
          </a:ln>
          <a:effectLst/>
        </p:spPr>
        <p:txBody>
          <a:bodyPr rtlCol="0" anchor="ctr"/>
          <a:lstStyle/>
          <a:p>
            <a:pPr algn="ctr"/>
          </a:p>
        </p:txBody>
      </p:sp>
      <p:sp>
        <p:nvSpPr>
          <p:cNvPr id="12" name="TextBox 11"/>
          <p:cNvSpPr txBox="1"/>
          <p:nvPr/>
        </p:nvSpPr>
        <p:spPr>
          <a:xfrm>
            <a:off x="365760" y="2072640"/>
            <a:ext cx="2560319" cy="170688"/>
          </a:xfrm>
          <a:prstGeom prst="rect">
            <a:avLst/>
          </a:prstGeom>
          <a:noFill/>
          <a:ln/>
        </p:spPr>
        <p:txBody>
          <a:bodyPr wrap="square" anchor="t" lIns="25400" rIns="25400" tIns="25400" bIns="25400">
            <a:spAutoFit/>
          </a:bodyPr>
          <a:lstStyle/>
          <a:p>
            <a:pPr algn="l">
              <a:lnSpc>
                <a:spcPct val="100000"/>
              </a:lnSpc>
              <a:spcBef>
                <a:spcPts val="0"/>
              </a:spcBef>
              <a:spcAft>
                <a:spcPts val="600"/>
              </a:spcAft>
            </a:pPr>
            <a:r>
              <a:rPr sz="1200" b="1" i="0">
                <a:solidFill>
                  <a:srgbClr val="16213E"/>
                </a:solidFill>
                <a:latin typeface="Arial"/>
              </a:rPr>
              <a:t>Zillow ZHVI, LA metro</a:t>
            </a:r>
          </a:p>
        </p:txBody>
      </p:sp>
      <p:sp>
        <p:nvSpPr>
          <p:cNvPr id="13" name="TextBox 12"/>
          <p:cNvSpPr txBox="1"/>
          <p:nvPr/>
        </p:nvSpPr>
        <p:spPr>
          <a:xfrm>
            <a:off x="365760" y="2243328"/>
            <a:ext cx="2560319" cy="149352"/>
          </a:xfrm>
          <a:prstGeom prst="rect">
            <a:avLst/>
          </a:prstGeom>
          <a:noFill/>
          <a:ln/>
        </p:spPr>
        <p:txBody>
          <a:bodyPr wrap="square" anchor="t" lIns="25400" rIns="25400" tIns="25400" bIns="25400">
            <a:spAutoFit/>
          </a:bodyPr>
          <a:lstStyle/>
          <a:p>
            <a:pPr algn="l">
              <a:lnSpc>
                <a:spcPct val="100000"/>
              </a:lnSpc>
              <a:spcBef>
                <a:spcPts val="0"/>
              </a:spcBef>
              <a:spcAft>
                <a:spcPts val="600"/>
              </a:spcAft>
            </a:pPr>
            <a:r>
              <a:rPr sz="1050" b="0" i="0">
                <a:solidFill>
                  <a:srgbClr val="6B6F76"/>
                </a:solidFill>
                <a:latin typeface="Arial"/>
              </a:rPr>
              <a:t>320 months, Jan 2000 to Aug 2026</a:t>
            </a:r>
          </a:p>
        </p:txBody>
      </p:sp>
      <p:sp>
        <p:nvSpPr>
          <p:cNvPr id="14" name="TextBox 13"/>
          <p:cNvSpPr txBox="1"/>
          <p:nvPr/>
        </p:nvSpPr>
        <p:spPr>
          <a:xfrm>
            <a:off x="365760" y="2465832"/>
            <a:ext cx="2560319" cy="170688"/>
          </a:xfrm>
          <a:prstGeom prst="rect">
            <a:avLst/>
          </a:prstGeom>
          <a:noFill/>
          <a:ln/>
        </p:spPr>
        <p:txBody>
          <a:bodyPr wrap="square" anchor="t" lIns="25400" rIns="25400" tIns="25400" bIns="25400">
            <a:spAutoFit/>
          </a:bodyPr>
          <a:lstStyle/>
          <a:p>
            <a:pPr algn="l">
              <a:lnSpc>
                <a:spcPct val="100000"/>
              </a:lnSpc>
              <a:spcBef>
                <a:spcPts val="0"/>
              </a:spcBef>
              <a:spcAft>
                <a:spcPts val="600"/>
              </a:spcAft>
            </a:pPr>
            <a:r>
              <a:rPr sz="1200" b="1" i="0">
                <a:solidFill>
                  <a:srgbClr val="16213E"/>
                </a:solidFill>
                <a:latin typeface="Arial"/>
              </a:rPr>
              <a:t>499 LA neighborhoods</a:t>
            </a:r>
          </a:p>
        </p:txBody>
      </p:sp>
      <p:sp>
        <p:nvSpPr>
          <p:cNvPr id="15" name="TextBox 14"/>
          <p:cNvSpPr txBox="1"/>
          <p:nvPr/>
        </p:nvSpPr>
        <p:spPr>
          <a:xfrm>
            <a:off x="365760" y="2636520"/>
            <a:ext cx="2560319" cy="149352"/>
          </a:xfrm>
          <a:prstGeom prst="rect">
            <a:avLst/>
          </a:prstGeom>
          <a:noFill/>
          <a:ln/>
        </p:spPr>
        <p:txBody>
          <a:bodyPr wrap="square" anchor="t" lIns="25400" rIns="25400" tIns="25400" bIns="25400">
            <a:spAutoFit/>
          </a:bodyPr>
          <a:lstStyle/>
          <a:p>
            <a:pPr algn="l">
              <a:lnSpc>
                <a:spcPct val="100000"/>
              </a:lnSpc>
              <a:spcBef>
                <a:spcPts val="0"/>
              </a:spcBef>
              <a:spcAft>
                <a:spcPts val="600"/>
              </a:spcAft>
            </a:pPr>
            <a:r>
              <a:rPr sz="1050" b="0" i="0">
                <a:solidFill>
                  <a:srgbClr val="6B6F76"/>
                </a:solidFill>
                <a:latin typeface="Arial"/>
              </a:rPr>
              <a:t>Zillow neighborhood index</a:t>
            </a:r>
          </a:p>
        </p:txBody>
      </p:sp>
      <p:sp>
        <p:nvSpPr>
          <p:cNvPr id="16" name="TextBox 15"/>
          <p:cNvSpPr txBox="1"/>
          <p:nvPr/>
        </p:nvSpPr>
        <p:spPr>
          <a:xfrm>
            <a:off x="365760" y="2859024"/>
            <a:ext cx="2560319" cy="170688"/>
          </a:xfrm>
          <a:prstGeom prst="rect">
            <a:avLst/>
          </a:prstGeom>
          <a:noFill/>
          <a:ln/>
        </p:spPr>
        <p:txBody>
          <a:bodyPr wrap="square" anchor="t" lIns="25400" rIns="25400" tIns="25400" bIns="25400">
            <a:spAutoFit/>
          </a:bodyPr>
          <a:lstStyle/>
          <a:p>
            <a:pPr algn="l">
              <a:lnSpc>
                <a:spcPct val="100000"/>
              </a:lnSpc>
              <a:spcBef>
                <a:spcPts val="0"/>
              </a:spcBef>
              <a:spcAft>
                <a:spcPts val="600"/>
              </a:spcAft>
            </a:pPr>
            <a:r>
              <a:rPr sz="1200" b="1" i="0">
                <a:solidFill>
                  <a:srgbClr val="16213E"/>
                </a:solidFill>
                <a:latin typeface="Arial"/>
              </a:rPr>
              <a:t>Mortgage rate and payroll jobs</a:t>
            </a:r>
          </a:p>
        </p:txBody>
      </p:sp>
      <p:sp>
        <p:nvSpPr>
          <p:cNvPr id="17" name="TextBox 16"/>
          <p:cNvSpPr txBox="1"/>
          <p:nvPr/>
        </p:nvSpPr>
        <p:spPr>
          <a:xfrm>
            <a:off x="365760" y="3029712"/>
            <a:ext cx="2560319" cy="149352"/>
          </a:xfrm>
          <a:prstGeom prst="rect">
            <a:avLst/>
          </a:prstGeom>
          <a:noFill/>
          <a:ln/>
        </p:spPr>
        <p:txBody>
          <a:bodyPr wrap="square" anchor="t" lIns="25400" rIns="25400" tIns="25400" bIns="25400">
            <a:spAutoFit/>
          </a:bodyPr>
          <a:lstStyle/>
          <a:p>
            <a:pPr algn="l">
              <a:lnSpc>
                <a:spcPct val="100000"/>
              </a:lnSpc>
              <a:spcBef>
                <a:spcPts val="0"/>
              </a:spcBef>
              <a:spcAft>
                <a:spcPts val="600"/>
              </a:spcAft>
            </a:pPr>
            <a:r>
              <a:rPr sz="1050" b="0" i="0">
                <a:solidFill>
                  <a:srgbClr val="6B6F76"/>
                </a:solidFill>
                <a:latin typeface="Arial"/>
              </a:rPr>
              <a:t>FRED and BLS, LA and Orange County</a:t>
            </a:r>
          </a:p>
        </p:txBody>
      </p:sp>
      <p:sp>
        <p:nvSpPr>
          <p:cNvPr id="18" name="TextBox 17"/>
          <p:cNvSpPr txBox="1"/>
          <p:nvPr/>
        </p:nvSpPr>
        <p:spPr>
          <a:xfrm>
            <a:off x="3291839" y="1615440"/>
            <a:ext cx="2560319" cy="320040"/>
          </a:xfrm>
          <a:prstGeom prst="rect">
            <a:avLst/>
          </a:prstGeom>
          <a:noFill/>
          <a:ln/>
        </p:spPr>
        <p:txBody>
          <a:bodyPr wrap="square" anchor="t" lIns="25400" rIns="25400" tIns="25400" bIns="25400">
            <a:spAutoFit/>
          </a:bodyPr>
          <a:lstStyle/>
          <a:p>
            <a:pPr algn="l">
              <a:lnSpc>
                <a:spcPct val="100000"/>
              </a:lnSpc>
              <a:spcBef>
                <a:spcPts val="0"/>
              </a:spcBef>
              <a:spcAft>
                <a:spcPts val="600"/>
              </a:spcAft>
            </a:pPr>
            <a:r>
              <a:rPr sz="1050" b="1" i="0">
                <a:solidFill>
                  <a:srgbClr val="1F6F8B"/>
                </a:solidFill>
                <a:latin typeface="Arial"/>
              </a:rPr>
              <a:t>14 MODELS + 3 LLMS</a:t>
            </a:r>
          </a:p>
        </p:txBody>
      </p:sp>
      <p:sp>
        <p:nvSpPr>
          <p:cNvPr id="19" name="Rectangle 18"/>
          <p:cNvSpPr/>
          <p:nvPr/>
        </p:nvSpPr>
        <p:spPr>
          <a:xfrm>
            <a:off x="3291839" y="1944624"/>
            <a:ext cx="2560319" cy="9144"/>
          </a:xfrm>
          <a:prstGeom prst="rect">
            <a:avLst/>
          </a:prstGeom>
          <a:solidFill>
            <a:srgbClr val="6B6F76"/>
          </a:solidFill>
          <a:ln>
            <a:noFill/>
          </a:ln>
          <a:effectLst/>
        </p:spPr>
        <p:txBody>
          <a:bodyPr rtlCol="0" anchor="ctr"/>
          <a:lstStyle/>
          <a:p>
            <a:pPr algn="ctr"/>
          </a:p>
        </p:txBody>
      </p:sp>
      <p:sp>
        <p:nvSpPr>
          <p:cNvPr id="20" name="TextBox 19"/>
          <p:cNvSpPr txBox="1"/>
          <p:nvPr/>
        </p:nvSpPr>
        <p:spPr>
          <a:xfrm>
            <a:off x="3291839" y="2072640"/>
            <a:ext cx="2560319" cy="170688"/>
          </a:xfrm>
          <a:prstGeom prst="rect">
            <a:avLst/>
          </a:prstGeom>
          <a:noFill/>
          <a:ln/>
        </p:spPr>
        <p:txBody>
          <a:bodyPr wrap="square" anchor="t" lIns="25400" rIns="25400" tIns="25400" bIns="25400">
            <a:spAutoFit/>
          </a:bodyPr>
          <a:lstStyle/>
          <a:p>
            <a:pPr algn="l">
              <a:lnSpc>
                <a:spcPct val="100000"/>
              </a:lnSpc>
              <a:spcBef>
                <a:spcPts val="0"/>
              </a:spcBef>
              <a:spcAft>
                <a:spcPts val="600"/>
              </a:spcAft>
            </a:pPr>
            <a:r>
              <a:rPr sz="1200" b="1" i="0">
                <a:solidFill>
                  <a:srgbClr val="16213E"/>
                </a:solidFill>
                <a:latin typeface="Arial"/>
              </a:rPr>
              <a:t>Baseline and classical</a:t>
            </a:r>
          </a:p>
        </p:txBody>
      </p:sp>
      <p:sp>
        <p:nvSpPr>
          <p:cNvPr id="21" name="TextBox 20"/>
          <p:cNvSpPr txBox="1"/>
          <p:nvPr/>
        </p:nvSpPr>
        <p:spPr>
          <a:xfrm>
            <a:off x="3291839" y="2243328"/>
            <a:ext cx="2560319" cy="149352"/>
          </a:xfrm>
          <a:prstGeom prst="rect">
            <a:avLst/>
          </a:prstGeom>
          <a:noFill/>
          <a:ln/>
        </p:spPr>
        <p:txBody>
          <a:bodyPr wrap="square" anchor="t" lIns="25400" rIns="25400" tIns="25400" bIns="25400">
            <a:spAutoFit/>
          </a:bodyPr>
          <a:lstStyle/>
          <a:p>
            <a:pPr algn="l">
              <a:lnSpc>
                <a:spcPct val="100000"/>
              </a:lnSpc>
              <a:spcBef>
                <a:spcPts val="0"/>
              </a:spcBef>
              <a:spcAft>
                <a:spcPts val="600"/>
              </a:spcAft>
            </a:pPr>
            <a:r>
              <a:rPr sz="1050" b="0" i="0">
                <a:solidFill>
                  <a:srgbClr val="6B6F76"/>
                </a:solidFill>
                <a:latin typeface="Arial"/>
              </a:rPr>
              <a:t>Naive drift · ARIMA · Holt · Prophet ×2</a:t>
            </a:r>
          </a:p>
        </p:txBody>
      </p:sp>
      <p:sp>
        <p:nvSpPr>
          <p:cNvPr id="22" name="TextBox 21"/>
          <p:cNvSpPr txBox="1"/>
          <p:nvPr/>
        </p:nvSpPr>
        <p:spPr>
          <a:xfrm>
            <a:off x="3291839" y="2465832"/>
            <a:ext cx="2560319" cy="170688"/>
          </a:xfrm>
          <a:prstGeom prst="rect">
            <a:avLst/>
          </a:prstGeom>
          <a:noFill/>
          <a:ln/>
        </p:spPr>
        <p:txBody>
          <a:bodyPr wrap="square" anchor="t" lIns="25400" rIns="25400" tIns="25400" bIns="25400">
            <a:spAutoFit/>
          </a:bodyPr>
          <a:lstStyle/>
          <a:p>
            <a:pPr algn="l">
              <a:lnSpc>
                <a:spcPct val="100000"/>
              </a:lnSpc>
              <a:spcBef>
                <a:spcPts val="0"/>
              </a:spcBef>
              <a:spcAft>
                <a:spcPts val="600"/>
              </a:spcAft>
            </a:pPr>
            <a:r>
              <a:rPr sz="1200" b="1" i="0">
                <a:solidFill>
                  <a:srgbClr val="16213E"/>
                </a:solidFill>
                <a:latin typeface="Arial"/>
              </a:rPr>
              <a:t>ML, deep learning, AI</a:t>
            </a:r>
          </a:p>
        </p:txBody>
      </p:sp>
      <p:sp>
        <p:nvSpPr>
          <p:cNvPr id="23" name="TextBox 22"/>
          <p:cNvSpPr txBox="1"/>
          <p:nvPr/>
        </p:nvSpPr>
        <p:spPr>
          <a:xfrm>
            <a:off x="3291839" y="2636520"/>
            <a:ext cx="2560319" cy="298704"/>
          </a:xfrm>
          <a:prstGeom prst="rect">
            <a:avLst/>
          </a:prstGeom>
          <a:noFill/>
          <a:ln/>
        </p:spPr>
        <p:txBody>
          <a:bodyPr wrap="square" anchor="t" lIns="25400" rIns="25400" tIns="25400" bIns="25400">
            <a:spAutoFit/>
          </a:bodyPr>
          <a:lstStyle/>
          <a:p>
            <a:pPr algn="l">
              <a:lnSpc>
                <a:spcPct val="100000"/>
              </a:lnSpc>
              <a:spcBef>
                <a:spcPts val="0"/>
              </a:spcBef>
              <a:spcAft>
                <a:spcPts val="600"/>
              </a:spcAft>
            </a:pPr>
            <a:r>
              <a:rPr sz="1050" b="0" i="0">
                <a:solidFill>
                  <a:srgbClr val="6B6F76"/>
                </a:solidFill>
                <a:latin typeface="Arial"/>
              </a:rPr>
              <a:t>XGBoost · LightGBM · LSTM · GRU · Chronos</a:t>
            </a:r>
          </a:p>
        </p:txBody>
      </p:sp>
      <p:sp>
        <p:nvSpPr>
          <p:cNvPr id="24" name="TextBox 23"/>
          <p:cNvSpPr txBox="1"/>
          <p:nvPr/>
        </p:nvSpPr>
        <p:spPr>
          <a:xfrm>
            <a:off x="3291839" y="3008376"/>
            <a:ext cx="2560319" cy="170688"/>
          </a:xfrm>
          <a:prstGeom prst="rect">
            <a:avLst/>
          </a:prstGeom>
          <a:noFill/>
          <a:ln/>
        </p:spPr>
        <p:txBody>
          <a:bodyPr wrap="square" anchor="t" lIns="25400" rIns="25400" tIns="25400" bIns="25400">
            <a:spAutoFit/>
          </a:bodyPr>
          <a:lstStyle/>
          <a:p>
            <a:pPr algn="l">
              <a:lnSpc>
                <a:spcPct val="100000"/>
              </a:lnSpc>
              <a:spcBef>
                <a:spcPts val="0"/>
              </a:spcBef>
              <a:spcAft>
                <a:spcPts val="600"/>
              </a:spcAft>
            </a:pPr>
            <a:r>
              <a:rPr sz="1200" b="1" i="0">
                <a:solidFill>
                  <a:srgbClr val="16213E"/>
                </a:solidFill>
                <a:latin typeface="Arial"/>
              </a:rPr>
              <a:t>Outside information</a:t>
            </a:r>
          </a:p>
        </p:txBody>
      </p:sp>
      <p:sp>
        <p:nvSpPr>
          <p:cNvPr id="25" name="TextBox 24"/>
          <p:cNvSpPr txBox="1"/>
          <p:nvPr/>
        </p:nvSpPr>
        <p:spPr>
          <a:xfrm>
            <a:off x="3291839" y="3179064"/>
            <a:ext cx="2560319" cy="149352"/>
          </a:xfrm>
          <a:prstGeom prst="rect">
            <a:avLst/>
          </a:prstGeom>
          <a:noFill/>
          <a:ln/>
        </p:spPr>
        <p:txBody>
          <a:bodyPr wrap="square" anchor="t" lIns="25400" rIns="25400" tIns="25400" bIns="25400">
            <a:spAutoFit/>
          </a:bodyPr>
          <a:lstStyle/>
          <a:p>
            <a:pPr algn="l">
              <a:lnSpc>
                <a:spcPct val="100000"/>
              </a:lnSpc>
              <a:spcBef>
                <a:spcPts val="0"/>
              </a:spcBef>
              <a:spcAft>
                <a:spcPts val="600"/>
              </a:spcAft>
            </a:pPr>
            <a:r>
              <a:rPr sz="1050" b="0" i="0">
                <a:solidFill>
                  <a:srgbClr val="6B6F76"/>
                </a:solidFill>
                <a:latin typeface="Arial"/>
              </a:rPr>
              <a:t>ARIMAX ×2 · VAR · factor VAR</a:t>
            </a:r>
          </a:p>
        </p:txBody>
      </p:sp>
      <p:sp>
        <p:nvSpPr>
          <p:cNvPr id="26" name="TextBox 25"/>
          <p:cNvSpPr txBox="1"/>
          <p:nvPr/>
        </p:nvSpPr>
        <p:spPr>
          <a:xfrm>
            <a:off x="3291839" y="3401568"/>
            <a:ext cx="2560319" cy="170688"/>
          </a:xfrm>
          <a:prstGeom prst="rect">
            <a:avLst/>
          </a:prstGeom>
          <a:noFill/>
          <a:ln/>
        </p:spPr>
        <p:txBody>
          <a:bodyPr wrap="square" anchor="t" lIns="25400" rIns="25400" tIns="25400" bIns="25400">
            <a:spAutoFit/>
          </a:bodyPr>
          <a:lstStyle/>
          <a:p>
            <a:pPr algn="l">
              <a:lnSpc>
                <a:spcPct val="100000"/>
              </a:lnSpc>
              <a:spcBef>
                <a:spcPts val="0"/>
              </a:spcBef>
              <a:spcAft>
                <a:spcPts val="600"/>
              </a:spcAft>
            </a:pPr>
            <a:r>
              <a:rPr sz="1200" b="1" i="0">
                <a:solidFill>
                  <a:srgbClr val="16213E"/>
                </a:solidFill>
                <a:latin typeface="Arial"/>
              </a:rPr>
              <a:t>Plus 3 chat LLMs</a:t>
            </a:r>
          </a:p>
        </p:txBody>
      </p:sp>
      <p:sp>
        <p:nvSpPr>
          <p:cNvPr id="27" name="TextBox 26"/>
          <p:cNvSpPr txBox="1"/>
          <p:nvPr/>
        </p:nvSpPr>
        <p:spPr>
          <a:xfrm>
            <a:off x="3291839" y="3572256"/>
            <a:ext cx="2560319" cy="149352"/>
          </a:xfrm>
          <a:prstGeom prst="rect">
            <a:avLst/>
          </a:prstGeom>
          <a:noFill/>
          <a:ln/>
        </p:spPr>
        <p:txBody>
          <a:bodyPr wrap="square" anchor="t" lIns="25400" rIns="25400" tIns="25400" bIns="25400">
            <a:spAutoFit/>
          </a:bodyPr>
          <a:lstStyle/>
          <a:p>
            <a:pPr algn="l">
              <a:lnSpc>
                <a:spcPct val="100000"/>
              </a:lnSpc>
              <a:spcBef>
                <a:spcPts val="0"/>
              </a:spcBef>
              <a:spcAft>
                <a:spcPts val="600"/>
              </a:spcAft>
            </a:pPr>
            <a:r>
              <a:rPr sz="1050" b="0" i="0">
                <a:solidFill>
                  <a:srgbClr val="6B6F76"/>
                </a:solidFill>
                <a:latin typeface="Arial"/>
              </a:rPr>
              <a:t>Claude · GPT · Gemini</a:t>
            </a:r>
          </a:p>
        </p:txBody>
      </p:sp>
      <p:sp>
        <p:nvSpPr>
          <p:cNvPr id="28" name="TextBox 27"/>
          <p:cNvSpPr txBox="1"/>
          <p:nvPr/>
        </p:nvSpPr>
        <p:spPr>
          <a:xfrm>
            <a:off x="6217919" y="1615440"/>
            <a:ext cx="2560319" cy="320040"/>
          </a:xfrm>
          <a:prstGeom prst="rect">
            <a:avLst/>
          </a:prstGeom>
          <a:noFill/>
          <a:ln/>
        </p:spPr>
        <p:txBody>
          <a:bodyPr wrap="square" anchor="t" lIns="25400" rIns="25400" tIns="25400" bIns="25400">
            <a:spAutoFit/>
          </a:bodyPr>
          <a:lstStyle/>
          <a:p>
            <a:pPr algn="l">
              <a:lnSpc>
                <a:spcPct val="100000"/>
              </a:lnSpc>
              <a:spcBef>
                <a:spcPts val="0"/>
              </a:spcBef>
              <a:spcAft>
                <a:spcPts val="600"/>
              </a:spcAft>
            </a:pPr>
            <a:r>
              <a:rPr sz="1050" b="1" i="0">
                <a:solidFill>
                  <a:srgbClr val="1F6F8B"/>
                </a:solidFill>
                <a:latin typeface="Arial"/>
              </a:rPr>
              <a:t>2 TESTS</a:t>
            </a:r>
          </a:p>
        </p:txBody>
      </p:sp>
      <p:sp>
        <p:nvSpPr>
          <p:cNvPr id="29" name="Rectangle 28"/>
          <p:cNvSpPr/>
          <p:nvPr/>
        </p:nvSpPr>
        <p:spPr>
          <a:xfrm>
            <a:off x="6217919" y="1944624"/>
            <a:ext cx="2560319" cy="9144"/>
          </a:xfrm>
          <a:prstGeom prst="rect">
            <a:avLst/>
          </a:prstGeom>
          <a:solidFill>
            <a:srgbClr val="6B6F76"/>
          </a:solidFill>
          <a:ln>
            <a:noFill/>
          </a:ln>
          <a:effectLst/>
        </p:spPr>
        <p:txBody>
          <a:bodyPr rtlCol="0" anchor="ctr"/>
          <a:lstStyle/>
          <a:p>
            <a:pPr algn="ctr"/>
          </a:p>
        </p:txBody>
      </p:sp>
      <p:sp>
        <p:nvSpPr>
          <p:cNvPr id="30" name="TextBox 29"/>
          <p:cNvSpPr txBox="1"/>
          <p:nvPr/>
        </p:nvSpPr>
        <p:spPr>
          <a:xfrm>
            <a:off x="6217919" y="2072640"/>
            <a:ext cx="2560319" cy="170688"/>
          </a:xfrm>
          <a:prstGeom prst="rect">
            <a:avLst/>
          </a:prstGeom>
          <a:noFill/>
          <a:ln/>
        </p:spPr>
        <p:txBody>
          <a:bodyPr wrap="square" anchor="t" lIns="25400" rIns="25400" tIns="25400" bIns="25400">
            <a:spAutoFit/>
          </a:bodyPr>
          <a:lstStyle/>
          <a:p>
            <a:pPr algn="l">
              <a:lnSpc>
                <a:spcPct val="100000"/>
              </a:lnSpc>
              <a:spcBef>
                <a:spcPts val="0"/>
              </a:spcBef>
              <a:spcAft>
                <a:spcPts val="600"/>
              </a:spcAft>
            </a:pPr>
            <a:r>
              <a:rPr sz="1200" b="1" i="0">
                <a:solidFill>
                  <a:srgbClr val="16213E"/>
                </a:solidFill>
                <a:latin typeface="Arial"/>
              </a:rPr>
              <a:t>Blind 80/20</a:t>
            </a:r>
          </a:p>
        </p:txBody>
      </p:sp>
      <p:sp>
        <p:nvSpPr>
          <p:cNvPr id="31" name="TextBox 30"/>
          <p:cNvSpPr txBox="1"/>
          <p:nvPr/>
        </p:nvSpPr>
        <p:spPr>
          <a:xfrm>
            <a:off x="6217919" y="2243328"/>
            <a:ext cx="2560319" cy="298704"/>
          </a:xfrm>
          <a:prstGeom prst="rect">
            <a:avLst/>
          </a:prstGeom>
          <a:noFill/>
          <a:ln/>
        </p:spPr>
        <p:txBody>
          <a:bodyPr wrap="square" anchor="t" lIns="25400" rIns="25400" tIns="25400" bIns="25400">
            <a:spAutoFit/>
          </a:bodyPr>
          <a:lstStyle/>
          <a:p>
            <a:pPr algn="l">
              <a:lnSpc>
                <a:spcPct val="100000"/>
              </a:lnSpc>
              <a:spcBef>
                <a:spcPts val="0"/>
              </a:spcBef>
              <a:spcAft>
                <a:spcPts val="600"/>
              </a:spcAft>
            </a:pPr>
            <a:r>
              <a:rPr sz="1050" b="0" i="0">
                <a:solidFill>
                  <a:srgbClr val="6B6F76"/>
                </a:solidFill>
                <a:latin typeface="Arial"/>
              </a:rPr>
              <a:t>Train to Apr 2021, forecast 64 months in one shot</a:t>
            </a:r>
          </a:p>
        </p:txBody>
      </p:sp>
      <p:sp>
        <p:nvSpPr>
          <p:cNvPr id="32" name="TextBox 31"/>
          <p:cNvSpPr txBox="1"/>
          <p:nvPr/>
        </p:nvSpPr>
        <p:spPr>
          <a:xfrm>
            <a:off x="6217919" y="2615184"/>
            <a:ext cx="2560319" cy="170688"/>
          </a:xfrm>
          <a:prstGeom prst="rect">
            <a:avLst/>
          </a:prstGeom>
          <a:noFill/>
          <a:ln/>
        </p:spPr>
        <p:txBody>
          <a:bodyPr wrap="square" anchor="t" lIns="25400" rIns="25400" tIns="25400" bIns="25400">
            <a:spAutoFit/>
          </a:bodyPr>
          <a:lstStyle/>
          <a:p>
            <a:pPr algn="l">
              <a:lnSpc>
                <a:spcPct val="100000"/>
              </a:lnSpc>
              <a:spcBef>
                <a:spcPts val="0"/>
              </a:spcBef>
              <a:spcAft>
                <a:spcPts val="600"/>
              </a:spcAft>
            </a:pPr>
            <a:r>
              <a:rPr sz="1200" b="1" i="0">
                <a:solidFill>
                  <a:srgbClr val="16213E"/>
                </a:solidFill>
                <a:latin typeface="Arial"/>
              </a:rPr>
              <a:t>Rolling origin</a:t>
            </a:r>
          </a:p>
        </p:txBody>
      </p:sp>
      <p:sp>
        <p:nvSpPr>
          <p:cNvPr id="33" name="TextBox 32"/>
          <p:cNvSpPr txBox="1"/>
          <p:nvPr/>
        </p:nvSpPr>
        <p:spPr>
          <a:xfrm>
            <a:off x="6217919" y="2785872"/>
            <a:ext cx="2560319" cy="298704"/>
          </a:xfrm>
          <a:prstGeom prst="rect">
            <a:avLst/>
          </a:prstGeom>
          <a:noFill/>
          <a:ln/>
        </p:spPr>
        <p:txBody>
          <a:bodyPr wrap="square" anchor="t" lIns="25400" rIns="25400" tIns="25400" bIns="25400">
            <a:spAutoFit/>
          </a:bodyPr>
          <a:lstStyle/>
          <a:p>
            <a:pPr algn="l">
              <a:lnSpc>
                <a:spcPct val="100000"/>
              </a:lnSpc>
              <a:spcBef>
                <a:spcPts val="0"/>
              </a:spcBef>
              <a:spcAft>
                <a:spcPts val="600"/>
              </a:spcAft>
            </a:pPr>
            <a:r>
              <a:rPr sz="1050" b="0" i="0">
                <a:solidFill>
                  <a:srgbClr val="6B6F76"/>
                </a:solidFill>
                <a:latin typeface="Arial"/>
              </a:rPr>
              <a:t>Refit every 3 months, forecast 12 months ahead, 18 times</a:t>
            </a:r>
          </a:p>
        </p:txBody>
      </p:sp>
    </p:spTree>
  </p:cSld>
  <p:clrMapOvr>
    <a:masterClrMapping/>
  </p:clrMapOvr>
</p:sld>
</file>

<file path=ppt/slides/slide4.xml><?xml version="1.0" encoding="utf-8"?>
<p:sld xmlns:a="http://schemas.openxmlformats.org/drawingml/2006/main" xmlns:p="http://schemas.openxmlformats.org/presentationml/2006/main" xmlns:r="http://schemas.openxmlformats.org/officeDocument/2006/relationships">
  <p:cSld>
    <p:bg>
      <p:bgPr>
        <a:solidFill>
          <a:srgbClr val="FAF8F4"/>
        </a:solidFill>
        <a:effectLst/>
      </p:bgPr>
    </p:bg>
    <p:spTree>
      <p:nvGrpSpPr>
        <p:cNvPr id="1" name=""/>
        <p:cNvGrpSpPr/>
        <p:nvPr/>
      </p:nvGrpSpPr>
      <p:grpSpPr/>
      <p:sp>
        <p:nvSpPr>
          <p:cNvPr id="2" name="deckkit-chrome-title"/>
          <p:cNvSpPr txBox="1"/>
          <p:nvPr/>
        </p:nvSpPr>
        <p:spPr>
          <a:xfrm>
            <a:off x="502920" y="274320"/>
            <a:ext cx="8138160" cy="274320"/>
          </a:xfrm>
          <a:prstGeom prst="rect">
            <a:avLst/>
          </a:prstGeom>
          <a:noFill/>
          <a:ln/>
        </p:spPr>
        <p:txBody>
          <a:bodyPr wrap="square" anchor="t" lIns="25400" rIns="25400" tIns="25400" bIns="25400">
            <a:spAutoFit/>
          </a:bodyPr>
          <a:lstStyle/>
          <a:p>
            <a:pPr algn="l">
              <a:lnSpc>
                <a:spcPct val="100000"/>
              </a:lnSpc>
              <a:spcBef>
                <a:spcPts val="0"/>
              </a:spcBef>
              <a:spcAft>
                <a:spcPts val="0"/>
              </a:spcAft>
            </a:pPr>
            <a:r>
              <a:rPr sz="1100" b="1" i="0">
                <a:solidFill>
                  <a:srgbClr val="1F6F8B"/>
                </a:solidFill>
                <a:latin typeface="Arial"/>
              </a:rPr>
              <a:t>RESULT 1 · ROLLING TEST</a:t>
            </a:r>
          </a:p>
        </p:txBody>
      </p:sp>
      <p:sp>
        <p:nvSpPr>
          <p:cNvPr id="3" name="deckkit-chrome-title"/>
          <p:cNvSpPr txBox="1"/>
          <p:nvPr/>
        </p:nvSpPr>
        <p:spPr>
          <a:xfrm>
            <a:off x="502920" y="493776"/>
            <a:ext cx="8138160" cy="792479"/>
          </a:xfrm>
          <a:prstGeom prst="rect">
            <a:avLst/>
          </a:prstGeom>
          <a:noFill/>
          <a:ln/>
        </p:spPr>
        <p:txBody>
          <a:bodyPr wrap="square" anchor="t" lIns="25400" rIns="25400" tIns="25400" bIns="25400">
            <a:spAutoFit/>
          </a:bodyPr>
          <a:lstStyle/>
          <a:p>
            <a:pPr algn="l">
              <a:lnSpc>
                <a:spcPct val="100000"/>
              </a:lnSpc>
              <a:spcBef>
                <a:spcPts val="0"/>
              </a:spcBef>
              <a:spcAft>
                <a:spcPts val="0"/>
              </a:spcAft>
            </a:pPr>
            <a:r>
              <a:rPr sz="2600" b="1" i="0">
                <a:solidFill>
                  <a:srgbClr val="16213E"/>
                </a:solidFill>
                <a:latin typeface="Arial"/>
              </a:rPr>
              <a:t>In the fair test, ARIMA-family models beat machine learning</a:t>
            </a:r>
          </a:p>
        </p:txBody>
      </p:sp>
      <p:sp>
        <p:nvSpPr>
          <p:cNvPr id="4" name="deckkit-chrome-title"/>
          <p:cNvSpPr/>
          <p:nvPr/>
        </p:nvSpPr>
        <p:spPr>
          <a:xfrm>
            <a:off x="521207" y="1341120"/>
            <a:ext cx="1005840" cy="41148"/>
          </a:xfrm>
          <a:prstGeom prst="rect">
            <a:avLst/>
          </a:prstGeom>
          <a:solidFill>
            <a:srgbClr val="1F6F8B"/>
          </a:solidFill>
          <a:ln>
            <a:noFill/>
          </a:ln>
          <a:effectLst/>
        </p:spPr>
        <p:txBody>
          <a:bodyPr rtlCol="0" anchor="ctr"/>
          <a:lstStyle/>
          <a:p>
            <a:pPr algn="ctr"/>
          </a:p>
        </p:txBody>
      </p:sp>
      <p:sp>
        <p:nvSpPr>
          <p:cNvPr id="5" name="TextBox 4"/>
          <p:cNvSpPr txBox="1"/>
          <p:nvPr/>
        </p:nvSpPr>
        <p:spPr>
          <a:xfrm>
            <a:off x="502920" y="4823460"/>
            <a:ext cx="5486400" cy="274320"/>
          </a:xfrm>
          <a:prstGeom prst="rect">
            <a:avLst/>
          </a:prstGeom>
          <a:noFill/>
          <a:ln/>
        </p:spPr>
        <p:txBody>
          <a:bodyPr wrap="square" anchor="t" lIns="25400" rIns="25400" tIns="25400" bIns="25400">
            <a:spAutoFit/>
          </a:bodyPr>
          <a:lstStyle/>
          <a:p>
            <a:pPr algn="l">
              <a:lnSpc>
                <a:spcPct val="100000"/>
              </a:lnSpc>
              <a:spcBef>
                <a:spcPts val="0"/>
              </a:spcBef>
              <a:spcAft>
                <a:spcPts val="0"/>
              </a:spcAft>
            </a:pPr>
            <a:r>
              <a:rPr sz="800" b="0" i="0">
                <a:solidFill>
                  <a:srgbClr val="6B6F76"/>
                </a:solidFill>
                <a:latin typeface="Arial"/>
              </a:rPr>
              <a:t>MGMTMSA 437 · Forecasting LA Home Values · Data: Zillow ZHVI, FRED, BLS</a:t>
            </a:r>
          </a:p>
        </p:txBody>
      </p:sp>
      <p:sp>
        <p:nvSpPr>
          <p:cNvPr id="6" name="TextBox 5"/>
          <p:cNvSpPr txBox="1"/>
          <p:nvPr/>
        </p:nvSpPr>
        <p:spPr>
          <a:xfrm>
            <a:off x="8229600" y="4823460"/>
            <a:ext cx="548640" cy="274320"/>
          </a:xfrm>
          <a:prstGeom prst="rect">
            <a:avLst/>
          </a:prstGeom>
          <a:noFill/>
          <a:ln/>
        </p:spPr>
        <p:txBody>
          <a:bodyPr wrap="square" anchor="t" lIns="25400" rIns="25400" tIns="25400" bIns="25400">
            <a:spAutoFit/>
          </a:bodyPr>
          <a:lstStyle/>
          <a:p>
            <a:pPr algn="r">
              <a:lnSpc>
                <a:spcPct val="100000"/>
              </a:lnSpc>
              <a:spcBef>
                <a:spcPts val="0"/>
              </a:spcBef>
              <a:spcAft>
                <a:spcPts val="0"/>
              </a:spcAft>
            </a:pPr>
            <a:r>
              <a:rPr sz="900" b="1" i="0">
                <a:solidFill>
                  <a:srgbClr val="6B6F76"/>
                </a:solidFill>
                <a:latin typeface="Arial"/>
              </a:rPr>
              <a:t>4</a:t>
            </a:r>
          </a:p>
        </p:txBody>
      </p:sp>
      <p:graphicFrame>
        <p:nvGraphicFramePr>
          <p:cNvPr id="7" name="Chart 6"/>
          <p:cNvGraphicFramePr>
            <a:graphicFrameLocks noGrp="1"/>
          </p:cNvGraphicFramePr>
          <p:nvPr/>
        </p:nvGraphicFramePr>
        <p:xfrm>
          <a:off x="457200" y="1569720"/>
          <a:ext cx="5394960" cy="2979419"/>
        </p:xfrm>
        <a:graphic>
          <a:graphicData uri="http://schemas.openxmlformats.org/drawingml/2006/chart">
            <c:chart xmlns:c="http://schemas.openxmlformats.org/drawingml/2006/chart" r:id="rId2"/>
          </a:graphicData>
        </a:graphic>
      </p:graphicFrame>
      <p:sp>
        <p:nvSpPr>
          <p:cNvPr id="8" name="TextBox 7"/>
          <p:cNvSpPr txBox="1"/>
          <p:nvPr/>
        </p:nvSpPr>
        <p:spPr>
          <a:xfrm>
            <a:off x="6126480" y="1661160"/>
            <a:ext cx="2606040" cy="274320"/>
          </a:xfrm>
          <a:prstGeom prst="rect">
            <a:avLst/>
          </a:prstGeom>
          <a:noFill/>
          <a:ln/>
        </p:spPr>
        <p:txBody>
          <a:bodyPr wrap="square" anchor="t" lIns="25400" rIns="25400" tIns="25400" bIns="25400">
            <a:spAutoFit/>
          </a:bodyPr>
          <a:lstStyle/>
          <a:p>
            <a:pPr algn="l">
              <a:lnSpc>
                <a:spcPct val="100000"/>
              </a:lnSpc>
              <a:spcBef>
                <a:spcPts val="0"/>
              </a:spcBef>
              <a:spcAft>
                <a:spcPts val="0"/>
              </a:spcAft>
            </a:pPr>
            <a:r>
              <a:rPr sz="1100" b="1" i="0">
                <a:solidFill>
                  <a:srgbClr val="1F6F8B"/>
                </a:solidFill>
                <a:latin typeface="Arial"/>
              </a:rPr>
              <a:t>LOWEST ERROR</a:t>
            </a:r>
          </a:p>
        </p:txBody>
      </p:sp>
      <p:sp>
        <p:nvSpPr>
          <p:cNvPr id="9" name="TextBox 8"/>
          <p:cNvSpPr txBox="1"/>
          <p:nvPr/>
        </p:nvSpPr>
        <p:spPr>
          <a:xfrm>
            <a:off x="6126480" y="1972056"/>
            <a:ext cx="2606040" cy="822960"/>
          </a:xfrm>
          <a:prstGeom prst="rect">
            <a:avLst/>
          </a:prstGeom>
          <a:noFill/>
          <a:ln/>
        </p:spPr>
        <p:txBody>
          <a:bodyPr wrap="square" anchor="t" lIns="25400" rIns="25400" tIns="25400" bIns="25400">
            <a:spAutoFit/>
          </a:bodyPr>
          <a:lstStyle/>
          <a:p>
            <a:pPr algn="l">
              <a:lnSpc>
                <a:spcPct val="100000"/>
              </a:lnSpc>
              <a:spcBef>
                <a:spcPts val="0"/>
              </a:spcBef>
              <a:spcAft>
                <a:spcPts val="0"/>
              </a:spcAft>
            </a:pPr>
            <a:r>
              <a:rPr sz="3400" b="1" i="0">
                <a:solidFill>
                  <a:srgbClr val="16213E"/>
                </a:solidFill>
                <a:latin typeface="Arial"/>
              </a:rPr>
              <a:t>2.67%</a:t>
            </a:r>
          </a:p>
        </p:txBody>
      </p:sp>
      <p:sp>
        <p:nvSpPr>
          <p:cNvPr id="10" name="TextBox 9"/>
          <p:cNvSpPr txBox="1"/>
          <p:nvPr/>
        </p:nvSpPr>
        <p:spPr>
          <a:xfrm>
            <a:off x="6126480" y="2849880"/>
            <a:ext cx="2606040" cy="1280160"/>
          </a:xfrm>
          <a:prstGeom prst="rect">
            <a:avLst/>
          </a:prstGeom>
          <a:noFill/>
          <a:ln/>
        </p:spPr>
        <p:txBody>
          <a:bodyPr wrap="square" anchor="t" lIns="25400" rIns="25400" tIns="25400" bIns="25400">
            <a:spAutoFit/>
          </a:bodyPr>
          <a:lstStyle/>
          <a:p>
            <a:pPr algn="l">
              <a:lnSpc>
                <a:spcPct val="120000"/>
              </a:lnSpc>
              <a:spcBef>
                <a:spcPts val="0"/>
              </a:spcBef>
              <a:spcAft>
                <a:spcPts val="0"/>
              </a:spcAft>
            </a:pPr>
            <a:r>
              <a:rPr sz="1400" b="0" i="0">
                <a:solidFill>
                  <a:srgbClr val="3D4A5C"/>
                </a:solidFill>
                <a:latin typeface="Arial"/>
              </a:rPr>
              <a:t>ARIMAX, average error 1 to 12 months ahead. ARIMA 2.77%. LSTM 3.02%, XGBoost 3.65%, Prophet 6.89%. Also 1st on RMSE ($35.8K).</a:t>
            </a:r>
          </a:p>
        </p:txBody>
      </p:sp>
    </p:spTree>
  </p:cSld>
  <p:clrMapOvr>
    <a:masterClrMapping/>
  </p:clrMapOvr>
</p:sld>
</file>

<file path=ppt/slides/slide5.xml><?xml version="1.0" encoding="utf-8"?>
<p:sld xmlns:a="http://schemas.openxmlformats.org/drawingml/2006/main" xmlns:p="http://schemas.openxmlformats.org/presentationml/2006/main" xmlns:r="http://schemas.openxmlformats.org/officeDocument/2006/relationships">
  <p:cSld>
    <p:bg>
      <p:bgPr>
        <a:solidFill>
          <a:srgbClr val="FAF8F4"/>
        </a:solidFill>
        <a:effectLst/>
      </p:bgPr>
    </p:bg>
    <p:spTree>
      <p:nvGrpSpPr>
        <p:cNvPr id="1" name=""/>
        <p:cNvGrpSpPr/>
        <p:nvPr/>
      </p:nvGrpSpPr>
      <p:grpSpPr/>
      <p:sp>
        <p:nvSpPr>
          <p:cNvPr id="2" name="deckkit-chrome-title"/>
          <p:cNvSpPr txBox="1"/>
          <p:nvPr/>
        </p:nvSpPr>
        <p:spPr>
          <a:xfrm>
            <a:off x="502920" y="274320"/>
            <a:ext cx="8138160" cy="274320"/>
          </a:xfrm>
          <a:prstGeom prst="rect">
            <a:avLst/>
          </a:prstGeom>
          <a:noFill/>
          <a:ln/>
        </p:spPr>
        <p:txBody>
          <a:bodyPr wrap="square" anchor="t" lIns="25400" rIns="25400" tIns="25400" bIns="25400">
            <a:spAutoFit/>
          </a:bodyPr>
          <a:lstStyle/>
          <a:p>
            <a:pPr algn="l">
              <a:lnSpc>
                <a:spcPct val="100000"/>
              </a:lnSpc>
              <a:spcBef>
                <a:spcPts val="0"/>
              </a:spcBef>
              <a:spcAft>
                <a:spcPts val="0"/>
              </a:spcAft>
            </a:pPr>
            <a:r>
              <a:rPr sz="1100" b="1" i="0">
                <a:solidFill>
                  <a:srgbClr val="1F6F8B"/>
                </a:solidFill>
                <a:latin typeface="Arial"/>
              </a:rPr>
              <a:t>RESULT 2 · TEST DESIGN</a:t>
            </a:r>
          </a:p>
        </p:txBody>
      </p:sp>
      <p:sp>
        <p:nvSpPr>
          <p:cNvPr id="3" name="deckkit-chrome-title"/>
          <p:cNvSpPr txBox="1"/>
          <p:nvPr/>
        </p:nvSpPr>
        <p:spPr>
          <a:xfrm>
            <a:off x="502920" y="493776"/>
            <a:ext cx="8138160" cy="792479"/>
          </a:xfrm>
          <a:prstGeom prst="rect">
            <a:avLst/>
          </a:prstGeom>
          <a:noFill/>
          <a:ln/>
        </p:spPr>
        <p:txBody>
          <a:bodyPr wrap="square" anchor="t" lIns="25400" rIns="25400" tIns="25400" bIns="25400">
            <a:spAutoFit/>
          </a:bodyPr>
          <a:lstStyle/>
          <a:p>
            <a:pPr algn="l">
              <a:lnSpc>
                <a:spcPct val="100000"/>
              </a:lnSpc>
              <a:spcBef>
                <a:spcPts val="0"/>
              </a:spcBef>
              <a:spcAft>
                <a:spcPts val="0"/>
              </a:spcAft>
            </a:pPr>
            <a:r>
              <a:rPr sz="2600" b="1" i="0">
                <a:solidFill>
                  <a:srgbClr val="16213E"/>
                </a:solidFill>
                <a:latin typeface="Arial"/>
              </a:rPr>
              <a:t>One test window crowned LightGBM; 18 windows ranked it tenth</a:t>
            </a:r>
          </a:p>
        </p:txBody>
      </p:sp>
      <p:sp>
        <p:nvSpPr>
          <p:cNvPr id="4" name="deckkit-chrome-title"/>
          <p:cNvSpPr/>
          <p:nvPr/>
        </p:nvSpPr>
        <p:spPr>
          <a:xfrm>
            <a:off x="521207" y="1341120"/>
            <a:ext cx="1005840" cy="41148"/>
          </a:xfrm>
          <a:prstGeom prst="rect">
            <a:avLst/>
          </a:prstGeom>
          <a:solidFill>
            <a:srgbClr val="1F6F8B"/>
          </a:solidFill>
          <a:ln>
            <a:noFill/>
          </a:ln>
          <a:effectLst/>
        </p:spPr>
        <p:txBody>
          <a:bodyPr rtlCol="0" anchor="ctr"/>
          <a:lstStyle/>
          <a:p>
            <a:pPr algn="ctr"/>
          </a:p>
        </p:txBody>
      </p:sp>
      <p:sp>
        <p:nvSpPr>
          <p:cNvPr id="5" name="TextBox 4"/>
          <p:cNvSpPr txBox="1"/>
          <p:nvPr/>
        </p:nvSpPr>
        <p:spPr>
          <a:xfrm>
            <a:off x="502920" y="4823460"/>
            <a:ext cx="5486400" cy="274320"/>
          </a:xfrm>
          <a:prstGeom prst="rect">
            <a:avLst/>
          </a:prstGeom>
          <a:noFill/>
          <a:ln/>
        </p:spPr>
        <p:txBody>
          <a:bodyPr wrap="square" anchor="t" lIns="25400" rIns="25400" tIns="25400" bIns="25400">
            <a:spAutoFit/>
          </a:bodyPr>
          <a:lstStyle/>
          <a:p>
            <a:pPr algn="l">
              <a:lnSpc>
                <a:spcPct val="100000"/>
              </a:lnSpc>
              <a:spcBef>
                <a:spcPts val="0"/>
              </a:spcBef>
              <a:spcAft>
                <a:spcPts val="0"/>
              </a:spcAft>
            </a:pPr>
            <a:r>
              <a:rPr sz="800" b="0" i="0">
                <a:solidFill>
                  <a:srgbClr val="6B6F76"/>
                </a:solidFill>
                <a:latin typeface="Arial"/>
              </a:rPr>
              <a:t>MGMTMSA 437 · Forecasting LA Home Values · Data: Zillow ZHVI, FRED, BLS</a:t>
            </a:r>
          </a:p>
        </p:txBody>
      </p:sp>
      <p:sp>
        <p:nvSpPr>
          <p:cNvPr id="6" name="TextBox 5"/>
          <p:cNvSpPr txBox="1"/>
          <p:nvPr/>
        </p:nvSpPr>
        <p:spPr>
          <a:xfrm>
            <a:off x="8229600" y="4823460"/>
            <a:ext cx="548640" cy="274320"/>
          </a:xfrm>
          <a:prstGeom prst="rect">
            <a:avLst/>
          </a:prstGeom>
          <a:noFill/>
          <a:ln/>
        </p:spPr>
        <p:txBody>
          <a:bodyPr wrap="square" anchor="t" lIns="25400" rIns="25400" tIns="25400" bIns="25400">
            <a:spAutoFit/>
          </a:bodyPr>
          <a:lstStyle/>
          <a:p>
            <a:pPr algn="r">
              <a:lnSpc>
                <a:spcPct val="100000"/>
              </a:lnSpc>
              <a:spcBef>
                <a:spcPts val="0"/>
              </a:spcBef>
              <a:spcAft>
                <a:spcPts val="0"/>
              </a:spcAft>
            </a:pPr>
            <a:r>
              <a:rPr sz="900" b="1" i="0">
                <a:solidFill>
                  <a:srgbClr val="6B6F76"/>
                </a:solidFill>
                <a:latin typeface="Arial"/>
              </a:rPr>
              <a:t>5</a:t>
            </a:r>
          </a:p>
        </p:txBody>
      </p:sp>
      <p:pic>
        <p:nvPicPr>
          <p:cNvPr id="7" name="Picture 6" descr="Grid of 11 model forecasts from April 2021 against actual LA values" title="Grid of 11 model forecasts from April 2021 against actual LA values"/>
          <p:cNvPicPr>
            <a:picLocks noChangeAspect="1"/>
          </p:cNvPicPr>
          <p:nvPr/>
        </p:nvPicPr>
        <p:blipFill>
          <a:blip r:embed="rId2"/>
          <a:stretch>
            <a:fillRect/>
          </a:stretch>
        </p:blipFill>
        <p:spPr>
          <a:xfrm>
            <a:off x="1427162" y="1542288"/>
            <a:ext cx="3455035" cy="3052571"/>
          </a:xfrm>
          <a:prstGeom prst="rect">
            <a:avLst/>
          </a:prstGeom>
        </p:spPr>
      </p:pic>
      <p:sp>
        <p:nvSpPr>
          <p:cNvPr id="8" name="TextBox 7"/>
          <p:cNvSpPr txBox="1"/>
          <p:nvPr/>
        </p:nvSpPr>
        <p:spPr>
          <a:xfrm>
            <a:off x="6172200" y="1661160"/>
            <a:ext cx="2560320" cy="274320"/>
          </a:xfrm>
          <a:prstGeom prst="rect">
            <a:avLst/>
          </a:prstGeom>
          <a:noFill/>
          <a:ln/>
        </p:spPr>
        <p:txBody>
          <a:bodyPr wrap="square" anchor="t" lIns="25400" rIns="25400" tIns="25400" bIns="25400">
            <a:spAutoFit/>
          </a:bodyPr>
          <a:lstStyle/>
          <a:p>
            <a:pPr algn="l">
              <a:lnSpc>
                <a:spcPct val="100000"/>
              </a:lnSpc>
              <a:spcBef>
                <a:spcPts val="0"/>
              </a:spcBef>
              <a:spcAft>
                <a:spcPts val="0"/>
              </a:spcAft>
            </a:pPr>
            <a:r>
              <a:rPr sz="1100" b="1" i="0">
                <a:solidFill>
                  <a:srgbClr val="B4400B"/>
                </a:solidFill>
                <a:latin typeface="Arial"/>
              </a:rPr>
              <a:t>SAME MODEL, TWO TESTS</a:t>
            </a:r>
          </a:p>
        </p:txBody>
      </p:sp>
      <p:sp>
        <p:nvSpPr>
          <p:cNvPr id="9" name="TextBox 8"/>
          <p:cNvSpPr txBox="1"/>
          <p:nvPr/>
        </p:nvSpPr>
        <p:spPr>
          <a:xfrm>
            <a:off x="6172200" y="1972056"/>
            <a:ext cx="2560320" cy="822960"/>
          </a:xfrm>
          <a:prstGeom prst="rect">
            <a:avLst/>
          </a:prstGeom>
          <a:noFill/>
          <a:ln/>
        </p:spPr>
        <p:txBody>
          <a:bodyPr wrap="square" anchor="t" lIns="25400" rIns="25400" tIns="25400" bIns="25400">
            <a:spAutoFit/>
          </a:bodyPr>
          <a:lstStyle/>
          <a:p>
            <a:pPr algn="l">
              <a:lnSpc>
                <a:spcPct val="100000"/>
              </a:lnSpc>
              <a:spcBef>
                <a:spcPts val="0"/>
              </a:spcBef>
              <a:spcAft>
                <a:spcPts val="0"/>
              </a:spcAft>
            </a:pPr>
            <a:r>
              <a:rPr sz="3400" b="1" i="0">
                <a:solidFill>
                  <a:srgbClr val="16213E"/>
                </a:solidFill>
                <a:latin typeface="Arial"/>
              </a:rPr>
              <a:t>1st → 10th</a:t>
            </a:r>
          </a:p>
        </p:txBody>
      </p:sp>
      <p:sp>
        <p:nvSpPr>
          <p:cNvPr id="10" name="TextBox 9"/>
          <p:cNvSpPr txBox="1"/>
          <p:nvPr/>
        </p:nvSpPr>
        <p:spPr>
          <a:xfrm>
            <a:off x="6172200" y="2849880"/>
            <a:ext cx="2560320" cy="1280160"/>
          </a:xfrm>
          <a:prstGeom prst="rect">
            <a:avLst/>
          </a:prstGeom>
          <a:noFill/>
          <a:ln/>
        </p:spPr>
        <p:txBody>
          <a:bodyPr wrap="square" anchor="t" lIns="25400" rIns="25400" tIns="25400" bIns="25400">
            <a:spAutoFit/>
          </a:bodyPr>
          <a:lstStyle/>
          <a:p>
            <a:pPr algn="l">
              <a:lnSpc>
                <a:spcPct val="120000"/>
              </a:lnSpc>
              <a:spcBef>
                <a:spcPts val="0"/>
              </a:spcBef>
              <a:spcAft>
                <a:spcPts val="0"/>
              </a:spcAft>
            </a:pPr>
            <a:r>
              <a:rPr sz="1400" b="0" i="0">
                <a:solidFill>
                  <a:srgbClr val="3D4A5C"/>
                </a:solidFill>
                <a:latin typeface="Arial"/>
              </a:rPr>
              <a:t>LightGBM won the single 64-month test (2.2% error) but ranked 10th across 18 rolling tests: it got lucky in the one window that counted.</a:t>
            </a:r>
          </a:p>
        </p:txBody>
      </p:sp>
    </p:spTree>
  </p:cSld>
  <p:clrMapOvr>
    <a:masterClrMapping/>
  </p:clrMapOvr>
</p:sld>
</file>

<file path=ppt/slides/slide6.xml><?xml version="1.0" encoding="utf-8"?>
<p:sld xmlns:a="http://schemas.openxmlformats.org/drawingml/2006/main" xmlns:p="http://schemas.openxmlformats.org/presentationml/2006/main" xmlns:r="http://schemas.openxmlformats.org/officeDocument/2006/relationships">
  <p:cSld>
    <p:bg>
      <p:bgPr>
        <a:solidFill>
          <a:srgbClr val="FAF8F4"/>
        </a:solidFill>
        <a:effectLst/>
      </p:bgPr>
    </p:bg>
    <p:spTree>
      <p:nvGrpSpPr>
        <p:cNvPr id="1" name=""/>
        <p:cNvGrpSpPr/>
        <p:nvPr/>
      </p:nvGrpSpPr>
      <p:grpSpPr/>
      <p:sp>
        <p:nvSpPr>
          <p:cNvPr id="2" name="deckkit-chrome-title"/>
          <p:cNvSpPr txBox="1"/>
          <p:nvPr/>
        </p:nvSpPr>
        <p:spPr>
          <a:xfrm>
            <a:off x="502920" y="274320"/>
            <a:ext cx="8138160" cy="274320"/>
          </a:xfrm>
          <a:prstGeom prst="rect">
            <a:avLst/>
          </a:prstGeom>
          <a:noFill/>
          <a:ln/>
        </p:spPr>
        <p:txBody>
          <a:bodyPr wrap="square" anchor="t" lIns="25400" rIns="25400" tIns="25400" bIns="25400">
            <a:spAutoFit/>
          </a:bodyPr>
          <a:lstStyle/>
          <a:p>
            <a:pPr algn="l">
              <a:lnSpc>
                <a:spcPct val="100000"/>
              </a:lnSpc>
              <a:spcBef>
                <a:spcPts val="0"/>
              </a:spcBef>
              <a:spcAft>
                <a:spcPts val="0"/>
              </a:spcAft>
            </a:pPr>
            <a:r>
              <a:rPr sz="1100" b="1" i="0">
                <a:solidFill>
                  <a:srgbClr val="1F6F8B"/>
                </a:solidFill>
                <a:latin typeface="Arial"/>
              </a:rPr>
              <a:t>RESULT 3 · AI FORECASTS</a:t>
            </a:r>
          </a:p>
        </p:txBody>
      </p:sp>
      <p:sp>
        <p:nvSpPr>
          <p:cNvPr id="3" name="deckkit-chrome-title"/>
          <p:cNvSpPr txBox="1"/>
          <p:nvPr/>
        </p:nvSpPr>
        <p:spPr>
          <a:xfrm>
            <a:off x="502920" y="493776"/>
            <a:ext cx="8138160" cy="792479"/>
          </a:xfrm>
          <a:prstGeom prst="rect">
            <a:avLst/>
          </a:prstGeom>
          <a:noFill/>
          <a:ln/>
        </p:spPr>
        <p:txBody>
          <a:bodyPr wrap="square" anchor="t" lIns="25400" rIns="25400" tIns="25400" bIns="25400">
            <a:spAutoFit/>
          </a:bodyPr>
          <a:lstStyle/>
          <a:p>
            <a:pPr algn="l">
              <a:lnSpc>
                <a:spcPct val="100000"/>
              </a:lnSpc>
              <a:spcBef>
                <a:spcPts val="0"/>
              </a:spcBef>
              <a:spcAft>
                <a:spcPts val="0"/>
              </a:spcAft>
            </a:pPr>
            <a:r>
              <a:rPr sz="2600" b="1" i="0">
                <a:solidFill>
                  <a:srgbClr val="16213E"/>
                </a:solidFill>
                <a:latin typeface="Arial"/>
              </a:rPr>
              <a:t>Chat LLMs beat every model, until we hid which years they were forecasting</a:t>
            </a:r>
          </a:p>
        </p:txBody>
      </p:sp>
      <p:sp>
        <p:nvSpPr>
          <p:cNvPr id="4" name="deckkit-chrome-title"/>
          <p:cNvSpPr/>
          <p:nvPr/>
        </p:nvSpPr>
        <p:spPr>
          <a:xfrm>
            <a:off x="521207" y="1341120"/>
            <a:ext cx="1005840" cy="41148"/>
          </a:xfrm>
          <a:prstGeom prst="rect">
            <a:avLst/>
          </a:prstGeom>
          <a:solidFill>
            <a:srgbClr val="1F6F8B"/>
          </a:solidFill>
          <a:ln>
            <a:noFill/>
          </a:ln>
          <a:effectLst/>
        </p:spPr>
        <p:txBody>
          <a:bodyPr rtlCol="0" anchor="ctr"/>
          <a:lstStyle/>
          <a:p>
            <a:pPr algn="ctr"/>
          </a:p>
        </p:txBody>
      </p:sp>
      <p:sp>
        <p:nvSpPr>
          <p:cNvPr id="5" name="TextBox 4"/>
          <p:cNvSpPr txBox="1"/>
          <p:nvPr/>
        </p:nvSpPr>
        <p:spPr>
          <a:xfrm>
            <a:off x="502920" y="4823460"/>
            <a:ext cx="5486400" cy="274320"/>
          </a:xfrm>
          <a:prstGeom prst="rect">
            <a:avLst/>
          </a:prstGeom>
          <a:noFill/>
          <a:ln/>
        </p:spPr>
        <p:txBody>
          <a:bodyPr wrap="square" anchor="t" lIns="25400" rIns="25400" tIns="25400" bIns="25400">
            <a:spAutoFit/>
          </a:bodyPr>
          <a:lstStyle/>
          <a:p>
            <a:pPr algn="l">
              <a:lnSpc>
                <a:spcPct val="100000"/>
              </a:lnSpc>
              <a:spcBef>
                <a:spcPts val="0"/>
              </a:spcBef>
              <a:spcAft>
                <a:spcPts val="0"/>
              </a:spcAft>
            </a:pPr>
            <a:r>
              <a:rPr sz="800" b="0" i="0">
                <a:solidFill>
                  <a:srgbClr val="6B6F76"/>
                </a:solidFill>
                <a:latin typeface="Arial"/>
              </a:rPr>
              <a:t>MGMTMSA 437 · Forecasting LA Home Values · Data: Zillow ZHVI, FRED, BLS</a:t>
            </a:r>
          </a:p>
        </p:txBody>
      </p:sp>
      <p:sp>
        <p:nvSpPr>
          <p:cNvPr id="6" name="TextBox 5"/>
          <p:cNvSpPr txBox="1"/>
          <p:nvPr/>
        </p:nvSpPr>
        <p:spPr>
          <a:xfrm>
            <a:off x="8229600" y="4823460"/>
            <a:ext cx="548640" cy="274320"/>
          </a:xfrm>
          <a:prstGeom prst="rect">
            <a:avLst/>
          </a:prstGeom>
          <a:noFill/>
          <a:ln/>
        </p:spPr>
        <p:txBody>
          <a:bodyPr wrap="square" anchor="t" lIns="25400" rIns="25400" tIns="25400" bIns="25400">
            <a:spAutoFit/>
          </a:bodyPr>
          <a:lstStyle/>
          <a:p>
            <a:pPr algn="r">
              <a:lnSpc>
                <a:spcPct val="100000"/>
              </a:lnSpc>
              <a:spcBef>
                <a:spcPts val="0"/>
              </a:spcBef>
              <a:spcAft>
                <a:spcPts val="0"/>
              </a:spcAft>
            </a:pPr>
            <a:r>
              <a:rPr sz="900" b="1" i="0">
                <a:solidFill>
                  <a:srgbClr val="6B6F76"/>
                </a:solidFill>
                <a:latin typeface="Arial"/>
              </a:rPr>
              <a:t>6</a:t>
            </a:r>
          </a:p>
        </p:txBody>
      </p:sp>
      <p:pic>
        <p:nvPicPr>
          <p:cNvPr id="7" name="Picture 6" descr="Average and 12-month error of Claude, GPT and Gemini under named, blind and masked prompts, against ARIMAX and naive drift" title="Average and 12-month error of Claude, GPT and Gemini under named, blind and masked prompts, against ARIMAX and naive dri"/>
          <p:cNvPicPr>
            <a:picLocks noChangeAspect="1"/>
          </p:cNvPicPr>
          <p:nvPr/>
        </p:nvPicPr>
        <p:blipFill>
          <a:blip r:embed="rId2"/>
          <a:stretch>
            <a:fillRect/>
          </a:stretch>
        </p:blipFill>
        <p:spPr>
          <a:xfrm>
            <a:off x="411480" y="2011185"/>
            <a:ext cx="5577840" cy="2096489"/>
          </a:xfrm>
          <a:prstGeom prst="rect">
            <a:avLst/>
          </a:prstGeom>
        </p:spPr>
      </p:pic>
      <p:sp>
        <p:nvSpPr>
          <p:cNvPr id="8" name="TextBox 7"/>
          <p:cNvSpPr txBox="1"/>
          <p:nvPr/>
        </p:nvSpPr>
        <p:spPr>
          <a:xfrm>
            <a:off x="6217920" y="1661160"/>
            <a:ext cx="2514600" cy="274320"/>
          </a:xfrm>
          <a:prstGeom prst="rect">
            <a:avLst/>
          </a:prstGeom>
          <a:noFill/>
          <a:ln/>
        </p:spPr>
        <p:txBody>
          <a:bodyPr wrap="square" anchor="t" lIns="25400" rIns="25400" tIns="25400" bIns="25400">
            <a:spAutoFit/>
          </a:bodyPr>
          <a:lstStyle/>
          <a:p>
            <a:pPr algn="l">
              <a:lnSpc>
                <a:spcPct val="100000"/>
              </a:lnSpc>
              <a:spcBef>
                <a:spcPts val="0"/>
              </a:spcBef>
              <a:spcAft>
                <a:spcPts val="0"/>
              </a:spcAft>
            </a:pPr>
            <a:r>
              <a:rPr sz="1100" b="1" i="0">
                <a:solidFill>
                  <a:srgbClr val="B4400B"/>
                </a:solidFill>
                <a:latin typeface="Arial"/>
              </a:rPr>
              <a:t>SAME MODEL, DATES HIDDEN</a:t>
            </a:r>
          </a:p>
        </p:txBody>
      </p:sp>
      <p:sp>
        <p:nvSpPr>
          <p:cNvPr id="9" name="TextBox 8"/>
          <p:cNvSpPr txBox="1"/>
          <p:nvPr/>
        </p:nvSpPr>
        <p:spPr>
          <a:xfrm>
            <a:off x="6217920" y="1972056"/>
            <a:ext cx="2514600" cy="822960"/>
          </a:xfrm>
          <a:prstGeom prst="rect">
            <a:avLst/>
          </a:prstGeom>
          <a:noFill/>
          <a:ln/>
        </p:spPr>
        <p:txBody>
          <a:bodyPr wrap="square" anchor="t" lIns="25400" rIns="25400" tIns="25400" bIns="25400">
            <a:spAutoFit/>
          </a:bodyPr>
          <a:lstStyle/>
          <a:p>
            <a:pPr algn="l">
              <a:lnSpc>
                <a:spcPct val="100000"/>
              </a:lnSpc>
              <a:spcBef>
                <a:spcPts val="0"/>
              </a:spcBef>
              <a:spcAft>
                <a:spcPts val="0"/>
              </a:spcAft>
            </a:pPr>
            <a:r>
              <a:rPr sz="3400" b="1" i="0">
                <a:solidFill>
                  <a:srgbClr val="16213E"/>
                </a:solidFill>
                <a:latin typeface="Arial"/>
              </a:rPr>
              <a:t>1.3 → 2.8%</a:t>
            </a:r>
          </a:p>
        </p:txBody>
      </p:sp>
      <p:sp>
        <p:nvSpPr>
          <p:cNvPr id="10" name="TextBox 9"/>
          <p:cNvSpPr txBox="1"/>
          <p:nvPr/>
        </p:nvSpPr>
        <p:spPr>
          <a:xfrm>
            <a:off x="6217920" y="2849880"/>
            <a:ext cx="2514600" cy="1280160"/>
          </a:xfrm>
          <a:prstGeom prst="rect">
            <a:avLst/>
          </a:prstGeom>
          <a:noFill/>
          <a:ln/>
        </p:spPr>
        <p:txBody>
          <a:bodyPr wrap="square" anchor="t" lIns="25400" rIns="25400" tIns="25400" bIns="25400">
            <a:spAutoFit/>
          </a:bodyPr>
          <a:lstStyle/>
          <a:p>
            <a:pPr algn="l">
              <a:lnSpc>
                <a:spcPct val="120000"/>
              </a:lnSpc>
              <a:spcBef>
                <a:spcPts val="0"/>
              </a:spcBef>
              <a:spcAft>
                <a:spcPts val="0"/>
              </a:spcAft>
            </a:pPr>
            <a:r>
              <a:rPr sz="1400" b="0" i="0">
                <a:solidFill>
                  <a:srgbClr val="3D4A5C"/>
                </a:solidFill>
                <a:latin typeface="Arial"/>
              </a:rPr>
              <a:t>Claude's error once it could not tell the place, dates or mortgage rate (ARIMAX 2.67%). All test dates are inside the LLMs' training data.</a:t>
            </a:r>
          </a:p>
        </p:txBody>
      </p:sp>
    </p:spTree>
  </p:cSld>
  <p:clrMapOvr>
    <a:masterClrMapping/>
  </p:clrMapOvr>
</p:sld>
</file>

<file path=ppt/slides/slide7.xml><?xml version="1.0" encoding="utf-8"?>
<p:sld xmlns:a="http://schemas.openxmlformats.org/drawingml/2006/main" xmlns:p="http://schemas.openxmlformats.org/presentationml/2006/main" xmlns:r="http://schemas.openxmlformats.org/officeDocument/2006/relationships">
  <p:cSld>
    <p:bg>
      <p:bgPr>
        <a:solidFill>
          <a:srgbClr val="FAF8F4"/>
        </a:solidFill>
        <a:effectLst/>
      </p:bgPr>
    </p:bg>
    <p:spTree>
      <p:nvGrpSpPr>
        <p:cNvPr id="1" name=""/>
        <p:cNvGrpSpPr/>
        <p:nvPr/>
      </p:nvGrpSpPr>
      <p:grpSpPr/>
      <p:sp>
        <p:nvSpPr>
          <p:cNvPr id="2" name="deckkit-chrome-title"/>
          <p:cNvSpPr txBox="1"/>
          <p:nvPr/>
        </p:nvSpPr>
        <p:spPr>
          <a:xfrm>
            <a:off x="502920" y="274320"/>
            <a:ext cx="8138160" cy="274320"/>
          </a:xfrm>
          <a:prstGeom prst="rect">
            <a:avLst/>
          </a:prstGeom>
          <a:noFill/>
          <a:ln/>
        </p:spPr>
        <p:txBody>
          <a:bodyPr wrap="square" anchor="t" lIns="25400" rIns="25400" tIns="25400" bIns="25400">
            <a:spAutoFit/>
          </a:bodyPr>
          <a:lstStyle/>
          <a:p>
            <a:pPr algn="l">
              <a:lnSpc>
                <a:spcPct val="100000"/>
              </a:lnSpc>
              <a:spcBef>
                <a:spcPts val="0"/>
              </a:spcBef>
              <a:spcAft>
                <a:spcPts val="0"/>
              </a:spcAft>
            </a:pPr>
            <a:r>
              <a:rPr sz="1100" b="1" i="0">
                <a:solidFill>
                  <a:srgbClr val="1F6F8B"/>
                </a:solidFill>
                <a:latin typeface="Arial"/>
              </a:rPr>
              <a:t>RESULT 4 · MORTGAGE RATES</a:t>
            </a:r>
          </a:p>
        </p:txBody>
      </p:sp>
      <p:sp>
        <p:nvSpPr>
          <p:cNvPr id="3" name="deckkit-chrome-title"/>
          <p:cNvSpPr txBox="1"/>
          <p:nvPr/>
        </p:nvSpPr>
        <p:spPr>
          <a:xfrm>
            <a:off x="502920" y="493776"/>
            <a:ext cx="8138160" cy="792479"/>
          </a:xfrm>
          <a:prstGeom prst="rect">
            <a:avLst/>
          </a:prstGeom>
          <a:noFill/>
          <a:ln/>
        </p:spPr>
        <p:txBody>
          <a:bodyPr wrap="square" anchor="t" lIns="25400" rIns="25400" tIns="25400" bIns="25400">
            <a:spAutoFit/>
          </a:bodyPr>
          <a:lstStyle/>
          <a:p>
            <a:pPr algn="l">
              <a:lnSpc>
                <a:spcPct val="100000"/>
              </a:lnSpc>
              <a:spcBef>
                <a:spcPts val="0"/>
              </a:spcBef>
              <a:spcAft>
                <a:spcPts val="0"/>
              </a:spcAft>
            </a:pPr>
            <a:r>
              <a:rPr sz="2600" b="1" i="0">
                <a:solidFill>
                  <a:srgbClr val="16213E"/>
                </a:solidFill>
                <a:latin typeface="Arial"/>
              </a:rPr>
              <a:t>A 1-point rate rise means LA values about 9% lower two years later</a:t>
            </a:r>
          </a:p>
        </p:txBody>
      </p:sp>
      <p:sp>
        <p:nvSpPr>
          <p:cNvPr id="4" name="deckkit-chrome-title"/>
          <p:cNvSpPr/>
          <p:nvPr/>
        </p:nvSpPr>
        <p:spPr>
          <a:xfrm>
            <a:off x="521207" y="1341120"/>
            <a:ext cx="1005840" cy="41148"/>
          </a:xfrm>
          <a:prstGeom prst="rect">
            <a:avLst/>
          </a:prstGeom>
          <a:solidFill>
            <a:srgbClr val="1F6F8B"/>
          </a:solidFill>
          <a:ln>
            <a:noFill/>
          </a:ln>
          <a:effectLst/>
        </p:spPr>
        <p:txBody>
          <a:bodyPr rtlCol="0" anchor="ctr"/>
          <a:lstStyle/>
          <a:p>
            <a:pPr algn="ctr"/>
          </a:p>
        </p:txBody>
      </p:sp>
      <p:sp>
        <p:nvSpPr>
          <p:cNvPr id="5" name="TextBox 4"/>
          <p:cNvSpPr txBox="1"/>
          <p:nvPr/>
        </p:nvSpPr>
        <p:spPr>
          <a:xfrm>
            <a:off x="502920" y="4823460"/>
            <a:ext cx="5486400" cy="274320"/>
          </a:xfrm>
          <a:prstGeom prst="rect">
            <a:avLst/>
          </a:prstGeom>
          <a:noFill/>
          <a:ln/>
        </p:spPr>
        <p:txBody>
          <a:bodyPr wrap="square" anchor="t" lIns="25400" rIns="25400" tIns="25400" bIns="25400">
            <a:spAutoFit/>
          </a:bodyPr>
          <a:lstStyle/>
          <a:p>
            <a:pPr algn="l">
              <a:lnSpc>
                <a:spcPct val="100000"/>
              </a:lnSpc>
              <a:spcBef>
                <a:spcPts val="0"/>
              </a:spcBef>
              <a:spcAft>
                <a:spcPts val="0"/>
              </a:spcAft>
            </a:pPr>
            <a:r>
              <a:rPr sz="800" b="0" i="0">
                <a:solidFill>
                  <a:srgbClr val="6B6F76"/>
                </a:solidFill>
                <a:latin typeface="Arial"/>
              </a:rPr>
              <a:t>MGMTMSA 437 · Forecasting LA Home Values · Data: Zillow ZHVI, FRED, BLS</a:t>
            </a:r>
          </a:p>
        </p:txBody>
      </p:sp>
      <p:sp>
        <p:nvSpPr>
          <p:cNvPr id="6" name="TextBox 5"/>
          <p:cNvSpPr txBox="1"/>
          <p:nvPr/>
        </p:nvSpPr>
        <p:spPr>
          <a:xfrm>
            <a:off x="8229600" y="4823460"/>
            <a:ext cx="548640" cy="274320"/>
          </a:xfrm>
          <a:prstGeom prst="rect">
            <a:avLst/>
          </a:prstGeom>
          <a:noFill/>
          <a:ln/>
        </p:spPr>
        <p:txBody>
          <a:bodyPr wrap="square" anchor="t" lIns="25400" rIns="25400" tIns="25400" bIns="25400">
            <a:spAutoFit/>
          </a:bodyPr>
          <a:lstStyle/>
          <a:p>
            <a:pPr algn="r">
              <a:lnSpc>
                <a:spcPct val="100000"/>
              </a:lnSpc>
              <a:spcBef>
                <a:spcPts val="0"/>
              </a:spcBef>
              <a:spcAft>
                <a:spcPts val="0"/>
              </a:spcAft>
            </a:pPr>
            <a:r>
              <a:rPr sz="900" b="1" i="0">
                <a:solidFill>
                  <a:srgbClr val="6B6F76"/>
                </a:solidFill>
                <a:latin typeface="Arial"/>
              </a:rPr>
              <a:t>7</a:t>
            </a:r>
          </a:p>
        </p:txBody>
      </p:sp>
      <p:pic>
        <p:nvPicPr>
          <p:cNvPr id="7" name="Picture 6" descr="Impulse response of LA home values to a 1-point mortgage rate rise over 36 months, with 90% band" title="Impulse response of LA home values to a 1-point mortgage rate rise over 36 months, with 90% band"/>
          <p:cNvPicPr>
            <a:picLocks noChangeAspect="1"/>
          </p:cNvPicPr>
          <p:nvPr/>
        </p:nvPicPr>
        <p:blipFill>
          <a:blip r:embed="rId2"/>
          <a:stretch>
            <a:fillRect/>
          </a:stretch>
        </p:blipFill>
        <p:spPr>
          <a:xfrm>
            <a:off x="411480" y="1919258"/>
            <a:ext cx="5486400" cy="2280342"/>
          </a:xfrm>
          <a:prstGeom prst="rect">
            <a:avLst/>
          </a:prstGeom>
        </p:spPr>
      </p:pic>
      <p:sp>
        <p:nvSpPr>
          <p:cNvPr id="8" name="TextBox 7"/>
          <p:cNvSpPr txBox="1"/>
          <p:nvPr/>
        </p:nvSpPr>
        <p:spPr>
          <a:xfrm>
            <a:off x="6172200" y="1661160"/>
            <a:ext cx="2560320" cy="274320"/>
          </a:xfrm>
          <a:prstGeom prst="rect">
            <a:avLst/>
          </a:prstGeom>
          <a:noFill/>
          <a:ln/>
        </p:spPr>
        <p:txBody>
          <a:bodyPr wrap="square" anchor="t" lIns="25400" rIns="25400" tIns="25400" bIns="25400">
            <a:spAutoFit/>
          </a:bodyPr>
          <a:lstStyle/>
          <a:p>
            <a:pPr algn="l">
              <a:lnSpc>
                <a:spcPct val="100000"/>
              </a:lnSpc>
              <a:spcBef>
                <a:spcPts val="0"/>
              </a:spcBef>
              <a:spcAft>
                <a:spcPts val="0"/>
              </a:spcAft>
            </a:pPr>
            <a:r>
              <a:rPr sz="1100" b="1" i="0">
                <a:solidFill>
                  <a:srgbClr val="B4400B"/>
                </a:solidFill>
                <a:latin typeface="Arial"/>
              </a:rPr>
              <a:t>RATES WORK SLOWLY</a:t>
            </a:r>
          </a:p>
        </p:txBody>
      </p:sp>
      <p:sp>
        <p:nvSpPr>
          <p:cNvPr id="9" name="TextBox 8"/>
          <p:cNvSpPr txBox="1"/>
          <p:nvPr/>
        </p:nvSpPr>
        <p:spPr>
          <a:xfrm>
            <a:off x="6172200" y="1972056"/>
            <a:ext cx="2560320" cy="822960"/>
          </a:xfrm>
          <a:prstGeom prst="rect">
            <a:avLst/>
          </a:prstGeom>
          <a:noFill/>
          <a:ln/>
        </p:spPr>
        <p:txBody>
          <a:bodyPr wrap="square" anchor="t" lIns="25400" rIns="25400" tIns="25400" bIns="25400">
            <a:spAutoFit/>
          </a:bodyPr>
          <a:lstStyle/>
          <a:p>
            <a:pPr algn="l">
              <a:lnSpc>
                <a:spcPct val="100000"/>
              </a:lnSpc>
              <a:spcBef>
                <a:spcPts val="0"/>
              </a:spcBef>
              <a:spcAft>
                <a:spcPts val="0"/>
              </a:spcAft>
            </a:pPr>
            <a:r>
              <a:rPr sz="3400" b="1" i="0">
                <a:solidFill>
                  <a:srgbClr val="16213E"/>
                </a:solidFill>
                <a:latin typeface="Arial"/>
              </a:rPr>
              <a:t>−9.2%</a:t>
            </a:r>
          </a:p>
        </p:txBody>
      </p:sp>
      <p:sp>
        <p:nvSpPr>
          <p:cNvPr id="10" name="TextBox 9"/>
          <p:cNvSpPr txBox="1"/>
          <p:nvPr/>
        </p:nvSpPr>
        <p:spPr>
          <a:xfrm>
            <a:off x="6172200" y="2849880"/>
            <a:ext cx="2560320" cy="1536191"/>
          </a:xfrm>
          <a:prstGeom prst="rect">
            <a:avLst/>
          </a:prstGeom>
          <a:noFill/>
          <a:ln/>
        </p:spPr>
        <p:txBody>
          <a:bodyPr wrap="square" anchor="t" lIns="25400" rIns="25400" tIns="25400" bIns="25400">
            <a:spAutoFit/>
          </a:bodyPr>
          <a:lstStyle/>
          <a:p>
            <a:pPr algn="l">
              <a:lnSpc>
                <a:spcPct val="120000"/>
              </a:lnSpc>
              <a:spcBef>
                <a:spcPts val="0"/>
              </a:spcBef>
              <a:spcAft>
                <a:spcPts val="0"/>
              </a:spcAft>
            </a:pPr>
            <a:r>
              <a:rPr sz="1400" b="0" i="0">
                <a:solidFill>
                  <a:srgbClr val="3D4A5C"/>
                </a:solidFill>
                <a:latin typeface="Arial"/>
              </a:rPr>
              <a:t>after 24 months (−4.5% after 12). Rates help predict prices, not the reverse (Granger p = 0.052, borderline, vs 0.51). Local jobs add nothing once 2020–21 is set aside.</a:t>
            </a:r>
          </a:p>
        </p:txBody>
      </p:sp>
    </p:spTree>
  </p:cSld>
  <p:clrMapOvr>
    <a:masterClrMapping/>
  </p:clrMapOvr>
</p:sld>
</file>

<file path=ppt/slides/slide8.xml><?xml version="1.0" encoding="utf-8"?>
<p:sld xmlns:a="http://schemas.openxmlformats.org/drawingml/2006/main" xmlns:p="http://schemas.openxmlformats.org/presentationml/2006/main" xmlns:r="http://schemas.openxmlformats.org/officeDocument/2006/relationships">
  <p:cSld>
    <p:bg>
      <p:bgPr>
        <a:solidFill>
          <a:srgbClr val="FAF8F4"/>
        </a:solidFill>
        <a:effectLst/>
      </p:bgPr>
    </p:bg>
    <p:spTree>
      <p:nvGrpSpPr>
        <p:cNvPr id="1" name=""/>
        <p:cNvGrpSpPr/>
        <p:nvPr/>
      </p:nvGrpSpPr>
      <p:grpSpPr/>
      <p:sp>
        <p:nvSpPr>
          <p:cNvPr id="2" name="deckkit-chrome-title"/>
          <p:cNvSpPr txBox="1"/>
          <p:nvPr/>
        </p:nvSpPr>
        <p:spPr>
          <a:xfrm>
            <a:off x="502920" y="274320"/>
            <a:ext cx="8138160" cy="274320"/>
          </a:xfrm>
          <a:prstGeom prst="rect">
            <a:avLst/>
          </a:prstGeom>
          <a:noFill/>
          <a:ln/>
        </p:spPr>
        <p:txBody>
          <a:bodyPr wrap="square" anchor="t" lIns="25400" rIns="25400" tIns="25400" bIns="25400">
            <a:spAutoFit/>
          </a:bodyPr>
          <a:lstStyle/>
          <a:p>
            <a:pPr algn="l">
              <a:lnSpc>
                <a:spcPct val="100000"/>
              </a:lnSpc>
              <a:spcBef>
                <a:spcPts val="0"/>
              </a:spcBef>
              <a:spcAft>
                <a:spcPts val="0"/>
              </a:spcAft>
            </a:pPr>
            <a:r>
              <a:rPr sz="1100" b="1" i="0">
                <a:solidFill>
                  <a:srgbClr val="1F6F8B"/>
                </a:solidFill>
                <a:latin typeface="Arial"/>
              </a:rPr>
              <a:t>NEIGHBORHOODS · LIVE MAP</a:t>
            </a:r>
          </a:p>
        </p:txBody>
      </p:sp>
      <p:sp>
        <p:nvSpPr>
          <p:cNvPr id="3" name="deckkit-chrome-title"/>
          <p:cNvSpPr txBox="1"/>
          <p:nvPr/>
        </p:nvSpPr>
        <p:spPr>
          <a:xfrm>
            <a:off x="502920" y="493776"/>
            <a:ext cx="8138160" cy="792479"/>
          </a:xfrm>
          <a:prstGeom prst="rect">
            <a:avLst/>
          </a:prstGeom>
          <a:noFill/>
          <a:ln/>
        </p:spPr>
        <p:txBody>
          <a:bodyPr wrap="square" anchor="t" lIns="25400" rIns="25400" tIns="25400" bIns="25400">
            <a:spAutoFit/>
          </a:bodyPr>
          <a:lstStyle/>
          <a:p>
            <a:pPr algn="l">
              <a:lnSpc>
                <a:spcPct val="100000"/>
              </a:lnSpc>
              <a:spcBef>
                <a:spcPts val="0"/>
              </a:spcBef>
              <a:spcAft>
                <a:spcPts val="0"/>
              </a:spcAft>
            </a:pPr>
            <a:r>
              <a:rPr sz="2600" b="1" i="0">
                <a:solidFill>
                  <a:srgbClr val="16213E"/>
                </a:solidFill>
                <a:latin typeface="Arial"/>
              </a:rPr>
              <a:t>The metro average hides a split market, neighborhood by neighborhood</a:t>
            </a:r>
          </a:p>
        </p:txBody>
      </p:sp>
      <p:sp>
        <p:nvSpPr>
          <p:cNvPr id="4" name="deckkit-chrome-title"/>
          <p:cNvSpPr/>
          <p:nvPr/>
        </p:nvSpPr>
        <p:spPr>
          <a:xfrm>
            <a:off x="521207" y="1341120"/>
            <a:ext cx="1005840" cy="41148"/>
          </a:xfrm>
          <a:prstGeom prst="rect">
            <a:avLst/>
          </a:prstGeom>
          <a:solidFill>
            <a:srgbClr val="1F6F8B"/>
          </a:solidFill>
          <a:ln>
            <a:noFill/>
          </a:ln>
          <a:effectLst/>
        </p:spPr>
        <p:txBody>
          <a:bodyPr rtlCol="0" anchor="ctr"/>
          <a:lstStyle/>
          <a:p>
            <a:pPr algn="ctr"/>
          </a:p>
        </p:txBody>
      </p:sp>
      <p:sp>
        <p:nvSpPr>
          <p:cNvPr id="5" name="TextBox 4"/>
          <p:cNvSpPr txBox="1"/>
          <p:nvPr/>
        </p:nvSpPr>
        <p:spPr>
          <a:xfrm>
            <a:off x="502920" y="4823460"/>
            <a:ext cx="5486400" cy="274320"/>
          </a:xfrm>
          <a:prstGeom prst="rect">
            <a:avLst/>
          </a:prstGeom>
          <a:noFill/>
          <a:ln/>
        </p:spPr>
        <p:txBody>
          <a:bodyPr wrap="square" anchor="t" lIns="25400" rIns="25400" tIns="25400" bIns="25400">
            <a:spAutoFit/>
          </a:bodyPr>
          <a:lstStyle/>
          <a:p>
            <a:pPr algn="l">
              <a:lnSpc>
                <a:spcPct val="100000"/>
              </a:lnSpc>
              <a:spcBef>
                <a:spcPts val="0"/>
              </a:spcBef>
              <a:spcAft>
                <a:spcPts val="0"/>
              </a:spcAft>
            </a:pPr>
            <a:r>
              <a:rPr sz="800" b="0" i="0">
                <a:solidFill>
                  <a:srgbClr val="6B6F76"/>
                </a:solidFill>
                <a:latin typeface="Arial"/>
              </a:rPr>
              <a:t>MGMTMSA 437 · Forecasting LA Home Values · Data: Zillow ZHVI, FRED, BLS</a:t>
            </a:r>
          </a:p>
        </p:txBody>
      </p:sp>
      <p:sp>
        <p:nvSpPr>
          <p:cNvPr id="6" name="TextBox 5"/>
          <p:cNvSpPr txBox="1"/>
          <p:nvPr/>
        </p:nvSpPr>
        <p:spPr>
          <a:xfrm>
            <a:off x="8229600" y="4823460"/>
            <a:ext cx="548640" cy="274320"/>
          </a:xfrm>
          <a:prstGeom prst="rect">
            <a:avLst/>
          </a:prstGeom>
          <a:noFill/>
          <a:ln/>
        </p:spPr>
        <p:txBody>
          <a:bodyPr wrap="square" anchor="t" lIns="25400" rIns="25400" tIns="25400" bIns="25400">
            <a:spAutoFit/>
          </a:bodyPr>
          <a:lstStyle/>
          <a:p>
            <a:pPr algn="r">
              <a:lnSpc>
                <a:spcPct val="100000"/>
              </a:lnSpc>
              <a:spcBef>
                <a:spcPts val="0"/>
              </a:spcBef>
              <a:spcAft>
                <a:spcPts val="0"/>
              </a:spcAft>
            </a:pPr>
            <a:r>
              <a:rPr sz="900" b="1" i="0">
                <a:solidFill>
                  <a:srgbClr val="6B6F76"/>
                </a:solidFill>
                <a:latin typeface="Arial"/>
              </a:rPr>
              <a:t>8</a:t>
            </a:r>
          </a:p>
        </p:txBody>
      </p:sp>
      <p:pic>
        <p:nvPicPr>
          <p:cNvPr id="7" name="Picture 6" descr="Map of LA-metro neighborhoods colored by 12-month change in home value" title="Map of LA-metro neighborhoods colored by 12-month change in home value"/>
          <p:cNvPicPr>
            <a:picLocks noChangeAspect="1"/>
          </p:cNvPicPr>
          <p:nvPr/>
        </p:nvPicPr>
        <p:blipFill>
          <a:blip r:embed="rId2"/>
          <a:stretch>
            <a:fillRect/>
          </a:stretch>
        </p:blipFill>
        <p:spPr>
          <a:xfrm>
            <a:off x="1436049" y="1569720"/>
            <a:ext cx="2797180" cy="3025140"/>
          </a:xfrm>
          <a:prstGeom prst="rect">
            <a:avLst/>
          </a:prstGeom>
        </p:spPr>
      </p:pic>
      <p:sp>
        <p:nvSpPr>
          <p:cNvPr id="8" name="TextBox 7"/>
          <p:cNvSpPr txBox="1"/>
          <p:nvPr/>
        </p:nvSpPr>
        <p:spPr>
          <a:xfrm>
            <a:off x="5669280" y="1661160"/>
            <a:ext cx="3108960" cy="406400"/>
          </a:xfrm>
          <a:prstGeom prst="rect">
            <a:avLst/>
          </a:prstGeom>
          <a:noFill/>
          <a:ln/>
        </p:spPr>
        <p:txBody>
          <a:bodyPr wrap="none" anchor="t" lIns="25400" rIns="25400" tIns="25400" bIns="25400">
            <a:spAutoFit/>
          </a:bodyPr>
          <a:lstStyle/>
          <a:p>
            <a:pPr algn="l">
              <a:lnSpc>
                <a:spcPct val="100000"/>
              </a:lnSpc>
              <a:spcBef>
                <a:spcPts val="0"/>
              </a:spcBef>
              <a:spcAft>
                <a:spcPts val="600"/>
              </a:spcAft>
            </a:pPr>
            <a:r>
              <a:rPr sz="2600" b="1" i="0">
                <a:solidFill>
                  <a:srgbClr val="16213E"/>
                </a:solidFill>
                <a:latin typeface="Arial"/>
              </a:rPr>
              <a:t>220 / 216 / 60</a:t>
            </a:r>
          </a:p>
        </p:txBody>
      </p:sp>
      <p:sp>
        <p:nvSpPr>
          <p:cNvPr id="9" name="TextBox 8"/>
          <p:cNvSpPr txBox="1"/>
          <p:nvPr/>
        </p:nvSpPr>
        <p:spPr>
          <a:xfrm>
            <a:off x="5669280" y="2067560"/>
            <a:ext cx="3108960" cy="298704"/>
          </a:xfrm>
          <a:prstGeom prst="rect">
            <a:avLst/>
          </a:prstGeom>
          <a:noFill/>
          <a:ln/>
        </p:spPr>
        <p:txBody>
          <a:bodyPr wrap="square" anchor="t" lIns="25400" rIns="25400" tIns="25400" bIns="25400">
            <a:spAutoFit/>
          </a:bodyPr>
          <a:lstStyle/>
          <a:p>
            <a:pPr algn="l">
              <a:lnSpc>
                <a:spcPct val="100000"/>
              </a:lnSpc>
              <a:spcBef>
                <a:spcPts val="0"/>
              </a:spcBef>
              <a:spcAft>
                <a:spcPts val="600"/>
              </a:spcAft>
            </a:pPr>
            <a:r>
              <a:rPr sz="1050" b="0" i="0">
                <a:solidFill>
                  <a:srgbClr val="6B6F76"/>
                </a:solidFill>
                <a:latin typeface="Arial"/>
              </a:rPr>
              <a:t>neighborhoods rising / flat / falling more than 2%, last 12 months</a:t>
            </a:r>
          </a:p>
        </p:txBody>
      </p:sp>
      <p:sp>
        <p:nvSpPr>
          <p:cNvPr id="10" name="TextBox 9"/>
          <p:cNvSpPr txBox="1"/>
          <p:nvPr/>
        </p:nvSpPr>
        <p:spPr>
          <a:xfrm>
            <a:off x="5669280" y="2530856"/>
            <a:ext cx="3108960" cy="406400"/>
          </a:xfrm>
          <a:prstGeom prst="rect">
            <a:avLst/>
          </a:prstGeom>
          <a:noFill/>
          <a:ln/>
        </p:spPr>
        <p:txBody>
          <a:bodyPr wrap="none" anchor="t" lIns="25400" rIns="25400" tIns="25400" bIns="25400">
            <a:spAutoFit/>
          </a:bodyPr>
          <a:lstStyle/>
          <a:p>
            <a:pPr algn="l">
              <a:lnSpc>
                <a:spcPct val="100000"/>
              </a:lnSpc>
              <a:spcBef>
                <a:spcPts val="0"/>
              </a:spcBef>
              <a:spcAft>
                <a:spcPts val="600"/>
              </a:spcAft>
            </a:pPr>
            <a:r>
              <a:rPr sz="2600" b="1" i="0">
                <a:solidFill>
                  <a:srgbClr val="B4400B"/>
                </a:solidFill>
                <a:latin typeface="Arial"/>
              </a:rPr>
              <a:t>152 of 496</a:t>
            </a:r>
          </a:p>
        </p:txBody>
      </p:sp>
      <p:sp>
        <p:nvSpPr>
          <p:cNvPr id="11" name="TextBox 10"/>
          <p:cNvSpPr txBox="1"/>
          <p:nvPr/>
        </p:nvSpPr>
        <p:spPr>
          <a:xfrm>
            <a:off x="5669280" y="2937256"/>
            <a:ext cx="3108960" cy="149352"/>
          </a:xfrm>
          <a:prstGeom prst="rect">
            <a:avLst/>
          </a:prstGeom>
          <a:noFill/>
          <a:ln/>
        </p:spPr>
        <p:txBody>
          <a:bodyPr wrap="square" anchor="t" lIns="25400" rIns="25400" tIns="25400" bIns="25400">
            <a:spAutoFit/>
          </a:bodyPr>
          <a:lstStyle/>
          <a:p>
            <a:pPr algn="l">
              <a:lnSpc>
                <a:spcPct val="100000"/>
              </a:lnSpc>
              <a:spcBef>
                <a:spcPts val="0"/>
              </a:spcBef>
              <a:spcAft>
                <a:spcPts val="600"/>
              </a:spcAft>
            </a:pPr>
            <a:r>
              <a:rPr sz="1050" b="0" i="0">
                <a:solidFill>
                  <a:srgbClr val="6B6F76"/>
                </a:solidFill>
                <a:latin typeface="Arial"/>
              </a:rPr>
              <a:t>still below their 2022 peak, mostly in LA County</a:t>
            </a:r>
          </a:p>
        </p:txBody>
      </p:sp>
      <p:sp>
        <p:nvSpPr>
          <p:cNvPr id="12" name="TextBox 11"/>
          <p:cNvSpPr txBox="1"/>
          <p:nvPr/>
        </p:nvSpPr>
        <p:spPr>
          <a:xfrm>
            <a:off x="5669280" y="3251200"/>
            <a:ext cx="3108960" cy="406400"/>
          </a:xfrm>
          <a:prstGeom prst="rect">
            <a:avLst/>
          </a:prstGeom>
          <a:noFill/>
          <a:ln/>
        </p:spPr>
        <p:txBody>
          <a:bodyPr wrap="none" anchor="t" lIns="25400" rIns="25400" tIns="25400" bIns="25400">
            <a:spAutoFit/>
          </a:bodyPr>
          <a:lstStyle/>
          <a:p>
            <a:pPr algn="l">
              <a:lnSpc>
                <a:spcPct val="100000"/>
              </a:lnSpc>
              <a:spcBef>
                <a:spcPts val="0"/>
              </a:spcBef>
              <a:spcAft>
                <a:spcPts val="600"/>
              </a:spcAft>
            </a:pPr>
            <a:r>
              <a:rPr sz="2600" b="1" i="0">
                <a:solidFill>
                  <a:srgbClr val="B4400B"/>
                </a:solidFill>
                <a:latin typeface="Arial"/>
              </a:rPr>
              <a:t>−1.2 pts</a:t>
            </a:r>
          </a:p>
        </p:txBody>
      </p:sp>
      <p:sp>
        <p:nvSpPr>
          <p:cNvPr id="13" name="TextBox 12"/>
          <p:cNvSpPr txBox="1"/>
          <p:nvPr/>
        </p:nvSpPr>
        <p:spPr>
          <a:xfrm>
            <a:off x="5669280" y="3657600"/>
            <a:ext cx="3108960" cy="298704"/>
          </a:xfrm>
          <a:prstGeom prst="rect">
            <a:avLst/>
          </a:prstGeom>
          <a:noFill/>
          <a:ln/>
        </p:spPr>
        <p:txBody>
          <a:bodyPr wrap="square" anchor="t" lIns="25400" rIns="25400" tIns="25400" bIns="25400">
            <a:spAutoFit/>
          </a:bodyPr>
          <a:lstStyle/>
          <a:p>
            <a:pPr algn="l">
              <a:lnSpc>
                <a:spcPct val="100000"/>
              </a:lnSpc>
              <a:spcBef>
                <a:spcPts val="0"/>
              </a:spcBef>
              <a:spcAft>
                <a:spcPts val="600"/>
              </a:spcAft>
            </a:pPr>
            <a:r>
              <a:rPr sz="1050" b="0" i="0">
                <a:solidFill>
                  <a:srgbClr val="6B6F76"/>
                </a:solidFill>
                <a:latin typeface="Arial"/>
              </a:rPr>
              <a:t>deeper 2022 drop per doubling of price in LA County (reverses in Orange County)</a:t>
            </a:r>
          </a:p>
        </p:txBody>
      </p:sp>
      <p:sp>
        <p:nvSpPr>
          <p:cNvPr id="14" name="TextBox 13"/>
          <p:cNvSpPr txBox="1"/>
          <p:nvPr/>
        </p:nvSpPr>
        <p:spPr>
          <a:xfrm>
            <a:off x="5669280" y="4139184"/>
            <a:ext cx="3108960" cy="457200"/>
          </a:xfrm>
          <a:prstGeom prst="rect">
            <a:avLst/>
          </a:prstGeom>
          <a:noFill/>
          <a:ln/>
        </p:spPr>
        <p:txBody>
          <a:bodyPr wrap="square" anchor="t" lIns="25400" rIns="25400" tIns="25400" bIns="25400">
            <a:spAutoFit/>
          </a:bodyPr>
          <a:lstStyle/>
          <a:p>
            <a:pPr algn="l">
              <a:lnSpc>
                <a:spcPct val="100000"/>
              </a:lnSpc>
              <a:spcBef>
                <a:spcPts val="0"/>
              </a:spcBef>
              <a:spcAft>
                <a:spcPts val="600"/>
              </a:spcAft>
            </a:pPr>
            <a:r>
              <a:rPr sz="1050" b="1" i="0">
                <a:solidFill>
                  <a:srgbClr val="1F6F8B"/>
                </a:solidFill>
                <a:latin typeface="Arial"/>
              </a:rPr>
              <a:t>Live map: neiltd.github.io/la-housing-forecast</a:t>
            </a:r>
          </a:p>
        </p:txBody>
      </p:sp>
    </p:spTree>
  </p:cSld>
  <p:clrMapOvr>
    <a:masterClrMapping/>
  </p:clrMapOvr>
</p:sld>
</file>

<file path=ppt/slides/slide9.xml><?xml version="1.0" encoding="utf-8"?>
<p:sld xmlns:a="http://schemas.openxmlformats.org/drawingml/2006/main" xmlns:p="http://schemas.openxmlformats.org/presentationml/2006/main" xmlns:r="http://schemas.openxmlformats.org/officeDocument/2006/relationships">
  <p:cSld>
    <p:bg>
      <p:bgPr>
        <a:solidFill>
          <a:srgbClr val="FAF8F4"/>
        </a:solidFill>
        <a:effectLst/>
      </p:bgPr>
    </p:bg>
    <p:spTree>
      <p:nvGrpSpPr>
        <p:cNvPr id="1" name=""/>
        <p:cNvGrpSpPr/>
        <p:nvPr/>
      </p:nvGrpSpPr>
      <p:grpSpPr/>
      <p:sp>
        <p:nvSpPr>
          <p:cNvPr id="2" name="deckkit-chrome-title"/>
          <p:cNvSpPr txBox="1"/>
          <p:nvPr/>
        </p:nvSpPr>
        <p:spPr>
          <a:xfrm>
            <a:off x="502920" y="274320"/>
            <a:ext cx="8138160" cy="274320"/>
          </a:xfrm>
          <a:prstGeom prst="rect">
            <a:avLst/>
          </a:prstGeom>
          <a:noFill/>
          <a:ln/>
        </p:spPr>
        <p:txBody>
          <a:bodyPr wrap="square" anchor="t" lIns="25400" rIns="25400" tIns="25400" bIns="25400">
            <a:spAutoFit/>
          </a:bodyPr>
          <a:lstStyle/>
          <a:p>
            <a:pPr algn="l">
              <a:lnSpc>
                <a:spcPct val="100000"/>
              </a:lnSpc>
              <a:spcBef>
                <a:spcPts val="0"/>
              </a:spcBef>
              <a:spcAft>
                <a:spcPts val="0"/>
              </a:spcAft>
            </a:pPr>
            <a:r>
              <a:rPr sz="1100" b="1" i="0">
                <a:solidFill>
                  <a:srgbClr val="1F6F8B"/>
                </a:solidFill>
                <a:latin typeface="Arial"/>
              </a:rPr>
              <a:t>OUTLOOK</a:t>
            </a:r>
          </a:p>
        </p:txBody>
      </p:sp>
      <p:sp>
        <p:nvSpPr>
          <p:cNvPr id="3" name="deckkit-chrome-title"/>
          <p:cNvSpPr txBox="1"/>
          <p:nvPr/>
        </p:nvSpPr>
        <p:spPr>
          <a:xfrm>
            <a:off x="502920" y="493776"/>
            <a:ext cx="8138160" cy="792479"/>
          </a:xfrm>
          <a:prstGeom prst="rect">
            <a:avLst/>
          </a:prstGeom>
          <a:noFill/>
          <a:ln/>
        </p:spPr>
        <p:txBody>
          <a:bodyPr wrap="square" anchor="t" lIns="25400" rIns="25400" tIns="25400" bIns="25400">
            <a:spAutoFit/>
          </a:bodyPr>
          <a:lstStyle/>
          <a:p>
            <a:pPr algn="l">
              <a:lnSpc>
                <a:spcPct val="100000"/>
              </a:lnSpc>
              <a:spcBef>
                <a:spcPts val="0"/>
              </a:spcBef>
              <a:spcAft>
                <a:spcPts val="0"/>
              </a:spcAft>
            </a:pPr>
            <a:r>
              <a:rPr sz="2600" b="1" i="0">
                <a:solidFill>
                  <a:srgbClr val="16213E"/>
                </a:solidFill>
                <a:latin typeface="Arial"/>
              </a:rPr>
              <a:t>Our forecast: about 5% higher by August 2027, with a wide range</a:t>
            </a:r>
          </a:p>
        </p:txBody>
      </p:sp>
      <p:sp>
        <p:nvSpPr>
          <p:cNvPr id="4" name="deckkit-chrome-title"/>
          <p:cNvSpPr/>
          <p:nvPr/>
        </p:nvSpPr>
        <p:spPr>
          <a:xfrm>
            <a:off x="521207" y="1341120"/>
            <a:ext cx="1005840" cy="41148"/>
          </a:xfrm>
          <a:prstGeom prst="rect">
            <a:avLst/>
          </a:prstGeom>
          <a:solidFill>
            <a:srgbClr val="1F6F8B"/>
          </a:solidFill>
          <a:ln>
            <a:noFill/>
          </a:ln>
          <a:effectLst/>
        </p:spPr>
        <p:txBody>
          <a:bodyPr rtlCol="0" anchor="ctr"/>
          <a:lstStyle/>
          <a:p>
            <a:pPr algn="ctr"/>
          </a:p>
        </p:txBody>
      </p:sp>
      <p:sp>
        <p:nvSpPr>
          <p:cNvPr id="5" name="TextBox 4"/>
          <p:cNvSpPr txBox="1"/>
          <p:nvPr/>
        </p:nvSpPr>
        <p:spPr>
          <a:xfrm>
            <a:off x="502920" y="4823460"/>
            <a:ext cx="5486400" cy="274320"/>
          </a:xfrm>
          <a:prstGeom prst="rect">
            <a:avLst/>
          </a:prstGeom>
          <a:noFill/>
          <a:ln/>
        </p:spPr>
        <p:txBody>
          <a:bodyPr wrap="square" anchor="t" lIns="25400" rIns="25400" tIns="25400" bIns="25400">
            <a:spAutoFit/>
          </a:bodyPr>
          <a:lstStyle/>
          <a:p>
            <a:pPr algn="l">
              <a:lnSpc>
                <a:spcPct val="100000"/>
              </a:lnSpc>
              <a:spcBef>
                <a:spcPts val="0"/>
              </a:spcBef>
              <a:spcAft>
                <a:spcPts val="0"/>
              </a:spcAft>
            </a:pPr>
            <a:r>
              <a:rPr sz="800" b="0" i="0">
                <a:solidFill>
                  <a:srgbClr val="6B6F76"/>
                </a:solidFill>
                <a:latin typeface="Arial"/>
              </a:rPr>
              <a:t>MGMTMSA 437 · Forecasting LA Home Values · Data: Zillow ZHVI, FRED, BLS</a:t>
            </a:r>
          </a:p>
        </p:txBody>
      </p:sp>
      <p:sp>
        <p:nvSpPr>
          <p:cNvPr id="6" name="TextBox 5"/>
          <p:cNvSpPr txBox="1"/>
          <p:nvPr/>
        </p:nvSpPr>
        <p:spPr>
          <a:xfrm>
            <a:off x="8229600" y="4823460"/>
            <a:ext cx="548640" cy="274320"/>
          </a:xfrm>
          <a:prstGeom prst="rect">
            <a:avLst/>
          </a:prstGeom>
          <a:noFill/>
          <a:ln/>
        </p:spPr>
        <p:txBody>
          <a:bodyPr wrap="square" anchor="t" lIns="25400" rIns="25400" tIns="25400" bIns="25400">
            <a:spAutoFit/>
          </a:bodyPr>
          <a:lstStyle/>
          <a:p>
            <a:pPr algn="r">
              <a:lnSpc>
                <a:spcPct val="100000"/>
              </a:lnSpc>
              <a:spcBef>
                <a:spcPts val="0"/>
              </a:spcBef>
              <a:spcAft>
                <a:spcPts val="0"/>
              </a:spcAft>
            </a:pPr>
            <a:r>
              <a:rPr sz="900" b="1" i="0">
                <a:solidFill>
                  <a:srgbClr val="6B6F76"/>
                </a:solidFill>
                <a:latin typeface="Arial"/>
              </a:rPr>
              <a:t>9</a:t>
            </a:r>
          </a:p>
        </p:txBody>
      </p:sp>
      <p:pic>
        <p:nvPicPr>
          <p:cNvPr id="7" name="Picture 6" descr="LA metro forecast to August 2027: ARIMAX, ARIMA with 80% band, naive drift" title="LA metro forecast to August 2027: ARIMAX, ARIMA with 80% band, naive drift"/>
          <p:cNvPicPr>
            <a:picLocks noChangeAspect="1"/>
          </p:cNvPicPr>
          <p:nvPr/>
        </p:nvPicPr>
        <p:blipFill>
          <a:blip r:embed="rId2"/>
          <a:stretch>
            <a:fillRect/>
          </a:stretch>
        </p:blipFill>
        <p:spPr>
          <a:xfrm>
            <a:off x="411480" y="1811385"/>
            <a:ext cx="5486400" cy="2496089"/>
          </a:xfrm>
          <a:prstGeom prst="rect">
            <a:avLst/>
          </a:prstGeom>
        </p:spPr>
      </p:pic>
      <p:sp>
        <p:nvSpPr>
          <p:cNvPr id="8" name="TextBox 7"/>
          <p:cNvSpPr txBox="1"/>
          <p:nvPr/>
        </p:nvSpPr>
        <p:spPr>
          <a:xfrm>
            <a:off x="6172200" y="1661160"/>
            <a:ext cx="2560320" cy="406400"/>
          </a:xfrm>
          <a:prstGeom prst="rect">
            <a:avLst/>
          </a:prstGeom>
          <a:noFill/>
          <a:ln/>
        </p:spPr>
        <p:txBody>
          <a:bodyPr wrap="none" anchor="t" lIns="25400" rIns="25400" tIns="25400" bIns="25400">
            <a:spAutoFit/>
          </a:bodyPr>
          <a:lstStyle/>
          <a:p>
            <a:pPr algn="l">
              <a:lnSpc>
                <a:spcPct val="100000"/>
              </a:lnSpc>
              <a:spcBef>
                <a:spcPts val="0"/>
              </a:spcBef>
              <a:spcAft>
                <a:spcPts val="600"/>
              </a:spcAft>
            </a:pPr>
            <a:r>
              <a:rPr sz="2600" b="1" i="0">
                <a:solidFill>
                  <a:srgbClr val="1F6F8B"/>
                </a:solidFill>
                <a:latin typeface="Arial"/>
              </a:rPr>
              <a:t>$998,391</a:t>
            </a:r>
          </a:p>
        </p:txBody>
      </p:sp>
      <p:sp>
        <p:nvSpPr>
          <p:cNvPr id="9" name="TextBox 8"/>
          <p:cNvSpPr txBox="1"/>
          <p:nvPr/>
        </p:nvSpPr>
        <p:spPr>
          <a:xfrm>
            <a:off x="6172200" y="2067560"/>
            <a:ext cx="2560320" cy="149352"/>
          </a:xfrm>
          <a:prstGeom prst="rect">
            <a:avLst/>
          </a:prstGeom>
          <a:noFill/>
          <a:ln/>
        </p:spPr>
        <p:txBody>
          <a:bodyPr wrap="square" anchor="t" lIns="25400" rIns="25400" tIns="25400" bIns="25400">
            <a:spAutoFit/>
          </a:bodyPr>
          <a:lstStyle/>
          <a:p>
            <a:pPr algn="l">
              <a:lnSpc>
                <a:spcPct val="100000"/>
              </a:lnSpc>
              <a:spcBef>
                <a:spcPts val="0"/>
              </a:spcBef>
              <a:spcAft>
                <a:spcPts val="600"/>
              </a:spcAft>
            </a:pPr>
            <a:r>
              <a:rPr sz="1050" b="0" i="0">
                <a:solidFill>
                  <a:srgbClr val="6B6F76"/>
                </a:solidFill>
                <a:latin typeface="Arial"/>
              </a:rPr>
              <a:t>ARIMAX forecast, Aug 2027 (+4.8%)</a:t>
            </a:r>
          </a:p>
        </p:txBody>
      </p:sp>
      <p:sp>
        <p:nvSpPr>
          <p:cNvPr id="10" name="TextBox 9"/>
          <p:cNvSpPr txBox="1"/>
          <p:nvPr/>
        </p:nvSpPr>
        <p:spPr>
          <a:xfrm>
            <a:off x="6172200" y="2399792"/>
            <a:ext cx="2560320" cy="406400"/>
          </a:xfrm>
          <a:prstGeom prst="rect">
            <a:avLst/>
          </a:prstGeom>
          <a:noFill/>
          <a:ln/>
        </p:spPr>
        <p:txBody>
          <a:bodyPr wrap="none" anchor="t" lIns="25400" rIns="25400" tIns="25400" bIns="25400">
            <a:spAutoFit/>
          </a:bodyPr>
          <a:lstStyle/>
          <a:p>
            <a:pPr algn="l">
              <a:lnSpc>
                <a:spcPct val="100000"/>
              </a:lnSpc>
              <a:spcBef>
                <a:spcPts val="0"/>
              </a:spcBef>
              <a:spcAft>
                <a:spcPts val="600"/>
              </a:spcAft>
            </a:pPr>
            <a:r>
              <a:rPr sz="2600" b="1" i="0">
                <a:solidFill>
                  <a:srgbClr val="16213E"/>
                </a:solidFill>
                <a:latin typeface="Arial"/>
              </a:rPr>
              <a:t>-6% to +17%</a:t>
            </a:r>
          </a:p>
        </p:txBody>
      </p:sp>
      <p:sp>
        <p:nvSpPr>
          <p:cNvPr id="11" name="TextBox 10"/>
          <p:cNvSpPr txBox="1"/>
          <p:nvPr/>
        </p:nvSpPr>
        <p:spPr>
          <a:xfrm>
            <a:off x="6172200" y="2806192"/>
            <a:ext cx="2560320" cy="149352"/>
          </a:xfrm>
          <a:prstGeom prst="rect">
            <a:avLst/>
          </a:prstGeom>
          <a:noFill/>
          <a:ln/>
        </p:spPr>
        <p:txBody>
          <a:bodyPr wrap="square" anchor="t" lIns="25400" rIns="25400" tIns="25400" bIns="25400">
            <a:spAutoFit/>
          </a:bodyPr>
          <a:lstStyle/>
          <a:p>
            <a:pPr algn="l">
              <a:lnSpc>
                <a:spcPct val="100000"/>
              </a:lnSpc>
              <a:spcBef>
                <a:spcPts val="0"/>
              </a:spcBef>
              <a:spcAft>
                <a:spcPts val="600"/>
              </a:spcAft>
            </a:pPr>
            <a:r>
              <a:rPr sz="1050" b="0" i="0">
                <a:solidFill>
                  <a:srgbClr val="6B6F76"/>
                </a:solidFill>
                <a:latin typeface="Arial"/>
              </a:rPr>
              <a:t>80% range for the next 12 months</a:t>
            </a:r>
          </a:p>
        </p:txBody>
      </p:sp>
      <p:sp>
        <p:nvSpPr>
          <p:cNvPr id="12" name="TextBox 11"/>
          <p:cNvSpPr txBox="1"/>
          <p:nvPr/>
        </p:nvSpPr>
        <p:spPr>
          <a:xfrm>
            <a:off x="6172200" y="3138424"/>
            <a:ext cx="2560320" cy="406400"/>
          </a:xfrm>
          <a:prstGeom prst="rect">
            <a:avLst/>
          </a:prstGeom>
          <a:noFill/>
          <a:ln/>
        </p:spPr>
        <p:txBody>
          <a:bodyPr wrap="none" anchor="t" lIns="25400" rIns="25400" tIns="25400" bIns="25400">
            <a:spAutoFit/>
          </a:bodyPr>
          <a:lstStyle/>
          <a:p>
            <a:pPr algn="l">
              <a:lnSpc>
                <a:spcPct val="100000"/>
              </a:lnSpc>
              <a:spcBef>
                <a:spcPts val="0"/>
              </a:spcBef>
              <a:spcAft>
                <a:spcPts val="600"/>
              </a:spcAft>
            </a:pPr>
            <a:r>
              <a:rPr sz="2600" b="1" i="0">
                <a:solidFill>
                  <a:srgbClr val="16213E"/>
                </a:solidFill>
                <a:latin typeface="Arial"/>
              </a:rPr>
              <a:t>+4.8% / +6.5%</a:t>
            </a:r>
          </a:p>
        </p:txBody>
      </p:sp>
      <p:sp>
        <p:nvSpPr>
          <p:cNvPr id="13" name="TextBox 12"/>
          <p:cNvSpPr txBox="1"/>
          <p:nvPr/>
        </p:nvSpPr>
        <p:spPr>
          <a:xfrm>
            <a:off x="6172200" y="3544824"/>
            <a:ext cx="2560320" cy="298704"/>
          </a:xfrm>
          <a:prstGeom prst="rect">
            <a:avLst/>
          </a:prstGeom>
          <a:noFill/>
          <a:ln/>
        </p:spPr>
        <p:txBody>
          <a:bodyPr wrap="square" anchor="t" lIns="25400" rIns="25400" tIns="25400" bIns="25400">
            <a:spAutoFit/>
          </a:bodyPr>
          <a:lstStyle/>
          <a:p>
            <a:pPr algn="l">
              <a:lnSpc>
                <a:spcPct val="100000"/>
              </a:lnSpc>
              <a:spcBef>
                <a:spcPts val="0"/>
              </a:spcBef>
              <a:spcAft>
                <a:spcPts val="600"/>
              </a:spcAft>
            </a:pPr>
            <a:r>
              <a:rPr sz="1050" b="0" i="0">
                <a:solidFill>
                  <a:srgbClr val="6B6F76"/>
                </a:solidFill>
                <a:latin typeface="Arial"/>
              </a:rPr>
              <a:t>median neighborhood forecast, LA County / Orange County</a:t>
            </a:r>
          </a:p>
        </p:txBody>
      </p:sp>
    </p:spTree>
  </p:cSld>
  <p:clrMapOvr>
    <a:masterClrMapping/>
  </p:clrMapOvr>
</p:sld>
</file>

<file path=ppt/slides/slide10.xml><?xml version="1.0" encoding="utf-8"?>
<p:sld xmlns:a="http://schemas.openxmlformats.org/drawingml/2006/main" xmlns:p="http://schemas.openxmlformats.org/presentationml/2006/main" xmlns:r="http://schemas.openxmlformats.org/officeDocument/2006/relationships">
  <p:cSld>
    <p:bg>
      <p:bgPr>
        <a:solidFill>
          <a:srgbClr val="FAF8F4"/>
        </a:solidFill>
        <a:effectLst/>
      </p:bgPr>
    </p:bg>
    <p:spTree>
      <p:nvGrpSpPr>
        <p:cNvPr id="1" name=""/>
        <p:cNvGrpSpPr/>
        <p:nvPr/>
      </p:nvGrpSpPr>
      <p:grpSpPr/>
      <p:sp>
        <p:nvSpPr>
          <p:cNvPr id="2" name="deckkit-chrome-title"/>
          <p:cNvSpPr txBox="1"/>
          <p:nvPr/>
        </p:nvSpPr>
        <p:spPr>
          <a:xfrm>
            <a:off x="502920" y="274320"/>
            <a:ext cx="8138160" cy="274320"/>
          </a:xfrm>
          <a:prstGeom prst="rect">
            <a:avLst/>
          </a:prstGeom>
          <a:noFill/>
          <a:ln/>
        </p:spPr>
        <p:txBody>
          <a:bodyPr wrap="square" anchor="t" lIns="25400" rIns="25400" tIns="25400" bIns="25400">
            <a:spAutoFit/>
          </a:bodyPr>
          <a:lstStyle/>
          <a:p>
            <a:pPr algn="l">
              <a:lnSpc>
                <a:spcPct val="100000"/>
              </a:lnSpc>
              <a:spcBef>
                <a:spcPts val="0"/>
              </a:spcBef>
              <a:spcAft>
                <a:spcPts val="0"/>
              </a:spcAft>
            </a:pPr>
            <a:r>
              <a:rPr sz="1100" b="1" i="0">
                <a:solidFill>
                  <a:srgbClr val="1F6F8B"/>
                </a:solidFill>
                <a:latin typeface="Arial"/>
              </a:rPr>
              <a:t>TAKEAWAYS</a:t>
            </a:r>
          </a:p>
        </p:txBody>
      </p:sp>
      <p:sp>
        <p:nvSpPr>
          <p:cNvPr id="3" name="deckkit-chrome-title"/>
          <p:cNvSpPr txBox="1"/>
          <p:nvPr/>
        </p:nvSpPr>
        <p:spPr>
          <a:xfrm>
            <a:off x="502920" y="493776"/>
            <a:ext cx="8138160" cy="640080"/>
          </a:xfrm>
          <a:prstGeom prst="rect">
            <a:avLst/>
          </a:prstGeom>
          <a:noFill/>
          <a:ln/>
        </p:spPr>
        <p:txBody>
          <a:bodyPr wrap="square" anchor="t" lIns="25400" rIns="25400" tIns="25400" bIns="25400">
            <a:spAutoFit/>
          </a:bodyPr>
          <a:lstStyle/>
          <a:p>
            <a:pPr algn="l">
              <a:lnSpc>
                <a:spcPct val="100000"/>
              </a:lnSpc>
              <a:spcBef>
                <a:spcPts val="0"/>
              </a:spcBef>
              <a:spcAft>
                <a:spcPts val="0"/>
              </a:spcAft>
            </a:pPr>
            <a:r>
              <a:rPr sz="2600" b="1" i="0">
                <a:solidFill>
                  <a:srgbClr val="16213E"/>
                </a:solidFill>
                <a:latin typeface="Arial"/>
              </a:rPr>
              <a:t>What we learned</a:t>
            </a:r>
          </a:p>
        </p:txBody>
      </p:sp>
      <p:sp>
        <p:nvSpPr>
          <p:cNvPr id="4" name="deckkit-chrome-title"/>
          <p:cNvSpPr/>
          <p:nvPr/>
        </p:nvSpPr>
        <p:spPr>
          <a:xfrm>
            <a:off x="521207" y="1060704"/>
            <a:ext cx="1005840" cy="41148"/>
          </a:xfrm>
          <a:prstGeom prst="rect">
            <a:avLst/>
          </a:prstGeom>
          <a:solidFill>
            <a:srgbClr val="1F6F8B"/>
          </a:solidFill>
          <a:ln>
            <a:noFill/>
          </a:ln>
          <a:effectLst/>
        </p:spPr>
        <p:txBody>
          <a:bodyPr rtlCol="0" anchor="ctr"/>
          <a:lstStyle/>
          <a:p>
            <a:pPr algn="ctr"/>
          </a:p>
        </p:txBody>
      </p:sp>
      <p:sp>
        <p:nvSpPr>
          <p:cNvPr id="5" name="TextBox 4"/>
          <p:cNvSpPr txBox="1"/>
          <p:nvPr/>
        </p:nvSpPr>
        <p:spPr>
          <a:xfrm>
            <a:off x="502920" y="4823460"/>
            <a:ext cx="5486400" cy="274320"/>
          </a:xfrm>
          <a:prstGeom prst="rect">
            <a:avLst/>
          </a:prstGeom>
          <a:noFill/>
          <a:ln/>
        </p:spPr>
        <p:txBody>
          <a:bodyPr wrap="square" anchor="t" lIns="25400" rIns="25400" tIns="25400" bIns="25400">
            <a:spAutoFit/>
          </a:bodyPr>
          <a:lstStyle/>
          <a:p>
            <a:pPr algn="l">
              <a:lnSpc>
                <a:spcPct val="100000"/>
              </a:lnSpc>
              <a:spcBef>
                <a:spcPts val="0"/>
              </a:spcBef>
              <a:spcAft>
                <a:spcPts val="0"/>
              </a:spcAft>
            </a:pPr>
            <a:r>
              <a:rPr sz="800" b="0" i="0">
                <a:solidFill>
                  <a:srgbClr val="6B6F76"/>
                </a:solidFill>
                <a:latin typeface="Arial"/>
              </a:rPr>
              <a:t>MGMTMSA 437 · Forecasting LA Home Values · Data: Zillow ZHVI, FRED, BLS</a:t>
            </a:r>
          </a:p>
        </p:txBody>
      </p:sp>
      <p:sp>
        <p:nvSpPr>
          <p:cNvPr id="6" name="TextBox 5"/>
          <p:cNvSpPr txBox="1"/>
          <p:nvPr/>
        </p:nvSpPr>
        <p:spPr>
          <a:xfrm>
            <a:off x="8229600" y="4823460"/>
            <a:ext cx="548640" cy="274320"/>
          </a:xfrm>
          <a:prstGeom prst="rect">
            <a:avLst/>
          </a:prstGeom>
          <a:noFill/>
          <a:ln/>
        </p:spPr>
        <p:txBody>
          <a:bodyPr wrap="square" anchor="t" lIns="25400" rIns="25400" tIns="25400" bIns="25400">
            <a:spAutoFit/>
          </a:bodyPr>
          <a:lstStyle/>
          <a:p>
            <a:pPr algn="r">
              <a:lnSpc>
                <a:spcPct val="100000"/>
              </a:lnSpc>
              <a:spcBef>
                <a:spcPts val="0"/>
              </a:spcBef>
              <a:spcAft>
                <a:spcPts val="0"/>
              </a:spcAft>
            </a:pPr>
            <a:r>
              <a:rPr sz="900" b="1" i="0">
                <a:solidFill>
                  <a:srgbClr val="6B6F76"/>
                </a:solidFill>
                <a:latin typeface="Arial"/>
              </a:rPr>
              <a:t>10</a:t>
            </a:r>
          </a:p>
        </p:txBody>
      </p:sp>
      <p:sp>
        <p:nvSpPr>
          <p:cNvPr id="7" name="Rounded Rectangle 6"/>
          <p:cNvSpPr/>
          <p:nvPr/>
        </p:nvSpPr>
        <p:spPr>
          <a:xfrm>
            <a:off x="502920" y="1289304"/>
            <a:ext cx="384048" cy="384048"/>
          </a:xfrm>
          <a:prstGeom prst="roundRect">
            <a:avLst>
              <a:gd name="adj" fmla="val 50000"/>
            </a:avLst>
          </a:prstGeom>
          <a:solidFill>
            <a:srgbClr val="1F6F8B"/>
          </a:solidFill>
          <a:ln>
            <a:noFill/>
          </a:ln>
          <a:effectLst/>
        </p:spPr>
        <p:txBody>
          <a:bodyPr rtlCol="0" anchor="ctr"/>
          <a:lstStyle/>
          <a:p>
            <a:pPr algn="ctr"/>
          </a:p>
        </p:txBody>
      </p:sp>
      <p:sp>
        <p:nvSpPr>
          <p:cNvPr id="8" name="TextBox 7"/>
          <p:cNvSpPr txBox="1"/>
          <p:nvPr/>
        </p:nvSpPr>
        <p:spPr>
          <a:xfrm>
            <a:off x="502920" y="1289304"/>
            <a:ext cx="384048" cy="384048"/>
          </a:xfrm>
          <a:prstGeom prst="rect">
            <a:avLst/>
          </a:prstGeom>
          <a:noFill/>
          <a:ln/>
        </p:spPr>
        <p:txBody>
          <a:bodyPr wrap="square" anchor="ctr" lIns="25400" rIns="25400" tIns="25400" bIns="25400">
            <a:spAutoFit/>
          </a:bodyPr>
          <a:lstStyle/>
          <a:p>
            <a:pPr algn="ctr">
              <a:lnSpc>
                <a:spcPct val="100000"/>
              </a:lnSpc>
              <a:spcBef>
                <a:spcPts val="0"/>
              </a:spcBef>
              <a:spcAft>
                <a:spcPts val="0"/>
              </a:spcAft>
            </a:pPr>
            <a:r>
              <a:rPr sz="1400" b="1" i="0">
                <a:solidFill>
                  <a:srgbClr val="FFFFFF"/>
                </a:solidFill>
                <a:latin typeface="Arial"/>
              </a:rPr>
              <a:t>01</a:t>
            </a:r>
          </a:p>
        </p:txBody>
      </p:sp>
      <p:sp>
        <p:nvSpPr>
          <p:cNvPr id="9" name="TextBox 8"/>
          <p:cNvSpPr txBox="1"/>
          <p:nvPr/>
        </p:nvSpPr>
        <p:spPr>
          <a:xfrm>
            <a:off x="1051560" y="1271016"/>
            <a:ext cx="7589520" cy="292608"/>
          </a:xfrm>
          <a:prstGeom prst="rect">
            <a:avLst/>
          </a:prstGeom>
          <a:noFill/>
          <a:ln/>
        </p:spPr>
        <p:txBody>
          <a:bodyPr wrap="square" anchor="t" lIns="25400" rIns="25400" tIns="25400" bIns="25400">
            <a:spAutoFit/>
          </a:bodyPr>
          <a:lstStyle/>
          <a:p>
            <a:pPr algn="l">
              <a:lnSpc>
                <a:spcPct val="100000"/>
              </a:lnSpc>
              <a:spcBef>
                <a:spcPts val="0"/>
              </a:spcBef>
              <a:spcAft>
                <a:spcPts val="0"/>
              </a:spcAft>
            </a:pPr>
            <a:r>
              <a:rPr sz="1450" b="1" i="0">
                <a:solidFill>
                  <a:srgbClr val="16213E"/>
                </a:solidFill>
                <a:latin typeface="Arial"/>
              </a:rPr>
              <a:t>Simple beats complex for a smooth monthly index</a:t>
            </a:r>
          </a:p>
        </p:txBody>
      </p:sp>
      <p:sp>
        <p:nvSpPr>
          <p:cNvPr id="10" name="TextBox 9"/>
          <p:cNvSpPr txBox="1"/>
          <p:nvPr/>
        </p:nvSpPr>
        <p:spPr>
          <a:xfrm>
            <a:off x="1051560" y="1563624"/>
            <a:ext cx="7589520" cy="548640"/>
          </a:xfrm>
          <a:prstGeom prst="rect">
            <a:avLst/>
          </a:prstGeom>
          <a:noFill/>
          <a:ln/>
        </p:spPr>
        <p:txBody>
          <a:bodyPr wrap="square" anchor="t" lIns="25400" rIns="25400" tIns="25400" bIns="25400">
            <a:spAutoFit/>
          </a:bodyPr>
          <a:lstStyle/>
          <a:p>
            <a:pPr algn="l">
              <a:lnSpc>
                <a:spcPct val="102000"/>
              </a:lnSpc>
              <a:spcBef>
                <a:spcPts val="0"/>
              </a:spcBef>
              <a:spcAft>
                <a:spcPts val="0"/>
              </a:spcAft>
            </a:pPr>
            <a:r>
              <a:rPr sz="1150" b="0" i="0">
                <a:solidFill>
                  <a:srgbClr val="3D4A5C"/>
                </a:solidFill>
                <a:latin typeface="Arial"/>
              </a:rPr>
              <a:t>ARIMA-family models beat LSTM, GRU, boosted trees and the Chronos foundation model.</a:t>
            </a:r>
          </a:p>
        </p:txBody>
      </p:sp>
      <p:sp>
        <p:nvSpPr>
          <p:cNvPr id="11" name="Rounded Rectangle 10"/>
          <p:cNvSpPr/>
          <p:nvPr/>
        </p:nvSpPr>
        <p:spPr>
          <a:xfrm>
            <a:off x="502920" y="1965960"/>
            <a:ext cx="384048" cy="384048"/>
          </a:xfrm>
          <a:prstGeom prst="roundRect">
            <a:avLst>
              <a:gd name="adj" fmla="val 50000"/>
            </a:avLst>
          </a:prstGeom>
          <a:solidFill>
            <a:srgbClr val="1F6F8B"/>
          </a:solidFill>
          <a:ln>
            <a:noFill/>
          </a:ln>
          <a:effectLst/>
        </p:spPr>
        <p:txBody>
          <a:bodyPr rtlCol="0" anchor="ctr"/>
          <a:lstStyle/>
          <a:p>
            <a:pPr algn="ctr"/>
          </a:p>
        </p:txBody>
      </p:sp>
      <p:sp>
        <p:nvSpPr>
          <p:cNvPr id="12" name="TextBox 11"/>
          <p:cNvSpPr txBox="1"/>
          <p:nvPr/>
        </p:nvSpPr>
        <p:spPr>
          <a:xfrm>
            <a:off x="502920" y="1965960"/>
            <a:ext cx="384048" cy="384048"/>
          </a:xfrm>
          <a:prstGeom prst="rect">
            <a:avLst/>
          </a:prstGeom>
          <a:noFill/>
          <a:ln/>
        </p:spPr>
        <p:txBody>
          <a:bodyPr wrap="square" anchor="ctr" lIns="25400" rIns="25400" tIns="25400" bIns="25400">
            <a:spAutoFit/>
          </a:bodyPr>
          <a:lstStyle/>
          <a:p>
            <a:pPr algn="ctr">
              <a:lnSpc>
                <a:spcPct val="100000"/>
              </a:lnSpc>
              <a:spcBef>
                <a:spcPts val="0"/>
              </a:spcBef>
              <a:spcAft>
                <a:spcPts val="0"/>
              </a:spcAft>
            </a:pPr>
            <a:r>
              <a:rPr sz="1400" b="1" i="0">
                <a:solidFill>
                  <a:srgbClr val="FFFFFF"/>
                </a:solidFill>
                <a:latin typeface="Arial"/>
              </a:rPr>
              <a:t>02</a:t>
            </a:r>
          </a:p>
        </p:txBody>
      </p:sp>
      <p:sp>
        <p:nvSpPr>
          <p:cNvPr id="13" name="TextBox 12"/>
          <p:cNvSpPr txBox="1"/>
          <p:nvPr/>
        </p:nvSpPr>
        <p:spPr>
          <a:xfrm>
            <a:off x="1051560" y="1947672"/>
            <a:ext cx="7589520" cy="292608"/>
          </a:xfrm>
          <a:prstGeom prst="rect">
            <a:avLst/>
          </a:prstGeom>
          <a:noFill/>
          <a:ln/>
        </p:spPr>
        <p:txBody>
          <a:bodyPr wrap="square" anchor="t" lIns="25400" rIns="25400" tIns="25400" bIns="25400">
            <a:spAutoFit/>
          </a:bodyPr>
          <a:lstStyle/>
          <a:p>
            <a:pPr algn="l">
              <a:lnSpc>
                <a:spcPct val="100000"/>
              </a:lnSpc>
              <a:spcBef>
                <a:spcPts val="0"/>
              </a:spcBef>
              <a:spcAft>
                <a:spcPts val="0"/>
              </a:spcAft>
            </a:pPr>
            <a:r>
              <a:rPr sz="1450" b="1" i="0">
                <a:solidFill>
                  <a:srgbClr val="16213E"/>
                </a:solidFill>
                <a:latin typeface="Arial"/>
              </a:rPr>
              <a:t>How you test decides who wins</a:t>
            </a:r>
          </a:p>
        </p:txBody>
      </p:sp>
      <p:sp>
        <p:nvSpPr>
          <p:cNvPr id="14" name="TextBox 13"/>
          <p:cNvSpPr txBox="1"/>
          <p:nvPr/>
        </p:nvSpPr>
        <p:spPr>
          <a:xfrm>
            <a:off x="1051560" y="2240280"/>
            <a:ext cx="7589520" cy="548640"/>
          </a:xfrm>
          <a:prstGeom prst="rect">
            <a:avLst/>
          </a:prstGeom>
          <a:noFill/>
          <a:ln/>
        </p:spPr>
        <p:txBody>
          <a:bodyPr wrap="square" anchor="t" lIns="25400" rIns="25400" tIns="25400" bIns="25400">
            <a:spAutoFit/>
          </a:bodyPr>
          <a:lstStyle/>
          <a:p>
            <a:pPr algn="l">
              <a:lnSpc>
                <a:spcPct val="102000"/>
              </a:lnSpc>
              <a:spcBef>
                <a:spcPts val="0"/>
              </a:spcBef>
              <a:spcAft>
                <a:spcPts val="0"/>
              </a:spcAft>
            </a:pPr>
            <a:r>
              <a:rPr sz="1150" b="0" i="0">
                <a:solidFill>
                  <a:srgbClr val="3D4A5C"/>
                </a:solidFill>
                <a:latin typeface="Arial"/>
              </a:rPr>
              <a:t>One blind window ranked LightGBM 1st; 18 rolling windows, 10th.</a:t>
            </a:r>
          </a:p>
        </p:txBody>
      </p:sp>
      <p:sp>
        <p:nvSpPr>
          <p:cNvPr id="15" name="Rounded Rectangle 14"/>
          <p:cNvSpPr/>
          <p:nvPr/>
        </p:nvSpPr>
        <p:spPr>
          <a:xfrm>
            <a:off x="502920" y="2642616"/>
            <a:ext cx="384048" cy="384048"/>
          </a:xfrm>
          <a:prstGeom prst="roundRect">
            <a:avLst>
              <a:gd name="adj" fmla="val 50000"/>
            </a:avLst>
          </a:prstGeom>
          <a:solidFill>
            <a:srgbClr val="1F6F8B"/>
          </a:solidFill>
          <a:ln>
            <a:noFill/>
          </a:ln>
          <a:effectLst/>
        </p:spPr>
        <p:txBody>
          <a:bodyPr rtlCol="0" anchor="ctr"/>
          <a:lstStyle/>
          <a:p>
            <a:pPr algn="ctr"/>
          </a:p>
        </p:txBody>
      </p:sp>
      <p:sp>
        <p:nvSpPr>
          <p:cNvPr id="16" name="TextBox 15"/>
          <p:cNvSpPr txBox="1"/>
          <p:nvPr/>
        </p:nvSpPr>
        <p:spPr>
          <a:xfrm>
            <a:off x="502920" y="2642616"/>
            <a:ext cx="384048" cy="384048"/>
          </a:xfrm>
          <a:prstGeom prst="rect">
            <a:avLst/>
          </a:prstGeom>
          <a:noFill/>
          <a:ln/>
        </p:spPr>
        <p:txBody>
          <a:bodyPr wrap="square" anchor="ctr" lIns="25400" rIns="25400" tIns="25400" bIns="25400">
            <a:spAutoFit/>
          </a:bodyPr>
          <a:lstStyle/>
          <a:p>
            <a:pPr algn="ctr">
              <a:lnSpc>
                <a:spcPct val="100000"/>
              </a:lnSpc>
              <a:spcBef>
                <a:spcPts val="0"/>
              </a:spcBef>
              <a:spcAft>
                <a:spcPts val="0"/>
              </a:spcAft>
            </a:pPr>
            <a:r>
              <a:rPr sz="1400" b="1" i="0">
                <a:solidFill>
                  <a:srgbClr val="FFFFFF"/>
                </a:solidFill>
                <a:latin typeface="Arial"/>
              </a:rPr>
              <a:t>03</a:t>
            </a:r>
          </a:p>
        </p:txBody>
      </p:sp>
      <p:sp>
        <p:nvSpPr>
          <p:cNvPr id="17" name="TextBox 16"/>
          <p:cNvSpPr txBox="1"/>
          <p:nvPr/>
        </p:nvSpPr>
        <p:spPr>
          <a:xfrm>
            <a:off x="1051560" y="2624328"/>
            <a:ext cx="7589520" cy="292608"/>
          </a:xfrm>
          <a:prstGeom prst="rect">
            <a:avLst/>
          </a:prstGeom>
          <a:noFill/>
          <a:ln/>
        </p:spPr>
        <p:txBody>
          <a:bodyPr wrap="square" anchor="t" lIns="25400" rIns="25400" tIns="25400" bIns="25400">
            <a:spAutoFit/>
          </a:bodyPr>
          <a:lstStyle/>
          <a:p>
            <a:pPr algn="l">
              <a:lnSpc>
                <a:spcPct val="100000"/>
              </a:lnSpc>
              <a:spcBef>
                <a:spcPts val="0"/>
              </a:spcBef>
              <a:spcAft>
                <a:spcPts val="0"/>
              </a:spcAft>
            </a:pPr>
            <a:r>
              <a:rPr sz="1450" b="1" i="0">
                <a:solidFill>
                  <a:srgbClr val="16213E"/>
                </a:solidFill>
                <a:latin typeface="Arial"/>
              </a:rPr>
              <a:t>An LLM can't be backtested on years it has read about</a:t>
            </a:r>
          </a:p>
        </p:txBody>
      </p:sp>
      <p:sp>
        <p:nvSpPr>
          <p:cNvPr id="18" name="TextBox 17"/>
          <p:cNvSpPr txBox="1"/>
          <p:nvPr/>
        </p:nvSpPr>
        <p:spPr>
          <a:xfrm>
            <a:off x="1051560" y="2916936"/>
            <a:ext cx="7589520" cy="548640"/>
          </a:xfrm>
          <a:prstGeom prst="rect">
            <a:avLst/>
          </a:prstGeom>
          <a:noFill/>
          <a:ln/>
        </p:spPr>
        <p:txBody>
          <a:bodyPr wrap="square" anchor="t" lIns="25400" rIns="25400" tIns="25400" bIns="25400">
            <a:spAutoFit/>
          </a:bodyPr>
          <a:lstStyle/>
          <a:p>
            <a:pPr algn="l">
              <a:lnSpc>
                <a:spcPct val="102000"/>
              </a:lnSpc>
              <a:spcBef>
                <a:spcPts val="0"/>
              </a:spcBef>
              <a:spcAft>
                <a:spcPts val="0"/>
              </a:spcAft>
            </a:pPr>
            <a:r>
              <a:rPr sz="1150" b="0" i="0">
                <a:solidFill>
                  <a:srgbClr val="3D4A5C"/>
                </a:solidFill>
                <a:latin typeface="Arial"/>
              </a:rPr>
              <a:t>Claude, GPT and Gemini beat every model until we hid the dates; then they matched ARIMAX at best.</a:t>
            </a:r>
          </a:p>
        </p:txBody>
      </p:sp>
      <p:sp>
        <p:nvSpPr>
          <p:cNvPr id="19" name="Rounded Rectangle 18"/>
          <p:cNvSpPr/>
          <p:nvPr/>
        </p:nvSpPr>
        <p:spPr>
          <a:xfrm>
            <a:off x="502920" y="3319272"/>
            <a:ext cx="384048" cy="384048"/>
          </a:xfrm>
          <a:prstGeom prst="roundRect">
            <a:avLst>
              <a:gd name="adj" fmla="val 50000"/>
            </a:avLst>
          </a:prstGeom>
          <a:solidFill>
            <a:srgbClr val="1F6F8B"/>
          </a:solidFill>
          <a:ln>
            <a:noFill/>
          </a:ln>
          <a:effectLst/>
        </p:spPr>
        <p:txBody>
          <a:bodyPr rtlCol="0" anchor="ctr"/>
          <a:lstStyle/>
          <a:p>
            <a:pPr algn="ctr"/>
          </a:p>
        </p:txBody>
      </p:sp>
      <p:sp>
        <p:nvSpPr>
          <p:cNvPr id="20" name="TextBox 19"/>
          <p:cNvSpPr txBox="1"/>
          <p:nvPr/>
        </p:nvSpPr>
        <p:spPr>
          <a:xfrm>
            <a:off x="502920" y="3319272"/>
            <a:ext cx="384048" cy="384048"/>
          </a:xfrm>
          <a:prstGeom prst="rect">
            <a:avLst/>
          </a:prstGeom>
          <a:noFill/>
          <a:ln/>
        </p:spPr>
        <p:txBody>
          <a:bodyPr wrap="square" anchor="ctr" lIns="25400" rIns="25400" tIns="25400" bIns="25400">
            <a:spAutoFit/>
          </a:bodyPr>
          <a:lstStyle/>
          <a:p>
            <a:pPr algn="ctr">
              <a:lnSpc>
                <a:spcPct val="100000"/>
              </a:lnSpc>
              <a:spcBef>
                <a:spcPts val="0"/>
              </a:spcBef>
              <a:spcAft>
                <a:spcPts val="0"/>
              </a:spcAft>
            </a:pPr>
            <a:r>
              <a:rPr sz="1400" b="1" i="0">
                <a:solidFill>
                  <a:srgbClr val="FFFFFF"/>
                </a:solidFill>
                <a:latin typeface="Arial"/>
              </a:rPr>
              <a:t>04</a:t>
            </a:r>
          </a:p>
        </p:txBody>
      </p:sp>
      <p:sp>
        <p:nvSpPr>
          <p:cNvPr id="21" name="TextBox 20"/>
          <p:cNvSpPr txBox="1"/>
          <p:nvPr/>
        </p:nvSpPr>
        <p:spPr>
          <a:xfrm>
            <a:off x="1051560" y="3300984"/>
            <a:ext cx="7589520" cy="292608"/>
          </a:xfrm>
          <a:prstGeom prst="rect">
            <a:avLst/>
          </a:prstGeom>
          <a:noFill/>
          <a:ln/>
        </p:spPr>
        <p:txBody>
          <a:bodyPr wrap="square" anchor="t" lIns="25400" rIns="25400" tIns="25400" bIns="25400">
            <a:spAutoFit/>
          </a:bodyPr>
          <a:lstStyle/>
          <a:p>
            <a:pPr algn="l">
              <a:lnSpc>
                <a:spcPct val="100000"/>
              </a:lnSpc>
              <a:spcBef>
                <a:spcPts val="0"/>
              </a:spcBef>
              <a:spcAft>
                <a:spcPts val="0"/>
              </a:spcAft>
            </a:pPr>
            <a:r>
              <a:rPr sz="1450" b="1" i="0">
                <a:solidFill>
                  <a:srgbClr val="16213E"/>
                </a:solidFill>
                <a:latin typeface="Arial"/>
              </a:rPr>
              <a:t>Mortgage rates matter, slowly; local jobs don't add</a:t>
            </a:r>
          </a:p>
        </p:txBody>
      </p:sp>
      <p:sp>
        <p:nvSpPr>
          <p:cNvPr id="22" name="TextBox 21"/>
          <p:cNvSpPr txBox="1"/>
          <p:nvPr/>
        </p:nvSpPr>
        <p:spPr>
          <a:xfrm>
            <a:off x="1051560" y="3593592"/>
            <a:ext cx="7589520" cy="548640"/>
          </a:xfrm>
          <a:prstGeom prst="rect">
            <a:avLst/>
          </a:prstGeom>
          <a:noFill/>
          <a:ln/>
        </p:spPr>
        <p:txBody>
          <a:bodyPr wrap="square" anchor="t" lIns="25400" rIns="25400" tIns="25400" bIns="25400">
            <a:spAutoFit/>
          </a:bodyPr>
          <a:lstStyle/>
          <a:p>
            <a:pPr algn="l">
              <a:lnSpc>
                <a:spcPct val="102000"/>
              </a:lnSpc>
              <a:spcBef>
                <a:spcPts val="0"/>
              </a:spcBef>
              <a:spcAft>
                <a:spcPts val="0"/>
              </a:spcAft>
            </a:pPr>
            <a:r>
              <a:rPr sz="1150" b="0" i="0">
                <a:solidFill>
                  <a:srgbClr val="3D4A5C"/>
                </a:solidFill>
                <a:latin typeface="Arial"/>
              </a:rPr>
              <a:t>A 1-point rise lowers values about 9% over two years. Turning points stay hard to call.</a:t>
            </a:r>
          </a:p>
        </p:txBody>
      </p:sp>
      <p:sp>
        <p:nvSpPr>
          <p:cNvPr id="23" name="Rounded Rectangle 22"/>
          <p:cNvSpPr/>
          <p:nvPr/>
        </p:nvSpPr>
        <p:spPr>
          <a:xfrm>
            <a:off x="502920" y="3995928"/>
            <a:ext cx="384048" cy="384048"/>
          </a:xfrm>
          <a:prstGeom prst="roundRect">
            <a:avLst>
              <a:gd name="adj" fmla="val 50000"/>
            </a:avLst>
          </a:prstGeom>
          <a:solidFill>
            <a:srgbClr val="1F6F8B"/>
          </a:solidFill>
          <a:ln>
            <a:noFill/>
          </a:ln>
          <a:effectLst/>
        </p:spPr>
        <p:txBody>
          <a:bodyPr rtlCol="0" anchor="ctr"/>
          <a:lstStyle/>
          <a:p>
            <a:pPr algn="ctr"/>
          </a:p>
        </p:txBody>
      </p:sp>
      <p:sp>
        <p:nvSpPr>
          <p:cNvPr id="24" name="TextBox 23"/>
          <p:cNvSpPr txBox="1"/>
          <p:nvPr/>
        </p:nvSpPr>
        <p:spPr>
          <a:xfrm>
            <a:off x="502920" y="3995928"/>
            <a:ext cx="384048" cy="384048"/>
          </a:xfrm>
          <a:prstGeom prst="rect">
            <a:avLst/>
          </a:prstGeom>
          <a:noFill/>
          <a:ln/>
        </p:spPr>
        <p:txBody>
          <a:bodyPr wrap="square" anchor="ctr" lIns="25400" rIns="25400" tIns="25400" bIns="25400">
            <a:spAutoFit/>
          </a:bodyPr>
          <a:lstStyle/>
          <a:p>
            <a:pPr algn="ctr">
              <a:lnSpc>
                <a:spcPct val="100000"/>
              </a:lnSpc>
              <a:spcBef>
                <a:spcPts val="0"/>
              </a:spcBef>
              <a:spcAft>
                <a:spcPts val="0"/>
              </a:spcAft>
            </a:pPr>
            <a:r>
              <a:rPr sz="1400" b="1" i="0">
                <a:solidFill>
                  <a:srgbClr val="FFFFFF"/>
                </a:solidFill>
                <a:latin typeface="Arial"/>
              </a:rPr>
              <a:t>05</a:t>
            </a:r>
          </a:p>
        </p:txBody>
      </p:sp>
      <p:sp>
        <p:nvSpPr>
          <p:cNvPr id="25" name="TextBox 24"/>
          <p:cNvSpPr txBox="1"/>
          <p:nvPr/>
        </p:nvSpPr>
        <p:spPr>
          <a:xfrm>
            <a:off x="1051560" y="3977640"/>
            <a:ext cx="7589520" cy="292608"/>
          </a:xfrm>
          <a:prstGeom prst="rect">
            <a:avLst/>
          </a:prstGeom>
          <a:noFill/>
          <a:ln/>
        </p:spPr>
        <p:txBody>
          <a:bodyPr wrap="square" anchor="t" lIns="25400" rIns="25400" tIns="25400" bIns="25400">
            <a:spAutoFit/>
          </a:bodyPr>
          <a:lstStyle/>
          <a:p>
            <a:pPr algn="l">
              <a:lnSpc>
                <a:spcPct val="100000"/>
              </a:lnSpc>
              <a:spcBef>
                <a:spcPts val="0"/>
              </a:spcBef>
              <a:spcAft>
                <a:spcPts val="0"/>
              </a:spcAft>
            </a:pPr>
            <a:r>
              <a:rPr sz="1450" b="1" i="0">
                <a:solidFill>
                  <a:srgbClr val="16213E"/>
                </a:solidFill>
                <a:latin typeface="Arial"/>
              </a:rPr>
              <a:t>The metro average hides a split market</a:t>
            </a:r>
          </a:p>
        </p:txBody>
      </p:sp>
      <p:sp>
        <p:nvSpPr>
          <p:cNvPr id="26" name="TextBox 25"/>
          <p:cNvSpPr txBox="1"/>
          <p:nvPr/>
        </p:nvSpPr>
        <p:spPr>
          <a:xfrm>
            <a:off x="1051560" y="4270248"/>
            <a:ext cx="7589520" cy="548640"/>
          </a:xfrm>
          <a:prstGeom prst="rect">
            <a:avLst/>
          </a:prstGeom>
          <a:noFill/>
          <a:ln/>
        </p:spPr>
        <p:txBody>
          <a:bodyPr wrap="square" anchor="t" lIns="25400" rIns="25400" tIns="25400" bIns="25400">
            <a:spAutoFit/>
          </a:bodyPr>
          <a:lstStyle/>
          <a:p>
            <a:pPr algn="l">
              <a:lnSpc>
                <a:spcPct val="102000"/>
              </a:lnSpc>
              <a:spcBef>
                <a:spcPts val="0"/>
              </a:spcBef>
              <a:spcAft>
                <a:spcPts val="0"/>
              </a:spcAft>
            </a:pPr>
            <a:r>
              <a:rPr sz="1150" b="0" i="0">
                <a:solidFill>
                  <a:srgbClr val="3D4A5C"/>
                </a:solidFill>
                <a:latin typeface="Arial"/>
              </a:rPr>
              <a:t>Separate models per neighborhood beat one shared factor (2.8% vs 4.1% error).</a:t>
            </a:r>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docProps/app.xml><?xml version="1.0" encoding="utf-8"?>
<Properties xmlns="http://schemas.openxmlformats.org/officeDocument/2006/extended-properties" xmlns:vt="http://schemas.openxmlformats.org/officeDocument/2006/docPropsVTypes">
  <TotalTime>1</TotalTime>
  <Words>0</Words>
  <Application>Microsoft Macintosh PowerPoint</Application>
  <PresentationFormat>On-screen Show (4:3)</PresentationFormat>
  <Paragraphs>0</Paragraphs>
  <Slides>0</Slides>
  <Notes>0</Notes>
  <HiddenSlides>0</HiddenSlides>
  <MMClips>0</MMClips>
  <ScaleCrop>false</ScaleCrop>
  <HeadingPairs>
    <vt:vector size="4" baseType="variant">
      <vt:variant>
        <vt:lpstr>Theme</vt:lpstr>
      </vt:variant>
      <vt:variant>
        <vt:i4>1</vt:i4>
      </vt:variant>
      <vt:variant>
        <vt:lpstr>Slide Titles</vt:lpstr>
      </vt:variant>
      <vt:variant>
        <vt:i4>0</vt:i4>
      </vt:variant>
    </vt:vector>
  </HeadingPairs>
  <TitlesOfParts>
    <vt:vector size="1" baseType="lpstr">
      <vt:lpstr>Office Theme</vt:lpstr>
    </vt:vector>
  </TitlesOfParts>
  <Manager/>
  <Company/>
  <LinksUpToDate>false</LinksUpToDate>
  <SharedDoc>false</SharedDoc>
  <HyperlinkBase/>
  <HyperlinksChanged>false</HyperlinksChanged>
  <AppVersion>14.0000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subject/>
  <dc:creator/>
  <cp:keywords/>
  <dc:description>generated using python-pptx</dc:description>
  <cp:lastModifiedBy>Steve Canny</cp:lastModifiedBy>
  <cp:revision>1</cp:revision>
  <dcterms:created xsi:type="dcterms:W3CDTF">2013-01-27T09:14:16Z</dcterms:created>
  <dcterms:modified xsi:type="dcterms:W3CDTF">2013-01-27T09:15:58Z</dcterms:modified>
  <cp:category/>
</cp:coreProperties>
</file>
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So we asked two questions. Which forecasting method predicts LA home values best? And do mortgage rates help the forecast? We also went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Our data: the Zillow index for the metro, 499 neighborhoods from Zillow's neighborhood file, the 30-year mortgage rate, and payroll jobs for LA and Orange County. We compared fourteen models in four families, from a naive drift baseline to LSTM and GRU networks and Amazon's Chronos foundation model, plus four models that use outside information. On top of those we asked three chat LLMs, Claude, GPT and Gemini, for forecasts at the same dates. And we scored them two ways. A blind 80/20 split, like most projects use, and a rolling-origin test where we refit every three months and forecast twelve months ahead, eighteen times. One warning: Zillow smooths this index, so next month is almost the same as this month and every decent model is about 0.1 percent off one month ahead. That tells us nothing, so we judge models at six to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Adding payroll jobs did not help: ARIMAX with jobs came third at 2.81. The neural networks landed in the middle, the tree models near the bottom, and Prophet last at almost 7 percent, mostly because it fits a smooth trend and does not start from the latest value. Our read: with about 250 monthly observations of a smooth index, there just is not much nonlinear structure for machine learning to find.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tenth.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asked three chat LLMs, Claude, GPT and Gemini, to forecast at the same eighteen dates, with only the data up to each date and no code. At first they looked brilliant: Claude and GPT averaged about 1.6 percent error, far better than ARIMAX. But every one of these dates is before the models' training cutoff, so they may simply remember what LA prices did next. So we hid the clues: no place, no dates, no mortgage rate, only the last ten years of a rescaled index. Claude's error went from 1.6 to 2.7 percent, GPT's to 2.7, and Gemini's to 3.0. At twelve months ahead the drop is even bigger. Once they cannot recognize the period, the best LLMs forecast about as well as ARIMAX, not better. The lesson: you cannot backtest an LLM on years it has already read about.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 mortgage rates matter? We used the VAR from class and traced an impulse response: what happens to LA home values after a one-point rise in the mortgage rate. Values barely move for the first few months, then fall steadily: about 4.5 percent lower after a year and about 9 percent lower after two, and the 90 percent band stays below zero from about a year on. A Granger causality test agrees on the direction: past rates help predict home values, but past home values do not help predict rates. The effect is slow, which is why it only helps our forecasts at the 12-month horizon, and even there a simple naive drift is about as good. We also added local payroll jobs. They looked like a leading signal too, but only because of the 2020 job crash and rebound; using data before 2020, jobs predict nothing.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Over the last twelve months, 220 LA-metro neighborhoods rose more than 2 percent, 216 were flat, and 60 fell. Let me show you on our live map. [Switch to the browser.] Each dot is a neighborhood; blue is rising, red is falling. Expensive coastal pockets like North of Montana in Santa Monica, Point Dume in Malibu and Corona del Mar are blue: the high-end areas that fell hardest in 2023 are leading now. Central LA, Koreatown, Westlake and Downtown, is red. [Click one neighborhood.] Each one shows its value, its change, and our 12-month forecast. Pacific Palisades is down because of the January 2025 fire, not the market. [Back to the slides.] After the 2022 rate jump, pricier LA County neighborhoods fell the most, and 152 of 496 are still below their 2022 peak.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happens next? Our best model forecasts the typical LA home at about 998 thousand dollars in August 2027, up 4.8 percent. ARIMA and naive drift agree closely. The honest headline is the range: the 80 percent interval runs from a 6 percent fall to a 17 percent rise. Neighborhood forecasts are a bit stronger in Orange County than in LA County. Because rates act with a two-year lag, today's rates mostly affect 2028, not this forecast.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takeaways. First, for a smooth monthly housing index, simple models beat complex ones, including the Chronos foundation model. Second, how you test decides who wins: one blind window would have picked the wrong model. Third, and the same lesson for AI: you cannot backtest a chat LLM on years it has already read about. Fourth, mortgage rates matter, but slowly: a one-point rise lowers values about nine percent over two years, and local jobs add nothing on top. And fifth, the metro average hides a split market. One common factor drives most of the movement across neighborhoods, but each neighborhood's own trend is what you need to forecast it. If you are buying or lending in LA, look at the neighborhood, not the metro number.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Mortgage rates more than doubled after 2021. Did LA home values get harder to predict?</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794726" y="1569720"/>
            <a:ext cx="4537027"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NOT 1-MONTH ERRORS  </a:t>
            </a:r>
            <a:r>
              <a:rPr sz="1250" b="0" i="0">
                <a:solidFill>
                  <a:srgbClr val="16213E"/>
                </a:solidFill>
                <a:latin typeface="Arial"/>
              </a:rPr>
              <a:t>Zillow smooths this index, so every decent model is about 0.1% off one month ahead. We judge models at 6 to 12 months instead.</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30297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636520"/>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300837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317906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4015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57225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Blind 80/20</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
        <p:nvSpPr>
          <p:cNvPr id="32" name="TextBox 31"/>
          <p:cNvSpPr txBox="1"/>
          <p:nvPr/>
        </p:nvSpPr>
        <p:spPr>
          <a:xfrm>
            <a:off x="6217919" y="261518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Rolling origin</a:t>
            </a:r>
          </a:p>
        </p:txBody>
      </p:sp>
      <p:sp>
        <p:nvSpPr>
          <p:cNvPr id="33" name="TextBox 32"/>
          <p:cNvSpPr txBox="1"/>
          <p:nvPr/>
        </p:nvSpPr>
        <p:spPr>
          <a:xfrm>
            <a:off x="6217919" y="278587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024127"/>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TEST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1427162" y="1542288"/>
            <a:ext cx="3455035"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FORECASTS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Chat LLMs beat every model, until we hid which years they were forecasting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2011185"/>
            <a:ext cx="5577840" cy="209648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1.6 → 2.7%</a:t>
            </a:r>
          </a:p>
        </p:txBody>
      </p:sp>
      <p:sp>
        <p:nvSpPr>
          <p:cNvPr id="10" name="TextBox 9"/>
          <p:cNvSpPr txBox="1"/>
          <p:nvPr/>
        </p:nvSpPr>
        <p:spPr>
          <a:xfrm>
            <a:off x="6217920" y="2849880"/>
            <a:ext cx="2514600" cy="1024127"/>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years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 1-point rate rise means LA values about 9% lower two years later</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pic>
        <p:nvPicPr>
          <p:cNvPr id="7" name="Picture 6"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411480" y="1919258"/>
            <a:ext cx="5486400" cy="2280342"/>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RATES WORK SLOWLY</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−9.2%</a:t>
            </a:r>
          </a:p>
        </p:txBody>
      </p:sp>
      <p:sp>
        <p:nvSpPr>
          <p:cNvPr id="10" name="TextBox 9"/>
          <p:cNvSpPr txBox="1"/>
          <p:nvPr/>
        </p:nvSpPr>
        <p:spPr>
          <a:xfrm>
            <a:off x="6172200" y="2849880"/>
            <a:ext cx="256032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after 24 months (−4.5% after 12). Rates help predict prices, not the reverse (Granger p = 0.05 vs 0.51). Local jobs add nothing once 2020–21 is set aside.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436049" y="1569720"/>
            <a:ext cx="2797180"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 flat / falling more than 2%, last 12 months</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Live map: neiltd.github.io/la-housing-forecast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OUTLOOK</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forecast: about 5% higher by August 2027, with a wide range</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LA metro forecast to August 2027: ARIMAX, ARIMA with 80% band, naive drift" title="LA metro forecast to August 2027: ARIMAX, ARIMA with 80% band, naive drift"/>
          <p:cNvPicPr>
            <a:picLocks noChangeAspect="1"/>
          </p:cNvPicPr>
          <p:nvPr/>
        </p:nvPicPr>
        <p:blipFill>
          <a:blip r:embed="rId2"/>
          <a:stretch>
            <a:fillRect/>
          </a:stretch>
        </p:blipFill>
        <p:spPr>
          <a:xfrm>
            <a:off x="411480" y="1811385"/>
            <a:ext cx="5486400" cy="2496089"/>
          </a:xfrm>
          <a:prstGeom prst="rect">
            <a:avLst/>
          </a:prstGeom>
        </p:spPr>
      </p:pic>
      <p:sp>
        <p:nvSpPr>
          <p:cNvPr id="8" name="TextBox 7"/>
          <p:cNvSpPr txBox="1"/>
          <p:nvPr/>
        </p:nvSpPr>
        <p:spPr>
          <a:xfrm>
            <a:off x="6172200" y="1661160"/>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$998,391</a:t>
            </a:r>
          </a:p>
        </p:txBody>
      </p:sp>
      <p:sp>
        <p:nvSpPr>
          <p:cNvPr id="9" name="TextBox 8"/>
          <p:cNvSpPr txBox="1"/>
          <p:nvPr/>
        </p:nvSpPr>
        <p:spPr>
          <a:xfrm>
            <a:off x="6172200" y="2067560"/>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 2027 (+4.8%)</a:t>
            </a:r>
          </a:p>
        </p:txBody>
      </p:sp>
      <p:sp>
        <p:nvSpPr>
          <p:cNvPr id="10" name="TextBox 9"/>
          <p:cNvSpPr txBox="1"/>
          <p:nvPr/>
        </p:nvSpPr>
        <p:spPr>
          <a:xfrm>
            <a:off x="6172200" y="2399792"/>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1" name="TextBox 10"/>
          <p:cNvSpPr txBox="1"/>
          <p:nvPr/>
        </p:nvSpPr>
        <p:spPr>
          <a:xfrm>
            <a:off x="6172200" y="2806192"/>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
        <p:nvSpPr>
          <p:cNvPr id="12" name="TextBox 11"/>
          <p:cNvSpPr txBox="1"/>
          <p:nvPr/>
        </p:nvSpPr>
        <p:spPr>
          <a:xfrm>
            <a:off x="6172200" y="3138424"/>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+4.8% / +6.5%</a:t>
            </a:r>
          </a:p>
        </p:txBody>
      </p:sp>
      <p:sp>
        <p:nvSpPr>
          <p:cNvPr id="13" name="TextBox 12"/>
          <p:cNvSpPr txBox="1"/>
          <p:nvPr/>
        </p:nvSpPr>
        <p:spPr>
          <a:xfrm>
            <a:off x="6172200" y="3544824"/>
            <a:ext cx="256032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median neighborhood forecast, LA County / Orange County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502920" y="1289304"/>
            <a:ext cx="384048" cy="384048"/>
          </a:xfrm>
          <a:prstGeom prst="roundRect">
            <a:avLst>
              <a:gd name="adj" fmla="val 50000"/>
            </a:avLst>
          </a:prstGeom>
          <a:solidFill>
            <a:srgbClr val="1F6F8B"/>
          </a:solidFill>
          <a:ln>
            <a:noFill/>
          </a:ln>
          <a:effectLst/>
        </p:spPr>
        <p:txBody>
          <a:bodyPr rtlCol="0" anchor="ctr"/>
          <a:lstStyle/>
          <a:p>
            <a:pPr algn="ctr"/>
          </a:p>
        </p:txBody>
      </p:sp>
      <p:sp>
        <p:nvSpPr>
          <p:cNvPr id="8" name="TextBox 7"/>
          <p:cNvSpPr txBox="1"/>
          <p:nvPr/>
        </p:nvSpPr>
        <p:spPr>
          <a:xfrm>
            <a:off x="502920" y="128930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9" name="TextBox 8"/>
          <p:cNvSpPr txBox="1"/>
          <p:nvPr/>
        </p:nvSpPr>
        <p:spPr>
          <a:xfrm>
            <a:off x="1051560" y="127101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for a smooth monthly index</a:t>
            </a:r>
          </a:p>
        </p:txBody>
      </p:sp>
      <p:sp>
        <p:nvSpPr>
          <p:cNvPr id="10" name="TextBox 9"/>
          <p:cNvSpPr txBox="1"/>
          <p:nvPr/>
        </p:nvSpPr>
        <p:spPr>
          <a:xfrm>
            <a:off x="1051560" y="1563624"/>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ARIMA-family models beat LSTM, GRU, boosted trees and the Chronos foundation model.</a:t>
            </a:r>
          </a:p>
        </p:txBody>
      </p:sp>
      <p:sp>
        <p:nvSpPr>
          <p:cNvPr id="11" name="Rounded Rectangle 10"/>
          <p:cNvSpPr/>
          <p:nvPr/>
        </p:nvSpPr>
        <p:spPr>
          <a:xfrm>
            <a:off x="502920" y="1965960"/>
            <a:ext cx="384048" cy="384048"/>
          </a:xfrm>
          <a:prstGeom prst="roundRect">
            <a:avLst>
              <a:gd name="adj" fmla="val 50000"/>
            </a:avLst>
          </a:prstGeom>
          <a:solidFill>
            <a:srgbClr val="1F6F8B"/>
          </a:solidFill>
          <a:ln>
            <a:noFill/>
          </a:ln>
          <a:effectLst/>
        </p:spPr>
        <p:txBody>
          <a:bodyPr rtlCol="0" anchor="ctr"/>
          <a:lstStyle/>
          <a:p>
            <a:pPr algn="ctr"/>
          </a:p>
        </p:txBody>
      </p:sp>
      <p:sp>
        <p:nvSpPr>
          <p:cNvPr id="12" name="TextBox 11"/>
          <p:cNvSpPr txBox="1"/>
          <p:nvPr/>
        </p:nvSpPr>
        <p:spPr>
          <a:xfrm>
            <a:off x="502920" y="196596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3" name="TextBox 12"/>
          <p:cNvSpPr txBox="1"/>
          <p:nvPr/>
        </p:nvSpPr>
        <p:spPr>
          <a:xfrm>
            <a:off x="1051560" y="194767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How you test decides who wins</a:t>
            </a:r>
          </a:p>
        </p:txBody>
      </p:sp>
      <p:sp>
        <p:nvSpPr>
          <p:cNvPr id="14" name="TextBox 13"/>
          <p:cNvSpPr txBox="1"/>
          <p:nvPr/>
        </p:nvSpPr>
        <p:spPr>
          <a:xfrm>
            <a:off x="1051560" y="2240280"/>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One blind window ranked LightGBM 1st; 18 rolling windows, 10th.</a:t>
            </a:r>
          </a:p>
        </p:txBody>
      </p:sp>
      <p:sp>
        <p:nvSpPr>
          <p:cNvPr id="15" name="Rounded Rectangle 14"/>
          <p:cNvSpPr/>
          <p:nvPr/>
        </p:nvSpPr>
        <p:spPr>
          <a:xfrm>
            <a:off x="502920" y="2642616"/>
            <a:ext cx="384048" cy="384048"/>
          </a:xfrm>
          <a:prstGeom prst="roundRect">
            <a:avLst>
              <a:gd name="adj" fmla="val 50000"/>
            </a:avLst>
          </a:prstGeom>
          <a:solidFill>
            <a:srgbClr val="1F6F8B"/>
          </a:solidFill>
          <a:ln>
            <a:noFill/>
          </a:ln>
          <a:effectLst/>
        </p:spPr>
        <p:txBody>
          <a:bodyPr rtlCol="0" anchor="ctr"/>
          <a:lstStyle/>
          <a:p>
            <a:pPr algn="ctr"/>
          </a:p>
        </p:txBody>
      </p:sp>
      <p:sp>
        <p:nvSpPr>
          <p:cNvPr id="16" name="TextBox 15"/>
          <p:cNvSpPr txBox="1"/>
          <p:nvPr/>
        </p:nvSpPr>
        <p:spPr>
          <a:xfrm>
            <a:off x="502920" y="2642616"/>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17" name="TextBox 16"/>
          <p:cNvSpPr txBox="1"/>
          <p:nvPr/>
        </p:nvSpPr>
        <p:spPr>
          <a:xfrm>
            <a:off x="1051560" y="2624328"/>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An LLM can't be backtested on years it has read about</a:t>
            </a:r>
          </a:p>
        </p:txBody>
      </p:sp>
      <p:sp>
        <p:nvSpPr>
          <p:cNvPr id="18" name="TextBox 17"/>
          <p:cNvSpPr txBox="1"/>
          <p:nvPr/>
        </p:nvSpPr>
        <p:spPr>
          <a:xfrm>
            <a:off x="1051560" y="2916936"/>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Claude, GPT and Gemini beat every model until we hid the dates; then they matched ARIMAX at best.</a:t>
            </a:r>
          </a:p>
        </p:txBody>
      </p:sp>
      <p:sp>
        <p:nvSpPr>
          <p:cNvPr id="19" name="Rounded Rectangle 18"/>
          <p:cNvSpPr/>
          <p:nvPr/>
        </p:nvSpPr>
        <p:spPr>
          <a:xfrm>
            <a:off x="502920" y="3319272"/>
            <a:ext cx="384048" cy="384048"/>
          </a:xfrm>
          <a:prstGeom prst="roundRect">
            <a:avLst>
              <a:gd name="adj" fmla="val 50000"/>
            </a:avLst>
          </a:prstGeom>
          <a:solidFill>
            <a:srgbClr val="1F6F8B"/>
          </a:solidFill>
          <a:ln>
            <a:noFill/>
          </a:ln>
          <a:effectLst/>
        </p:spPr>
        <p:txBody>
          <a:bodyPr rtlCol="0" anchor="ctr"/>
          <a:lstStyle/>
          <a:p>
            <a:pPr algn="ctr"/>
          </a:p>
        </p:txBody>
      </p:sp>
      <p:sp>
        <p:nvSpPr>
          <p:cNvPr id="20" name="TextBox 19"/>
          <p:cNvSpPr txBox="1"/>
          <p:nvPr/>
        </p:nvSpPr>
        <p:spPr>
          <a:xfrm>
            <a:off x="502920" y="33192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1" name="TextBox 20"/>
          <p:cNvSpPr txBox="1"/>
          <p:nvPr/>
        </p:nvSpPr>
        <p:spPr>
          <a:xfrm>
            <a:off x="1051560" y="33009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local jobs don't add</a:t>
            </a:r>
          </a:p>
        </p:txBody>
      </p:sp>
      <p:sp>
        <p:nvSpPr>
          <p:cNvPr id="22" name="TextBox 21"/>
          <p:cNvSpPr txBox="1"/>
          <p:nvPr/>
        </p:nvSpPr>
        <p:spPr>
          <a:xfrm>
            <a:off x="1051560" y="35935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a:t>
            </a:r>
          </a:p>
        </p:txBody>
      </p:sp>
      <p:sp>
        <p:nvSpPr>
          <p:cNvPr id="23" name="Rounded Rectangle 22"/>
          <p:cNvSpPr/>
          <p:nvPr/>
        </p:nvSpPr>
        <p:spPr>
          <a:xfrm>
            <a:off x="502920" y="3995928"/>
            <a:ext cx="384048" cy="384048"/>
          </a:xfrm>
          <a:prstGeom prst="roundRect">
            <a:avLst>
              <a:gd name="adj" fmla="val 50000"/>
            </a:avLst>
          </a:prstGeom>
          <a:solidFill>
            <a:srgbClr val="1F6F8B"/>
          </a:solidFill>
          <a:ln>
            <a:noFill/>
          </a:ln>
          <a:effectLst/>
        </p:spPr>
        <p:txBody>
          <a:bodyPr rtlCol="0" anchor="ctr"/>
          <a:lstStyle/>
          <a:p>
            <a:pPr algn="ctr"/>
          </a:p>
        </p:txBody>
      </p:sp>
      <p:sp>
        <p:nvSpPr>
          <p:cNvPr id="24" name="TextBox 23"/>
          <p:cNvSpPr txBox="1"/>
          <p:nvPr/>
        </p:nvSpPr>
        <p:spPr>
          <a:xfrm>
            <a:off x="502920" y="3995928"/>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05</a:t>
            </a:r>
          </a:p>
        </p:txBody>
      </p:sp>
      <p:sp>
        <p:nvSpPr>
          <p:cNvPr id="25" name="TextBox 24"/>
          <p:cNvSpPr txBox="1"/>
          <p:nvPr/>
        </p:nvSpPr>
        <p:spPr>
          <a:xfrm>
            <a:off x="1051560" y="3977640"/>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6" name="TextBox 25"/>
          <p:cNvSpPr txBox="1"/>
          <p:nvPr/>
        </p:nvSpPr>
        <p:spPr>
          <a:xfrm>
            <a:off x="1051560" y="4270248"/>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
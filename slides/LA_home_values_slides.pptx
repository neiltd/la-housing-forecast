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Avg % error, 1-12 months</c:v>
                </c:pt>
              </c:strCache>
            </c:strRef>
          </c:tx>
          <c:spPr>
            <a:solidFill>
              <a:srgbClr val="1F6F8B"/>
            </a:solidFill>
            <a:ln w="31750">
              <a:solidFill>
                <a:srgbClr val="1F6F8B"/>
              </a:solidFill>
            </a:ln>
          </c:spPr>
          <c:dPt>
            <c:idx val="0"/>
            <c:spPr>
              <a:solidFill>
                <a:srgbClr val="B8BECC"/>
              </a:solidFill>
            </c:spPr>
          </c:dPt>
          <c:dPt>
            <c:idx val="1"/>
            <c:spPr>
              <a:solidFill>
                <a:srgbClr val="B8BECC"/>
              </a:solidFill>
            </c:spPr>
          </c:dPt>
          <c:dPt>
            <c:idx val="2"/>
            <c:spPr>
              <a:solidFill>
                <a:srgbClr val="B8BECC"/>
              </a:solidFill>
            </c:spPr>
          </c:dPt>
          <c:dPt>
            <c:idx val="3"/>
            <c:spPr>
              <a:solidFill>
                <a:srgbClr val="B8BECC"/>
              </a:solidFill>
            </c:spPr>
          </c:dPt>
          <c:dPt>
            <c:idx val="4"/>
            <c:spPr>
              <a:solidFill>
                <a:srgbClr val="B8BECC"/>
              </a:solidFill>
            </c:spPr>
          </c:dPt>
          <c:dPt>
            <c:idx val="5"/>
            <c:spPr>
              <a:solidFill>
                <a:srgbClr val="B8BECC"/>
              </a:solidFill>
            </c:spPr>
          </c:dPt>
          <c:dPt>
            <c:idx val="6"/>
            <c:spPr>
              <a:solidFill>
                <a:srgbClr val="B8BECC"/>
              </a:solidFill>
            </c:spPr>
          </c:dPt>
          <c:dPt>
            <c:idx val="7"/>
            <c:spPr>
              <a:solidFill>
                <a:srgbClr val="B8BECC"/>
              </a:solidFill>
            </c:spPr>
          </c:dPt>
          <c:dPt>
            <c:idx val="8"/>
            <c:spPr>
              <a:solidFill>
                <a:srgbClr val="B8BECC"/>
              </a:solidFill>
            </c:spPr>
          </c:dPt>
          <c:dPt>
            <c:idx val="9"/>
            <c:spPr>
              <a:solidFill>
                <a:srgbClr val="B8BECC"/>
              </a:solidFill>
            </c:spPr>
          </c:dPt>
          <c:dPt>
            <c:idx val="10"/>
            <c:spPr>
              <a:solidFill>
                <a:srgbClr val="B8BECC"/>
              </a:solidFill>
            </c:spPr>
          </c:dPt>
          <c:dPt>
            <c:idx val="11"/>
            <c:spPr>
              <a:solidFill>
                <a:srgbClr val="B8BECC"/>
              </a:solidFill>
            </c:spPr>
          </c:dPt>
          <c:dPt>
            <c:idx val="12"/>
            <c:spPr>
              <a:solidFill>
                <a:srgbClr val="B8BECC"/>
              </a:solidFill>
            </c:spPr>
          </c:dPt>
          <c:dPt>
            <c:idx val="13"/>
            <c:spPr>
              <a:solidFill>
                <a:srgbClr val="1F6F8B"/>
              </a:solidFill>
            </c:spPr>
          </c:dPt>
          <c:cat>
            <c:strRef>
              <c:f>Sheet1!$A$2:$A$15</c:f>
              <c:strCache>
                <c:ptCount val="14"/>
                <c:pt idx="0">
                  <c:v>Prophet</c:v>
                </c:pt>
                <c:pt idx="1">
                  <c:v>Prophet + COVID &amp; rates</c:v>
                </c:pt>
                <c:pt idx="2">
                  <c:v>XGBoost</c:v>
                </c:pt>
                <c:pt idx="3">
                  <c:v>Factor VAR (neighborhoods)</c:v>
                </c:pt>
                <c:pt idx="4">
                  <c:v>LightGBM</c:v>
                </c:pt>
                <c:pt idx="5">
                  <c:v>Chronos (foundation model)</c:v>
                </c:pt>
                <c:pt idx="6">
                  <c:v>Holt (damped)</c:v>
                </c:pt>
                <c:pt idx="7">
                  <c:v>Naive drift</c:v>
                </c:pt>
                <c:pt idx="8">
                  <c:v>GRU</c:v>
                </c:pt>
                <c:pt idx="9">
                  <c:v>LSTM</c:v>
                </c:pt>
                <c:pt idx="10">
                  <c:v>VAR (growth + rate)</c:v>
                </c:pt>
                <c:pt idx="11">
                  <c:v>ARIMAX + jobs</c:v>
                </c:pt>
                <c:pt idx="12">
                  <c:v>ARIMA</c:v>
                </c:pt>
                <c:pt idx="13">
                  <c:v>ARIMAX</c:v>
                </c:pt>
              </c:strCache>
            </c:strRef>
          </c:cat>
          <c:val>
            <c:numRef>
              <c:f>Sheet1!$B$2:$B$15</c:f>
              <c:numCache>
                <c:formatCode>General</c:formatCode>
                <c:ptCount val="14"/>
                <c:pt idx="0">
                  <c:v>6.89</c:v>
                </c:pt>
                <c:pt idx="1">
                  <c:v>5.12</c:v>
                </c:pt>
                <c:pt idx="2">
                  <c:v>3.65</c:v>
                </c:pt>
                <c:pt idx="3">
                  <c:v>3.64</c:v>
                </c:pt>
                <c:pt idx="4">
                  <c:v>3.6</c:v>
                </c:pt>
                <c:pt idx="5">
                  <c:v>3.56</c:v>
                </c:pt>
                <c:pt idx="6">
                  <c:v>3.39</c:v>
                </c:pt>
                <c:pt idx="7">
                  <c:v>3.27</c:v>
                </c:pt>
                <c:pt idx="8">
                  <c:v>3.18</c:v>
                </c:pt>
                <c:pt idx="9">
                  <c:v>3.02</c:v>
                </c:pt>
                <c:pt idx="10">
                  <c:v>2.93</c:v>
                </c:pt>
                <c:pt idx="11">
                  <c:v>2.81</c:v>
                </c:pt>
                <c:pt idx="12">
                  <c:v>2.77</c:v>
                </c:pt>
                <c:pt idx="13">
                  <c:v>2.67</c:v>
                </c:pt>
              </c:numCache>
            </c:numRef>
          </c:val>
        </c:ser>
        <c:axId val="-2068027336"/>
        <c:axId val="-2113994440"/>
      </c:barChart>
      <c:catAx>
        <c:axId val="-2068027336"/>
        <c:scaling>
          <c:orientation val="minMax"/>
        </c:scaling>
        <c:delete val="0"/>
        <c:axPos val="l"/>
        <c:majorTickMark val="out"/>
        <c:minorTickMark val="none"/>
        <c:tickLblPos val="nextTo"/>
        <c:spPr>
          <a:ln>
            <a:solidFill>
              <a:srgbClr val="E7E9F0"/>
            </a:solidFill>
          </a:ln>
        </c:spPr>
        <c:txPr>
          <a:bodyPr/>
          <a:lstStyle/>
          <a:p>
            <a:pPr>
              <a:defRPr sz="1000">
                <a:solidFill>
                  <a:srgbClr val="222A37"/>
                </a:solidFill>
                <a:latin typeface="Arial"/>
                <a:ea typeface="Arial"/>
              </a:defRPr>
            </a:pPr>
          </a:p>
        </c:txPr>
        <c:crossAx val="-2113994440"/>
        <c:crosses val="autoZero"/>
        <c:auto val="1"/>
        <c:lblAlgn val="ctr"/>
        <c:lblOffset val="100"/>
        <c:noMultiLvlLbl val="0"/>
      </c:catAx>
      <c:valAx>
        <c:axId val="-2113994440"/>
        <c:scaling>
          <c:min val="0.0"/>
        </c:scaling>
        <c:delete val="0"/>
        <c:axPos val="b"/>
        <c:majorGridlines>
          <c:spPr>
            <a:ln w="6350">
              <a:solidFill>
                <a:srgbClr val="E7E9F0"/>
              </a:solidFill>
            </a:ln>
          </c:spPr>
        </c:majorGridlines>
        <c:numFmt formatCode="0.00&quot;%&quot;" sourceLinked="0"/>
        <c:majorTickMark val="out"/>
        <c:minorTickMark val="none"/>
        <c:tickLblPos val="nextTo"/>
        <c:spPr>
          <a:ln>
            <a:solidFill>
              <a:srgbClr val="E7E9F0"/>
            </a:solidFill>
          </a:ln>
        </c:spPr>
        <c:txPr>
          <a:bodyPr/>
          <a:lstStyle/>
          <a:p>
            <a:pPr>
              <a:defRPr sz="1000">
                <a:solidFill>
                  <a:srgbClr val="222A37"/>
                </a:solidFill>
                <a:latin typeface="Arial"/>
                <a:ea typeface="Arial"/>
              </a:defRPr>
            </a:pPr>
          </a:p>
        </c:txPr>
        <c:crossAx val="-2068027336"/>
        <c:crosses val="autoZero"/>
      </c:valAx>
    </c:plotArea>
    <c:dispBlanksAs val="gap"/>
  </c:chart>
  <c:txPr>
    <a:bodyPr/>
    <a:lstStyle/>
    <a:p>
      <a:pPr>
        <a:defRPr sz="1100">
          <a:solidFill>
            <a:srgbClr val="222A37"/>
          </a:solidFill>
          <a:latin typeface="Arial"/>
          <a:ea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We forecast home values in the Los Angeles metro, using Zillow's monthly index from 2000 to August 2026. The line shows the whole story: a boom and bust in the 2000s, a long recovery, a pandemic surge, then a stall. Our question: how well can we forecast LA home values up to a year ahead, and what works best? We compare traditional time-series models with an alternative many people now try first: asking an AI chatbot.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2000 to 2026, LA home values grew about 5.6 percent a year on average, with a 37 percent crash from 2006 to 2012. The dashed line is a fitted trend, about 4.5 percent a year, and prices today sit close to it. The typical home is worth about 952 thousand dollars, 1.3 percent below the January 2025 peak. The bottom panel shows why this is a hard test: the 30-year mortgage rate went from 2.7 percent in 2021 to 7.6 percent in 2023, and the shaded test window runs right through that shock.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data: the Zillow index, about 500 neighborhoods, the mortgage rate, and payroll jobs for LA and Orange County. We compared fourteen models, from a simple naive-drift benchmark to neural networks and Amazon's Chronos foundation model, plus three AI chatbots. Every model setting, including the mortgage-rate lag, was chosen on training data only. Our main test is rolling: at eighteen start dates, every three months, each model forecasts the next twelve months. The score is the average absolute percentage error across those months and dates. Lower is better.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ARIMAX, which is ARIMA plus the mortgage rate, had the lowest average error, 2.67 percent, just ahead of plain ARIMA at 2.77. The gap is small. Neural networks landed in the middle, tree models lower, and Prophet last, because it doesn't start from the latest value. The ranking holds in dollars too. One honest point: at exactly twelve months ahead every model is about five percent off, and the naive benchmark, 4.9 percent, is as good as ARIMAX, 5.0. The models help most in the first months.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test at eighteen dates instead of one? In a single 80/20 split, LightGBM, circled in red, won with 2.2 percent error. Across our rolling tests it ranked tenth, and ARIMAX, in green, was first. The single test forecasts 64 months at once, so it is a different task, but the lesson holds: one window can crown the wrong model.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Remember that lesson, because AI has the same trap. We asked Claude, GPT and Gemini to forecast the same eighteen dates, each as a fresh API request with only the data up to that date. At first they looked brilliant: 1.3 to 1.6 percent error, better than every model. But all eighteen dates are before their training cutoff, so they may remember what happened. When we hid the place, the dates and the mortgage rate, Claude's error rose to 2.8 percent, GPT's to 2.7 and Gemini's to 3.0. That is no better than ARIMAX; the difference is not statistically significant.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we gave the AI fewer clues. Named says Los Angeles, with real dates. Blind hides the place and dates but keeps the real mortgage rate, and that is enough: asked to identify the blind series, Claude named Los Angeles 16 times out of 18 and got the dates exactly right. Masked shows only the last ten years, rescaled, with no rate. Claude never named LA, though it could still guess the period from the shape, so masking reduces the clues rather than removing them. The chart shows April 2022, the peak. With the clues, Claude forecast a fall, close to what happened. Masked, it forecast another 12 percent rise, just like our ARIMAX. No model saw that turn coming.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our best model. Top: our VAR estimates how LA values respond after a one-point rise in the mortgage rate: little at first, about 4.5 percent lower after a year and 9 after two. That is a predictive relationship, not a proven causal effect, and the Granger test is borderline, p equals 0.052. Inside ARIMAX neither the rate nor jobs is significant on its own, but the rate still helps out of sample. It enters with a two-year lag, so a twelve-month forecast never needs future rates. Bottom: ARIMAX forecasts about 998 thousand dollars by August 2027, up 4.8 percent. The band is the ARIMA 80 percent interval, for context: from minus 6 to plus 17 percent.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neighborhoods. Of 496 neighborhoods with recent data, 220 rose more than 2 percent in the last year, 216 stayed within 2 percent, and 60 fell. [Switch to the browser.] Blue is rising, red is falling. Expensive coastal areas like Santa Monica, Malibu and Corona del Mar are rising; central LA, Koreatown and Downtown are falling. [Click one neighborhood.] Each shows its value, its change and our 12-month forecast. [Back to the slides.] After 2022, pricier LA County neighborhoods fell more: each doubling of price meant a 1.2-point deeper drop. We tested neighborhood forecasts the same rolling way, at five yearly dates for about 400 neighborhoods: ARIMA for each neighborhood had 2.8 percent error, the naive benchmark 3.5.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answer: a simple ARIMAX had the lowest average error, about 2.7 percent; a full year out, the naive benchmark was just as good; and masked AI showed no clear advantage. Four takeaways. Simple time-series models beat complex ones, if you test over many windows. AI is a real alternative only when tested fairly, on data it can't remember. Mortgage rates matter, but slowly; jobs did not improve our model. And the metro average hides a split market. Next, we would test more cities, score the AI live after its training cutoff, and feed it altered histories to see whether it forecasts or recalls.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neiltd.github.io/la-housing-forecast/"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548640" y="502920"/>
            <a:ext cx="420624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1" i="0">
                <a:solidFill>
                  <a:srgbClr val="1F6F8B"/>
                </a:solidFill>
                <a:latin typeface="Arial"/>
              </a:rPr>
              <a:t>MGMTMSA 437 · FINAL PROJECT · OCTOBER 2026</a:t>
            </a:r>
          </a:p>
        </p:txBody>
      </p:sp>
      <p:sp>
        <p:nvSpPr>
          <p:cNvPr id="3" name="TextBox 2"/>
          <p:cNvSpPr txBox="1"/>
          <p:nvPr/>
        </p:nvSpPr>
        <p:spPr>
          <a:xfrm>
            <a:off x="548640" y="868680"/>
            <a:ext cx="4206240" cy="173736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3400" b="1" i="0">
                <a:solidFill>
                  <a:srgbClr val="16213E"/>
                </a:solidFill>
                <a:latin typeface="Arial"/>
              </a:rPr>
              <a:t>Forecasting LA Home Values</a:t>
            </a:r>
          </a:p>
        </p:txBody>
      </p:sp>
      <p:sp>
        <p:nvSpPr>
          <p:cNvPr id="4" name="Rectangle 3"/>
          <p:cNvSpPr/>
          <p:nvPr/>
        </p:nvSpPr>
        <p:spPr>
          <a:xfrm>
            <a:off x="548640" y="2697480"/>
            <a:ext cx="1097280" cy="36576"/>
          </a:xfrm>
          <a:prstGeom prst="rect">
            <a:avLst/>
          </a:prstGeom>
          <a:solidFill>
            <a:srgbClr val="B4400B"/>
          </a:solidFill>
          <a:ln>
            <a:noFill/>
          </a:ln>
          <a:effectLst/>
        </p:spPr>
        <p:txBody>
          <a:bodyPr rtlCol="0" anchor="ctr"/>
          <a:lstStyle/>
          <a:p>
            <a:pPr algn="ctr"/>
          </a:p>
        </p:txBody>
      </p:sp>
      <p:sp>
        <p:nvSpPr>
          <p:cNvPr id="5" name="TextBox 4"/>
          <p:cNvSpPr txBox="1"/>
          <p:nvPr/>
        </p:nvSpPr>
        <p:spPr>
          <a:xfrm>
            <a:off x="548640" y="2880360"/>
            <a:ext cx="4023360" cy="82296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400" b="0" i="0">
                <a:solidFill>
                  <a:srgbClr val="3D4A5C"/>
                </a:solidFill>
                <a:latin typeface="Arial"/>
              </a:rPr>
              <a:t>How well can we forecast LA home values up to a year ahead, and which works best: time-series models or AI?</a:t>
            </a:r>
          </a:p>
        </p:txBody>
      </p:sp>
      <p:sp>
        <p:nvSpPr>
          <p:cNvPr id="6" name="TextBox 5"/>
          <p:cNvSpPr txBox="1"/>
          <p:nvPr/>
        </p:nvSpPr>
        <p:spPr>
          <a:xfrm>
            <a:off x="548640" y="3703320"/>
            <a:ext cx="4206240" cy="457200"/>
          </a:xfrm>
          <a:prstGeom prst="rect">
            <a:avLst/>
          </a:prstGeom>
          <a:noFill/>
          <a:ln/>
        </p:spPr>
        <p:txBody>
          <a:bodyPr wrap="square" anchor="t" lIns="25400" rIns="25400" tIns="25400" bIns="25400">
            <a:spAutoFit/>
          </a:bodyPr>
          <a:lstStyle/>
          <a:p>
            <a:pPr algn="l">
              <a:lnSpc>
                <a:spcPct val="100000"/>
              </a:lnSpc>
              <a:spcBef>
                <a:spcPts val="0"/>
              </a:spcBef>
              <a:spcAft>
                <a:spcPts val="200"/>
              </a:spcAft>
            </a:pPr>
            <a:r>
              <a:rPr sz="1100" b="1" i="0">
                <a:solidFill>
                  <a:srgbClr val="16213E"/>
                </a:solidFill>
                <a:latin typeface="Arial"/>
              </a:rPr>
              <a:t>Yang Liu  ·  Jinwoo Roh</a:t>
            </a:r>
          </a:p>
          <a:p>
            <a:pPr algn="l">
              <a:lnSpc>
                <a:spcPct val="100000"/>
              </a:lnSpc>
              <a:spcBef>
                <a:spcPts val="0"/>
              </a:spcBef>
              <a:spcAft>
                <a:spcPts val="200"/>
              </a:spcAft>
            </a:pPr>
            <a:r>
              <a:rPr sz="1100" b="1" i="0">
                <a:solidFill>
                  <a:srgbClr val="16213E"/>
                </a:solidFill>
                <a:latin typeface="Arial"/>
              </a:rPr>
              <a:t>Yiu-Hon Lee  ·  Thanapol Doungsaeng</a:t>
            </a:r>
          </a:p>
        </p:txBody>
      </p:sp>
      <p:sp>
        <p:nvSpPr>
          <p:cNvPr id="7" name="TextBox 6"/>
          <p:cNvSpPr txBox="1"/>
          <p:nvPr/>
        </p:nvSpPr>
        <p:spPr>
          <a:xfrm>
            <a:off x="548640" y="4206240"/>
            <a:ext cx="4023360" cy="45720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Zillow Home Value Index, LA metro, Jan 2000 to Aug 2026, plus 499 neighborhoods and the 30-year mortgage rate</a:t>
            </a:r>
          </a:p>
        </p:txBody>
      </p:sp>
      <p:pic>
        <p:nvPicPr>
          <p:cNvPr id="8" name="Picture 7" descr="LA metro typical home value 2000 to 2026 with a dashed 12-month forecast and its 80% band" title="LA metro typical home value 2000 to 2026 with a dashed 12-month forecast and its 80% band"/>
          <p:cNvPicPr>
            <a:picLocks noChangeAspect="1"/>
          </p:cNvPicPr>
          <p:nvPr/>
        </p:nvPicPr>
        <p:blipFill>
          <a:blip r:embed="rId2"/>
          <a:stretch>
            <a:fillRect/>
          </a:stretch>
        </p:blipFill>
        <p:spPr>
          <a:xfrm>
            <a:off x="4846320" y="1331021"/>
            <a:ext cx="3931920" cy="2550036"/>
          </a:xfrm>
          <a:prstGeom prst="rect">
            <a:avLst/>
          </a:prstGeom>
        </p:spPr>
      </p:pic>
      <p:sp>
        <p:nvSpPr>
          <p:cNvPr id="9" name="TextBox 8"/>
          <p:cNvSpPr txBox="1"/>
          <p:nvPr/>
        </p:nvSpPr>
        <p:spPr>
          <a:xfrm>
            <a:off x="4937760" y="4434840"/>
            <a:ext cx="384048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00" b="0" i="0">
                <a:solidFill>
                  <a:srgbClr val="6B6F76"/>
                </a:solidFill>
                <a:latin typeface="Arial"/>
              </a:rPr>
              <a:t>Solid: actual  ·  Dashed: our forecast to Aug 2027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WHY LA, WHY NOW</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LA values grew 5.6% a year for 26 years, then stalled when rates hit 7%</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2</a:t>
            </a:r>
          </a:p>
        </p:txBody>
      </p:sp>
      <p:pic>
        <p:nvPicPr>
          <p:cNvPr id="7" name="Picture 6" descr="LA ZHVI 2000-2026 above the 30-year mortgage rate; test window shaded" title="LA ZHVI 2000-2026 above the 30-year mortgage rate; test window shaded"/>
          <p:cNvPicPr>
            <a:picLocks noChangeAspect="1"/>
          </p:cNvPicPr>
          <p:nvPr/>
        </p:nvPicPr>
        <p:blipFill>
          <a:blip r:embed="rId2"/>
          <a:stretch>
            <a:fillRect/>
          </a:stretch>
        </p:blipFill>
        <p:spPr>
          <a:xfrm>
            <a:off x="1000669" y="1569720"/>
            <a:ext cx="4125141" cy="2933699"/>
          </a:xfrm>
          <a:prstGeom prst="rect">
            <a:avLst/>
          </a:prstGeom>
        </p:spPr>
      </p:pic>
      <p:sp>
        <p:nvSpPr>
          <p:cNvPr id="8" name="TextBox 7"/>
          <p:cNvSpPr txBox="1"/>
          <p:nvPr/>
        </p:nvSpPr>
        <p:spPr>
          <a:xfrm>
            <a:off x="5989320" y="166116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$952,601</a:t>
            </a:r>
          </a:p>
        </p:txBody>
      </p:sp>
      <p:sp>
        <p:nvSpPr>
          <p:cNvPr id="9" name="TextBox 8"/>
          <p:cNvSpPr txBox="1"/>
          <p:nvPr/>
        </p:nvSpPr>
        <p:spPr>
          <a:xfrm>
            <a:off x="5989320" y="206756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typical LA-metro home, August 2026</a:t>
            </a:r>
          </a:p>
        </p:txBody>
      </p:sp>
      <p:sp>
        <p:nvSpPr>
          <p:cNvPr id="10" name="TextBox 9"/>
          <p:cNvSpPr txBox="1"/>
          <p:nvPr/>
        </p:nvSpPr>
        <p:spPr>
          <a:xfrm>
            <a:off x="5989320" y="241808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-1.3%</a:t>
            </a:r>
          </a:p>
        </p:txBody>
      </p:sp>
      <p:sp>
        <p:nvSpPr>
          <p:cNvPr id="11" name="TextBox 10"/>
          <p:cNvSpPr txBox="1"/>
          <p:nvPr/>
        </p:nvSpPr>
        <p:spPr>
          <a:xfrm>
            <a:off x="5989320" y="282448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vs the January 2025 peak of $965,634</a:t>
            </a:r>
          </a:p>
        </p:txBody>
      </p:sp>
      <p:sp>
        <p:nvSpPr>
          <p:cNvPr id="12" name="TextBox 11"/>
          <p:cNvSpPr txBox="1"/>
          <p:nvPr/>
        </p:nvSpPr>
        <p:spPr>
          <a:xfrm>
            <a:off x="5989320" y="317500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2.7% → 7.6%</a:t>
            </a:r>
          </a:p>
        </p:txBody>
      </p:sp>
      <p:sp>
        <p:nvSpPr>
          <p:cNvPr id="13" name="TextBox 12"/>
          <p:cNvSpPr txBox="1"/>
          <p:nvPr/>
        </p:nvSpPr>
        <p:spPr>
          <a:xfrm>
            <a:off x="5989320" y="358140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30-year mortgage rate, 2021 low to 2023 high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DATA AND DESIGN</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We compared 14 models across 18 forecast dates</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3</a:t>
            </a:r>
          </a:p>
        </p:txBody>
      </p:sp>
      <p:sp>
        <p:nvSpPr>
          <p:cNvPr id="7" name="Rounded Rectangle 6"/>
          <p:cNvSpPr/>
          <p:nvPr/>
        </p:nvSpPr>
        <p:spPr>
          <a:xfrm>
            <a:off x="457200" y="3826763"/>
            <a:ext cx="8229600" cy="722376"/>
          </a:xfrm>
          <a:prstGeom prst="roundRect">
            <a:avLst>
              <a:gd name="adj" fmla="val 8000"/>
            </a:avLst>
          </a:prstGeom>
          <a:solidFill>
            <a:srgbClr val="F3ECE3"/>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B4400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B4400B"/>
                </a:solidFill>
                <a:latin typeface="Arial"/>
              </a:rPr>
              <a:t>HOW WE SCORE  </a:t>
            </a:r>
            <a:r>
              <a:rPr sz="1250" b="0" i="0">
                <a:solidFill>
                  <a:srgbClr val="16213E"/>
                </a:solidFill>
                <a:latin typeface="Arial"/>
              </a:rPr>
              <a:t>Error = average absolute % gap between the forecast and Zillow's actual value (MAPE), over 1 to 12 months ahead and all 18 start dates. Lower is better; RMSE in dollars agrees.</a:t>
            </a:r>
          </a:p>
        </p:txBody>
      </p:sp>
      <p:sp>
        <p:nvSpPr>
          <p:cNvPr id="10" name="TextBox 9"/>
          <p:cNvSpPr txBox="1"/>
          <p:nvPr/>
        </p:nvSpPr>
        <p:spPr>
          <a:xfrm>
            <a:off x="365760" y="1335024"/>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DATA</a:t>
            </a:r>
          </a:p>
        </p:txBody>
      </p:sp>
      <p:sp>
        <p:nvSpPr>
          <p:cNvPr id="11" name="Rectangle 10"/>
          <p:cNvSpPr/>
          <p:nvPr/>
        </p:nvSpPr>
        <p:spPr>
          <a:xfrm>
            <a:off x="365760" y="1664208"/>
            <a:ext cx="2560319" cy="9144"/>
          </a:xfrm>
          <a:prstGeom prst="rect">
            <a:avLst/>
          </a:prstGeom>
          <a:solidFill>
            <a:srgbClr val="6B6F76"/>
          </a:solidFill>
          <a:ln>
            <a:noFill/>
          </a:ln>
          <a:effectLst/>
        </p:spPr>
        <p:txBody>
          <a:bodyPr rtlCol="0" anchor="ctr"/>
          <a:lstStyle/>
          <a:p>
            <a:pPr algn="ctr"/>
          </a:p>
        </p:txBody>
      </p:sp>
      <p:sp>
        <p:nvSpPr>
          <p:cNvPr id="12" name="TextBox 11"/>
          <p:cNvSpPr txBox="1"/>
          <p:nvPr/>
        </p:nvSpPr>
        <p:spPr>
          <a:xfrm>
            <a:off x="365760" y="179222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Zillow ZHVI, LA metro</a:t>
            </a:r>
          </a:p>
        </p:txBody>
      </p:sp>
      <p:sp>
        <p:nvSpPr>
          <p:cNvPr id="13" name="TextBox 12"/>
          <p:cNvSpPr txBox="1"/>
          <p:nvPr/>
        </p:nvSpPr>
        <p:spPr>
          <a:xfrm>
            <a:off x="365760" y="1962912"/>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320 months, Jan 2000 to Aug 2026</a:t>
            </a:r>
          </a:p>
        </p:txBody>
      </p:sp>
      <p:sp>
        <p:nvSpPr>
          <p:cNvPr id="14" name="TextBox 13"/>
          <p:cNvSpPr txBox="1"/>
          <p:nvPr/>
        </p:nvSpPr>
        <p:spPr>
          <a:xfrm>
            <a:off x="365760" y="2185416"/>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499 LA neighborhoods</a:t>
            </a:r>
          </a:p>
        </p:txBody>
      </p:sp>
      <p:sp>
        <p:nvSpPr>
          <p:cNvPr id="15" name="TextBox 14"/>
          <p:cNvSpPr txBox="1"/>
          <p:nvPr/>
        </p:nvSpPr>
        <p:spPr>
          <a:xfrm>
            <a:off x="365760" y="2356104"/>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Zillow neighborhood index</a:t>
            </a:r>
          </a:p>
        </p:txBody>
      </p:sp>
      <p:sp>
        <p:nvSpPr>
          <p:cNvPr id="16" name="TextBox 15"/>
          <p:cNvSpPr txBox="1"/>
          <p:nvPr/>
        </p:nvSpPr>
        <p:spPr>
          <a:xfrm>
            <a:off x="365760" y="2578608"/>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Mortgage rate and payroll jobs</a:t>
            </a:r>
          </a:p>
        </p:txBody>
      </p:sp>
      <p:sp>
        <p:nvSpPr>
          <p:cNvPr id="17" name="TextBox 16"/>
          <p:cNvSpPr txBox="1"/>
          <p:nvPr/>
        </p:nvSpPr>
        <p:spPr>
          <a:xfrm>
            <a:off x="365760" y="2749296"/>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FRED and BLS, LA and Orange County</a:t>
            </a:r>
          </a:p>
        </p:txBody>
      </p:sp>
      <p:sp>
        <p:nvSpPr>
          <p:cNvPr id="18" name="TextBox 17"/>
          <p:cNvSpPr txBox="1"/>
          <p:nvPr/>
        </p:nvSpPr>
        <p:spPr>
          <a:xfrm>
            <a:off x="3291839" y="1335024"/>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14 MODELS + 3 LLMS</a:t>
            </a:r>
          </a:p>
        </p:txBody>
      </p:sp>
      <p:sp>
        <p:nvSpPr>
          <p:cNvPr id="19" name="Rectangle 18"/>
          <p:cNvSpPr/>
          <p:nvPr/>
        </p:nvSpPr>
        <p:spPr>
          <a:xfrm>
            <a:off x="3291839" y="1664208"/>
            <a:ext cx="2560319" cy="9144"/>
          </a:xfrm>
          <a:prstGeom prst="rect">
            <a:avLst/>
          </a:prstGeom>
          <a:solidFill>
            <a:srgbClr val="6B6F76"/>
          </a:solidFill>
          <a:ln>
            <a:noFill/>
          </a:ln>
          <a:effectLst/>
        </p:spPr>
        <p:txBody>
          <a:bodyPr rtlCol="0" anchor="ctr"/>
          <a:lstStyle/>
          <a:p>
            <a:pPr algn="ctr"/>
          </a:p>
        </p:txBody>
      </p:sp>
      <p:sp>
        <p:nvSpPr>
          <p:cNvPr id="20" name="TextBox 19"/>
          <p:cNvSpPr txBox="1"/>
          <p:nvPr/>
        </p:nvSpPr>
        <p:spPr>
          <a:xfrm>
            <a:off x="3291839" y="179222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Baseline and classical</a:t>
            </a:r>
          </a:p>
        </p:txBody>
      </p:sp>
      <p:sp>
        <p:nvSpPr>
          <p:cNvPr id="21" name="TextBox 20"/>
          <p:cNvSpPr txBox="1"/>
          <p:nvPr/>
        </p:nvSpPr>
        <p:spPr>
          <a:xfrm>
            <a:off x="3291839" y="1962912"/>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Naive drift · ARIMA · Holt · Prophet ×2</a:t>
            </a:r>
          </a:p>
        </p:txBody>
      </p:sp>
      <p:sp>
        <p:nvSpPr>
          <p:cNvPr id="22" name="TextBox 21"/>
          <p:cNvSpPr txBox="1"/>
          <p:nvPr/>
        </p:nvSpPr>
        <p:spPr>
          <a:xfrm>
            <a:off x="3291839" y="2185416"/>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ML, deep learning, AI</a:t>
            </a:r>
          </a:p>
        </p:txBody>
      </p:sp>
      <p:sp>
        <p:nvSpPr>
          <p:cNvPr id="23" name="TextBox 22"/>
          <p:cNvSpPr txBox="1"/>
          <p:nvPr/>
        </p:nvSpPr>
        <p:spPr>
          <a:xfrm>
            <a:off x="3291839" y="2356104"/>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XGBoost · LightGBM · LSTM · GRU · Chronos</a:t>
            </a:r>
          </a:p>
        </p:txBody>
      </p:sp>
      <p:sp>
        <p:nvSpPr>
          <p:cNvPr id="24" name="TextBox 23"/>
          <p:cNvSpPr txBox="1"/>
          <p:nvPr/>
        </p:nvSpPr>
        <p:spPr>
          <a:xfrm>
            <a:off x="3291839" y="272796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Outside information</a:t>
            </a:r>
          </a:p>
        </p:txBody>
      </p:sp>
      <p:sp>
        <p:nvSpPr>
          <p:cNvPr id="25" name="TextBox 24"/>
          <p:cNvSpPr txBox="1"/>
          <p:nvPr/>
        </p:nvSpPr>
        <p:spPr>
          <a:xfrm>
            <a:off x="3291839" y="2898648"/>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ARIMAX ×2 · VAR · factor VAR</a:t>
            </a:r>
          </a:p>
        </p:txBody>
      </p:sp>
      <p:sp>
        <p:nvSpPr>
          <p:cNvPr id="26" name="TextBox 25"/>
          <p:cNvSpPr txBox="1"/>
          <p:nvPr/>
        </p:nvSpPr>
        <p:spPr>
          <a:xfrm>
            <a:off x="3291839" y="3121152"/>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Plus 3 chat LLMs</a:t>
            </a:r>
          </a:p>
        </p:txBody>
      </p:sp>
      <p:sp>
        <p:nvSpPr>
          <p:cNvPr id="27" name="TextBox 26"/>
          <p:cNvSpPr txBox="1"/>
          <p:nvPr/>
        </p:nvSpPr>
        <p:spPr>
          <a:xfrm>
            <a:off x="3291839" y="3291840"/>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Claude · GPT · Gemini</a:t>
            </a:r>
          </a:p>
        </p:txBody>
      </p:sp>
      <p:sp>
        <p:nvSpPr>
          <p:cNvPr id="28" name="TextBox 27"/>
          <p:cNvSpPr txBox="1"/>
          <p:nvPr/>
        </p:nvSpPr>
        <p:spPr>
          <a:xfrm>
            <a:off x="6217919" y="1335024"/>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2 TESTS</a:t>
            </a:r>
          </a:p>
        </p:txBody>
      </p:sp>
      <p:sp>
        <p:nvSpPr>
          <p:cNvPr id="29" name="Rectangle 28"/>
          <p:cNvSpPr/>
          <p:nvPr/>
        </p:nvSpPr>
        <p:spPr>
          <a:xfrm>
            <a:off x="6217919" y="1664208"/>
            <a:ext cx="2560319" cy="9144"/>
          </a:xfrm>
          <a:prstGeom prst="rect">
            <a:avLst/>
          </a:prstGeom>
          <a:solidFill>
            <a:srgbClr val="6B6F76"/>
          </a:solidFill>
          <a:ln>
            <a:noFill/>
          </a:ln>
          <a:effectLst/>
        </p:spPr>
        <p:txBody>
          <a:bodyPr rtlCol="0" anchor="ctr"/>
          <a:lstStyle/>
          <a:p>
            <a:pPr algn="ctr"/>
          </a:p>
        </p:txBody>
      </p:sp>
      <p:sp>
        <p:nvSpPr>
          <p:cNvPr id="30" name="TextBox 29"/>
          <p:cNvSpPr txBox="1"/>
          <p:nvPr/>
        </p:nvSpPr>
        <p:spPr>
          <a:xfrm>
            <a:off x="6217919" y="179222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1. Rolling origin (main)</a:t>
            </a:r>
          </a:p>
        </p:txBody>
      </p:sp>
      <p:sp>
        <p:nvSpPr>
          <p:cNvPr id="31" name="TextBox 30"/>
          <p:cNvSpPr txBox="1"/>
          <p:nvPr/>
        </p:nvSpPr>
        <p:spPr>
          <a:xfrm>
            <a:off x="6217919" y="1962912"/>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Refit every 3 months, forecast 12 months ahead, 18 times</a:t>
            </a:r>
          </a:p>
        </p:txBody>
      </p:sp>
      <p:sp>
        <p:nvSpPr>
          <p:cNvPr id="32" name="TextBox 31"/>
          <p:cNvSpPr txBox="1"/>
          <p:nvPr/>
        </p:nvSpPr>
        <p:spPr>
          <a:xfrm>
            <a:off x="6217919" y="2334768"/>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2. Single blind 80/20</a:t>
            </a:r>
          </a:p>
        </p:txBody>
      </p:sp>
      <p:sp>
        <p:nvSpPr>
          <p:cNvPr id="33" name="TextBox 32"/>
          <p:cNvSpPr txBox="1"/>
          <p:nvPr/>
        </p:nvSpPr>
        <p:spPr>
          <a:xfrm>
            <a:off x="6217919" y="2505456"/>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Train to Apr 2021, forecast 64 months in one shot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1 · ROLLING TEST</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In the fair test, ARIMA-family models beat machine learning</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4</a:t>
            </a:r>
          </a:p>
        </p:txBody>
      </p:sp>
      <p:graphicFrame>
        <p:nvGraphicFramePr>
          <p:cNvPr id="7" name="Chart 6"/>
          <p:cNvGraphicFramePr>
            <a:graphicFrameLocks noGrp="1"/>
          </p:cNvGraphicFramePr>
          <p:nvPr/>
        </p:nvGraphicFramePr>
        <p:xfrm>
          <a:off x="457200" y="1569720"/>
          <a:ext cx="5394960" cy="2979419"/>
        </p:xfrm>
        <a:graphic>
          <a:graphicData uri="http://schemas.openxmlformats.org/drawingml/2006/chart">
            <c:chart xmlns:c="http://schemas.openxmlformats.org/drawingml/2006/chart" r:id="rId2"/>
          </a:graphicData>
        </a:graphic>
      </p:graphicFrame>
      <p:sp>
        <p:nvSpPr>
          <p:cNvPr id="8" name="TextBox 7"/>
          <p:cNvSpPr txBox="1"/>
          <p:nvPr/>
        </p:nvSpPr>
        <p:spPr>
          <a:xfrm>
            <a:off x="6126480" y="1661160"/>
            <a:ext cx="26060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LOWEST ERROR</a:t>
            </a:r>
          </a:p>
        </p:txBody>
      </p:sp>
      <p:sp>
        <p:nvSpPr>
          <p:cNvPr id="9" name="TextBox 8"/>
          <p:cNvSpPr txBox="1"/>
          <p:nvPr/>
        </p:nvSpPr>
        <p:spPr>
          <a:xfrm>
            <a:off x="6126480" y="1972056"/>
            <a:ext cx="260604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2.67%</a:t>
            </a:r>
          </a:p>
        </p:txBody>
      </p:sp>
      <p:sp>
        <p:nvSpPr>
          <p:cNvPr id="10" name="TextBox 9"/>
          <p:cNvSpPr txBox="1"/>
          <p:nvPr/>
        </p:nvSpPr>
        <p:spPr>
          <a:xfrm>
            <a:off x="6126480" y="2849880"/>
            <a:ext cx="260604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ARIMAX (ARIMA + mortgage rate), average error 1 to 12 months ahead; ARIMA 2.77%. At 12 months: ARIMAX 5.0%, naive drift 4.9%.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2 · SINGLE BLIND TEST (ONE WINDOW)</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One test window crowned LightGBM; 18 windows ranked it tenth</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5</a:t>
            </a:r>
          </a:p>
        </p:txBody>
      </p:sp>
      <p:pic>
        <p:nvPicPr>
          <p:cNvPr id="7" name="Picture 6" descr="5 by 3 grid of 15 model forecasts from May 2021 against actual LA values; LightGBM circled in red, ARIMAX in green" title="5 by 3 grid of 15 model forecasts from May 2021 against actual LA values; LightGBM circled in red, ARIMAX in green"/>
          <p:cNvPicPr>
            <a:picLocks noChangeAspect="1"/>
          </p:cNvPicPr>
          <p:nvPr/>
        </p:nvPicPr>
        <p:blipFill>
          <a:blip r:embed="rId2"/>
          <a:stretch>
            <a:fillRect/>
          </a:stretch>
        </p:blipFill>
        <p:spPr>
          <a:xfrm>
            <a:off x="558447" y="1542288"/>
            <a:ext cx="5329625" cy="3052571"/>
          </a:xfrm>
          <a:prstGeom prst="rect">
            <a:avLst/>
          </a:prstGeom>
        </p:spPr>
      </p:pic>
      <p:sp>
        <p:nvSpPr>
          <p:cNvPr id="8" name="TextBox 7"/>
          <p:cNvSpPr txBox="1"/>
          <p:nvPr/>
        </p:nvSpPr>
        <p:spPr>
          <a:xfrm>
            <a:off x="6309360" y="1661160"/>
            <a:ext cx="25146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SAME MODEL, TWO TESTS</a:t>
            </a:r>
          </a:p>
        </p:txBody>
      </p:sp>
      <p:sp>
        <p:nvSpPr>
          <p:cNvPr id="9" name="TextBox 8"/>
          <p:cNvSpPr txBox="1"/>
          <p:nvPr/>
        </p:nvSpPr>
        <p:spPr>
          <a:xfrm>
            <a:off x="6309360" y="1972056"/>
            <a:ext cx="251460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1st → 10th</a:t>
            </a:r>
          </a:p>
        </p:txBody>
      </p:sp>
      <p:sp>
        <p:nvSpPr>
          <p:cNvPr id="10" name="TextBox 9"/>
          <p:cNvSpPr txBox="1"/>
          <p:nvPr/>
        </p:nvSpPr>
        <p:spPr>
          <a:xfrm>
            <a:off x="6309360" y="2849880"/>
            <a:ext cx="251460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LightGBM won the single 64-month test (2.2% error) but ranked 10th across 18 rolling 12-month tests: its lead did not hold.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3 · AI AS AN ALTERNATIVE</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An alternative tool: AI won by memory, not forecasting</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6</a:t>
            </a:r>
          </a:p>
        </p:txBody>
      </p:sp>
      <p:pic>
        <p:nvPicPr>
          <p:cNvPr id="7" name="Picture 6" descr="Average and 12-month error of Claude, GPT and Gemini under named, blind and masked prompts, against ARIMAX and naive drift" title="Average and 12-month error of Claude, GPT and Gemini under named, blind and masked prompts, against ARIMAX and naive dri"/>
          <p:cNvPicPr>
            <a:picLocks noChangeAspect="1"/>
          </p:cNvPicPr>
          <p:nvPr/>
        </p:nvPicPr>
        <p:blipFill>
          <a:blip r:embed="rId2"/>
          <a:stretch>
            <a:fillRect/>
          </a:stretch>
        </p:blipFill>
        <p:spPr>
          <a:xfrm>
            <a:off x="411480" y="1712810"/>
            <a:ext cx="5577840" cy="2693239"/>
          </a:xfrm>
          <a:prstGeom prst="rect">
            <a:avLst/>
          </a:prstGeom>
        </p:spPr>
      </p:pic>
      <p:sp>
        <p:nvSpPr>
          <p:cNvPr id="8" name="TextBox 7"/>
          <p:cNvSpPr txBox="1"/>
          <p:nvPr/>
        </p:nvSpPr>
        <p:spPr>
          <a:xfrm>
            <a:off x="6217920" y="1661160"/>
            <a:ext cx="25146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SAME MODEL, DATES HIDDEN</a:t>
            </a:r>
          </a:p>
        </p:txBody>
      </p:sp>
      <p:sp>
        <p:nvSpPr>
          <p:cNvPr id="9" name="TextBox 8"/>
          <p:cNvSpPr txBox="1"/>
          <p:nvPr/>
        </p:nvSpPr>
        <p:spPr>
          <a:xfrm>
            <a:off x="6217920" y="1972056"/>
            <a:ext cx="251460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1.3 → 2.8%</a:t>
            </a:r>
          </a:p>
        </p:txBody>
      </p:sp>
      <p:sp>
        <p:nvSpPr>
          <p:cNvPr id="10" name="TextBox 9"/>
          <p:cNvSpPr txBox="1"/>
          <p:nvPr/>
        </p:nvSpPr>
        <p:spPr>
          <a:xfrm>
            <a:off x="6217920" y="2849880"/>
            <a:ext cx="251460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Claude's error once it could not tell the place, dates or mortgage rate (ARIMAX 2.67%). All test dates are inside the LLMs' training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3 · AI AS AN ALTERNATIVE, HOW WE TESTED</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The LLMs' edge disappears once we mask the data</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7</a:t>
            </a:r>
          </a:p>
        </p:txBody>
      </p:sp>
      <p:sp>
        <p:nvSpPr>
          <p:cNvPr id="7" name="Rounded Rectangle 6"/>
          <p:cNvSpPr/>
          <p:nvPr/>
        </p:nvSpPr>
        <p:spPr>
          <a:xfrm>
            <a:off x="457200" y="3826763"/>
            <a:ext cx="8229600" cy="722376"/>
          </a:xfrm>
          <a:prstGeom prst="roundRect">
            <a:avLst>
              <a:gd name="adj" fmla="val 8000"/>
            </a:avLst>
          </a:prstGeom>
          <a:solidFill>
            <a:srgbClr val="F3ECE3"/>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B4400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B4400B"/>
                </a:solidFill>
                <a:latin typeface="Arial"/>
              </a:rPr>
              <a:t>NAME THIS SERIES  </a:t>
            </a:r>
            <a:r>
              <a:rPr sz="1250" b="0" i="0">
                <a:solidFill>
                  <a:srgbClr val="16213E"/>
                </a:solidFill>
                <a:latin typeface="Arial"/>
              </a:rPr>
              <a:t>LA identified: blind 16 of 18 (dates exactly right); masked 0 of 18. The period can still be guessed from the shape.</a:t>
            </a:r>
          </a:p>
        </p:txBody>
      </p:sp>
      <p:sp>
        <p:nvSpPr>
          <p:cNvPr id="10" name="Rectangle 9"/>
          <p:cNvSpPr/>
          <p:nvPr/>
        </p:nvSpPr>
        <p:spPr>
          <a:xfrm>
            <a:off x="457200" y="1316736"/>
            <a:ext cx="2834640" cy="729995"/>
          </a:xfrm>
          <a:prstGeom prst="rect">
            <a:avLst/>
          </a:prstGeom>
          <a:solidFill>
            <a:srgbClr val="FFFFFF"/>
          </a:solidFill>
          <a:ln w="9525">
            <a:solidFill>
              <a:srgbClr val="DDD8CC"/>
            </a:solidFill>
          </a:ln>
          <a:effectLst/>
        </p:spPr>
        <p:txBody>
          <a:bodyPr rtlCol="0" anchor="ctr"/>
          <a:lstStyle/>
          <a:p>
            <a:pPr algn="ctr"/>
          </a:p>
        </p:txBody>
      </p:sp>
      <p:sp>
        <p:nvSpPr>
          <p:cNvPr id="11" name="TextBox 10"/>
          <p:cNvSpPr txBox="1"/>
          <p:nvPr/>
        </p:nvSpPr>
        <p:spPr>
          <a:xfrm>
            <a:off x="566928" y="1371600"/>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B4400B"/>
                </a:solidFill>
                <a:latin typeface="Arial"/>
              </a:rPr>
              <a:t>NAMED</a:t>
            </a:r>
          </a:p>
        </p:txBody>
      </p:sp>
      <p:sp>
        <p:nvSpPr>
          <p:cNvPr id="12" name="TextBox 11"/>
          <p:cNvSpPr txBox="1"/>
          <p:nvPr/>
        </p:nvSpPr>
        <p:spPr>
          <a:xfrm>
            <a:off x="566928" y="1609344"/>
            <a:ext cx="2615184" cy="181355"/>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0" i="0">
                <a:solidFill>
                  <a:srgbClr val="16213E"/>
                </a:solidFill>
                <a:latin typeface="Arial"/>
              </a:rPr>
              <a:t>LA, real dates, dollars, mortgage rate</a:t>
            </a:r>
          </a:p>
        </p:txBody>
      </p:sp>
      <p:sp>
        <p:nvSpPr>
          <p:cNvPr id="13" name="TextBox 12"/>
          <p:cNvSpPr txBox="1"/>
          <p:nvPr/>
        </p:nvSpPr>
        <p:spPr>
          <a:xfrm>
            <a:off x="566928" y="1754124"/>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B4400B"/>
                </a:solidFill>
                <a:latin typeface="Arial"/>
              </a:rPr>
              <a:t>Leaks: it knows the place and the years</a:t>
            </a:r>
          </a:p>
        </p:txBody>
      </p:sp>
      <p:sp>
        <p:nvSpPr>
          <p:cNvPr id="14" name="Rectangle 13"/>
          <p:cNvSpPr/>
          <p:nvPr/>
        </p:nvSpPr>
        <p:spPr>
          <a:xfrm>
            <a:off x="457200" y="2138171"/>
            <a:ext cx="2834640" cy="729995"/>
          </a:xfrm>
          <a:prstGeom prst="rect">
            <a:avLst/>
          </a:prstGeom>
          <a:solidFill>
            <a:srgbClr val="FFFFFF"/>
          </a:solidFill>
          <a:ln w="9525">
            <a:solidFill>
              <a:srgbClr val="DDD8CC"/>
            </a:solidFill>
          </a:ln>
          <a:effectLst/>
        </p:spPr>
        <p:txBody>
          <a:bodyPr rtlCol="0" anchor="ctr"/>
          <a:lstStyle/>
          <a:p>
            <a:pPr algn="ctr"/>
          </a:p>
        </p:txBody>
      </p:sp>
      <p:sp>
        <p:nvSpPr>
          <p:cNvPr id="15" name="TextBox 14"/>
          <p:cNvSpPr txBox="1"/>
          <p:nvPr/>
        </p:nvSpPr>
        <p:spPr>
          <a:xfrm>
            <a:off x="566928" y="2193035"/>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B4400B"/>
                </a:solidFill>
                <a:latin typeface="Arial"/>
              </a:rPr>
              <a:t>BLIND</a:t>
            </a:r>
          </a:p>
        </p:txBody>
      </p:sp>
      <p:sp>
        <p:nvSpPr>
          <p:cNvPr id="16" name="TextBox 15"/>
          <p:cNvSpPr txBox="1"/>
          <p:nvPr/>
        </p:nvSpPr>
        <p:spPr>
          <a:xfrm>
            <a:off x="566928" y="2430779"/>
            <a:ext cx="2615184" cy="181355"/>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0" i="0">
                <a:solidFill>
                  <a:srgbClr val="16213E"/>
                </a:solidFill>
                <a:latin typeface="Arial"/>
              </a:rPr>
              <a:t>No place or dates, but the real rate</a:t>
            </a:r>
          </a:p>
        </p:txBody>
      </p:sp>
      <p:sp>
        <p:nvSpPr>
          <p:cNvPr id="17" name="TextBox 16"/>
          <p:cNvSpPr txBox="1"/>
          <p:nvPr/>
        </p:nvSpPr>
        <p:spPr>
          <a:xfrm>
            <a:off x="566928" y="2575559"/>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B4400B"/>
                </a:solidFill>
                <a:latin typeface="Arial"/>
              </a:rPr>
              <a:t>Leaks: the 2022 rate jump dates the series</a:t>
            </a:r>
          </a:p>
        </p:txBody>
      </p:sp>
      <p:sp>
        <p:nvSpPr>
          <p:cNvPr id="18" name="Rectangle 17"/>
          <p:cNvSpPr/>
          <p:nvPr/>
        </p:nvSpPr>
        <p:spPr>
          <a:xfrm>
            <a:off x="457200" y="2959607"/>
            <a:ext cx="2834640" cy="729995"/>
          </a:xfrm>
          <a:prstGeom prst="rect">
            <a:avLst/>
          </a:prstGeom>
          <a:solidFill>
            <a:srgbClr val="FFFFFF"/>
          </a:solidFill>
          <a:ln w="9525">
            <a:solidFill>
              <a:srgbClr val="DDD8CC"/>
            </a:solidFill>
          </a:ln>
          <a:effectLst/>
        </p:spPr>
        <p:txBody>
          <a:bodyPr rtlCol="0" anchor="ctr"/>
          <a:lstStyle/>
          <a:p>
            <a:pPr algn="ctr"/>
          </a:p>
        </p:txBody>
      </p:sp>
      <p:sp>
        <p:nvSpPr>
          <p:cNvPr id="19" name="TextBox 18"/>
          <p:cNvSpPr txBox="1"/>
          <p:nvPr/>
        </p:nvSpPr>
        <p:spPr>
          <a:xfrm>
            <a:off x="566928" y="3014471"/>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F6F8B"/>
                </a:solidFill>
                <a:latin typeface="Arial"/>
              </a:rPr>
              <a:t>MASKED</a:t>
            </a:r>
          </a:p>
        </p:txBody>
      </p:sp>
      <p:sp>
        <p:nvSpPr>
          <p:cNvPr id="20" name="TextBox 19"/>
          <p:cNvSpPr txBox="1"/>
          <p:nvPr/>
        </p:nvSpPr>
        <p:spPr>
          <a:xfrm>
            <a:off x="566928" y="3252215"/>
            <a:ext cx="2615184" cy="181355"/>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0" i="0">
                <a:solidFill>
                  <a:srgbClr val="16213E"/>
                </a:solidFill>
                <a:latin typeface="Arial"/>
              </a:rPr>
              <a:t>Last 10 years, rescaled; no place or rate</a:t>
            </a:r>
          </a:p>
        </p:txBody>
      </p:sp>
      <p:sp>
        <p:nvSpPr>
          <p:cNvPr id="21" name="TextBox 20"/>
          <p:cNvSpPr txBox="1"/>
          <p:nvPr/>
        </p:nvSpPr>
        <p:spPr>
          <a:xfrm>
            <a:off x="566928" y="3396995"/>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1F6F8B"/>
                </a:solidFill>
                <a:latin typeface="Arial"/>
              </a:rPr>
              <a:t>Fewest clues; period still guessable</a:t>
            </a:r>
          </a:p>
        </p:txBody>
      </p:sp>
      <p:pic>
        <p:nvPicPr>
          <p:cNvPr id="22" name="Picture 21" descr="April 2022: actual LA values fell; Claude's named and blind forecasts followed the drop, its masked forecast and ARIMAX kept rising" title="April 2022: actual LA values fell; Claude's named and blind forecasts followed the drop, its masked forecast and ARIMAX "/>
          <p:cNvPicPr>
            <a:picLocks noChangeAspect="1"/>
          </p:cNvPicPr>
          <p:nvPr/>
        </p:nvPicPr>
        <p:blipFill>
          <a:blip r:embed="rId2"/>
          <a:stretch>
            <a:fillRect/>
          </a:stretch>
        </p:blipFill>
        <p:spPr>
          <a:xfrm>
            <a:off x="4077069" y="1289304"/>
            <a:ext cx="4053101" cy="240029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4 · MORTGAGE RATES AND OUTLOOK</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Rates act slowly; we forecast +5% by Aug 2027</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8</a:t>
            </a:r>
          </a:p>
        </p:txBody>
      </p:sp>
      <p:sp>
        <p:nvSpPr>
          <p:cNvPr id="7" name="TextBox 6"/>
          <p:cNvSpPr txBox="1"/>
          <p:nvPr/>
        </p:nvSpPr>
        <p:spPr>
          <a:xfrm>
            <a:off x="457200" y="1261872"/>
            <a:ext cx="822960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LA HOUSING VALUE VS MORTGAGE RATES</a:t>
            </a:r>
          </a:p>
        </p:txBody>
      </p:sp>
      <p:pic>
        <p:nvPicPr>
          <p:cNvPr id="8" name="Picture 7" descr="Impulse response of LA home values to a 1-point mortgage rate rise over 36 months, with 90% band" title="Impulse response of LA home values to a 1-point mortgage rate rise over 36 months, with 90% band"/>
          <p:cNvPicPr>
            <a:picLocks noChangeAspect="1"/>
          </p:cNvPicPr>
          <p:nvPr/>
        </p:nvPicPr>
        <p:blipFill>
          <a:blip r:embed="rId2"/>
          <a:stretch>
            <a:fillRect/>
          </a:stretch>
        </p:blipFill>
        <p:spPr>
          <a:xfrm>
            <a:off x="1106683" y="1536192"/>
            <a:ext cx="4278872" cy="1300733"/>
          </a:xfrm>
          <a:prstGeom prst="rect">
            <a:avLst/>
          </a:prstGeom>
        </p:spPr>
      </p:pic>
      <p:sp>
        <p:nvSpPr>
          <p:cNvPr id="9" name="TextBox 8"/>
          <p:cNvSpPr txBox="1"/>
          <p:nvPr/>
        </p:nvSpPr>
        <p:spPr>
          <a:xfrm>
            <a:off x="6263640" y="1554480"/>
            <a:ext cx="2514600" cy="302768"/>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000" b="1" i="0">
                <a:solidFill>
                  <a:srgbClr val="B4400B"/>
                </a:solidFill>
                <a:latin typeface="Arial"/>
              </a:rPr>
              <a:t>−9.2%</a:t>
            </a:r>
          </a:p>
        </p:txBody>
      </p:sp>
      <p:sp>
        <p:nvSpPr>
          <p:cNvPr id="10" name="TextBox 9"/>
          <p:cNvSpPr txBox="1"/>
          <p:nvPr/>
        </p:nvSpPr>
        <p:spPr>
          <a:xfrm>
            <a:off x="6263640" y="1857248"/>
            <a:ext cx="2514600" cy="270256"/>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two years after a 1-point rate rise (−4.5% after one)</a:t>
            </a:r>
          </a:p>
        </p:txBody>
      </p:sp>
      <p:sp>
        <p:nvSpPr>
          <p:cNvPr id="11" name="TextBox 10"/>
          <p:cNvSpPr txBox="1"/>
          <p:nvPr/>
        </p:nvSpPr>
        <p:spPr>
          <a:xfrm>
            <a:off x="6263640" y="2182368"/>
            <a:ext cx="2514600" cy="302768"/>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000" b="1" i="0">
                <a:solidFill>
                  <a:srgbClr val="16213E"/>
                </a:solidFill>
                <a:latin typeface="Arial"/>
              </a:rPr>
              <a:t>p = 0.052</a:t>
            </a:r>
          </a:p>
        </p:txBody>
      </p:sp>
      <p:sp>
        <p:nvSpPr>
          <p:cNvPr id="12" name="TextBox 11"/>
          <p:cNvSpPr txBox="1"/>
          <p:nvPr/>
        </p:nvSpPr>
        <p:spPr>
          <a:xfrm>
            <a:off x="6263640" y="2485136"/>
            <a:ext cx="2514600" cy="270256"/>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rates lead prices (Granger, borderline). ARIMAX: rate p = 0.16, jobs p = 0.29</a:t>
            </a:r>
          </a:p>
        </p:txBody>
      </p:sp>
      <p:sp>
        <p:nvSpPr>
          <p:cNvPr id="13" name="Rectangle 12"/>
          <p:cNvSpPr/>
          <p:nvPr/>
        </p:nvSpPr>
        <p:spPr>
          <a:xfrm>
            <a:off x="457200" y="2873501"/>
            <a:ext cx="8229600" cy="10972"/>
          </a:xfrm>
          <a:prstGeom prst="rect">
            <a:avLst/>
          </a:prstGeom>
          <a:solidFill>
            <a:srgbClr val="6B6F76"/>
          </a:solidFill>
          <a:ln>
            <a:noFill/>
          </a:ln>
          <a:effectLst/>
        </p:spPr>
        <p:txBody>
          <a:bodyPr rtlCol="0" anchor="ctr"/>
          <a:lstStyle/>
          <a:p>
            <a:pPr algn="ctr"/>
          </a:p>
        </p:txBody>
      </p:sp>
      <p:sp>
        <p:nvSpPr>
          <p:cNvPr id="14" name="TextBox 13"/>
          <p:cNvSpPr txBox="1"/>
          <p:nvPr/>
        </p:nvSpPr>
        <p:spPr>
          <a:xfrm>
            <a:off x="457200" y="2928365"/>
            <a:ext cx="822960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OUR FORECAST: ABOUT 5% HIGHER BY AUGUST 2027, WITH A WIDE RANGE</a:t>
            </a:r>
          </a:p>
        </p:txBody>
      </p:sp>
      <p:pic>
        <p:nvPicPr>
          <p:cNvPr id="15" name="Picture 14" descr="LA metro forecast to August 2027: ARIMAX, ARIMA with 80% band, naive drift" title="LA metro forecast to August 2027: ARIMAX, ARIMA with 80% band, naive drift"/>
          <p:cNvPicPr>
            <a:picLocks noChangeAspect="1"/>
          </p:cNvPicPr>
          <p:nvPr/>
        </p:nvPicPr>
        <p:blipFill>
          <a:blip r:embed="rId3"/>
          <a:stretch>
            <a:fillRect/>
          </a:stretch>
        </p:blipFill>
        <p:spPr>
          <a:xfrm>
            <a:off x="1109393" y="3202685"/>
            <a:ext cx="4273453" cy="1300733"/>
          </a:xfrm>
          <a:prstGeom prst="rect">
            <a:avLst/>
          </a:prstGeom>
        </p:spPr>
      </p:pic>
      <p:sp>
        <p:nvSpPr>
          <p:cNvPr id="16" name="TextBox 15"/>
          <p:cNvSpPr txBox="1"/>
          <p:nvPr/>
        </p:nvSpPr>
        <p:spPr>
          <a:xfrm>
            <a:off x="6263640" y="3220973"/>
            <a:ext cx="2514600" cy="302768"/>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000" b="1" i="0">
                <a:solidFill>
                  <a:srgbClr val="1F6F8B"/>
                </a:solidFill>
                <a:latin typeface="Arial"/>
              </a:rPr>
              <a:t>$998K (+4.8%)</a:t>
            </a:r>
          </a:p>
        </p:txBody>
      </p:sp>
      <p:sp>
        <p:nvSpPr>
          <p:cNvPr id="17" name="TextBox 16"/>
          <p:cNvSpPr txBox="1"/>
          <p:nvPr/>
        </p:nvSpPr>
        <p:spPr>
          <a:xfrm>
            <a:off x="6263640" y="3523742"/>
            <a:ext cx="2514600" cy="13512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ARIMAX forecast, August 2027</a:t>
            </a:r>
          </a:p>
        </p:txBody>
      </p:sp>
      <p:sp>
        <p:nvSpPr>
          <p:cNvPr id="18" name="TextBox 17"/>
          <p:cNvSpPr txBox="1"/>
          <p:nvPr/>
        </p:nvSpPr>
        <p:spPr>
          <a:xfrm>
            <a:off x="6263640" y="3713734"/>
            <a:ext cx="2514600" cy="302768"/>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000" b="1" i="0">
                <a:solidFill>
                  <a:srgbClr val="16213E"/>
                </a:solidFill>
                <a:latin typeface="Arial"/>
              </a:rPr>
              <a:t>-6% to +17%</a:t>
            </a:r>
          </a:p>
        </p:txBody>
      </p:sp>
      <p:sp>
        <p:nvSpPr>
          <p:cNvPr id="19" name="TextBox 18"/>
          <p:cNvSpPr txBox="1"/>
          <p:nvPr/>
        </p:nvSpPr>
        <p:spPr>
          <a:xfrm>
            <a:off x="6263640" y="4016502"/>
            <a:ext cx="2514600" cy="13512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ARIMA 80% interval for Aug 2027, for context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NEIGHBORHOODS · LIVE MAP</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The metro average hides a split market, neighborhood by neighborhood</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9</a:t>
            </a:r>
          </a:p>
        </p:txBody>
      </p:sp>
      <p:pic>
        <p:nvPicPr>
          <p:cNvPr id="7" name="Picture 6" descr="Map of LA-metro neighborhoods colored by 12-month change in home value" title="Map of LA-metro neighborhoods colored by 12-month change in home value"/>
          <p:cNvPicPr>
            <a:picLocks noChangeAspect="1"/>
          </p:cNvPicPr>
          <p:nvPr/>
        </p:nvPicPr>
        <p:blipFill>
          <a:blip r:embed="rId2"/>
          <a:stretch>
            <a:fillRect/>
          </a:stretch>
        </p:blipFill>
        <p:spPr>
          <a:xfrm>
            <a:off x="1297760" y="1569720"/>
            <a:ext cx="3073758" cy="3025140"/>
          </a:xfrm>
          <a:prstGeom prst="rect">
            <a:avLst/>
          </a:prstGeom>
        </p:spPr>
      </p:pic>
      <p:sp>
        <p:nvSpPr>
          <p:cNvPr id="8" name="TextBox 7"/>
          <p:cNvSpPr txBox="1"/>
          <p:nvPr/>
        </p:nvSpPr>
        <p:spPr>
          <a:xfrm>
            <a:off x="5669280" y="1661160"/>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220 / 216 / 60</a:t>
            </a:r>
          </a:p>
        </p:txBody>
      </p:sp>
      <p:sp>
        <p:nvSpPr>
          <p:cNvPr id="9" name="TextBox 8"/>
          <p:cNvSpPr txBox="1"/>
          <p:nvPr/>
        </p:nvSpPr>
        <p:spPr>
          <a:xfrm>
            <a:off x="5669280" y="2067560"/>
            <a:ext cx="310896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neighborhoods rising &gt;2% / within ±2% / falling &gt;2%, last 12 months (496 with recent data)</a:t>
            </a:r>
          </a:p>
        </p:txBody>
      </p:sp>
      <p:sp>
        <p:nvSpPr>
          <p:cNvPr id="10" name="TextBox 9"/>
          <p:cNvSpPr txBox="1"/>
          <p:nvPr/>
        </p:nvSpPr>
        <p:spPr>
          <a:xfrm>
            <a:off x="5669280" y="2530856"/>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152 of 496</a:t>
            </a:r>
          </a:p>
        </p:txBody>
      </p:sp>
      <p:sp>
        <p:nvSpPr>
          <p:cNvPr id="11" name="TextBox 10"/>
          <p:cNvSpPr txBox="1"/>
          <p:nvPr/>
        </p:nvSpPr>
        <p:spPr>
          <a:xfrm>
            <a:off x="5669280" y="2937256"/>
            <a:ext cx="310896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still below their 2022 peak, mostly in LA County</a:t>
            </a:r>
          </a:p>
        </p:txBody>
      </p:sp>
      <p:sp>
        <p:nvSpPr>
          <p:cNvPr id="12" name="TextBox 11"/>
          <p:cNvSpPr txBox="1"/>
          <p:nvPr/>
        </p:nvSpPr>
        <p:spPr>
          <a:xfrm>
            <a:off x="5669280" y="3251200"/>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−1.2 pts</a:t>
            </a:r>
          </a:p>
        </p:txBody>
      </p:sp>
      <p:sp>
        <p:nvSpPr>
          <p:cNvPr id="13" name="TextBox 12"/>
          <p:cNvSpPr txBox="1"/>
          <p:nvPr/>
        </p:nvSpPr>
        <p:spPr>
          <a:xfrm>
            <a:off x="5669280" y="3657600"/>
            <a:ext cx="310896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deeper 2022 drop per doubling of price in LA County (reverses in Orange County)</a:t>
            </a:r>
          </a:p>
        </p:txBody>
      </p:sp>
      <p:sp>
        <p:nvSpPr>
          <p:cNvPr id="14" name="TextBox 13"/>
          <p:cNvSpPr txBox="1"/>
          <p:nvPr/>
        </p:nvSpPr>
        <p:spPr>
          <a:xfrm>
            <a:off x="5669280" y="4139184"/>
            <a:ext cx="3108960" cy="45720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hlinkClick r:id="rId3"/>
              </a:rPr>
              <a:t>Live map: neiltd.github.io/la-housing-forecast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TAKEAWAYS</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What we learned, and what we would do next</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10</a:t>
            </a:r>
          </a:p>
        </p:txBody>
      </p:sp>
      <p:sp>
        <p:nvSpPr>
          <p:cNvPr id="7" name="Rounded Rectangle 6"/>
          <p:cNvSpPr/>
          <p:nvPr/>
        </p:nvSpPr>
        <p:spPr>
          <a:xfrm>
            <a:off x="457200" y="3826763"/>
            <a:ext cx="8229600" cy="722376"/>
          </a:xfrm>
          <a:prstGeom prst="roundRect">
            <a:avLst>
              <a:gd name="adj" fmla="val 8000"/>
            </a:avLst>
          </a:prstGeom>
          <a:solidFill>
            <a:srgbClr val="E8EFF1"/>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1F6F8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1F6F8B"/>
                </a:solidFill>
                <a:latin typeface="Arial"/>
              </a:rPr>
              <a:t>NEXT STEPS  </a:t>
            </a:r>
            <a:r>
              <a:rPr sz="1250" b="0" i="0">
                <a:solidFill>
                  <a:srgbClr val="16213E"/>
                </a:solidFill>
                <a:latin typeface="Arial"/>
              </a:rPr>
              <a:t>Test more cities; score the AI live on months after its training cutoff; feed AI altered histories to check whether it forecasts the data or recalls the past.</a:t>
            </a:r>
          </a:p>
        </p:txBody>
      </p:sp>
      <p:sp>
        <p:nvSpPr>
          <p:cNvPr id="10" name="Rounded Rectangle 9"/>
          <p:cNvSpPr/>
          <p:nvPr/>
        </p:nvSpPr>
        <p:spPr>
          <a:xfrm>
            <a:off x="502920" y="1261872"/>
            <a:ext cx="384048" cy="384048"/>
          </a:xfrm>
          <a:prstGeom prst="roundRect">
            <a:avLst>
              <a:gd name="adj" fmla="val 50000"/>
            </a:avLst>
          </a:prstGeom>
          <a:solidFill>
            <a:srgbClr val="1F6F8B"/>
          </a:solidFill>
          <a:ln>
            <a:noFill/>
          </a:ln>
          <a:effectLst/>
        </p:spPr>
        <p:txBody>
          <a:bodyPr rtlCol="0" anchor="ctr"/>
          <a:lstStyle/>
          <a:p>
            <a:pPr algn="ctr"/>
          </a:p>
        </p:txBody>
      </p:sp>
      <p:sp>
        <p:nvSpPr>
          <p:cNvPr id="11" name="TextBox 10"/>
          <p:cNvSpPr txBox="1"/>
          <p:nvPr/>
        </p:nvSpPr>
        <p:spPr>
          <a:xfrm>
            <a:off x="502920" y="1261872"/>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01</a:t>
            </a:r>
          </a:p>
        </p:txBody>
      </p:sp>
      <p:sp>
        <p:nvSpPr>
          <p:cNvPr id="12" name="TextBox 11"/>
          <p:cNvSpPr txBox="1"/>
          <p:nvPr/>
        </p:nvSpPr>
        <p:spPr>
          <a:xfrm>
            <a:off x="1051560" y="1243584"/>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Simple beats complex, if you test fairly</a:t>
            </a:r>
          </a:p>
        </p:txBody>
      </p:sp>
      <p:sp>
        <p:nvSpPr>
          <p:cNvPr id="13" name="TextBox 12"/>
          <p:cNvSpPr txBox="1"/>
          <p:nvPr/>
        </p:nvSpPr>
        <p:spPr>
          <a:xfrm>
            <a:off x="1051560" y="1536192"/>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ARIMA models beat ML and Chronos; one blind window would have crowned LightGBM (10th overall).</a:t>
            </a:r>
          </a:p>
        </p:txBody>
      </p:sp>
      <p:sp>
        <p:nvSpPr>
          <p:cNvPr id="14" name="Rounded Rectangle 13"/>
          <p:cNvSpPr/>
          <p:nvPr/>
        </p:nvSpPr>
        <p:spPr>
          <a:xfrm>
            <a:off x="502920" y="1911095"/>
            <a:ext cx="384048" cy="384048"/>
          </a:xfrm>
          <a:prstGeom prst="roundRect">
            <a:avLst>
              <a:gd name="adj" fmla="val 50000"/>
            </a:avLst>
          </a:prstGeom>
          <a:solidFill>
            <a:srgbClr val="1F6F8B"/>
          </a:solidFill>
          <a:ln>
            <a:noFill/>
          </a:ln>
          <a:effectLst/>
        </p:spPr>
        <p:txBody>
          <a:bodyPr rtlCol="0" anchor="ctr"/>
          <a:lstStyle/>
          <a:p>
            <a:pPr algn="ctr"/>
          </a:p>
        </p:txBody>
      </p:sp>
      <p:sp>
        <p:nvSpPr>
          <p:cNvPr id="15" name="TextBox 14"/>
          <p:cNvSpPr txBox="1"/>
          <p:nvPr/>
        </p:nvSpPr>
        <p:spPr>
          <a:xfrm>
            <a:off x="502920" y="1911095"/>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02</a:t>
            </a:r>
          </a:p>
        </p:txBody>
      </p:sp>
      <p:sp>
        <p:nvSpPr>
          <p:cNvPr id="16" name="TextBox 15"/>
          <p:cNvSpPr txBox="1"/>
          <p:nvPr/>
        </p:nvSpPr>
        <p:spPr>
          <a:xfrm>
            <a:off x="1051560" y="1892807"/>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AI is an alternative only if you test it fairly</a:t>
            </a:r>
          </a:p>
        </p:txBody>
      </p:sp>
      <p:sp>
        <p:nvSpPr>
          <p:cNvPr id="17" name="TextBox 16"/>
          <p:cNvSpPr txBox="1"/>
          <p:nvPr/>
        </p:nvSpPr>
        <p:spPr>
          <a:xfrm>
            <a:off x="1051560" y="2185415"/>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Chatbots beat every model until we hid the place, dates and rate; then no clear edge over ARIMAX.</a:t>
            </a:r>
          </a:p>
        </p:txBody>
      </p:sp>
      <p:sp>
        <p:nvSpPr>
          <p:cNvPr id="18" name="Rounded Rectangle 17"/>
          <p:cNvSpPr/>
          <p:nvPr/>
        </p:nvSpPr>
        <p:spPr>
          <a:xfrm>
            <a:off x="502920" y="2560320"/>
            <a:ext cx="384048" cy="384048"/>
          </a:xfrm>
          <a:prstGeom prst="roundRect">
            <a:avLst>
              <a:gd name="adj" fmla="val 50000"/>
            </a:avLst>
          </a:prstGeom>
          <a:solidFill>
            <a:srgbClr val="1F6F8B"/>
          </a:solidFill>
          <a:ln>
            <a:noFill/>
          </a:ln>
          <a:effectLst/>
        </p:spPr>
        <p:txBody>
          <a:bodyPr rtlCol="0" anchor="ctr"/>
          <a:lstStyle/>
          <a:p>
            <a:pPr algn="ctr"/>
          </a:p>
        </p:txBody>
      </p:sp>
      <p:sp>
        <p:nvSpPr>
          <p:cNvPr id="19" name="TextBox 18"/>
          <p:cNvSpPr txBox="1"/>
          <p:nvPr/>
        </p:nvSpPr>
        <p:spPr>
          <a:xfrm>
            <a:off x="502920" y="2560320"/>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03</a:t>
            </a:r>
          </a:p>
        </p:txBody>
      </p:sp>
      <p:sp>
        <p:nvSpPr>
          <p:cNvPr id="20" name="TextBox 19"/>
          <p:cNvSpPr txBox="1"/>
          <p:nvPr/>
        </p:nvSpPr>
        <p:spPr>
          <a:xfrm>
            <a:off x="1051560" y="2542032"/>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Mortgage rates matter, slowly; jobs didn't improve our model</a:t>
            </a:r>
          </a:p>
        </p:txBody>
      </p:sp>
      <p:sp>
        <p:nvSpPr>
          <p:cNvPr id="21" name="TextBox 20"/>
          <p:cNvSpPr txBox="1"/>
          <p:nvPr/>
        </p:nvSpPr>
        <p:spPr>
          <a:xfrm>
            <a:off x="1051560" y="2834639"/>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A 1-point rise lowers values about 9% over two years. Turning points stay hard to call.</a:t>
            </a:r>
          </a:p>
        </p:txBody>
      </p:sp>
      <p:sp>
        <p:nvSpPr>
          <p:cNvPr id="22" name="Rounded Rectangle 21"/>
          <p:cNvSpPr/>
          <p:nvPr/>
        </p:nvSpPr>
        <p:spPr>
          <a:xfrm>
            <a:off x="502920" y="3209544"/>
            <a:ext cx="384048" cy="384048"/>
          </a:xfrm>
          <a:prstGeom prst="roundRect">
            <a:avLst>
              <a:gd name="adj" fmla="val 50000"/>
            </a:avLst>
          </a:prstGeom>
          <a:solidFill>
            <a:srgbClr val="1F6F8B"/>
          </a:solidFill>
          <a:ln>
            <a:noFill/>
          </a:ln>
          <a:effectLst/>
        </p:spPr>
        <p:txBody>
          <a:bodyPr rtlCol="0" anchor="ctr"/>
          <a:lstStyle/>
          <a:p>
            <a:pPr algn="ctr"/>
          </a:p>
        </p:txBody>
      </p:sp>
      <p:sp>
        <p:nvSpPr>
          <p:cNvPr id="23" name="TextBox 22"/>
          <p:cNvSpPr txBox="1"/>
          <p:nvPr/>
        </p:nvSpPr>
        <p:spPr>
          <a:xfrm>
            <a:off x="502920" y="3209544"/>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04</a:t>
            </a:r>
          </a:p>
        </p:txBody>
      </p:sp>
      <p:sp>
        <p:nvSpPr>
          <p:cNvPr id="24" name="TextBox 23"/>
          <p:cNvSpPr txBox="1"/>
          <p:nvPr/>
        </p:nvSpPr>
        <p:spPr>
          <a:xfrm>
            <a:off x="1051560" y="3191256"/>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The metro average hides a split market</a:t>
            </a:r>
          </a:p>
        </p:txBody>
      </p:sp>
      <p:sp>
        <p:nvSpPr>
          <p:cNvPr id="25" name="TextBox 24"/>
          <p:cNvSpPr txBox="1"/>
          <p:nvPr/>
        </p:nvSpPr>
        <p:spPr>
          <a:xfrm>
            <a:off x="1051560" y="3483863"/>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Separate models per neighborhood beat one shared factor (2.8% vs 4.1% error).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
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1F6F8B"/>
              </a:solidFill>
            </c:spPr>
          </c:dPt>
          <c:cat>
            <c:strRef>
              <c:f>Sheet1!$A$2:$A$12</c:f>
              <c:strCache>
                <c:ptCount val="11"/>
                <c:pt idx="0">
                  <c:v>Prophet</c:v>
                </c:pt>
                <c:pt idx="1">
                  <c:v>XGBoost</c:v>
                </c:pt>
                <c:pt idx="2">
                  <c:v>Factor VAR (neighborhoods)</c:v>
                </c:pt>
                <c:pt idx="3">
                  <c:v>LightGBM</c:v>
                </c:pt>
                <c:pt idx="4">
                  <c:v>Holt (damped)</c:v>
                </c:pt>
                <c:pt idx="5">
                  <c:v>Naive drift</c:v>
                </c:pt>
                <c:pt idx="6">
                  <c:v>GRU</c:v>
                </c:pt>
                <c:pt idx="7">
                  <c:v>LSTM</c:v>
                </c:pt>
                <c:pt idx="8">
                  <c:v>VAR (growth + rate)</c:v>
                </c:pt>
                <c:pt idx="9">
                  <c:v>ARIMA</c:v>
                </c:pt>
                <c:pt idx="10">
                  <c:v>ARIMAX</c:v>
                </c:pt>
              </c:strCache>
            </c:strRef>
          </c:cat>
          <c:val>
            <c:numRef>
              <c:f>Sheet1!$B$2:$B$12</c:f>
              <c:numCache>
                <c:formatCode>General</c:formatCode>
                <c:ptCount val="11"/>
                <c:pt idx="0">
                  <c:v>6.89</c:v>
                </c:pt>
                <c:pt idx="1">
                  <c:v>3.65</c:v>
                </c:pt>
                <c:pt idx="2">
                  <c:v>3.64</c:v>
                </c:pt>
                <c:pt idx="3">
                  <c:v>3.6</c:v>
                </c:pt>
                <c:pt idx="4">
                  <c:v>3.39</c:v>
                </c:pt>
                <c:pt idx="5">
                  <c:v>3.27</c:v>
                </c:pt>
                <c:pt idx="6">
                  <c:v>3.18</c:v>
                </c:pt>
                <c:pt idx="7">
                  <c:v>3.02</c:v>
                </c:pt>
                <c:pt idx="8">
                  <c:v>2.93</c:v>
                </c:pt>
                <c:pt idx="9">
                  <c:v>2.77</c:v>
                </c:pt>
                <c:pt idx="10">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ARIMAX</c:v>
                </c:pt>
              </c:strCache>
            </c:strRef>
          </c:tx>
          <c:spPr>
            <a:ln w="31750">
              <a:solidFill>
                <a:srgbClr val="1F6F8B"/>
              </a:solidFill>
            </a:ln>
          </c:spPr>
          <c:marker>
            <c:spPr>
              <a:solidFill>
                <a:srgbClr val="1F6F8B"/>
              </a:solidFill>
              <a:ln>
                <a:solidFill>
                  <a:srgbClr val="1F6F8B"/>
                </a:solidFill>
              </a:ln>
            </c:spPr>
          </c:marker>
          <c:cat>
            <c:strRef>
              <c:f>Sheet1!$A$2:$A$5</c:f>
              <c:strCache>
                <c:ptCount val="4"/>
                <c:pt idx="0">
                  <c:v>1 month</c:v>
                </c:pt>
                <c:pt idx="1">
                  <c:v>3 months</c:v>
                </c:pt>
                <c:pt idx="2">
                  <c:v>6 months</c:v>
                </c:pt>
                <c:pt idx="3">
                  <c:v>12 months</c:v>
                </c:pt>
              </c:strCache>
            </c:strRef>
          </c:cat>
          <c:val>
            <c:numRef>
              <c:f>Sheet1!$B$2:$B$5</c:f>
              <c:numCache>
                <c:formatCode>General</c:formatCode>
                <c:ptCount val="4"/>
                <c:pt idx="0">
                  <c:v>0.09</c:v>
                </c:pt>
                <c:pt idx="1">
                  <c:v>0.8</c:v>
                </c:pt>
                <c:pt idx="2">
                  <c:v>2.45</c:v>
                </c:pt>
                <c:pt idx="3">
                  <c:v>4.98</c:v>
                </c:pt>
              </c:numCache>
            </c:numRef>
          </c:val>
          <c:smooth val="0"/>
        </c:ser>
        <c:ser>
          <c:idx val="1"/>
          <c:order val="1"/>
          <c:tx>
            <c:strRef>
              <c:f>Sheet1!$C$1</c:f>
              <c:strCache>
                <c:ptCount val="1"/>
                <c:pt idx="0">
                  <c:v>ARIMA</c:v>
                </c:pt>
              </c:strCache>
            </c:strRef>
          </c:tx>
          <c:spPr>
            <a:ln w="31750">
              <a:solidFill>
                <a:srgbClr val="009FBD"/>
              </a:solidFill>
            </a:ln>
          </c:spPr>
          <c:marker>
            <c:spPr>
              <a:solidFill>
                <a:srgbClr val="009FBD"/>
              </a:solidFill>
              <a:ln>
                <a:solidFill>
                  <a:srgbClr val="009FBD"/>
                </a:solidFill>
              </a:ln>
            </c:spPr>
          </c:marker>
          <c:cat>
            <c:strRef>
              <c:f>Sheet1!$A$2:$A$5</c:f>
              <c:strCache>
                <c:ptCount val="4"/>
                <c:pt idx="0">
                  <c:v>1 month</c:v>
                </c:pt>
                <c:pt idx="1">
                  <c:v>3 months</c:v>
                </c:pt>
                <c:pt idx="2">
                  <c:v>6 months</c:v>
                </c:pt>
                <c:pt idx="3">
                  <c:v>12 months</c:v>
                </c:pt>
              </c:strCache>
            </c:strRef>
          </c:cat>
          <c:val>
            <c:numRef>
              <c:f>Sheet1!$C$2:$C$5</c:f>
              <c:numCache>
                <c:formatCode>General</c:formatCode>
                <c:ptCount val="4"/>
                <c:pt idx="0">
                  <c:v>0.09</c:v>
                </c:pt>
                <c:pt idx="1">
                  <c:v>0.78</c:v>
                </c:pt>
                <c:pt idx="2">
                  <c:v>2.53</c:v>
                </c:pt>
                <c:pt idx="3">
                  <c:v>5.36</c:v>
                </c:pt>
              </c:numCache>
            </c:numRef>
          </c:val>
          <c:smooth val="0"/>
        </c:ser>
        <c:ser>
          <c:idx val="2"/>
          <c:order val="2"/>
          <c:tx>
            <c:strRef>
              <c:f>Sheet1!$D$1</c:f>
              <c:strCache>
                <c:ptCount val="1"/>
                <c:pt idx="0">
                  <c:v>Naive drift</c:v>
                </c:pt>
              </c:strCache>
            </c:strRef>
          </c:tx>
          <c:spPr>
            <a:ln w="31750">
              <a:solidFill>
                <a:srgbClr val="C0965C"/>
              </a:solidFill>
            </a:ln>
          </c:spPr>
          <c:marker>
            <c:spPr>
              <a:solidFill>
                <a:srgbClr val="C0965C"/>
              </a:solidFill>
              <a:ln>
                <a:solidFill>
                  <a:srgbClr val="C0965C"/>
                </a:solidFill>
              </a:ln>
            </c:spPr>
          </c:marker>
          <c:cat>
            <c:strRef>
              <c:f>Sheet1!$A$2:$A$5</c:f>
              <c:strCache>
                <c:ptCount val="4"/>
                <c:pt idx="0">
                  <c:v>1 month</c:v>
                </c:pt>
                <c:pt idx="1">
                  <c:v>3 months</c:v>
                </c:pt>
                <c:pt idx="2">
                  <c:v>6 months</c:v>
                </c:pt>
                <c:pt idx="3">
                  <c:v>12 months</c:v>
                </c:pt>
              </c:strCache>
            </c:strRef>
          </c:cat>
          <c:val>
            <c:numRef>
              <c:f>Sheet1!$D$2:$D$5</c:f>
              <c:numCache>
                <c:formatCode>General</c:formatCode>
                <c:ptCount val="4"/>
                <c:pt idx="0">
                  <c:v>0.69</c:v>
                </c:pt>
                <c:pt idx="1">
                  <c:v>1.93</c:v>
                </c:pt>
                <c:pt idx="2">
                  <c:v>3.48</c:v>
                </c:pt>
                <c:pt idx="3">
                  <c:v>4.92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40495176"/>
        <c:crosses val="autoZero"/>
        <c:auto val="1"/>
        <c:lblAlgn val="ctr"/>
        <c:lblOffset val="100"/>
        <c:noMultiLvlLbl val="0"/>
      </c:catAx>
      <c:valAx>
        <c:axId val="2140495176"/>
        <c:scaling/>
        <c:delete val="0"/>
        <c:axPos val="l"/>
        <c:majorGridlines>
          <c:spPr>
            <a:ln w="6350">
              <a:solidFill>
                <a:srgbClr val="E7E9F0"/>
              </a:solidFill>
            </a:ln>
          </c:spPr>
        </c:majorGridlines>
        <c:numFmt formatCode="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8791784"/>
        <c:crosses val="autoZero"/>
      </c:valAx>
    </c:plotArea>
    <c:legend>
      <c:legendPos val="t"/>
      <c:layout/>
      <c:overlay val="0"/>
      <c:txPr>
        <a:bodyPr/>
        <a:lstStyle/>
        <a:p>
          <a:pPr>
            <a:defRPr>
              <a:solidFill>
                <a:srgbClr val="222A37"/>
              </a:solidFill>
              <a:latin typeface="Arial"/>
              <a:ea typeface="Arial"/>
            </a:defRPr>
          </a:pPr>
        </a:p>
      </c:txPr>
    </c:legend>
    <c:plotVisOnly val="1"/>
    <c:dispBlanksAs val="gap"/>
    <c:showDLblsOverMax val="0"/>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So we asked two questions. Which forecasting method predicts LA home values best? And do mortgage rates help the forecast? We also went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Three data sources: the Zillow index for the metro, 499 neighborhoods from Zillow's neighborhood file, and the 30-year mortgage rate from FRED. We compared eleven models in four families, from a naive drift baseline to LSTM and GRU networks, plus three models that use outside information. And we scored them two ways. A blind 80/20 split, like most projects use, and a rolling-origin test where we refit every three months and forecast twelve months ahead, eighteen times. One warning: Zillow smooths this index, so next month is almost the same as this month and every decent model is about 0.1 percent off one month ahead. That tells us nothing, so we judge models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The neural networks landed in the middle, the tree models near the bottom, and Prophet last at almost 7 percent, mostly because it fits a smooth trend and does not start from the latest value.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eighth.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mortgage rates help? A little, and slowly. In the training data, a rise in rates shows up in LA home values about two years later, so our ARIMAX uses the rate change lagged 24 months. The coefficient has the right sign but a p-value of 0.16, so it is weak evidence. The chart shows where it helps: ARIMAX and ARIMA are tied at short horizons, and ARIMAX pulls ahead at 12 months, 4.98 versus 5.37 percent. But the honest finding is that a naive drift, just extending LA's long-run growth, is as good as anything we built a year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Each dot is a neighborhood. Across the bottom is its home value before the shock, and up the side is how far it fell from the 2022 peak to the 2023 low. In LA County the expensive neighborhoods fell the most, which makes sense: a buyer of a two-million-dollar home feels a jump from 3 to 7 percent much more in dollars. Orange County, in orange, held up better. Four years later many neighborhoods are still below their 2022 peak, mostly in LA County.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neighborhoods are going up and down right now? Over the last twelve months, 220 LA-metro neighborhoods rose more than 2 percent, 216 were flat, and 60 fell more than 2 percent. Blue on the map is rising and red is falling. The pattern is a reversal of 2023: the coastal, high-end areas that fell hardest are now leading. The weakest areas are central LA, places like MacArthur Park, Koreatown, Downtown and Westlake. Pacific Palisades also fell, but that reflects the January 2025 fire rather than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happens next? Our best model forecasts the typical LA home at about 998 thousand dollars in August 2027, up 4.8 percent. ARIMA and naive drift agree closely. The honest headline is the range: the 80 percent interval runs from a 6 percent fall to a 17 percent rise. Neighborhood forecasts are a bit stronger in Orange County than in LA County. Because rates act with a two-year lag, today's rates mostly affect 2028, not this forecast.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First, for a smooth monthly housing index, simple models beat complex ones. Second, how you test decides who wins: one blind window would have picked the wrong model. Third, mortgage rates matter, but slowly, with about a two-year lag and a modest gain. And fourth, the metro average hides a split market. One common factor drives most of the movement across neighborhoods, but each neighborhood's own trend is what you need to forecast it. If you are buying or lending in LA, look at the neighborhood, not the metro number.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Mortgage rates more than doubled after 2021. Did LA home values get harder to predict?</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11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52069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9138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9687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30-year mortgage rate</a:t>
            </a:r>
          </a:p>
        </p:txBody>
      </p:sp>
      <p:sp>
        <p:nvSpPr>
          <p:cNvPr id="17" name="TextBox 16"/>
          <p:cNvSpPr txBox="1"/>
          <p:nvPr/>
        </p:nvSpPr>
        <p:spPr>
          <a:xfrm>
            <a:off x="365760" y="31394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monthly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11 MODELS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Baselines</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a:t>
            </a:r>
          </a:p>
        </p:txBody>
      </p:sp>
      <p:sp>
        <p:nvSpPr>
          <p:cNvPr id="22" name="TextBox 21"/>
          <p:cNvSpPr txBox="1"/>
          <p:nvPr/>
        </p:nvSpPr>
        <p:spPr>
          <a:xfrm>
            <a:off x="3291839" y="252069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Classical</a:t>
            </a:r>
          </a:p>
        </p:txBody>
      </p:sp>
      <p:sp>
        <p:nvSpPr>
          <p:cNvPr id="23" name="TextBox 22"/>
          <p:cNvSpPr txBox="1"/>
          <p:nvPr/>
        </p:nvSpPr>
        <p:spPr>
          <a:xfrm>
            <a:off x="3291839" y="269138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 · Holt · Prophet</a:t>
            </a:r>
          </a:p>
        </p:txBody>
      </p:sp>
      <p:sp>
        <p:nvSpPr>
          <p:cNvPr id="24" name="TextBox 23"/>
          <p:cNvSpPr txBox="1"/>
          <p:nvPr/>
        </p:nvSpPr>
        <p:spPr>
          <a:xfrm>
            <a:off x="3291839" y="296875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Machine / deep learning</a:t>
            </a:r>
          </a:p>
        </p:txBody>
      </p:sp>
      <p:sp>
        <p:nvSpPr>
          <p:cNvPr id="25" name="TextBox 24"/>
          <p:cNvSpPr txBox="1"/>
          <p:nvPr/>
        </p:nvSpPr>
        <p:spPr>
          <a:xfrm>
            <a:off x="3291839" y="313944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a:t>
            </a:r>
          </a:p>
        </p:txBody>
      </p:sp>
      <p:sp>
        <p:nvSpPr>
          <p:cNvPr id="26" name="TextBox 25"/>
          <p:cNvSpPr txBox="1"/>
          <p:nvPr/>
        </p:nvSpPr>
        <p:spPr>
          <a:xfrm>
            <a:off x="3291839" y="341680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7" name="TextBox 26"/>
          <p:cNvSpPr txBox="1"/>
          <p:nvPr/>
        </p:nvSpPr>
        <p:spPr>
          <a:xfrm>
            <a:off x="3291839" y="358749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(rates) · VAR · factor VAR</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7004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840736"/>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024127"/>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TEST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eighth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855016" y="1542288"/>
            <a:ext cx="4599327"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8th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8th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MORTGAGE RATES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Mortgage rates help at 12 months, but nothing beats naive drift a year out</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RATES WORK SLOWLY</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24 months</a:t>
            </a:r>
          </a:p>
        </p:txBody>
      </p:sp>
      <p:sp>
        <p:nvSpPr>
          <p:cNvPr id="10" name="TextBox 9"/>
          <p:cNvSpPr txBox="1"/>
          <p:nvPr/>
        </p:nvSpPr>
        <p:spPr>
          <a:xfrm>
            <a:off x="6126480" y="2849880"/>
            <a:ext cx="260604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Rate rises hit LA values about two years later (coefficient -0.063, p = 0.16: real but weak). At 12 months ARIMAX is 4.98% off vs 5.37% for ARIMA, but naive drift scores 4.92%.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2022 SHOCK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LA County, pricier neighborhoods fell hardest after rates jumped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pic>
        <p:nvPicPr>
          <p:cNvPr id="7" name="Picture 6" descr="Scatter of neighborhood drop after 2022 against home value, LA and Orange County" title="Scatter of neighborhood drop after 2022 against home value, LA and Orange County"/>
          <p:cNvPicPr>
            <a:picLocks noChangeAspect="1"/>
          </p:cNvPicPr>
          <p:nvPr/>
        </p:nvPicPr>
        <p:blipFill>
          <a:blip r:embed="rId2"/>
          <a:stretch>
            <a:fillRect/>
          </a:stretch>
        </p:blipFill>
        <p:spPr>
          <a:xfrm>
            <a:off x="411480" y="1702384"/>
            <a:ext cx="5486400" cy="2714090"/>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STILL BELOW 2022 PEAK</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152 of 496</a:t>
            </a:r>
          </a:p>
        </p:txBody>
      </p:sp>
      <p:sp>
        <p:nvSpPr>
          <p:cNvPr id="10" name="TextBox 9"/>
          <p:cNvSpPr txBox="1"/>
          <p:nvPr/>
        </p:nvSpPr>
        <p:spPr>
          <a:xfrm>
            <a:off x="6172200" y="2849880"/>
            <a:ext cx="2560320" cy="1024127"/>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neighborhoods are still below their 2022 peak. Median today vs that peak: LA County +1.2%, Orange County +15.3%.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LAST 12 MONTHS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Right now coastal neighborhoods are rising while central LA falls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024569" y="1569720"/>
            <a:ext cx="2797180" cy="3025140"/>
          </a:xfrm>
          <a:prstGeom prst="rect">
            <a:avLst/>
          </a:prstGeom>
        </p:spPr>
      </p:pic>
      <p:pic>
        <p:nvPicPr>
          <p:cNvPr id="8" name="Picture 7" descr="Ten fastest-rising and ten fastest-falling neighborhoods, Aug 2025 to Aug 2026" title="Ten fastest-rising and ten fastest-falling neighborhoods, Aug 2025 to Aug 2026"/>
          <p:cNvPicPr>
            <a:picLocks noChangeAspect="1"/>
          </p:cNvPicPr>
          <p:nvPr/>
        </p:nvPicPr>
        <p:blipFill>
          <a:blip r:embed="rId3"/>
          <a:stretch>
            <a:fillRect/>
          </a:stretch>
        </p:blipFill>
        <p:spPr>
          <a:xfrm>
            <a:off x="4572000" y="1630629"/>
            <a:ext cx="4206240" cy="29033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OUTLOOK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forecast: about 5% higher by August 2027, with a wide range</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LA metro forecast to August 2027: ARIMAX, ARIMA with 80% band, naive drift" title="LA metro forecast to August 2027: ARIMAX, ARIMA with 80% band, naive drift"/>
          <p:cNvPicPr>
            <a:picLocks noChangeAspect="1"/>
          </p:cNvPicPr>
          <p:nvPr/>
        </p:nvPicPr>
        <p:blipFill>
          <a:blip r:embed="rId2"/>
          <a:stretch>
            <a:fillRect/>
          </a:stretch>
        </p:blipFill>
        <p:spPr>
          <a:xfrm>
            <a:off x="411480" y="1811385"/>
            <a:ext cx="5486400" cy="2496089"/>
          </a:xfrm>
          <a:prstGeom prst="rect">
            <a:avLst/>
          </a:prstGeom>
        </p:spPr>
      </p:pic>
      <p:sp>
        <p:nvSpPr>
          <p:cNvPr id="8" name="TextBox 7"/>
          <p:cNvSpPr txBox="1"/>
          <p:nvPr/>
        </p:nvSpPr>
        <p:spPr>
          <a:xfrm>
            <a:off x="6172200" y="1661160"/>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$998,391</a:t>
            </a:r>
          </a:p>
        </p:txBody>
      </p:sp>
      <p:sp>
        <p:nvSpPr>
          <p:cNvPr id="9" name="TextBox 8"/>
          <p:cNvSpPr txBox="1"/>
          <p:nvPr/>
        </p:nvSpPr>
        <p:spPr>
          <a:xfrm>
            <a:off x="6172200" y="2067560"/>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 2027 (+4.8%)</a:t>
            </a:r>
          </a:p>
        </p:txBody>
      </p:sp>
      <p:sp>
        <p:nvSpPr>
          <p:cNvPr id="10" name="TextBox 9"/>
          <p:cNvSpPr txBox="1"/>
          <p:nvPr/>
        </p:nvSpPr>
        <p:spPr>
          <a:xfrm>
            <a:off x="6172200" y="2399792"/>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1" name="TextBox 10"/>
          <p:cNvSpPr txBox="1"/>
          <p:nvPr/>
        </p:nvSpPr>
        <p:spPr>
          <a:xfrm>
            <a:off x="6172200" y="2806192"/>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
        <p:nvSpPr>
          <p:cNvPr id="12" name="TextBox 11"/>
          <p:cNvSpPr txBox="1"/>
          <p:nvPr/>
        </p:nvSpPr>
        <p:spPr>
          <a:xfrm>
            <a:off x="6172200" y="3138424"/>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+4.8% / +6.5%</a:t>
            </a:r>
          </a:p>
        </p:txBody>
      </p:sp>
      <p:sp>
        <p:nvSpPr>
          <p:cNvPr id="13" name="TextBox 12"/>
          <p:cNvSpPr txBox="1"/>
          <p:nvPr/>
        </p:nvSpPr>
        <p:spPr>
          <a:xfrm>
            <a:off x="6172200" y="3544824"/>
            <a:ext cx="256032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median neighborhood forecast, LA County / Orange County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502920" y="1380744"/>
            <a:ext cx="384048" cy="384048"/>
          </a:xfrm>
          <a:prstGeom prst="roundRect">
            <a:avLst>
              <a:gd name="adj" fmla="val 50000"/>
            </a:avLst>
          </a:prstGeom>
          <a:solidFill>
            <a:srgbClr val="1F6F8B"/>
          </a:solidFill>
          <a:ln>
            <a:noFill/>
          </a:ln>
          <a:effectLst/>
        </p:spPr>
        <p:txBody>
          <a:bodyPr rtlCol="0" anchor="ctr"/>
          <a:lstStyle/>
          <a:p>
            <a:pPr algn="ctr"/>
          </a:p>
        </p:txBody>
      </p:sp>
      <p:sp>
        <p:nvSpPr>
          <p:cNvPr id="8" name="TextBox 7"/>
          <p:cNvSpPr txBox="1"/>
          <p:nvPr/>
        </p:nvSpPr>
        <p:spPr>
          <a:xfrm>
            <a:off x="502920" y="13807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9" name="TextBox 8"/>
          <p:cNvSpPr txBox="1"/>
          <p:nvPr/>
        </p:nvSpPr>
        <p:spPr>
          <a:xfrm>
            <a:off x="1051560" y="13624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for a smooth monthly index</a:t>
            </a:r>
          </a:p>
        </p:txBody>
      </p:sp>
      <p:sp>
        <p:nvSpPr>
          <p:cNvPr id="10" name="TextBox 9"/>
          <p:cNvSpPr txBox="1"/>
          <p:nvPr/>
        </p:nvSpPr>
        <p:spPr>
          <a:xfrm>
            <a:off x="1051560" y="1655064"/>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ARIMA-family models won; LSTM, GRU and boosted trees never beat them.</a:t>
            </a:r>
          </a:p>
        </p:txBody>
      </p:sp>
      <p:sp>
        <p:nvSpPr>
          <p:cNvPr id="11" name="Rounded Rectangle 10"/>
          <p:cNvSpPr/>
          <p:nvPr/>
        </p:nvSpPr>
        <p:spPr>
          <a:xfrm>
            <a:off x="502920" y="2130552"/>
            <a:ext cx="384048" cy="384048"/>
          </a:xfrm>
          <a:prstGeom prst="roundRect">
            <a:avLst>
              <a:gd name="adj" fmla="val 50000"/>
            </a:avLst>
          </a:prstGeom>
          <a:solidFill>
            <a:srgbClr val="1F6F8B"/>
          </a:solidFill>
          <a:ln>
            <a:noFill/>
          </a:ln>
          <a:effectLst/>
        </p:spPr>
        <p:txBody>
          <a:bodyPr rtlCol="0" anchor="ctr"/>
          <a:lstStyle/>
          <a:p>
            <a:pPr algn="ctr"/>
          </a:p>
        </p:txBody>
      </p:sp>
      <p:sp>
        <p:nvSpPr>
          <p:cNvPr id="12" name="TextBox 11"/>
          <p:cNvSpPr txBox="1"/>
          <p:nvPr/>
        </p:nvSpPr>
        <p:spPr>
          <a:xfrm>
            <a:off x="502920" y="213055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3" name="TextBox 12"/>
          <p:cNvSpPr txBox="1"/>
          <p:nvPr/>
        </p:nvSpPr>
        <p:spPr>
          <a:xfrm>
            <a:off x="1051560" y="211226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How you test decides who wins</a:t>
            </a:r>
          </a:p>
        </p:txBody>
      </p:sp>
      <p:sp>
        <p:nvSpPr>
          <p:cNvPr id="14" name="TextBox 13"/>
          <p:cNvSpPr txBox="1"/>
          <p:nvPr/>
        </p:nvSpPr>
        <p:spPr>
          <a:xfrm>
            <a:off x="1051560" y="240487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One blind window ranked LightGBM 1st; 18 rolling windows ranked it 8th.</a:t>
            </a:r>
          </a:p>
        </p:txBody>
      </p:sp>
      <p:sp>
        <p:nvSpPr>
          <p:cNvPr id="15" name="Rounded Rectangle 14"/>
          <p:cNvSpPr/>
          <p:nvPr/>
        </p:nvSpPr>
        <p:spPr>
          <a:xfrm>
            <a:off x="502920" y="2880360"/>
            <a:ext cx="384048" cy="384048"/>
          </a:xfrm>
          <a:prstGeom prst="roundRect">
            <a:avLst>
              <a:gd name="adj" fmla="val 50000"/>
            </a:avLst>
          </a:prstGeom>
          <a:solidFill>
            <a:srgbClr val="1F6F8B"/>
          </a:solidFill>
          <a:ln>
            <a:noFill/>
          </a:ln>
          <a:effectLst/>
        </p:spPr>
        <p:txBody>
          <a:bodyPr rtlCol="0" anchor="ctr"/>
          <a:lstStyle/>
          <a:p>
            <a:pPr algn="ctr"/>
          </a:p>
        </p:txBody>
      </p:sp>
      <p:sp>
        <p:nvSpPr>
          <p:cNvPr id="16" name="TextBox 15"/>
          <p:cNvSpPr txBox="1"/>
          <p:nvPr/>
        </p:nvSpPr>
        <p:spPr>
          <a:xfrm>
            <a:off x="502920" y="288036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17" name="TextBox 16"/>
          <p:cNvSpPr txBox="1"/>
          <p:nvPr/>
        </p:nvSpPr>
        <p:spPr>
          <a:xfrm>
            <a:off x="1051560" y="286207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and modestly</a:t>
            </a:r>
          </a:p>
        </p:txBody>
      </p:sp>
      <p:sp>
        <p:nvSpPr>
          <p:cNvPr id="18" name="TextBox 17"/>
          <p:cNvSpPr txBox="1"/>
          <p:nvPr/>
        </p:nvSpPr>
        <p:spPr>
          <a:xfrm>
            <a:off x="1051560" y="3154680"/>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About a two-year lag and a small gain at 12 months. Naive drift is as good a year out.</a:t>
            </a:r>
          </a:p>
        </p:txBody>
      </p:sp>
      <p:sp>
        <p:nvSpPr>
          <p:cNvPr id="19" name="Rounded Rectangle 18"/>
          <p:cNvSpPr/>
          <p:nvPr/>
        </p:nvSpPr>
        <p:spPr>
          <a:xfrm>
            <a:off x="502920" y="3630168"/>
            <a:ext cx="384048" cy="384048"/>
          </a:xfrm>
          <a:prstGeom prst="roundRect">
            <a:avLst>
              <a:gd name="adj" fmla="val 50000"/>
            </a:avLst>
          </a:prstGeom>
          <a:solidFill>
            <a:srgbClr val="1F6F8B"/>
          </a:solidFill>
          <a:ln>
            <a:noFill/>
          </a:ln>
          <a:effectLst/>
        </p:spPr>
        <p:txBody>
          <a:bodyPr rtlCol="0" anchor="ctr"/>
          <a:lstStyle/>
          <a:p>
            <a:pPr algn="ctr"/>
          </a:p>
        </p:txBody>
      </p:sp>
      <p:sp>
        <p:nvSpPr>
          <p:cNvPr id="20" name="TextBox 19"/>
          <p:cNvSpPr txBox="1"/>
          <p:nvPr/>
        </p:nvSpPr>
        <p:spPr>
          <a:xfrm>
            <a:off x="502920" y="3630168"/>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1" name="TextBox 20"/>
          <p:cNvSpPr txBox="1"/>
          <p:nvPr/>
        </p:nvSpPr>
        <p:spPr>
          <a:xfrm>
            <a:off x="1051560" y="3611880"/>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2" name="TextBox 21"/>
          <p:cNvSpPr txBox="1"/>
          <p:nvPr/>
        </p:nvSpPr>
        <p:spPr>
          <a:xfrm>
            <a:off x="1051560" y="3904488"/>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One shared factor drives most neighborhood movement, yet separate ARIMA models per neighborhood forecast better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
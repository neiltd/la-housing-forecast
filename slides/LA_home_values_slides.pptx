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1F6F8B"/>
              </a:solidFill>
            </c:spPr>
          </c:dPt>
          <c:cat>
            <c:strRef>
              <c:f>Sheet1!$A$2:$A$14</c:f>
              <c:strCache>
                <c:ptCount val="13"/>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c:v>
                </c:pt>
                <c:pt idx="12">
                  <c:v>ARIMAX</c:v>
                </c:pt>
              </c:strCache>
            </c:strRef>
          </c:cat>
          <c:val>
            <c:numRef>
              <c:f>Sheet1!$B$2:$B$14</c:f>
              <c:numCache>
                <c:formatCode>General</c:formatCode>
                <c:ptCount val="13"/>
                <c:pt idx="0">
                  <c:v>6.89</c:v>
                </c:pt>
                <c:pt idx="1">
                  <c:v>5.12</c:v>
                </c:pt>
                <c:pt idx="2">
                  <c:v>3.65</c:v>
                </c:pt>
                <c:pt idx="3">
                  <c:v>3.64</c:v>
                </c:pt>
                <c:pt idx="4">
                  <c:v>3.6</c:v>
                </c:pt>
                <c:pt idx="5">
                  <c:v>3.56</c:v>
                </c:pt>
                <c:pt idx="6">
                  <c:v>3.39</c:v>
                </c:pt>
                <c:pt idx="7">
                  <c:v>3.27</c:v>
                </c:pt>
                <c:pt idx="8">
                  <c:v>3.18</c:v>
                </c:pt>
                <c:pt idx="9">
                  <c:v>3.02</c:v>
                </c:pt>
                <c:pt idx="10">
                  <c:v>2.93</c:v>
                </c:pt>
                <c:pt idx="11">
                  <c:v>2.77</c:v>
                </c:pt>
                <c:pt idx="12">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0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Our project forecasts home values in the Los Angeles metro using Zillow's Home Value Index from January 2000 to August 2026. The line on the right is the whole story in one picture: a boom and bust in the 2000s, a long recovery, a pandemic surge, and then a stall. That stall lines up with mortgage rates more than doubling. So we asked two questions. Which forecasting method predicts LA home values best? And do mortgage rates help the forecast? We also went below the metro level to 499 neighborhoods, because the average hides a 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with a 37 percent crash between 2006 and 2012 along the way. Today the typical home is worth about 952 thousand dollars, which is 1.3 percent below the January 2025 peak. The bottom panel shows why this period is interesting: the 30-year mortgage rate went from 2.7 percent in 2021 to 7.6 percent in 2023. The shaded area is our test window, so every model has to forecast through that rate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Three data sources: the Zillow index for the metro, 499 neighborhoods from Zillow's neighborhood file, and the 30-year mortgage rate from FRED. We compared thirteen models in four families, from a naive drift baseline to LSTM and GRU networks and Amazon's Chronos foundation model, plus three models that use outside information. And we scored them two ways. A blind 80/20 split, like most projects use, and a rolling-origin test where we refit every three months and forecast twelve months ahead, eighteen times. One warning: Zillow smooths this index, so next month is almost the same as this month and every decent model is about 0.1 percent off one month ahead. That tells us nothing, so we judge models at six to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result, the rolling test. ARIMAX, which is ARIMA plus mortgage rates, had the lowest average error at 2.67 percent, with plain ARIMA right behind at 2.77. The neural networks landed in the middle, the tree models near the bottom, and Prophet last at almost 7 percent, mostly because it fits a smooth trend and does not start from the latest value. Our read: with about 250 monthly observations of a smooth index, there just is not much nonlinear structure for machine learning to find.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why the test design matters. In the single blind test, LightGBM won with a 2.2 percent error. It was the only model whose forecast bent, and it happened to bend in the right years. Across eighteen rolling tests it ranked ninth. Meanwhile VAR, LSTM and XGBoost took the 2021 boom and kept going, ending 25 to 35 percent too high. The lesson for us: one test window can crown the wrong model, so we trust the rolling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 mortgage rates matter? We used the VAR from class and traced an impulse response: what happens to LA home values after a one-point rise in the mortgage rate. Values barely move for the first few months, then fall steadily: about 4.5 percent lower after a year and about 9 percent lower after two, and the 90 percent band stays below zero from about a year on. A Granger causality test agrees on the direction: past rates help predict home values, but past home values do not help predict rates. The effect is slow, which is why it only helps our forecasts at the 12-month horizon, and even there a simple naive drift is about as good.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below the metro level. Each dot is a neighborhood. Across the bottom is its home value before the shock, and up the side is how far it fell from the 2022 peak to the 2023 low. In LA County the expensive neighborhoods fell the most, which makes sense: a buyer of a two-million-dollar home feels a jump from 3 to 7 percent much more in dollars. Orange County, in orange, held up better. Four years later many neighborhoods are still below their 2022 peak, mostly in LA County.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neighborhoods are going up and down right now? Over the last twelve months, 220 LA-metro neighborhoods rose more than 2 percent, 216 were flat, and 60 fell more than 2 percent. Blue on the map is rising and red is falling. The pattern is a reversal of 2023: the coastal, high-end areas that fell hardest are now leading. The weakest areas are central LA, places like MacArthur Park, Koreatown, Downtown and Westlake. Pacific Palisades also fell, but that reflects the January 2025 fire rather than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happens next? Our best model forecasts the typical LA home at about 998 thousand dollars in August 2027, up 4.8 percent. ARIMA and naive drift agree closely. The honest headline is the range: the 80 percent interval runs from a 6 percent fall to a 17 percent rise. Neighborhood forecasts are a bit stronger in Orange County than in LA County. Because rates act with a two-year lag, today's rates mostly affect 2028, not this forecast.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takeaways. First, for a smooth monthly housing index, simple models beat complex ones, including the Chronos foundation model. Second, how you test decides who wins: one blind window would have picked the wrong model. Third, mortgage rates matter, but slowly: a one-point rise lowers values about nine percent over two years. Fourth, use the long history: training on all data since 2000 forecast better than starting in 2008, 2012 or 2016, even with the breaks in between. And fifth, the metro average hides a split market. One common factor drives most of the movement across neighborhoods, but each neighborhood's own trend is what you need to forecast it. If you are buying or lending in LA, look at the neighborhood, not the metro number.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Mortgage rates more than doubled after 2021. Did LA home values get harder to predict?</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Zillow Home Value Index, LA metro, Jan 2000 to Aug 2026, plus 499 neighborhoods and the 30-year mortgage rate</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THE QUESTION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LA values grew 5.6% a year for 26 years, then stalled when rates hit 7%</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794726" y="1569720"/>
            <a:ext cx="4537027"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LA-metro home,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vs the January 2025 peak of $965,634</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13 models two ways, so no model could win by luck</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WHY NOT 1-MONTH ERRORS  </a:t>
            </a:r>
            <a:r>
              <a:rPr sz="1250" b="0" i="0">
                <a:solidFill>
                  <a:srgbClr val="16213E"/>
                </a:solidFill>
                <a:latin typeface="Arial"/>
              </a:rPr>
              <a:t>Zillow smooths this index, so every decent model is about 0.1% off one month ahead. We judge models at 6 to 12 months instead.</a:t>
            </a:r>
          </a:p>
        </p:txBody>
      </p:sp>
      <p:sp>
        <p:nvSpPr>
          <p:cNvPr id="10" name="TextBox 9"/>
          <p:cNvSpPr txBox="1"/>
          <p:nvPr/>
        </p:nvSpPr>
        <p:spPr>
          <a:xfrm>
            <a:off x="365760"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944624"/>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63652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8590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30-year mortgage rate</a:t>
            </a:r>
          </a:p>
        </p:txBody>
      </p:sp>
      <p:sp>
        <p:nvSpPr>
          <p:cNvPr id="17" name="TextBox 16"/>
          <p:cNvSpPr txBox="1"/>
          <p:nvPr/>
        </p:nvSpPr>
        <p:spPr>
          <a:xfrm>
            <a:off x="365760" y="30297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monthly</a:t>
            </a:r>
          </a:p>
        </p:txBody>
      </p:sp>
      <p:sp>
        <p:nvSpPr>
          <p:cNvPr id="18" name="TextBox 17"/>
          <p:cNvSpPr txBox="1"/>
          <p:nvPr/>
        </p:nvSpPr>
        <p:spPr>
          <a:xfrm>
            <a:off x="329183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13 MODELS</a:t>
            </a:r>
          </a:p>
        </p:txBody>
      </p:sp>
      <p:sp>
        <p:nvSpPr>
          <p:cNvPr id="19" name="Rectangle 18"/>
          <p:cNvSpPr/>
          <p:nvPr/>
        </p:nvSpPr>
        <p:spPr>
          <a:xfrm>
            <a:off x="3291839" y="1944624"/>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Baselines</a:t>
            </a:r>
          </a:p>
        </p:txBody>
      </p:sp>
      <p:sp>
        <p:nvSpPr>
          <p:cNvPr id="21" name="TextBox 20"/>
          <p:cNvSpPr txBox="1"/>
          <p:nvPr/>
        </p:nvSpPr>
        <p:spPr>
          <a:xfrm>
            <a:off x="3291839"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a:t>
            </a:r>
          </a:p>
        </p:txBody>
      </p:sp>
      <p:sp>
        <p:nvSpPr>
          <p:cNvPr id="22" name="TextBox 21"/>
          <p:cNvSpPr txBox="1"/>
          <p:nvPr/>
        </p:nvSpPr>
        <p:spPr>
          <a:xfrm>
            <a:off x="3291839"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Classical</a:t>
            </a:r>
          </a:p>
        </p:txBody>
      </p:sp>
      <p:sp>
        <p:nvSpPr>
          <p:cNvPr id="23" name="TextBox 22"/>
          <p:cNvSpPr txBox="1"/>
          <p:nvPr/>
        </p:nvSpPr>
        <p:spPr>
          <a:xfrm>
            <a:off x="3291839" y="263652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 · Holt · Prophet ×2</a:t>
            </a:r>
          </a:p>
        </p:txBody>
      </p:sp>
      <p:sp>
        <p:nvSpPr>
          <p:cNvPr id="24" name="TextBox 23"/>
          <p:cNvSpPr txBox="1"/>
          <p:nvPr/>
        </p:nvSpPr>
        <p:spPr>
          <a:xfrm>
            <a:off x="3291839" y="28590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5" name="TextBox 24"/>
          <p:cNvSpPr txBox="1"/>
          <p:nvPr/>
        </p:nvSpPr>
        <p:spPr>
          <a:xfrm>
            <a:off x="3291839" y="302971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6" name="TextBox 25"/>
          <p:cNvSpPr txBox="1"/>
          <p:nvPr/>
        </p:nvSpPr>
        <p:spPr>
          <a:xfrm>
            <a:off x="3291839" y="34015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7" name="TextBox 26"/>
          <p:cNvSpPr txBox="1"/>
          <p:nvPr/>
        </p:nvSpPr>
        <p:spPr>
          <a:xfrm>
            <a:off x="3291839" y="357225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(rates) · VAR · factor VAR</a:t>
            </a:r>
          </a:p>
        </p:txBody>
      </p:sp>
      <p:sp>
        <p:nvSpPr>
          <p:cNvPr id="28" name="TextBox 27"/>
          <p:cNvSpPr txBox="1"/>
          <p:nvPr/>
        </p:nvSpPr>
        <p:spPr>
          <a:xfrm>
            <a:off x="621791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2 TESTS</a:t>
            </a:r>
          </a:p>
        </p:txBody>
      </p:sp>
      <p:sp>
        <p:nvSpPr>
          <p:cNvPr id="29" name="Rectangle 28"/>
          <p:cNvSpPr/>
          <p:nvPr/>
        </p:nvSpPr>
        <p:spPr>
          <a:xfrm>
            <a:off x="6217919" y="1944624"/>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Blind 80/20</a:t>
            </a:r>
          </a:p>
        </p:txBody>
      </p:sp>
      <p:sp>
        <p:nvSpPr>
          <p:cNvPr id="31" name="TextBox 30"/>
          <p:cNvSpPr txBox="1"/>
          <p:nvPr/>
        </p:nvSpPr>
        <p:spPr>
          <a:xfrm>
            <a:off x="6217919" y="2243328"/>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to Apr 2021, forecast 64 months in one shot</a:t>
            </a:r>
          </a:p>
        </p:txBody>
      </p:sp>
      <p:sp>
        <p:nvSpPr>
          <p:cNvPr id="32" name="TextBox 31"/>
          <p:cNvSpPr txBox="1"/>
          <p:nvPr/>
        </p:nvSpPr>
        <p:spPr>
          <a:xfrm>
            <a:off x="6217919" y="261518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Rolling origin</a:t>
            </a:r>
          </a:p>
        </p:txBody>
      </p:sp>
      <p:sp>
        <p:nvSpPr>
          <p:cNvPr id="33" name="TextBox 32"/>
          <p:cNvSpPr txBox="1"/>
          <p:nvPr/>
        </p:nvSpPr>
        <p:spPr>
          <a:xfrm>
            <a:off x="6217919" y="278587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Refit every 3 months, forecast 12 months ahead, 18 times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 TEST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the fair test, ARIMA-family models beat machine learning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849880"/>
            <a:ext cx="2606040" cy="1024127"/>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ARIMAX, average error 1 to 12 months ahead. ARIMA 2.77%. LSTM 3.02%, XGBoost 3.65%, Prophet 6.89%.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TEST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One test window crowned LightGBM; 18 windows ranked it ninth</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Grid of 11 model forecasts from April 2021 against actual LA values" title="Grid of 11 model forecasts from April 2021 against actual LA values"/>
          <p:cNvPicPr>
            <a:picLocks noChangeAspect="1"/>
          </p:cNvPicPr>
          <p:nvPr/>
        </p:nvPicPr>
        <p:blipFill>
          <a:blip r:embed="rId2"/>
          <a:stretch>
            <a:fillRect/>
          </a:stretch>
        </p:blipFill>
        <p:spPr>
          <a:xfrm>
            <a:off x="1427162" y="1542288"/>
            <a:ext cx="3455035" cy="3052571"/>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9th</a:t>
            </a:r>
          </a:p>
        </p:txBody>
      </p:sp>
      <p:sp>
        <p:nvSpPr>
          <p:cNvPr id="10" name="TextBox 9"/>
          <p:cNvSpPr txBox="1"/>
          <p:nvPr/>
        </p:nvSpPr>
        <p:spPr>
          <a:xfrm>
            <a:off x="6172200" y="2849880"/>
            <a:ext cx="256032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LightGBM won the single 64-month test (2.2% error) but ranked 9th across 18 rolling tests: it got lucky in the one window that counted.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MORTGAGE RATES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 1-point rate rise means LA values about 9% lower two years later</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411480" y="1919258"/>
            <a:ext cx="5486400" cy="2280342"/>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RATES WORK SLOWLY</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−9.2%</a:t>
            </a:r>
          </a:p>
        </p:txBody>
      </p:sp>
      <p:sp>
        <p:nvSpPr>
          <p:cNvPr id="10" name="TextBox 9"/>
          <p:cNvSpPr txBox="1"/>
          <p:nvPr/>
        </p:nvSpPr>
        <p:spPr>
          <a:xfrm>
            <a:off x="6172200" y="2849880"/>
            <a:ext cx="2560320" cy="1024127"/>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after 24 months (−4.5% after 12). Rates help predict prices, not the reverse (Granger p = 0.05 vs 0.51).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2022 SHOCK</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LA County, pricier neighborhoods fell hardest after rates jumped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pic>
        <p:nvPicPr>
          <p:cNvPr id="7" name="Picture 6" descr="Scatter of neighborhood drop after 2022 against home value, LA and Orange County" title="Scatter of neighborhood drop after 2022 against home value, LA and Orange County"/>
          <p:cNvPicPr>
            <a:picLocks noChangeAspect="1"/>
          </p:cNvPicPr>
          <p:nvPr/>
        </p:nvPicPr>
        <p:blipFill>
          <a:blip r:embed="rId2"/>
          <a:stretch>
            <a:fillRect/>
          </a:stretch>
        </p:blipFill>
        <p:spPr>
          <a:xfrm>
            <a:off x="411480" y="1702384"/>
            <a:ext cx="5486400" cy="2714090"/>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STILL BELOW 2022 PEAK</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152 of 496</a:t>
            </a:r>
          </a:p>
        </p:txBody>
      </p:sp>
      <p:sp>
        <p:nvSpPr>
          <p:cNvPr id="10" name="TextBox 9"/>
          <p:cNvSpPr txBox="1"/>
          <p:nvPr/>
        </p:nvSpPr>
        <p:spPr>
          <a:xfrm>
            <a:off x="6172200" y="2849880"/>
            <a:ext cx="2560320" cy="1536191"/>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neighborhoods are still below their 2022 peak. In LA County, doubling the price meant a 1.2-point deeper drop (t = -7.7); in Orange County the effect reverses.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LAST 12 MONTHS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Right now coastal neighborhoods are rising while central LA falls</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024569" y="1569720"/>
            <a:ext cx="2797180" cy="3025140"/>
          </a:xfrm>
          <a:prstGeom prst="rect">
            <a:avLst/>
          </a:prstGeom>
        </p:spPr>
      </p:pic>
      <p:pic>
        <p:nvPicPr>
          <p:cNvPr id="8" name="Picture 7" descr="Ten fastest-rising and ten fastest-falling neighborhoods, Aug 2025 to Aug 2026" title="Ten fastest-rising and ten fastest-falling neighborhoods, Aug 2025 to Aug 2026"/>
          <p:cNvPicPr>
            <a:picLocks noChangeAspect="1"/>
          </p:cNvPicPr>
          <p:nvPr/>
        </p:nvPicPr>
        <p:blipFill>
          <a:blip r:embed="rId3"/>
          <a:stretch>
            <a:fillRect/>
          </a:stretch>
        </p:blipFill>
        <p:spPr>
          <a:xfrm>
            <a:off x="4572000" y="1630629"/>
            <a:ext cx="4206240" cy="29033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OUTLOOK</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Our forecast: about 5% higher by August 2027, with a wide range</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LA metro forecast to August 2027: ARIMAX, ARIMA with 80% band, naive drift" title="LA metro forecast to August 2027: ARIMAX, ARIMA with 80% band, naive drift"/>
          <p:cNvPicPr>
            <a:picLocks noChangeAspect="1"/>
          </p:cNvPicPr>
          <p:nvPr/>
        </p:nvPicPr>
        <p:blipFill>
          <a:blip r:embed="rId2"/>
          <a:stretch>
            <a:fillRect/>
          </a:stretch>
        </p:blipFill>
        <p:spPr>
          <a:xfrm>
            <a:off x="411480" y="1811385"/>
            <a:ext cx="5486400" cy="2496089"/>
          </a:xfrm>
          <a:prstGeom prst="rect">
            <a:avLst/>
          </a:prstGeom>
        </p:spPr>
      </p:pic>
      <p:sp>
        <p:nvSpPr>
          <p:cNvPr id="8" name="TextBox 7"/>
          <p:cNvSpPr txBox="1"/>
          <p:nvPr/>
        </p:nvSpPr>
        <p:spPr>
          <a:xfrm>
            <a:off x="6172200" y="1661160"/>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F6F8B"/>
                </a:solidFill>
                <a:latin typeface="Arial"/>
              </a:rPr>
              <a:t>$998,391</a:t>
            </a:r>
          </a:p>
        </p:txBody>
      </p:sp>
      <p:sp>
        <p:nvSpPr>
          <p:cNvPr id="9" name="TextBox 8"/>
          <p:cNvSpPr txBox="1"/>
          <p:nvPr/>
        </p:nvSpPr>
        <p:spPr>
          <a:xfrm>
            <a:off x="6172200" y="2067560"/>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forecast, Aug 2027 (+4.8%)</a:t>
            </a:r>
          </a:p>
        </p:txBody>
      </p:sp>
      <p:sp>
        <p:nvSpPr>
          <p:cNvPr id="10" name="TextBox 9"/>
          <p:cNvSpPr txBox="1"/>
          <p:nvPr/>
        </p:nvSpPr>
        <p:spPr>
          <a:xfrm>
            <a:off x="6172200" y="2399792"/>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-6% to +17%</a:t>
            </a:r>
          </a:p>
        </p:txBody>
      </p:sp>
      <p:sp>
        <p:nvSpPr>
          <p:cNvPr id="11" name="TextBox 10"/>
          <p:cNvSpPr txBox="1"/>
          <p:nvPr/>
        </p:nvSpPr>
        <p:spPr>
          <a:xfrm>
            <a:off x="6172200" y="2806192"/>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80% range for the next 12 months</a:t>
            </a:r>
          </a:p>
        </p:txBody>
      </p:sp>
      <p:sp>
        <p:nvSpPr>
          <p:cNvPr id="12" name="TextBox 11"/>
          <p:cNvSpPr txBox="1"/>
          <p:nvPr/>
        </p:nvSpPr>
        <p:spPr>
          <a:xfrm>
            <a:off x="6172200" y="3138424"/>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+4.8% / +6.5%</a:t>
            </a:r>
          </a:p>
        </p:txBody>
      </p:sp>
      <p:sp>
        <p:nvSpPr>
          <p:cNvPr id="13" name="TextBox 12"/>
          <p:cNvSpPr txBox="1"/>
          <p:nvPr/>
        </p:nvSpPr>
        <p:spPr>
          <a:xfrm>
            <a:off x="6172200" y="3544824"/>
            <a:ext cx="256032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median neighborhood forecast, LA County / Orange County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What we learned</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MORTGAGE30US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502920" y="1289304"/>
            <a:ext cx="384048" cy="384048"/>
          </a:xfrm>
          <a:prstGeom prst="roundRect">
            <a:avLst>
              <a:gd name="adj" fmla="val 50000"/>
            </a:avLst>
          </a:prstGeom>
          <a:solidFill>
            <a:srgbClr val="1F6F8B"/>
          </a:solidFill>
          <a:ln>
            <a:noFill/>
          </a:ln>
          <a:effectLst/>
        </p:spPr>
        <p:txBody>
          <a:bodyPr rtlCol="0" anchor="ctr"/>
          <a:lstStyle/>
          <a:p>
            <a:pPr algn="ctr"/>
          </a:p>
        </p:txBody>
      </p:sp>
      <p:sp>
        <p:nvSpPr>
          <p:cNvPr id="8" name="TextBox 7"/>
          <p:cNvSpPr txBox="1"/>
          <p:nvPr/>
        </p:nvSpPr>
        <p:spPr>
          <a:xfrm>
            <a:off x="502920" y="128930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9" name="TextBox 8"/>
          <p:cNvSpPr txBox="1"/>
          <p:nvPr/>
        </p:nvSpPr>
        <p:spPr>
          <a:xfrm>
            <a:off x="1051560" y="127101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beats complex for a smooth monthly index</a:t>
            </a:r>
          </a:p>
        </p:txBody>
      </p:sp>
      <p:sp>
        <p:nvSpPr>
          <p:cNvPr id="10" name="TextBox 9"/>
          <p:cNvSpPr txBox="1"/>
          <p:nvPr/>
        </p:nvSpPr>
        <p:spPr>
          <a:xfrm>
            <a:off x="1051560" y="1563624"/>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ARIMA-family models beat LSTM, GRU, boosted trees and the Chronos foundation model.</a:t>
            </a:r>
          </a:p>
        </p:txBody>
      </p:sp>
      <p:sp>
        <p:nvSpPr>
          <p:cNvPr id="11" name="Rounded Rectangle 10"/>
          <p:cNvSpPr/>
          <p:nvPr/>
        </p:nvSpPr>
        <p:spPr>
          <a:xfrm>
            <a:off x="502920" y="1965960"/>
            <a:ext cx="384048" cy="384048"/>
          </a:xfrm>
          <a:prstGeom prst="roundRect">
            <a:avLst>
              <a:gd name="adj" fmla="val 50000"/>
            </a:avLst>
          </a:prstGeom>
          <a:solidFill>
            <a:srgbClr val="1F6F8B"/>
          </a:solidFill>
          <a:ln>
            <a:noFill/>
          </a:ln>
          <a:effectLst/>
        </p:spPr>
        <p:txBody>
          <a:bodyPr rtlCol="0" anchor="ctr"/>
          <a:lstStyle/>
          <a:p>
            <a:pPr algn="ctr"/>
          </a:p>
        </p:txBody>
      </p:sp>
      <p:sp>
        <p:nvSpPr>
          <p:cNvPr id="12" name="TextBox 11"/>
          <p:cNvSpPr txBox="1"/>
          <p:nvPr/>
        </p:nvSpPr>
        <p:spPr>
          <a:xfrm>
            <a:off x="502920" y="196596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3" name="TextBox 12"/>
          <p:cNvSpPr txBox="1"/>
          <p:nvPr/>
        </p:nvSpPr>
        <p:spPr>
          <a:xfrm>
            <a:off x="1051560" y="194767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How you test decides who wins</a:t>
            </a:r>
          </a:p>
        </p:txBody>
      </p:sp>
      <p:sp>
        <p:nvSpPr>
          <p:cNvPr id="14" name="TextBox 13"/>
          <p:cNvSpPr txBox="1"/>
          <p:nvPr/>
        </p:nvSpPr>
        <p:spPr>
          <a:xfrm>
            <a:off x="1051560" y="2240280"/>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One blind window ranked LightGBM 1st; 18 rolling windows, 9th.</a:t>
            </a:r>
          </a:p>
        </p:txBody>
      </p:sp>
      <p:sp>
        <p:nvSpPr>
          <p:cNvPr id="15" name="Rounded Rectangle 14"/>
          <p:cNvSpPr/>
          <p:nvPr/>
        </p:nvSpPr>
        <p:spPr>
          <a:xfrm>
            <a:off x="502920" y="2642616"/>
            <a:ext cx="384048" cy="384048"/>
          </a:xfrm>
          <a:prstGeom prst="roundRect">
            <a:avLst>
              <a:gd name="adj" fmla="val 50000"/>
            </a:avLst>
          </a:prstGeom>
          <a:solidFill>
            <a:srgbClr val="1F6F8B"/>
          </a:solidFill>
          <a:ln>
            <a:noFill/>
          </a:ln>
          <a:effectLst/>
        </p:spPr>
        <p:txBody>
          <a:bodyPr rtlCol="0" anchor="ctr"/>
          <a:lstStyle/>
          <a:p>
            <a:pPr algn="ctr"/>
          </a:p>
        </p:txBody>
      </p:sp>
      <p:sp>
        <p:nvSpPr>
          <p:cNvPr id="16" name="TextBox 15"/>
          <p:cNvSpPr txBox="1"/>
          <p:nvPr/>
        </p:nvSpPr>
        <p:spPr>
          <a:xfrm>
            <a:off x="502920" y="2642616"/>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17" name="TextBox 16"/>
          <p:cNvSpPr txBox="1"/>
          <p:nvPr/>
        </p:nvSpPr>
        <p:spPr>
          <a:xfrm>
            <a:off x="1051560" y="2624328"/>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a:t>
            </a:r>
          </a:p>
        </p:txBody>
      </p:sp>
      <p:sp>
        <p:nvSpPr>
          <p:cNvPr id="18" name="TextBox 17"/>
          <p:cNvSpPr txBox="1"/>
          <p:nvPr/>
        </p:nvSpPr>
        <p:spPr>
          <a:xfrm>
            <a:off x="1051560" y="2916936"/>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 1-point rise lowers values about 9% over two years.</a:t>
            </a:r>
          </a:p>
        </p:txBody>
      </p:sp>
      <p:sp>
        <p:nvSpPr>
          <p:cNvPr id="19" name="Rounded Rectangle 18"/>
          <p:cNvSpPr/>
          <p:nvPr/>
        </p:nvSpPr>
        <p:spPr>
          <a:xfrm>
            <a:off x="502920" y="3319272"/>
            <a:ext cx="384048" cy="384048"/>
          </a:xfrm>
          <a:prstGeom prst="roundRect">
            <a:avLst>
              <a:gd name="adj" fmla="val 50000"/>
            </a:avLst>
          </a:prstGeom>
          <a:solidFill>
            <a:srgbClr val="1F6F8B"/>
          </a:solidFill>
          <a:ln>
            <a:noFill/>
          </a:ln>
          <a:effectLst/>
        </p:spPr>
        <p:txBody>
          <a:bodyPr rtlCol="0" anchor="ctr"/>
          <a:lstStyle/>
          <a:p>
            <a:pPr algn="ctr"/>
          </a:p>
        </p:txBody>
      </p:sp>
      <p:sp>
        <p:nvSpPr>
          <p:cNvPr id="20" name="TextBox 19"/>
          <p:cNvSpPr txBox="1"/>
          <p:nvPr/>
        </p:nvSpPr>
        <p:spPr>
          <a:xfrm>
            <a:off x="502920" y="33192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1" name="TextBox 20"/>
          <p:cNvSpPr txBox="1"/>
          <p:nvPr/>
        </p:nvSpPr>
        <p:spPr>
          <a:xfrm>
            <a:off x="1051560" y="33009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Use the long history</a:t>
            </a:r>
          </a:p>
        </p:txBody>
      </p:sp>
      <p:sp>
        <p:nvSpPr>
          <p:cNvPr id="22" name="TextBox 21"/>
          <p:cNvSpPr txBox="1"/>
          <p:nvPr/>
        </p:nvSpPr>
        <p:spPr>
          <a:xfrm>
            <a:off x="1051560" y="35935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Training from 2000 beat starting in 2008, 2012 or 2016.</a:t>
            </a:r>
          </a:p>
        </p:txBody>
      </p:sp>
      <p:sp>
        <p:nvSpPr>
          <p:cNvPr id="23" name="Rounded Rectangle 22"/>
          <p:cNvSpPr/>
          <p:nvPr/>
        </p:nvSpPr>
        <p:spPr>
          <a:xfrm>
            <a:off x="502920" y="3995928"/>
            <a:ext cx="384048" cy="384048"/>
          </a:xfrm>
          <a:prstGeom prst="roundRect">
            <a:avLst>
              <a:gd name="adj" fmla="val 50000"/>
            </a:avLst>
          </a:prstGeom>
          <a:solidFill>
            <a:srgbClr val="1F6F8B"/>
          </a:solidFill>
          <a:ln>
            <a:noFill/>
          </a:ln>
          <a:effectLst/>
        </p:spPr>
        <p:txBody>
          <a:bodyPr rtlCol="0" anchor="ctr"/>
          <a:lstStyle/>
          <a:p>
            <a:pPr algn="ctr"/>
          </a:p>
        </p:txBody>
      </p:sp>
      <p:sp>
        <p:nvSpPr>
          <p:cNvPr id="24" name="TextBox 23"/>
          <p:cNvSpPr txBox="1"/>
          <p:nvPr/>
        </p:nvSpPr>
        <p:spPr>
          <a:xfrm>
            <a:off x="502920" y="3995928"/>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05</a:t>
            </a:r>
          </a:p>
        </p:txBody>
      </p:sp>
      <p:sp>
        <p:nvSpPr>
          <p:cNvPr id="25" name="TextBox 24"/>
          <p:cNvSpPr txBox="1"/>
          <p:nvPr/>
        </p:nvSpPr>
        <p:spPr>
          <a:xfrm>
            <a:off x="1051560" y="3977640"/>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hides a split market</a:t>
            </a:r>
          </a:p>
        </p:txBody>
      </p:sp>
      <p:sp>
        <p:nvSpPr>
          <p:cNvPr id="26" name="TextBox 25"/>
          <p:cNvSpPr txBox="1"/>
          <p:nvPr/>
        </p:nvSpPr>
        <p:spPr>
          <a:xfrm>
            <a:off x="1051560" y="4270248"/>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Separate models per neighborhood beat one shared factor (2.8% vs 4.1%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
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Avg % error, 1-12 months</c:v>
                </c:pt>
              </c:strCache>
            </c:strRef>
          </c:tx>
          <c:spPr>
            <a:solidFill>
              <a:srgbClr val="1F6F8B"/>
            </a:solidFill>
            <a:ln w="31750">
              <a:solidFill>
                <a:srgbClr val="1F6F8B"/>
              </a:solidFill>
            </a:ln>
          </c:spPr>
          <c:dPt>
            <c:idx val="0"/>
            <c:spPr>
              <a:solidFill>
                <a:srgbClr val="B8BECC"/>
              </a:solidFill>
            </c:spPr>
          </c:dPt>
          <c:dPt>
            <c:idx val="1"/>
            <c:spPr>
              <a:solidFill>
                <a:srgbClr val="B8BECC"/>
              </a:solidFill>
            </c:spPr>
          </c:dPt>
          <c:dPt>
            <c:idx val="2"/>
            <c:spPr>
              <a:solidFill>
                <a:srgbClr val="B8BECC"/>
              </a:solidFill>
            </c:spPr>
          </c:dPt>
          <c:dPt>
            <c:idx val="3"/>
            <c:spPr>
              <a:solidFill>
                <a:srgbClr val="B8BECC"/>
              </a:solidFill>
            </c:spPr>
          </c:dPt>
          <c:dPt>
            <c:idx val="4"/>
            <c:spPr>
              <a:solidFill>
                <a:srgbClr val="B8BECC"/>
              </a:solidFill>
            </c:spPr>
          </c:dPt>
          <c:dPt>
            <c:idx val="5"/>
            <c:spPr>
              <a:solidFill>
                <a:srgbClr val="B8BECC"/>
              </a:solidFill>
            </c:spPr>
          </c:dPt>
          <c:dPt>
            <c:idx val="6"/>
            <c:spPr>
              <a:solidFill>
                <a:srgbClr val="B8BECC"/>
              </a:solidFill>
            </c:spPr>
          </c:dPt>
          <c:dPt>
            <c:idx val="7"/>
            <c:spPr>
              <a:solidFill>
                <a:srgbClr val="B8BECC"/>
              </a:solidFill>
            </c:spPr>
          </c:dPt>
          <c:dPt>
            <c:idx val="8"/>
            <c:spPr>
              <a:solidFill>
                <a:srgbClr val="B8BECC"/>
              </a:solidFill>
            </c:spPr>
          </c:dPt>
          <c:dPt>
            <c:idx val="9"/>
            <c:spPr>
              <a:solidFill>
                <a:srgbClr val="B8BECC"/>
              </a:solidFill>
            </c:spPr>
          </c:dPt>
          <c:dPt>
            <c:idx val="10"/>
            <c:spPr>
              <a:solidFill>
                <a:srgbClr val="B8BECC"/>
              </a:solidFill>
            </c:spPr>
          </c:dPt>
          <c:dPt>
            <c:idx val="11"/>
            <c:spPr>
              <a:solidFill>
                <a:srgbClr val="B8BECC"/>
              </a:solidFill>
            </c:spPr>
          </c:dPt>
          <c:dPt>
            <c:idx val="12"/>
            <c:spPr>
              <a:solidFill>
                <a:srgbClr val="B8BECC"/>
              </a:solidFill>
            </c:spPr>
          </c:dPt>
          <c:dPt>
            <c:idx val="13"/>
            <c:spPr>
              <a:solidFill>
                <a:srgbClr val="1F6F8B"/>
              </a:solidFill>
            </c:spPr>
          </c:dPt>
          <c:cat>
            <c:strRef>
              <c:f>Sheet1!$A$2:$A$15</c:f>
              <c:strCache>
                <c:ptCount val="14"/>
                <c:pt idx="0">
                  <c:v>Prophet</c:v>
                </c:pt>
                <c:pt idx="1">
                  <c:v>Prophet + COVID &amp; rates</c:v>
                </c:pt>
                <c:pt idx="2">
                  <c:v>XGBoost</c:v>
                </c:pt>
                <c:pt idx="3">
                  <c:v>Factor VAR (neighborhoods)</c:v>
                </c:pt>
                <c:pt idx="4">
                  <c:v>LightGBM</c:v>
                </c:pt>
                <c:pt idx="5">
                  <c:v>Chronos (foundation model)</c:v>
                </c:pt>
                <c:pt idx="6">
                  <c:v>Holt (damped)</c:v>
                </c:pt>
                <c:pt idx="7">
                  <c:v>Naive drift</c:v>
                </c:pt>
                <c:pt idx="8">
                  <c:v>GRU</c:v>
                </c:pt>
                <c:pt idx="9">
                  <c:v>LSTM</c:v>
                </c:pt>
                <c:pt idx="10">
                  <c:v>VAR (growth + rate)</c:v>
                </c:pt>
                <c:pt idx="11">
                  <c:v>ARIMAX + jobs</c:v>
                </c:pt>
                <c:pt idx="12">
                  <c:v>ARIMA</c:v>
                </c:pt>
                <c:pt idx="13">
                  <c:v>ARIMAX</c:v>
                </c:pt>
              </c:strCache>
            </c:strRef>
          </c:cat>
          <c:val>
            <c:numRef>
              <c:f>Sheet1!$B$2:$B$15</c:f>
              <c:numCache>
                <c:formatCode>General</c:formatCode>
                <c:ptCount val="14"/>
                <c:pt idx="0">
                  <c:v>6.89</c:v>
                </c:pt>
                <c:pt idx="1">
                  <c:v>5.12</c:v>
                </c:pt>
                <c:pt idx="2">
                  <c:v>3.65</c:v>
                </c:pt>
                <c:pt idx="3">
                  <c:v>3.64</c:v>
                </c:pt>
                <c:pt idx="4">
                  <c:v>3.6</c:v>
                </c:pt>
                <c:pt idx="5">
                  <c:v>3.56</c:v>
                </c:pt>
                <c:pt idx="6">
                  <c:v>3.39</c:v>
                </c:pt>
                <c:pt idx="7">
                  <c:v>3.27</c:v>
                </c:pt>
                <c:pt idx="8">
                  <c:v>3.18</c:v>
                </c:pt>
                <c:pt idx="9">
                  <c:v>3.02</c:v>
                </c:pt>
                <c:pt idx="10">
                  <c:v>2.93</c:v>
                </c:pt>
                <c:pt idx="11">
                  <c:v>2.81</c:v>
                </c:pt>
                <c:pt idx="12">
                  <c:v>2.77</c:v>
                </c:pt>
                <c:pt idx="13">
                  <c:v>2.67</c:v>
                </c:pt>
              </c:numCache>
            </c:numRef>
          </c:val>
        </c:ser>
        <c:axId val="-2068027336"/>
        <c:axId val="-2113994440"/>
      </c:barChart>
      <c:catAx>
        <c:axId val="-2068027336"/>
        <c:scaling>
          <c:orientation val="minMax"/>
        </c:scaling>
        <c:delete val="0"/>
        <c:axPos val="l"/>
        <c:majorTickMark val="out"/>
        <c:minorTickMark val="none"/>
        <c:tickLblPos val="nextTo"/>
        <c:spPr>
          <a:ln>
            <a:solidFill>
              <a:srgbClr val="E7E9F0"/>
            </a:solidFill>
          </a:ln>
        </c:spPr>
        <c:txPr>
          <a:bodyPr/>
          <a:lstStyle/>
          <a:p>
            <a:pPr>
              <a:defRPr sz="1000">
                <a:solidFill>
                  <a:srgbClr val="222A37"/>
                </a:solidFill>
                <a:latin typeface="Arial"/>
                <a:ea typeface="Arial"/>
              </a:defRPr>
            </a:pPr>
          </a:p>
        </c:txPr>
        <c:crossAx val="-2113994440"/>
        <c:crosses val="autoZero"/>
        <c:auto val="1"/>
        <c:lblAlgn val="ctr"/>
        <c:lblOffset val="100"/>
        <c:noMultiLvlLbl val="0"/>
      </c:catAx>
      <c:valAx>
        <c:axId val="-2113994440"/>
        <c:scaling>
          <c:min val="0.0"/>
        </c:scaling>
        <c:delete val="0"/>
        <c:axPos val="b"/>
        <c:majorGridlines>
          <c:spPr>
            <a:ln w="6350">
              <a:solidFill>
                <a:srgbClr val="E7E9F0"/>
              </a:solidFill>
            </a:ln>
          </c:spPr>
        </c:majorGridlines>
        <c:numFmt formatCode="0&quot;%&quot;" sourceLinked="0"/>
        <c:majorTickMark val="out"/>
        <c:minorTickMark val="none"/>
        <c:tickLblPos val="nextTo"/>
        <c:spPr>
          <a:ln>
            <a:solidFill>
              <a:srgbClr val="E7E9F0"/>
            </a:solidFill>
          </a:ln>
        </c:spPr>
        <c:txPr>
          <a:bodyPr/>
          <a:lstStyle/>
          <a:p>
            <a:pPr>
              <a:defRPr sz="1000">
                <a:solidFill>
                  <a:srgbClr val="222A37"/>
                </a:solidFill>
                <a:latin typeface="Arial"/>
                <a:ea typeface="Arial"/>
              </a:defRPr>
            </a:pPr>
          </a:p>
        </c:txPr>
        <c:crossAx val="-2068027336"/>
        <c:crosses val="autoZero"/>
      </c:valAx>
    </c:plotArea>
    <c:dispBlanksAs val="gap"/>
  </c:chart>
  <c:txPr>
    <a:bodyPr/>
    <a:lstStyle/>
    <a:p>
      <a:pPr>
        <a:defRPr sz="1100">
          <a:solidFill>
            <a:srgbClr val="222A37"/>
          </a:solidFill>
          <a:latin typeface="Arial"/>
          <a:ea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 forecast home values in the Los Angeles metro, using Zillow's monthly index from 2000 to August 2026. The line shows the whole story: a boom and bust in the 2000s, a long recovery, a pandemic surge, then a stall. Our question: how well can we forecast LA home values up to a year ahead, and what works best? We compare traditional time-series models with an alternative many people now try first: asking an AI chatbot.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2000 to 2026, LA home values grew about 5.6 percent a year on average, with a 37 percent crash from 2006 to 2012. The dashed line is a fitted trend, about 4.5 percent a year, and prices today sit close to it. The typical home is worth about 952 thousand dollars, 1.3 percent below the January 2025 peak. The bottom panel shows why this is a hard test: the 30-year mortgage rate went from 2.7 percent in 2021 to 7.6 percent in 2023, and the shaded test window runs right through that shock.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history gives us a difficult forecasting test. Our data: the Zillow index, about 500 neighborhoods, the mortgage rate, and payroll jobs for LA and Orange County. We compared fourteen models, from a simple naive-drift benchmark to neural networks and Amazon's Chronos foundation model, plus three AI chatbots. Every model setting, including the mortgage-rate lag, was chosen on training data only. Our main test repeats a twelve-month forecast at eighteen start dates, every three months. The score is the average absolute percentage error across those months and dates. Lower is better.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ARIMAX, which is ARIMA plus the mortgage rate, had the lowest average error, 2.67 percent, just ahead of plain ARIMA at 2.77. The gap is small. Neural networks landed in the middle, tree models lower, and Prophet had the highest error in our test. The ranking holds in dollars too. One honest point: at twelve months ahead, ARIMAX and naive drift, which just extends the historical average growth, both have errors of about five percent: 5.0 and 4.9.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test at eighteen dates instead of one? In a single 80/20 split, LightGBM, circled in red, won with 2.2 percent error. Across our rolling tests it ranked tenth, and ARIMAX, in green, was first. The long test forecasts 64 months at once, so it is a different task. The ranking depends on the forecast period and horizon, so we put more weight on repeated tests.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then asked whether chatbots could improve on these results. Chatbots introduce another testing problem: they may recognize the historical period. We asked Claude, GPT and Gemini to forecast the same eighteen dates, each as a fresh API request with only the data up to that date. At first they looked brilliant: 1.3 to 1.6 percent error, better than every model. But all eighteen dates are before their training cutoff, so these periods may already be familiar to them. When we hid the place, the dates and the mortgage rate, Claude's error rose to 2.8 percent, GPT's to 2.7 and Gemini's to 3.0. Their average errors were close to ARIMAX's, and at month 12 our statistical test did not detect a difference.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we gave the AI fewer clues. Named says Los Angeles, with real dates. Blind hides the place and dates but keeps the real mortgage rate, and that is enough: asked to identify the blind series, Claude named Los Angeles 16 times out of 18 and got the dates exactly right. Masked shows only the last ten years, rescaled, with no rate. Claude never named LA, though it could still guess the period from the shape, so masking reduces the clues rather than removing them. The chart shows a forecast made in April 2022, just before the downturn. With the clues, Claude forecast a fall, close to what happened. With the masked prompt, Claude predicted continued growth, as ARIMAX did. The masked forecast and ARIMAX both missed the downturn.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examined the relationship with rates and produced a forecast for August 2027. Top: our VAR estimates how LA values respond after a one-point rise in the mortgage rate: little at first, about 4.5 percent lower after a year and 9 after two. That is a predictive relationship, not a proven causal effect, and the Granger test is borderline, p equals 0.052. Inside ARIMAX neither the rate nor jobs is significant on its own, but the rate still helps out of sample. It enters with a two-year lag, so a twelve-month forecast never needs future rates. Bottom: ARIMAX forecasts about 998 thousand dollars by August 2027, up 4.8 percent. The band is the ARIMA 80 percent interval, for context: from minus 6 to plus 17 percent.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forecast describes the metro average. Individual neighborhoods look very different. Of 496 neighborhoods with recent data, 220 rose more than 2 percent in the last year, 216 stayed within 2 percent, and 60 fell. [Switch to the browser.] Blue is rising, red is falling. The map shows gains in selected coastal neighborhoods, including North of Montana, Point Dume and Corona del Mar, and declines in parts of central LA such as Koreatown. [Click one neighborhood.] Each shows its value, its change and our 12-month forecast. [Back to the slides.] Higher starting prices were associated with larger declines in LA County after 2022. We tested neighborhood forecasts the same rolling way, at five yearly dates for about 400 neighborhoods: ARIMA for each neighborhood had 2.8 percent error, the naive benchmark 3.5.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answer: a simple ARIMAX had the lowest average error, about 2.7 percent; a full year out, the naive benchmark was just as good; and masked AI showed no clear advantage. Four takeaways. Simple models were competitive. Chatbots need tests on new outcomes before we can judge their forecasting value; the recognition checks suggest historical familiarity contributed to their apparent advantage. Rates showed a delayed relationship, and jobs did not improve our forecast. And the metro average is only part of the picture. Next, we would test more cities, score the AI live after its training cutoff, and feed it altered histories to see whether it forecasts or recalls.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neiltd.github.io/la-housing-forecast/"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548640" y="502920"/>
            <a:ext cx="4206240" cy="27432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950" b="1" i="0">
                <a:solidFill>
                  <a:srgbClr val="1F6F8B"/>
                </a:solidFill>
                <a:latin typeface="Arial"/>
              </a:rPr>
              <a:t>MGMTMSA 437 · FINAL PROJECT · OCTOBER 2026</a:t>
            </a:r>
          </a:p>
        </p:txBody>
      </p:sp>
      <p:sp>
        <p:nvSpPr>
          <p:cNvPr id="3" name="TextBox 2"/>
          <p:cNvSpPr txBox="1"/>
          <p:nvPr/>
        </p:nvSpPr>
        <p:spPr>
          <a:xfrm>
            <a:off x="548640" y="868680"/>
            <a:ext cx="4206240" cy="173736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3400" b="1" i="0">
                <a:solidFill>
                  <a:srgbClr val="16213E"/>
                </a:solidFill>
                <a:latin typeface="Arial"/>
              </a:rPr>
              <a:t>Forecasting LA Home Values</a:t>
            </a:r>
          </a:p>
        </p:txBody>
      </p:sp>
      <p:sp>
        <p:nvSpPr>
          <p:cNvPr id="4" name="Rectangle 3"/>
          <p:cNvSpPr/>
          <p:nvPr/>
        </p:nvSpPr>
        <p:spPr>
          <a:xfrm>
            <a:off x="548640" y="2697480"/>
            <a:ext cx="1097280" cy="36576"/>
          </a:xfrm>
          <a:prstGeom prst="rect">
            <a:avLst/>
          </a:prstGeom>
          <a:solidFill>
            <a:srgbClr val="B4400B"/>
          </a:solidFill>
          <a:ln>
            <a:noFill/>
          </a:ln>
          <a:effectLst/>
        </p:spPr>
        <p:txBody>
          <a:bodyPr rtlCol="0" anchor="ctr"/>
          <a:lstStyle/>
          <a:p>
            <a:pPr algn="ctr"/>
          </a:p>
        </p:txBody>
      </p:sp>
      <p:sp>
        <p:nvSpPr>
          <p:cNvPr id="5" name="TextBox 4"/>
          <p:cNvSpPr txBox="1"/>
          <p:nvPr/>
        </p:nvSpPr>
        <p:spPr>
          <a:xfrm>
            <a:off x="548640" y="2880360"/>
            <a:ext cx="4023360" cy="82296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400" b="0" i="0">
                <a:solidFill>
                  <a:srgbClr val="3D4A5C"/>
                </a:solidFill>
                <a:latin typeface="Arial"/>
              </a:rPr>
              <a:t>How well can we forecast LA home values up to a year ahead, and which works best: time-series models or AI?</a:t>
            </a:r>
          </a:p>
        </p:txBody>
      </p:sp>
      <p:sp>
        <p:nvSpPr>
          <p:cNvPr id="6" name="TextBox 5"/>
          <p:cNvSpPr txBox="1"/>
          <p:nvPr/>
        </p:nvSpPr>
        <p:spPr>
          <a:xfrm>
            <a:off x="548640" y="3703320"/>
            <a:ext cx="4206240" cy="457200"/>
          </a:xfrm>
          <a:prstGeom prst="rect">
            <a:avLst/>
          </a:prstGeom>
          <a:noFill/>
          <a:ln/>
        </p:spPr>
        <p:txBody>
          <a:bodyPr wrap="square" anchor="t" lIns="25400" rIns="25400" tIns="25400" bIns="25400">
            <a:spAutoFit/>
          </a:bodyPr>
          <a:lstStyle/>
          <a:p>
            <a:pPr algn="l">
              <a:lnSpc>
                <a:spcPct val="100000"/>
              </a:lnSpc>
              <a:spcBef>
                <a:spcPts val="0"/>
              </a:spcBef>
              <a:spcAft>
                <a:spcPts val="200"/>
              </a:spcAft>
            </a:pPr>
            <a:r>
              <a:rPr sz="1100" b="1" i="0">
                <a:solidFill>
                  <a:srgbClr val="16213E"/>
                </a:solidFill>
                <a:latin typeface="Arial"/>
              </a:rPr>
              <a:t>Yang Liu  ·  Jinwoo Roh</a:t>
            </a:r>
          </a:p>
          <a:p>
            <a:pPr algn="l">
              <a:lnSpc>
                <a:spcPct val="100000"/>
              </a:lnSpc>
              <a:spcBef>
                <a:spcPts val="0"/>
              </a:spcBef>
              <a:spcAft>
                <a:spcPts val="200"/>
              </a:spcAft>
            </a:pPr>
            <a:r>
              <a:rPr sz="1100" b="1" i="0">
                <a:solidFill>
                  <a:srgbClr val="16213E"/>
                </a:solidFill>
                <a:latin typeface="Arial"/>
              </a:rPr>
              <a:t>Yiu-Hon Lee  ·  Thanapol Doungsaeng</a:t>
            </a:r>
          </a:p>
        </p:txBody>
      </p:sp>
      <p:sp>
        <p:nvSpPr>
          <p:cNvPr id="7" name="TextBox 6"/>
          <p:cNvSpPr txBox="1"/>
          <p:nvPr/>
        </p:nvSpPr>
        <p:spPr>
          <a:xfrm>
            <a:off x="548640" y="4206240"/>
            <a:ext cx="4023360" cy="45720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950" b="0" i="0">
                <a:solidFill>
                  <a:srgbClr val="6B6F76"/>
                </a:solidFill>
                <a:latin typeface="Arial"/>
              </a:rPr>
              <a:t>Monthly Zillow home values for the LA metro, January 2000 to August 2026, with mortgage rates and neighborhood data</a:t>
            </a:r>
          </a:p>
        </p:txBody>
      </p:sp>
      <p:pic>
        <p:nvPicPr>
          <p:cNvPr id="8" name="Picture 7" descr="LA metro typical home value 2000 to 2026 with a dashed 12-month forecast and its 80% band" title="LA metro typical home value 2000 to 2026 with a dashed 12-month forecast and its 80% band"/>
          <p:cNvPicPr>
            <a:picLocks noChangeAspect="1"/>
          </p:cNvPicPr>
          <p:nvPr/>
        </p:nvPicPr>
        <p:blipFill>
          <a:blip r:embed="rId2"/>
          <a:stretch>
            <a:fillRect/>
          </a:stretch>
        </p:blipFill>
        <p:spPr>
          <a:xfrm>
            <a:off x="4846320" y="1331021"/>
            <a:ext cx="3931920" cy="2550036"/>
          </a:xfrm>
          <a:prstGeom prst="rect">
            <a:avLst/>
          </a:prstGeom>
        </p:spPr>
      </p:pic>
      <p:sp>
        <p:nvSpPr>
          <p:cNvPr id="9" name="TextBox 8"/>
          <p:cNvSpPr txBox="1"/>
          <p:nvPr/>
        </p:nvSpPr>
        <p:spPr>
          <a:xfrm>
            <a:off x="4937760" y="4434840"/>
            <a:ext cx="3840480" cy="27432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900" b="0" i="0">
                <a:solidFill>
                  <a:srgbClr val="6B6F76"/>
                </a:solidFill>
                <a:latin typeface="Arial"/>
              </a:rPr>
              <a:t>Solid: actual  ·  Dashed: our forecast to Aug 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WHY LA, WHY NOW</a:t>
            </a:r>
          </a:p>
        </p:txBody>
      </p:sp>
      <p:sp>
        <p:nvSpPr>
          <p:cNvPr id="3" name="deckkit-chrome-title"/>
          <p:cNvSpPr txBox="1"/>
          <p:nvPr/>
        </p:nvSpPr>
        <p:spPr>
          <a:xfrm>
            <a:off x="502920" y="493776"/>
            <a:ext cx="8138160" cy="792479"/>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After decades of growth, LA home values have stalled</a:t>
            </a:r>
          </a:p>
        </p:txBody>
      </p:sp>
      <p:sp>
        <p:nvSpPr>
          <p:cNvPr id="4" name="deckkit-chrome-title"/>
          <p:cNvSpPr/>
          <p:nvPr/>
        </p:nvSpPr>
        <p:spPr>
          <a:xfrm>
            <a:off x="521207" y="1341120"/>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2</a:t>
            </a:r>
          </a:p>
        </p:txBody>
      </p:sp>
      <p:pic>
        <p:nvPicPr>
          <p:cNvPr id="7" name="Picture 6" descr="LA ZHVI 2000-2026 above the 30-year mortgage rate; test window shaded" title="LA ZHVI 2000-2026 above the 30-year mortgage rate; test window shaded"/>
          <p:cNvPicPr>
            <a:picLocks noChangeAspect="1"/>
          </p:cNvPicPr>
          <p:nvPr/>
        </p:nvPicPr>
        <p:blipFill>
          <a:blip r:embed="rId2"/>
          <a:stretch>
            <a:fillRect/>
          </a:stretch>
        </p:blipFill>
        <p:spPr>
          <a:xfrm>
            <a:off x="1000669" y="1569720"/>
            <a:ext cx="4125141" cy="2933699"/>
          </a:xfrm>
          <a:prstGeom prst="rect">
            <a:avLst/>
          </a:prstGeom>
        </p:spPr>
      </p:pic>
      <p:sp>
        <p:nvSpPr>
          <p:cNvPr id="8" name="TextBox 7"/>
          <p:cNvSpPr txBox="1"/>
          <p:nvPr/>
        </p:nvSpPr>
        <p:spPr>
          <a:xfrm>
            <a:off x="5989320" y="1661160"/>
            <a:ext cx="2743200" cy="406400"/>
          </a:xfrm>
          <a:prstGeom prst="rect">
            <a:avLst/>
          </a:prstGeom>
          <a:noFill/>
          <a:ln/>
        </p:spPr>
        <p:txBody>
          <a:bodyPr wrap="none" anchor="t" lIns="25400" rIns="25400" tIns="25400" bIns="25400">
            <a:spAutoFit/>
          </a:bodyPr>
          <a:lstStyle/>
          <a:p>
            <a:pPr algn="l">
              <a:lnSpc>
                <a:spcPct val="100000"/>
              </a:lnSpc>
              <a:spcBef>
                <a:spcPts val="0"/>
              </a:spcBef>
              <a:spcAft>
                <a:spcPts val="600"/>
              </a:spcAft>
            </a:pPr>
            <a:r>
              <a:rPr sz="2600" b="1" i="0">
                <a:solidFill>
                  <a:srgbClr val="16213E"/>
                </a:solidFill>
                <a:latin typeface="Arial"/>
              </a:rPr>
              <a:t>$952,601</a:t>
            </a:r>
          </a:p>
        </p:txBody>
      </p:sp>
      <p:sp>
        <p:nvSpPr>
          <p:cNvPr id="9" name="TextBox 8"/>
          <p:cNvSpPr txBox="1"/>
          <p:nvPr/>
        </p:nvSpPr>
        <p:spPr>
          <a:xfrm>
            <a:off x="5989320" y="2067560"/>
            <a:ext cx="2743200" cy="149352"/>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Typical home value, LA metro, August 2026</a:t>
            </a:r>
          </a:p>
        </p:txBody>
      </p:sp>
      <p:sp>
        <p:nvSpPr>
          <p:cNvPr id="10" name="TextBox 9"/>
          <p:cNvSpPr txBox="1"/>
          <p:nvPr/>
        </p:nvSpPr>
        <p:spPr>
          <a:xfrm>
            <a:off x="5989320" y="2418080"/>
            <a:ext cx="2743200" cy="406400"/>
          </a:xfrm>
          <a:prstGeom prst="rect">
            <a:avLst/>
          </a:prstGeom>
          <a:noFill/>
          <a:ln/>
        </p:spPr>
        <p:txBody>
          <a:bodyPr wrap="none" anchor="t" lIns="25400" rIns="25400" tIns="25400" bIns="25400">
            <a:spAutoFit/>
          </a:bodyPr>
          <a:lstStyle/>
          <a:p>
            <a:pPr algn="l">
              <a:lnSpc>
                <a:spcPct val="100000"/>
              </a:lnSpc>
              <a:spcBef>
                <a:spcPts val="0"/>
              </a:spcBef>
              <a:spcAft>
                <a:spcPts val="600"/>
              </a:spcAft>
            </a:pPr>
            <a:r>
              <a:rPr sz="2600" b="1" i="0">
                <a:solidFill>
                  <a:srgbClr val="B4400B"/>
                </a:solidFill>
                <a:latin typeface="Arial"/>
              </a:rPr>
              <a:t>-1.3%</a:t>
            </a:r>
          </a:p>
        </p:txBody>
      </p:sp>
      <p:sp>
        <p:nvSpPr>
          <p:cNvPr id="11" name="TextBox 10"/>
          <p:cNvSpPr txBox="1"/>
          <p:nvPr/>
        </p:nvSpPr>
        <p:spPr>
          <a:xfrm>
            <a:off x="5989320" y="2824480"/>
            <a:ext cx="2743200" cy="149352"/>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Below the January 2025 peak</a:t>
            </a:r>
          </a:p>
        </p:txBody>
      </p:sp>
      <p:sp>
        <p:nvSpPr>
          <p:cNvPr id="12" name="TextBox 11"/>
          <p:cNvSpPr txBox="1"/>
          <p:nvPr/>
        </p:nvSpPr>
        <p:spPr>
          <a:xfrm>
            <a:off x="5989320" y="3175000"/>
            <a:ext cx="2743200" cy="406400"/>
          </a:xfrm>
          <a:prstGeom prst="rect">
            <a:avLst/>
          </a:prstGeom>
          <a:noFill/>
          <a:ln/>
        </p:spPr>
        <p:txBody>
          <a:bodyPr wrap="none" anchor="t" lIns="25400" rIns="25400" tIns="25400" bIns="25400">
            <a:spAutoFit/>
          </a:bodyPr>
          <a:lstStyle/>
          <a:p>
            <a:pPr algn="l">
              <a:lnSpc>
                <a:spcPct val="100000"/>
              </a:lnSpc>
              <a:spcBef>
                <a:spcPts val="0"/>
              </a:spcBef>
              <a:spcAft>
                <a:spcPts val="600"/>
              </a:spcAft>
            </a:pPr>
            <a:r>
              <a:rPr sz="2600" b="1" i="0">
                <a:solidFill>
                  <a:srgbClr val="B4400B"/>
                </a:solidFill>
                <a:latin typeface="Arial"/>
              </a:rPr>
              <a:t>2.7% → 7.6%</a:t>
            </a:r>
          </a:p>
        </p:txBody>
      </p:sp>
      <p:sp>
        <p:nvSpPr>
          <p:cNvPr id="13" name="TextBox 12"/>
          <p:cNvSpPr txBox="1"/>
          <p:nvPr/>
        </p:nvSpPr>
        <p:spPr>
          <a:xfrm>
            <a:off x="5989320" y="3581400"/>
            <a:ext cx="2743200" cy="149352"/>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30-year mortgage rate, 2021 low to 2023 high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DATA AND DESIGN</a:t>
            </a:r>
          </a:p>
        </p:txBody>
      </p:sp>
      <p:sp>
        <p:nvSpPr>
          <p:cNvPr id="3" name="deckkit-chrome-title"/>
          <p:cNvSpPr txBox="1"/>
          <p:nvPr/>
        </p:nvSpPr>
        <p:spPr>
          <a:xfrm>
            <a:off x="502920" y="493776"/>
            <a:ext cx="813816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We tested 14 models at 18 forecast dates</a:t>
            </a:r>
          </a:p>
        </p:txBody>
      </p:sp>
      <p:sp>
        <p:nvSpPr>
          <p:cNvPr id="4" name="deckkit-chrome-title"/>
          <p:cNvSpPr/>
          <p:nvPr/>
        </p:nvSpPr>
        <p:spPr>
          <a:xfrm>
            <a:off x="521207" y="1060704"/>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3</a:t>
            </a:r>
          </a:p>
        </p:txBody>
      </p:sp>
      <p:sp>
        <p:nvSpPr>
          <p:cNvPr id="7" name="Rounded Rectangle 6"/>
          <p:cNvSpPr/>
          <p:nvPr/>
        </p:nvSpPr>
        <p:spPr>
          <a:xfrm>
            <a:off x="457200" y="3826763"/>
            <a:ext cx="8229600" cy="722376"/>
          </a:xfrm>
          <a:prstGeom prst="roundRect">
            <a:avLst>
              <a:gd name="adj" fmla="val 8000"/>
            </a:avLst>
          </a:prstGeom>
          <a:solidFill>
            <a:srgbClr val="F3ECE3"/>
          </a:solidFill>
          <a:ln>
            <a:noFill/>
          </a:ln>
          <a:effectLst/>
        </p:spPr>
        <p:txBody>
          <a:bodyPr rtlCol="0" anchor="ctr"/>
          <a:lstStyle/>
          <a:p>
            <a:pPr algn="ctr"/>
          </a:p>
        </p:txBody>
      </p:sp>
      <p:sp>
        <p:nvSpPr>
          <p:cNvPr id="8" name="Rectangle 7"/>
          <p:cNvSpPr/>
          <p:nvPr/>
        </p:nvSpPr>
        <p:spPr>
          <a:xfrm>
            <a:off x="457200" y="3884554"/>
            <a:ext cx="64008" cy="606795"/>
          </a:xfrm>
          <a:prstGeom prst="rect">
            <a:avLst/>
          </a:prstGeom>
          <a:solidFill>
            <a:srgbClr val="B4400B"/>
          </a:solidFill>
          <a:ln>
            <a:noFill/>
          </a:ln>
          <a:effectLst/>
        </p:spPr>
        <p:txBody>
          <a:bodyPr rtlCol="0" anchor="ctr"/>
          <a:lstStyle/>
          <a:p>
            <a:pPr algn="ctr"/>
          </a:p>
        </p:txBody>
      </p:sp>
      <p:sp>
        <p:nvSpPr>
          <p:cNvPr id="9" name="TextBox 8"/>
          <p:cNvSpPr txBox="1"/>
          <p:nvPr/>
        </p:nvSpPr>
        <p:spPr>
          <a:xfrm>
            <a:off x="676656" y="3826763"/>
            <a:ext cx="7827264" cy="722376"/>
          </a:xfrm>
          <a:prstGeom prst="rect">
            <a:avLst/>
          </a:prstGeom>
          <a:noFill/>
          <a:ln/>
        </p:spPr>
        <p:txBody>
          <a:bodyPr wrap="square" anchor="ctr" lIns="25400" rIns="25400" tIns="25400" bIns="25400">
            <a:spAutoFit/>
          </a:bodyPr>
          <a:lstStyle/>
          <a:p>
            <a:pPr algn="l">
              <a:lnSpc>
                <a:spcPct val="108000"/>
              </a:lnSpc>
              <a:spcBef>
                <a:spcPts val="0"/>
              </a:spcBef>
              <a:spcAft>
                <a:spcPts val="0"/>
              </a:spcAft>
            </a:pPr>
            <a:r>
              <a:rPr sz="1100" b="1" i="0">
                <a:solidFill>
                  <a:srgbClr val="B4400B"/>
                </a:solidFill>
                <a:latin typeface="Arial"/>
              </a:rPr>
              <a:t>HOW WE SCORE  </a:t>
            </a:r>
            <a:r>
              <a:rPr sz="1250" b="0" i="0">
                <a:solidFill>
                  <a:srgbClr val="16213E"/>
                </a:solidFill>
                <a:latin typeface="Arial"/>
              </a:rPr>
              <a:t>MAPE measures how far forecasts are from actual values, in percent. We average the absolute errors across months 1 to 12 and all 18 start dates. Lower is better.</a:t>
            </a:r>
          </a:p>
        </p:txBody>
      </p:sp>
      <p:sp>
        <p:nvSpPr>
          <p:cNvPr id="10" name="TextBox 9"/>
          <p:cNvSpPr txBox="1"/>
          <p:nvPr/>
        </p:nvSpPr>
        <p:spPr>
          <a:xfrm>
            <a:off x="365760" y="1335024"/>
            <a:ext cx="2560319" cy="32004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1" i="0">
                <a:solidFill>
                  <a:srgbClr val="1F6F8B"/>
                </a:solidFill>
                <a:latin typeface="Arial"/>
              </a:rPr>
              <a:t>DATA</a:t>
            </a:r>
          </a:p>
        </p:txBody>
      </p:sp>
      <p:sp>
        <p:nvSpPr>
          <p:cNvPr id="11" name="Rectangle 10"/>
          <p:cNvSpPr/>
          <p:nvPr/>
        </p:nvSpPr>
        <p:spPr>
          <a:xfrm>
            <a:off x="365760" y="1664208"/>
            <a:ext cx="2560319" cy="9144"/>
          </a:xfrm>
          <a:prstGeom prst="rect">
            <a:avLst/>
          </a:prstGeom>
          <a:solidFill>
            <a:srgbClr val="6B6F76"/>
          </a:solidFill>
          <a:ln>
            <a:noFill/>
          </a:ln>
          <a:effectLst/>
        </p:spPr>
        <p:txBody>
          <a:bodyPr rtlCol="0" anchor="ctr"/>
          <a:lstStyle/>
          <a:p>
            <a:pPr algn="ctr"/>
          </a:p>
        </p:txBody>
      </p:sp>
      <p:sp>
        <p:nvSpPr>
          <p:cNvPr id="12" name="TextBox 11"/>
          <p:cNvSpPr txBox="1"/>
          <p:nvPr/>
        </p:nvSpPr>
        <p:spPr>
          <a:xfrm>
            <a:off x="365760" y="1792224"/>
            <a:ext cx="2560319" cy="170688"/>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200" b="1" i="0">
                <a:solidFill>
                  <a:srgbClr val="16213E"/>
                </a:solidFill>
                <a:latin typeface="Arial"/>
              </a:rPr>
              <a:t>Zillow ZHVI, LA metro</a:t>
            </a:r>
          </a:p>
        </p:txBody>
      </p:sp>
      <p:sp>
        <p:nvSpPr>
          <p:cNvPr id="13" name="TextBox 12"/>
          <p:cNvSpPr txBox="1"/>
          <p:nvPr/>
        </p:nvSpPr>
        <p:spPr>
          <a:xfrm>
            <a:off x="365760" y="1962912"/>
            <a:ext cx="2560319" cy="149352"/>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320 months, Jan 2000 to Aug 2026</a:t>
            </a:r>
          </a:p>
        </p:txBody>
      </p:sp>
      <p:sp>
        <p:nvSpPr>
          <p:cNvPr id="14" name="TextBox 13"/>
          <p:cNvSpPr txBox="1"/>
          <p:nvPr/>
        </p:nvSpPr>
        <p:spPr>
          <a:xfrm>
            <a:off x="365760" y="2185416"/>
            <a:ext cx="2560319" cy="170688"/>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200" b="1" i="0">
                <a:solidFill>
                  <a:srgbClr val="16213E"/>
                </a:solidFill>
                <a:latin typeface="Arial"/>
              </a:rPr>
              <a:t>499 LA neighborhoods</a:t>
            </a:r>
          </a:p>
        </p:txBody>
      </p:sp>
      <p:sp>
        <p:nvSpPr>
          <p:cNvPr id="15" name="TextBox 14"/>
          <p:cNvSpPr txBox="1"/>
          <p:nvPr/>
        </p:nvSpPr>
        <p:spPr>
          <a:xfrm>
            <a:off x="365760" y="2356104"/>
            <a:ext cx="2560319" cy="149352"/>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Zillow neighborhood index</a:t>
            </a:r>
          </a:p>
        </p:txBody>
      </p:sp>
      <p:sp>
        <p:nvSpPr>
          <p:cNvPr id="16" name="TextBox 15"/>
          <p:cNvSpPr txBox="1"/>
          <p:nvPr/>
        </p:nvSpPr>
        <p:spPr>
          <a:xfrm>
            <a:off x="365760" y="2578608"/>
            <a:ext cx="2560319" cy="170688"/>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200" b="1" i="0">
                <a:solidFill>
                  <a:srgbClr val="16213E"/>
                </a:solidFill>
                <a:latin typeface="Arial"/>
              </a:rPr>
              <a:t>Mortgage rate and payroll jobs</a:t>
            </a:r>
          </a:p>
        </p:txBody>
      </p:sp>
      <p:sp>
        <p:nvSpPr>
          <p:cNvPr id="17" name="TextBox 16"/>
          <p:cNvSpPr txBox="1"/>
          <p:nvPr/>
        </p:nvSpPr>
        <p:spPr>
          <a:xfrm>
            <a:off x="365760" y="2749296"/>
            <a:ext cx="2560319" cy="149352"/>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FRED and BLS, LA and Orange County</a:t>
            </a:r>
          </a:p>
        </p:txBody>
      </p:sp>
      <p:sp>
        <p:nvSpPr>
          <p:cNvPr id="18" name="TextBox 17"/>
          <p:cNvSpPr txBox="1"/>
          <p:nvPr/>
        </p:nvSpPr>
        <p:spPr>
          <a:xfrm>
            <a:off x="3291839" y="1335024"/>
            <a:ext cx="2560319" cy="32004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1" i="0">
                <a:solidFill>
                  <a:srgbClr val="1F6F8B"/>
                </a:solidFill>
                <a:latin typeface="Arial"/>
              </a:rPr>
              <a:t>14 MODELS + 3 CHATBOTS</a:t>
            </a:r>
          </a:p>
        </p:txBody>
      </p:sp>
      <p:sp>
        <p:nvSpPr>
          <p:cNvPr id="19" name="Rectangle 18"/>
          <p:cNvSpPr/>
          <p:nvPr/>
        </p:nvSpPr>
        <p:spPr>
          <a:xfrm>
            <a:off x="3291839" y="1664208"/>
            <a:ext cx="2560319" cy="9144"/>
          </a:xfrm>
          <a:prstGeom prst="rect">
            <a:avLst/>
          </a:prstGeom>
          <a:solidFill>
            <a:srgbClr val="6B6F76"/>
          </a:solidFill>
          <a:ln>
            <a:noFill/>
          </a:ln>
          <a:effectLst/>
        </p:spPr>
        <p:txBody>
          <a:bodyPr rtlCol="0" anchor="ctr"/>
          <a:lstStyle/>
          <a:p>
            <a:pPr algn="ctr"/>
          </a:p>
        </p:txBody>
      </p:sp>
      <p:sp>
        <p:nvSpPr>
          <p:cNvPr id="20" name="TextBox 19"/>
          <p:cNvSpPr txBox="1"/>
          <p:nvPr/>
        </p:nvSpPr>
        <p:spPr>
          <a:xfrm>
            <a:off x="3291839" y="1792224"/>
            <a:ext cx="2560319" cy="170688"/>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200" b="1" i="0">
                <a:solidFill>
                  <a:srgbClr val="16213E"/>
                </a:solidFill>
                <a:latin typeface="Arial"/>
              </a:rPr>
              <a:t>Baseline and classical</a:t>
            </a:r>
          </a:p>
        </p:txBody>
      </p:sp>
      <p:sp>
        <p:nvSpPr>
          <p:cNvPr id="21" name="TextBox 20"/>
          <p:cNvSpPr txBox="1"/>
          <p:nvPr/>
        </p:nvSpPr>
        <p:spPr>
          <a:xfrm>
            <a:off x="3291839" y="1962912"/>
            <a:ext cx="2560319" cy="149352"/>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Naive drift · ARIMA · Holt · Prophet ×2</a:t>
            </a:r>
          </a:p>
        </p:txBody>
      </p:sp>
      <p:sp>
        <p:nvSpPr>
          <p:cNvPr id="22" name="TextBox 21"/>
          <p:cNvSpPr txBox="1"/>
          <p:nvPr/>
        </p:nvSpPr>
        <p:spPr>
          <a:xfrm>
            <a:off x="3291839" y="2185416"/>
            <a:ext cx="2560319" cy="170688"/>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200" b="1" i="0">
                <a:solidFill>
                  <a:srgbClr val="16213E"/>
                </a:solidFill>
                <a:latin typeface="Arial"/>
              </a:rPr>
              <a:t>ML, deep learning, AI</a:t>
            </a:r>
          </a:p>
        </p:txBody>
      </p:sp>
      <p:sp>
        <p:nvSpPr>
          <p:cNvPr id="23" name="TextBox 22"/>
          <p:cNvSpPr txBox="1"/>
          <p:nvPr/>
        </p:nvSpPr>
        <p:spPr>
          <a:xfrm>
            <a:off x="3291839" y="2356104"/>
            <a:ext cx="2560319" cy="298704"/>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XGBoost · LightGBM · LSTM · GRU · Chronos</a:t>
            </a:r>
          </a:p>
        </p:txBody>
      </p:sp>
      <p:sp>
        <p:nvSpPr>
          <p:cNvPr id="24" name="TextBox 23"/>
          <p:cNvSpPr txBox="1"/>
          <p:nvPr/>
        </p:nvSpPr>
        <p:spPr>
          <a:xfrm>
            <a:off x="3291839" y="2727960"/>
            <a:ext cx="2560319" cy="170688"/>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200" b="1" i="0">
                <a:solidFill>
                  <a:srgbClr val="16213E"/>
                </a:solidFill>
                <a:latin typeface="Arial"/>
              </a:rPr>
              <a:t>Outside information</a:t>
            </a:r>
          </a:p>
        </p:txBody>
      </p:sp>
      <p:sp>
        <p:nvSpPr>
          <p:cNvPr id="25" name="TextBox 24"/>
          <p:cNvSpPr txBox="1"/>
          <p:nvPr/>
        </p:nvSpPr>
        <p:spPr>
          <a:xfrm>
            <a:off x="3291839" y="2898648"/>
            <a:ext cx="2560319" cy="149352"/>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ARIMAX ×2 · VAR · factor VAR</a:t>
            </a:r>
          </a:p>
        </p:txBody>
      </p:sp>
      <p:sp>
        <p:nvSpPr>
          <p:cNvPr id="26" name="TextBox 25"/>
          <p:cNvSpPr txBox="1"/>
          <p:nvPr/>
        </p:nvSpPr>
        <p:spPr>
          <a:xfrm>
            <a:off x="3291839" y="3121152"/>
            <a:ext cx="2560319" cy="170688"/>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200" b="1" i="0">
                <a:solidFill>
                  <a:srgbClr val="16213E"/>
                </a:solidFill>
                <a:latin typeface="Arial"/>
              </a:rPr>
              <a:t>Plus 3 AI chatbots</a:t>
            </a:r>
          </a:p>
        </p:txBody>
      </p:sp>
      <p:sp>
        <p:nvSpPr>
          <p:cNvPr id="27" name="TextBox 26"/>
          <p:cNvSpPr txBox="1"/>
          <p:nvPr/>
        </p:nvSpPr>
        <p:spPr>
          <a:xfrm>
            <a:off x="3291839" y="3291840"/>
            <a:ext cx="2560319" cy="149352"/>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Claude · GPT · Gemini</a:t>
            </a:r>
          </a:p>
        </p:txBody>
      </p:sp>
      <p:sp>
        <p:nvSpPr>
          <p:cNvPr id="28" name="TextBox 27"/>
          <p:cNvSpPr txBox="1"/>
          <p:nvPr/>
        </p:nvSpPr>
        <p:spPr>
          <a:xfrm>
            <a:off x="6217919" y="1335024"/>
            <a:ext cx="2560319" cy="32004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1" i="0">
                <a:solidFill>
                  <a:srgbClr val="1F6F8B"/>
                </a:solidFill>
                <a:latin typeface="Arial"/>
              </a:rPr>
              <a:t>HOW WE TESTED</a:t>
            </a:r>
          </a:p>
        </p:txBody>
      </p:sp>
      <p:sp>
        <p:nvSpPr>
          <p:cNvPr id="29" name="Rectangle 28"/>
          <p:cNvSpPr/>
          <p:nvPr/>
        </p:nvSpPr>
        <p:spPr>
          <a:xfrm>
            <a:off x="6217919" y="1664208"/>
            <a:ext cx="2560319" cy="9144"/>
          </a:xfrm>
          <a:prstGeom prst="rect">
            <a:avLst/>
          </a:prstGeom>
          <a:solidFill>
            <a:srgbClr val="6B6F76"/>
          </a:solidFill>
          <a:ln>
            <a:noFill/>
          </a:ln>
          <a:effectLst/>
        </p:spPr>
        <p:txBody>
          <a:bodyPr rtlCol="0" anchor="ctr"/>
          <a:lstStyle/>
          <a:p>
            <a:pPr algn="ctr"/>
          </a:p>
        </p:txBody>
      </p:sp>
      <p:sp>
        <p:nvSpPr>
          <p:cNvPr id="30" name="TextBox 29"/>
          <p:cNvSpPr txBox="1"/>
          <p:nvPr/>
        </p:nvSpPr>
        <p:spPr>
          <a:xfrm>
            <a:off x="6217919" y="1792224"/>
            <a:ext cx="2560319" cy="341376"/>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200" b="1" i="0">
                <a:solidFill>
                  <a:srgbClr val="16213E"/>
                </a:solidFill>
                <a:latin typeface="Arial"/>
              </a:rPr>
              <a:t>1. Repeated 12-month forecasts (main)</a:t>
            </a:r>
          </a:p>
        </p:txBody>
      </p:sp>
      <p:sp>
        <p:nvSpPr>
          <p:cNvPr id="31" name="TextBox 30"/>
          <p:cNvSpPr txBox="1"/>
          <p:nvPr/>
        </p:nvSpPr>
        <p:spPr>
          <a:xfrm>
            <a:off x="6217919" y="2133600"/>
            <a:ext cx="2560319" cy="298704"/>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Update each model every 3 months; repeat at 18 start dates</a:t>
            </a:r>
          </a:p>
        </p:txBody>
      </p:sp>
      <p:sp>
        <p:nvSpPr>
          <p:cNvPr id="32" name="TextBox 31"/>
          <p:cNvSpPr txBox="1"/>
          <p:nvPr/>
        </p:nvSpPr>
        <p:spPr>
          <a:xfrm>
            <a:off x="6217919" y="2505456"/>
            <a:ext cx="2560319" cy="170688"/>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200" b="1" i="0">
                <a:solidFill>
                  <a:srgbClr val="16213E"/>
                </a:solidFill>
                <a:latin typeface="Arial"/>
              </a:rPr>
              <a:t>2. One long forecast</a:t>
            </a:r>
          </a:p>
        </p:txBody>
      </p:sp>
      <p:sp>
        <p:nvSpPr>
          <p:cNvPr id="33" name="TextBox 32"/>
          <p:cNvSpPr txBox="1"/>
          <p:nvPr/>
        </p:nvSpPr>
        <p:spPr>
          <a:xfrm>
            <a:off x="6217919" y="2676144"/>
            <a:ext cx="2560319" cy="298704"/>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Train through April 2021, then forecast the next 64 months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RESULT 1 · REPEATED 12-MONTH FORECASTS</a:t>
            </a:r>
          </a:p>
        </p:txBody>
      </p:sp>
      <p:sp>
        <p:nvSpPr>
          <p:cNvPr id="3" name="deckkit-chrome-title"/>
          <p:cNvSpPr txBox="1"/>
          <p:nvPr/>
        </p:nvSpPr>
        <p:spPr>
          <a:xfrm>
            <a:off x="502920" y="493776"/>
            <a:ext cx="813816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ARIMAX had the lowest average forecast error</a:t>
            </a:r>
          </a:p>
        </p:txBody>
      </p:sp>
      <p:sp>
        <p:nvSpPr>
          <p:cNvPr id="4" name="deckkit-chrome-title"/>
          <p:cNvSpPr/>
          <p:nvPr/>
        </p:nvSpPr>
        <p:spPr>
          <a:xfrm>
            <a:off x="521207" y="1060704"/>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4</a:t>
            </a:r>
          </a:p>
        </p:txBody>
      </p:sp>
      <p:graphicFrame>
        <p:nvGraphicFramePr>
          <p:cNvPr id="7" name="Chart 6"/>
          <p:cNvGraphicFramePr>
            <a:graphicFrameLocks noGrp="1"/>
          </p:cNvGraphicFramePr>
          <p:nvPr/>
        </p:nvGraphicFramePr>
        <p:xfrm>
          <a:off x="457200" y="1289304"/>
          <a:ext cx="5394960" cy="3259835"/>
        </p:xfrm>
        <a:graphic>
          <a:graphicData uri="http://schemas.openxmlformats.org/drawingml/2006/chart">
            <c:chart xmlns:c="http://schemas.openxmlformats.org/drawingml/2006/chart" r:id="rId2"/>
          </a:graphicData>
        </a:graphic>
      </p:graphicFrame>
      <p:sp>
        <p:nvSpPr>
          <p:cNvPr id="8" name="TextBox 7"/>
          <p:cNvSpPr txBox="1"/>
          <p:nvPr/>
        </p:nvSpPr>
        <p:spPr>
          <a:xfrm>
            <a:off x="6126480" y="1380744"/>
            <a:ext cx="260604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LOWEST ERROR (MAPE)</a:t>
            </a:r>
          </a:p>
        </p:txBody>
      </p:sp>
      <p:sp>
        <p:nvSpPr>
          <p:cNvPr id="9" name="TextBox 8"/>
          <p:cNvSpPr txBox="1"/>
          <p:nvPr/>
        </p:nvSpPr>
        <p:spPr>
          <a:xfrm>
            <a:off x="6126480" y="1691640"/>
            <a:ext cx="2606040" cy="82296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3400" b="1" i="0">
                <a:solidFill>
                  <a:srgbClr val="16213E"/>
                </a:solidFill>
                <a:latin typeface="Arial"/>
              </a:rPr>
              <a:t>2.67%</a:t>
            </a:r>
          </a:p>
        </p:txBody>
      </p:sp>
      <p:sp>
        <p:nvSpPr>
          <p:cNvPr id="10" name="TextBox 9"/>
          <p:cNvSpPr txBox="1"/>
          <p:nvPr/>
        </p:nvSpPr>
        <p:spPr>
          <a:xfrm>
            <a:off x="6126480" y="2569464"/>
            <a:ext cx="2606040" cy="1536191"/>
          </a:xfrm>
          <a:prstGeom prst="rect">
            <a:avLst/>
          </a:prstGeom>
          <a:noFill/>
          <a:ln/>
        </p:spPr>
        <p:txBody>
          <a:bodyPr wrap="square" anchor="t" lIns="25400" rIns="25400" tIns="25400" bIns="25400">
            <a:spAutoFit/>
          </a:bodyPr>
          <a:lstStyle/>
          <a:p>
            <a:pPr algn="l">
              <a:lnSpc>
                <a:spcPct val="120000"/>
              </a:lnSpc>
              <a:spcBef>
                <a:spcPts val="0"/>
              </a:spcBef>
              <a:spcAft>
                <a:spcPts val="0"/>
              </a:spcAft>
            </a:pPr>
            <a:r>
              <a:rPr sz="1400" b="0" i="0">
                <a:solidFill>
                  <a:srgbClr val="3D4A5C"/>
                </a:solidFill>
                <a:latin typeface="Arial"/>
              </a:rPr>
              <a:t>average error across months 1 to 12. ARIMAX adds mortgage-rate information to ARIMA; plain ARIMA was close, at 2.77%. At month 12 alone: ARIMAX 5.0%, naive drift 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RESULT 2 · ONE LONG FORECAST</a:t>
            </a:r>
          </a:p>
        </p:txBody>
      </p:sp>
      <p:sp>
        <p:nvSpPr>
          <p:cNvPr id="3" name="deckkit-chrome-title"/>
          <p:cNvSpPr txBox="1"/>
          <p:nvPr/>
        </p:nvSpPr>
        <p:spPr>
          <a:xfrm>
            <a:off x="502920" y="493776"/>
            <a:ext cx="8138160" cy="792479"/>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LightGBM ranked first in one long test, but tenth in repeated 12-month tests</a:t>
            </a:r>
          </a:p>
        </p:txBody>
      </p:sp>
      <p:sp>
        <p:nvSpPr>
          <p:cNvPr id="4" name="deckkit-chrome-title"/>
          <p:cNvSpPr/>
          <p:nvPr/>
        </p:nvSpPr>
        <p:spPr>
          <a:xfrm>
            <a:off x="521207" y="1341120"/>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5</a:t>
            </a:r>
          </a:p>
        </p:txBody>
      </p:sp>
      <p:pic>
        <p:nvPicPr>
          <p:cNvPr id="7" name="Picture 6" descr="5 by 3 grid of 15 model forecasts from May 2021 against actual LA values; LightGBM circled in red, ARIMAX in green" title="5 by 3 grid of 15 model forecasts from May 2021 against actual LA values; LightGBM circled in red, ARIMAX in green"/>
          <p:cNvPicPr>
            <a:picLocks noChangeAspect="1"/>
          </p:cNvPicPr>
          <p:nvPr/>
        </p:nvPicPr>
        <p:blipFill>
          <a:blip r:embed="rId2"/>
          <a:stretch>
            <a:fillRect/>
          </a:stretch>
        </p:blipFill>
        <p:spPr>
          <a:xfrm>
            <a:off x="558447" y="1542288"/>
            <a:ext cx="5329625" cy="3052571"/>
          </a:xfrm>
          <a:prstGeom prst="rect">
            <a:avLst/>
          </a:prstGeom>
        </p:spPr>
      </p:pic>
      <p:sp>
        <p:nvSpPr>
          <p:cNvPr id="8" name="TextBox 7"/>
          <p:cNvSpPr txBox="1"/>
          <p:nvPr/>
        </p:nvSpPr>
        <p:spPr>
          <a:xfrm>
            <a:off x="6309360" y="1661160"/>
            <a:ext cx="25146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B4400B"/>
                </a:solidFill>
                <a:latin typeface="Arial"/>
              </a:rPr>
              <a:t>SAME MODEL, TWO TESTS</a:t>
            </a:r>
          </a:p>
        </p:txBody>
      </p:sp>
      <p:sp>
        <p:nvSpPr>
          <p:cNvPr id="9" name="TextBox 8"/>
          <p:cNvSpPr txBox="1"/>
          <p:nvPr/>
        </p:nvSpPr>
        <p:spPr>
          <a:xfrm>
            <a:off x="6309360" y="1972056"/>
            <a:ext cx="2514600" cy="82296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3400" b="1" i="0">
                <a:solidFill>
                  <a:srgbClr val="16213E"/>
                </a:solidFill>
                <a:latin typeface="Arial"/>
              </a:rPr>
              <a:t>1st → 10th</a:t>
            </a:r>
          </a:p>
        </p:txBody>
      </p:sp>
      <p:sp>
        <p:nvSpPr>
          <p:cNvPr id="10" name="TextBox 9"/>
          <p:cNvSpPr txBox="1"/>
          <p:nvPr/>
        </p:nvSpPr>
        <p:spPr>
          <a:xfrm>
            <a:off x="6309360" y="2849880"/>
            <a:ext cx="2514600" cy="1280160"/>
          </a:xfrm>
          <a:prstGeom prst="rect">
            <a:avLst/>
          </a:prstGeom>
          <a:noFill/>
          <a:ln/>
        </p:spPr>
        <p:txBody>
          <a:bodyPr wrap="square" anchor="t" lIns="25400" rIns="25400" tIns="25400" bIns="25400">
            <a:spAutoFit/>
          </a:bodyPr>
          <a:lstStyle/>
          <a:p>
            <a:pPr algn="l">
              <a:lnSpc>
                <a:spcPct val="120000"/>
              </a:lnSpc>
              <a:spcBef>
                <a:spcPts val="0"/>
              </a:spcBef>
              <a:spcAft>
                <a:spcPts val="0"/>
              </a:spcAft>
            </a:pPr>
            <a:r>
              <a:rPr sz="1400" b="0" i="0">
                <a:solidFill>
                  <a:srgbClr val="3D4A5C"/>
                </a:solidFill>
                <a:latin typeface="Arial"/>
              </a:rPr>
              <a:t>1st in the 64-month test (2.2% error), 10th in repeated 12-month tests. LightGBM's lead did not hold under our main evaluation.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RESULT 3 · AI AS AN ALTERNATIVE</a:t>
            </a:r>
          </a:p>
        </p:txBody>
      </p:sp>
      <p:sp>
        <p:nvSpPr>
          <p:cNvPr id="3" name="deckkit-chrome-title"/>
          <p:cNvSpPr txBox="1"/>
          <p:nvPr/>
        </p:nvSpPr>
        <p:spPr>
          <a:xfrm>
            <a:off x="502920" y="493776"/>
            <a:ext cx="8138160" cy="792479"/>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An alternative tool: AI's edge faded once we removed the clues</a:t>
            </a:r>
          </a:p>
        </p:txBody>
      </p:sp>
      <p:sp>
        <p:nvSpPr>
          <p:cNvPr id="4" name="deckkit-chrome-title"/>
          <p:cNvSpPr/>
          <p:nvPr/>
        </p:nvSpPr>
        <p:spPr>
          <a:xfrm>
            <a:off x="521207" y="1341120"/>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6</a:t>
            </a:r>
          </a:p>
        </p:txBody>
      </p:sp>
      <p:pic>
        <p:nvPicPr>
          <p:cNvPr id="7" name="Picture 6" descr="Average and 12-month error of Claude, GPT and Gemini under named, blind and masked prompts, against ARIMAX and naive drift" title="Average and 12-month error of Claude, GPT and Gemini under named, blind and masked prompts, against ARIMAX and naive dri"/>
          <p:cNvPicPr>
            <a:picLocks noChangeAspect="1"/>
          </p:cNvPicPr>
          <p:nvPr/>
        </p:nvPicPr>
        <p:blipFill>
          <a:blip r:embed="rId2"/>
          <a:stretch>
            <a:fillRect/>
          </a:stretch>
        </p:blipFill>
        <p:spPr>
          <a:xfrm>
            <a:off x="411480" y="1712810"/>
            <a:ext cx="5577840" cy="2693239"/>
          </a:xfrm>
          <a:prstGeom prst="rect">
            <a:avLst/>
          </a:prstGeom>
        </p:spPr>
      </p:pic>
      <p:sp>
        <p:nvSpPr>
          <p:cNvPr id="8" name="TextBox 7"/>
          <p:cNvSpPr txBox="1"/>
          <p:nvPr/>
        </p:nvSpPr>
        <p:spPr>
          <a:xfrm>
            <a:off x="6217920" y="1661160"/>
            <a:ext cx="25146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B4400B"/>
                </a:solidFill>
                <a:latin typeface="Arial"/>
              </a:rPr>
              <a:t>CLAUDE: NAMED → MASKED</a:t>
            </a:r>
          </a:p>
        </p:txBody>
      </p:sp>
      <p:sp>
        <p:nvSpPr>
          <p:cNvPr id="9" name="TextBox 8"/>
          <p:cNvSpPr txBox="1"/>
          <p:nvPr/>
        </p:nvSpPr>
        <p:spPr>
          <a:xfrm>
            <a:off x="6217920" y="1972056"/>
            <a:ext cx="2514600" cy="82296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3400" b="1" i="0">
                <a:solidFill>
                  <a:srgbClr val="16213E"/>
                </a:solidFill>
                <a:latin typeface="Arial"/>
              </a:rPr>
              <a:t>1.3 → 2.8%</a:t>
            </a:r>
          </a:p>
        </p:txBody>
      </p:sp>
      <p:sp>
        <p:nvSpPr>
          <p:cNvPr id="10" name="TextBox 9"/>
          <p:cNvSpPr txBox="1"/>
          <p:nvPr/>
        </p:nvSpPr>
        <p:spPr>
          <a:xfrm>
            <a:off x="6217920" y="2849880"/>
            <a:ext cx="2514600" cy="1280160"/>
          </a:xfrm>
          <a:prstGeom prst="rect">
            <a:avLst/>
          </a:prstGeom>
          <a:noFill/>
          <a:ln/>
        </p:spPr>
        <p:txBody>
          <a:bodyPr wrap="square" anchor="t" lIns="25400" rIns="25400" tIns="25400" bIns="25400">
            <a:spAutoFit/>
          </a:bodyPr>
          <a:lstStyle/>
          <a:p>
            <a:pPr algn="l">
              <a:lnSpc>
                <a:spcPct val="120000"/>
              </a:lnSpc>
              <a:spcBef>
                <a:spcPts val="0"/>
              </a:spcBef>
              <a:spcAft>
                <a:spcPts val="0"/>
              </a:spcAft>
            </a:pPr>
            <a:r>
              <a:rPr sz="1400" b="0" i="0">
                <a:solidFill>
                  <a:srgbClr val="3D4A5C"/>
                </a:solidFill>
                <a:latin typeface="Arial"/>
              </a:rPr>
              <a:t>Claude's average error rose from 1.3% to 2.8%, close to ARIMAX's 2.67%. These historical periods may already be familiar to the chatbots.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RESULT 3 · AI AS AN ALTERNATIVE, HOW WE TESTED</a:t>
            </a:r>
          </a:p>
        </p:txBody>
      </p:sp>
      <p:sp>
        <p:nvSpPr>
          <p:cNvPr id="3" name="deckkit-chrome-title"/>
          <p:cNvSpPr txBox="1"/>
          <p:nvPr/>
        </p:nvSpPr>
        <p:spPr>
          <a:xfrm>
            <a:off x="502920" y="493776"/>
            <a:ext cx="813816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Masking cut recognition, but didn't remove it</a:t>
            </a:r>
          </a:p>
        </p:txBody>
      </p:sp>
      <p:sp>
        <p:nvSpPr>
          <p:cNvPr id="4" name="deckkit-chrome-title"/>
          <p:cNvSpPr/>
          <p:nvPr/>
        </p:nvSpPr>
        <p:spPr>
          <a:xfrm>
            <a:off x="521207" y="1060704"/>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7</a:t>
            </a:r>
          </a:p>
        </p:txBody>
      </p:sp>
      <p:sp>
        <p:nvSpPr>
          <p:cNvPr id="7" name="Rounded Rectangle 6"/>
          <p:cNvSpPr/>
          <p:nvPr/>
        </p:nvSpPr>
        <p:spPr>
          <a:xfrm>
            <a:off x="457200" y="3826763"/>
            <a:ext cx="8229600" cy="722376"/>
          </a:xfrm>
          <a:prstGeom prst="roundRect">
            <a:avLst>
              <a:gd name="adj" fmla="val 8000"/>
            </a:avLst>
          </a:prstGeom>
          <a:solidFill>
            <a:srgbClr val="F3ECE3"/>
          </a:solidFill>
          <a:ln>
            <a:noFill/>
          </a:ln>
          <a:effectLst/>
        </p:spPr>
        <p:txBody>
          <a:bodyPr rtlCol="0" anchor="ctr"/>
          <a:lstStyle/>
          <a:p>
            <a:pPr algn="ctr"/>
          </a:p>
        </p:txBody>
      </p:sp>
      <p:sp>
        <p:nvSpPr>
          <p:cNvPr id="8" name="Rectangle 7"/>
          <p:cNvSpPr/>
          <p:nvPr/>
        </p:nvSpPr>
        <p:spPr>
          <a:xfrm>
            <a:off x="457200" y="3884554"/>
            <a:ext cx="64008" cy="606795"/>
          </a:xfrm>
          <a:prstGeom prst="rect">
            <a:avLst/>
          </a:prstGeom>
          <a:solidFill>
            <a:srgbClr val="B4400B"/>
          </a:solidFill>
          <a:ln>
            <a:noFill/>
          </a:ln>
          <a:effectLst/>
        </p:spPr>
        <p:txBody>
          <a:bodyPr rtlCol="0" anchor="ctr"/>
          <a:lstStyle/>
          <a:p>
            <a:pPr algn="ctr"/>
          </a:p>
        </p:txBody>
      </p:sp>
      <p:sp>
        <p:nvSpPr>
          <p:cNvPr id="9" name="TextBox 8"/>
          <p:cNvSpPr txBox="1"/>
          <p:nvPr/>
        </p:nvSpPr>
        <p:spPr>
          <a:xfrm>
            <a:off x="676656" y="3826763"/>
            <a:ext cx="7827264" cy="722376"/>
          </a:xfrm>
          <a:prstGeom prst="rect">
            <a:avLst/>
          </a:prstGeom>
          <a:noFill/>
          <a:ln/>
        </p:spPr>
        <p:txBody>
          <a:bodyPr wrap="square" anchor="ctr" lIns="25400" rIns="25400" tIns="25400" bIns="25400">
            <a:spAutoFit/>
          </a:bodyPr>
          <a:lstStyle/>
          <a:p>
            <a:pPr algn="l">
              <a:lnSpc>
                <a:spcPct val="108000"/>
              </a:lnSpc>
              <a:spcBef>
                <a:spcPts val="0"/>
              </a:spcBef>
              <a:spcAft>
                <a:spcPts val="0"/>
              </a:spcAft>
            </a:pPr>
            <a:r>
              <a:rPr sz="1100" b="1" i="0">
                <a:solidFill>
                  <a:srgbClr val="B4400B"/>
                </a:solidFill>
                <a:latin typeface="Arial"/>
              </a:rPr>
              <a:t>NAME THIS SERIES  </a:t>
            </a:r>
            <a:r>
              <a:rPr sz="1250" b="0" i="0">
                <a:solidFill>
                  <a:srgbClr val="16213E"/>
                </a:solidFill>
                <a:latin typeface="Arial"/>
              </a:rPr>
              <a:t>Claude identified LA in 16/18 blind prompts and 0/18 masked prompts. It could still estimate the period from the masked data.</a:t>
            </a:r>
          </a:p>
        </p:txBody>
      </p:sp>
      <p:sp>
        <p:nvSpPr>
          <p:cNvPr id="10" name="Rectangle 9"/>
          <p:cNvSpPr/>
          <p:nvPr/>
        </p:nvSpPr>
        <p:spPr>
          <a:xfrm>
            <a:off x="457200" y="1316736"/>
            <a:ext cx="2834640" cy="729995"/>
          </a:xfrm>
          <a:prstGeom prst="rect">
            <a:avLst/>
          </a:prstGeom>
          <a:solidFill>
            <a:srgbClr val="FFFFFF"/>
          </a:solidFill>
          <a:ln w="9525">
            <a:solidFill>
              <a:srgbClr val="DDD8CC"/>
            </a:solidFill>
          </a:ln>
          <a:effectLst/>
        </p:spPr>
        <p:txBody>
          <a:bodyPr rtlCol="0" anchor="ctr"/>
          <a:lstStyle/>
          <a:p>
            <a:pPr algn="ctr"/>
          </a:p>
        </p:txBody>
      </p:sp>
      <p:sp>
        <p:nvSpPr>
          <p:cNvPr id="11" name="TextBox 10"/>
          <p:cNvSpPr txBox="1"/>
          <p:nvPr/>
        </p:nvSpPr>
        <p:spPr>
          <a:xfrm>
            <a:off x="566928" y="1371600"/>
            <a:ext cx="2615184" cy="256032"/>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B4400B"/>
                </a:solidFill>
                <a:latin typeface="Arial"/>
              </a:rPr>
              <a:t>NAMED</a:t>
            </a:r>
          </a:p>
        </p:txBody>
      </p:sp>
      <p:sp>
        <p:nvSpPr>
          <p:cNvPr id="12" name="TextBox 11"/>
          <p:cNvSpPr txBox="1"/>
          <p:nvPr/>
        </p:nvSpPr>
        <p:spPr>
          <a:xfrm>
            <a:off x="566928" y="1609344"/>
            <a:ext cx="2615184" cy="181355"/>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0" i="0">
                <a:solidFill>
                  <a:srgbClr val="16213E"/>
                </a:solidFill>
                <a:latin typeface="Arial"/>
              </a:rPr>
              <a:t>LA, real dates, dollars, rates</a:t>
            </a:r>
          </a:p>
        </p:txBody>
      </p:sp>
      <p:sp>
        <p:nvSpPr>
          <p:cNvPr id="13" name="TextBox 12"/>
          <p:cNvSpPr txBox="1"/>
          <p:nvPr/>
        </p:nvSpPr>
        <p:spPr>
          <a:xfrm>
            <a:off x="566928" y="1754124"/>
            <a:ext cx="2615184" cy="256032"/>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1" i="0">
                <a:solidFill>
                  <a:srgbClr val="B4400B"/>
                </a:solidFill>
                <a:latin typeface="Arial"/>
              </a:rPr>
              <a:t>Most clues</a:t>
            </a:r>
          </a:p>
        </p:txBody>
      </p:sp>
      <p:sp>
        <p:nvSpPr>
          <p:cNvPr id="14" name="Rectangle 13"/>
          <p:cNvSpPr/>
          <p:nvPr/>
        </p:nvSpPr>
        <p:spPr>
          <a:xfrm>
            <a:off x="457200" y="2138171"/>
            <a:ext cx="2834640" cy="729995"/>
          </a:xfrm>
          <a:prstGeom prst="rect">
            <a:avLst/>
          </a:prstGeom>
          <a:solidFill>
            <a:srgbClr val="FFFFFF"/>
          </a:solidFill>
          <a:ln w="9525">
            <a:solidFill>
              <a:srgbClr val="DDD8CC"/>
            </a:solidFill>
          </a:ln>
          <a:effectLst/>
        </p:spPr>
        <p:txBody>
          <a:bodyPr rtlCol="0" anchor="ctr"/>
          <a:lstStyle/>
          <a:p>
            <a:pPr algn="ctr"/>
          </a:p>
        </p:txBody>
      </p:sp>
      <p:sp>
        <p:nvSpPr>
          <p:cNvPr id="15" name="TextBox 14"/>
          <p:cNvSpPr txBox="1"/>
          <p:nvPr/>
        </p:nvSpPr>
        <p:spPr>
          <a:xfrm>
            <a:off x="566928" y="2193035"/>
            <a:ext cx="2615184" cy="256032"/>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B4400B"/>
                </a:solidFill>
                <a:latin typeface="Arial"/>
              </a:rPr>
              <a:t>BLIND</a:t>
            </a:r>
          </a:p>
        </p:txBody>
      </p:sp>
      <p:sp>
        <p:nvSpPr>
          <p:cNvPr id="16" name="TextBox 15"/>
          <p:cNvSpPr txBox="1"/>
          <p:nvPr/>
        </p:nvSpPr>
        <p:spPr>
          <a:xfrm>
            <a:off x="566928" y="2430779"/>
            <a:ext cx="2615184" cy="181355"/>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0" i="0">
                <a:solidFill>
                  <a:srgbClr val="16213E"/>
                </a:solidFill>
                <a:latin typeface="Arial"/>
              </a:rPr>
              <a:t>Place, dates hidden; rates kept</a:t>
            </a:r>
          </a:p>
        </p:txBody>
      </p:sp>
      <p:sp>
        <p:nvSpPr>
          <p:cNvPr id="17" name="TextBox 16"/>
          <p:cNvSpPr txBox="1"/>
          <p:nvPr/>
        </p:nvSpPr>
        <p:spPr>
          <a:xfrm>
            <a:off x="566928" y="2575559"/>
            <a:ext cx="2615184" cy="256032"/>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1" i="0">
                <a:solidFill>
                  <a:srgbClr val="B4400B"/>
                </a:solidFill>
                <a:latin typeface="Arial"/>
              </a:rPr>
              <a:t>Rates can reveal dates</a:t>
            </a:r>
          </a:p>
        </p:txBody>
      </p:sp>
      <p:sp>
        <p:nvSpPr>
          <p:cNvPr id="18" name="Rectangle 17"/>
          <p:cNvSpPr/>
          <p:nvPr/>
        </p:nvSpPr>
        <p:spPr>
          <a:xfrm>
            <a:off x="457200" y="2959607"/>
            <a:ext cx="2834640" cy="729995"/>
          </a:xfrm>
          <a:prstGeom prst="rect">
            <a:avLst/>
          </a:prstGeom>
          <a:solidFill>
            <a:srgbClr val="FFFFFF"/>
          </a:solidFill>
          <a:ln w="9525">
            <a:solidFill>
              <a:srgbClr val="DDD8CC"/>
            </a:solidFill>
          </a:ln>
          <a:effectLst/>
        </p:spPr>
        <p:txBody>
          <a:bodyPr rtlCol="0" anchor="ctr"/>
          <a:lstStyle/>
          <a:p>
            <a:pPr algn="ctr"/>
          </a:p>
        </p:txBody>
      </p:sp>
      <p:sp>
        <p:nvSpPr>
          <p:cNvPr id="19" name="TextBox 18"/>
          <p:cNvSpPr txBox="1"/>
          <p:nvPr/>
        </p:nvSpPr>
        <p:spPr>
          <a:xfrm>
            <a:off x="566928" y="3014471"/>
            <a:ext cx="2615184" cy="256032"/>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1" i="0">
                <a:solidFill>
                  <a:srgbClr val="1F6F8B"/>
                </a:solidFill>
                <a:latin typeface="Arial"/>
              </a:rPr>
              <a:t>MASKED</a:t>
            </a:r>
          </a:p>
        </p:txBody>
      </p:sp>
      <p:sp>
        <p:nvSpPr>
          <p:cNvPr id="20" name="TextBox 19"/>
          <p:cNvSpPr txBox="1"/>
          <p:nvPr/>
        </p:nvSpPr>
        <p:spPr>
          <a:xfrm>
            <a:off x="566928" y="3252215"/>
            <a:ext cx="2615184" cy="181355"/>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050" b="0" i="0">
                <a:solidFill>
                  <a:srgbClr val="16213E"/>
                </a:solidFill>
                <a:latin typeface="Arial"/>
              </a:rPr>
              <a:t>10 years, rescaled; no place, dates, rates</a:t>
            </a:r>
          </a:p>
        </p:txBody>
      </p:sp>
      <p:sp>
        <p:nvSpPr>
          <p:cNvPr id="21" name="TextBox 20"/>
          <p:cNvSpPr txBox="1"/>
          <p:nvPr/>
        </p:nvSpPr>
        <p:spPr>
          <a:xfrm>
            <a:off x="566928" y="3396995"/>
            <a:ext cx="2615184" cy="256032"/>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950" b="1" i="0">
                <a:solidFill>
                  <a:srgbClr val="1F6F8B"/>
                </a:solidFill>
                <a:latin typeface="Arial"/>
              </a:rPr>
              <a:t>Fewest clues</a:t>
            </a:r>
          </a:p>
        </p:txBody>
      </p:sp>
      <p:pic>
        <p:nvPicPr>
          <p:cNvPr id="22" name="Picture 21" descr="April 2022: actual LA values fell; Claude's named and blind forecasts followed the drop, its masked forecast and ARIMAX kept rising" title="April 2022: actual LA values fell; Claude's named and blind forecasts followed the drop, its masked forecast and ARIMAX "/>
          <p:cNvPicPr>
            <a:picLocks noChangeAspect="1"/>
          </p:cNvPicPr>
          <p:nvPr/>
        </p:nvPicPr>
        <p:blipFill>
          <a:blip r:embed="rId2"/>
          <a:stretch>
            <a:fillRect/>
          </a:stretch>
        </p:blipFill>
        <p:spPr>
          <a:xfrm>
            <a:off x="4077069" y="1289304"/>
            <a:ext cx="4053101" cy="240029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RESULT 4 · MORTGAGE RATES AND OUTLOOK</a:t>
            </a:r>
          </a:p>
        </p:txBody>
      </p:sp>
      <p:sp>
        <p:nvSpPr>
          <p:cNvPr id="3" name="deckkit-chrome-title"/>
          <p:cNvSpPr txBox="1"/>
          <p:nvPr/>
        </p:nvSpPr>
        <p:spPr>
          <a:xfrm>
            <a:off x="502920" y="493776"/>
            <a:ext cx="813816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Rates act with a delay; we forecast +4.8%</a:t>
            </a:r>
          </a:p>
        </p:txBody>
      </p:sp>
      <p:sp>
        <p:nvSpPr>
          <p:cNvPr id="4" name="deckkit-chrome-title"/>
          <p:cNvSpPr/>
          <p:nvPr/>
        </p:nvSpPr>
        <p:spPr>
          <a:xfrm>
            <a:off x="521207" y="1060704"/>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8</a:t>
            </a:r>
          </a:p>
        </p:txBody>
      </p:sp>
      <p:sp>
        <p:nvSpPr>
          <p:cNvPr id="7" name="TextBox 6"/>
          <p:cNvSpPr txBox="1"/>
          <p:nvPr/>
        </p:nvSpPr>
        <p:spPr>
          <a:xfrm>
            <a:off x="457200" y="1261872"/>
            <a:ext cx="8229600" cy="27432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1" i="0">
                <a:solidFill>
                  <a:srgbClr val="1F6F8B"/>
                </a:solidFill>
                <a:latin typeface="Arial"/>
              </a:rPr>
              <a:t>ESTIMATED HOME-VALUE RESPONSE TO A 1-POINT MORTGAGE-RATE SHOCK</a:t>
            </a:r>
          </a:p>
        </p:txBody>
      </p:sp>
      <p:pic>
        <p:nvPicPr>
          <p:cNvPr id="8" name="Picture 7" descr="Impulse response of LA home values to a 1-point mortgage rate rise over 36 months, with 90% band" title="Impulse response of LA home values to a 1-point mortgage rate rise over 36 months, with 90% band"/>
          <p:cNvPicPr>
            <a:picLocks noChangeAspect="1"/>
          </p:cNvPicPr>
          <p:nvPr/>
        </p:nvPicPr>
        <p:blipFill>
          <a:blip r:embed="rId2"/>
          <a:stretch>
            <a:fillRect/>
          </a:stretch>
        </p:blipFill>
        <p:spPr>
          <a:xfrm>
            <a:off x="1106683" y="1536192"/>
            <a:ext cx="4278872" cy="1300733"/>
          </a:xfrm>
          <a:prstGeom prst="rect">
            <a:avLst/>
          </a:prstGeom>
        </p:spPr>
      </p:pic>
      <p:sp>
        <p:nvSpPr>
          <p:cNvPr id="9" name="TextBox 8"/>
          <p:cNvSpPr txBox="1"/>
          <p:nvPr/>
        </p:nvSpPr>
        <p:spPr>
          <a:xfrm>
            <a:off x="6263640" y="1554480"/>
            <a:ext cx="2514600" cy="302768"/>
          </a:xfrm>
          <a:prstGeom prst="rect">
            <a:avLst/>
          </a:prstGeom>
          <a:noFill/>
          <a:ln/>
        </p:spPr>
        <p:txBody>
          <a:bodyPr wrap="none" anchor="t" lIns="25400" rIns="25400" tIns="25400" bIns="25400">
            <a:spAutoFit/>
          </a:bodyPr>
          <a:lstStyle/>
          <a:p>
            <a:pPr algn="l">
              <a:lnSpc>
                <a:spcPct val="100000"/>
              </a:lnSpc>
              <a:spcBef>
                <a:spcPts val="0"/>
              </a:spcBef>
              <a:spcAft>
                <a:spcPts val="600"/>
              </a:spcAft>
            </a:pPr>
            <a:r>
              <a:rPr sz="2000" b="1" i="0">
                <a:solidFill>
                  <a:srgbClr val="B4400B"/>
                </a:solidFill>
                <a:latin typeface="Arial"/>
              </a:rPr>
              <a:t>−9.2%</a:t>
            </a:r>
          </a:p>
        </p:txBody>
      </p:sp>
      <p:sp>
        <p:nvSpPr>
          <p:cNvPr id="10" name="TextBox 9"/>
          <p:cNvSpPr txBox="1"/>
          <p:nvPr/>
        </p:nvSpPr>
        <p:spPr>
          <a:xfrm>
            <a:off x="6263640" y="1857248"/>
            <a:ext cx="2514600" cy="270256"/>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950" b="0" i="0">
                <a:solidFill>
                  <a:srgbClr val="6B6F76"/>
                </a:solidFill>
                <a:latin typeface="Arial"/>
              </a:rPr>
              <a:t>VAR-estimated response after two years (−4.5% after one)</a:t>
            </a:r>
          </a:p>
        </p:txBody>
      </p:sp>
      <p:sp>
        <p:nvSpPr>
          <p:cNvPr id="11" name="TextBox 10"/>
          <p:cNvSpPr txBox="1"/>
          <p:nvPr/>
        </p:nvSpPr>
        <p:spPr>
          <a:xfrm>
            <a:off x="6263640" y="2182368"/>
            <a:ext cx="2514600" cy="302768"/>
          </a:xfrm>
          <a:prstGeom prst="rect">
            <a:avLst/>
          </a:prstGeom>
          <a:noFill/>
          <a:ln/>
        </p:spPr>
        <p:txBody>
          <a:bodyPr wrap="none" anchor="t" lIns="25400" rIns="25400" tIns="25400" bIns="25400">
            <a:spAutoFit/>
          </a:bodyPr>
          <a:lstStyle/>
          <a:p>
            <a:pPr algn="l">
              <a:lnSpc>
                <a:spcPct val="100000"/>
              </a:lnSpc>
              <a:spcBef>
                <a:spcPts val="0"/>
              </a:spcBef>
              <a:spcAft>
                <a:spcPts val="600"/>
              </a:spcAft>
            </a:pPr>
            <a:r>
              <a:rPr sz="2000" b="1" i="0">
                <a:solidFill>
                  <a:srgbClr val="16213E"/>
                </a:solidFill>
                <a:latin typeface="Arial"/>
              </a:rPr>
              <a:t>p = 0.052</a:t>
            </a:r>
          </a:p>
        </p:txBody>
      </p:sp>
      <p:sp>
        <p:nvSpPr>
          <p:cNvPr id="12" name="TextBox 11"/>
          <p:cNvSpPr txBox="1"/>
          <p:nvPr/>
        </p:nvSpPr>
        <p:spPr>
          <a:xfrm>
            <a:off x="6263640" y="2485136"/>
            <a:ext cx="2514600" cy="270256"/>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950" b="0" i="0">
                <a:solidFill>
                  <a:srgbClr val="6B6F76"/>
                </a:solidFill>
                <a:latin typeface="Arial"/>
              </a:rPr>
              <a:t>Granger: borderline. ARIMAX: rate p = 0.16, jobs p = 0.29</a:t>
            </a:r>
          </a:p>
        </p:txBody>
      </p:sp>
      <p:sp>
        <p:nvSpPr>
          <p:cNvPr id="13" name="Rectangle 12"/>
          <p:cNvSpPr/>
          <p:nvPr/>
        </p:nvSpPr>
        <p:spPr>
          <a:xfrm>
            <a:off x="457200" y="2873501"/>
            <a:ext cx="8229600" cy="10972"/>
          </a:xfrm>
          <a:prstGeom prst="rect">
            <a:avLst/>
          </a:prstGeom>
          <a:solidFill>
            <a:srgbClr val="6B6F76"/>
          </a:solidFill>
          <a:ln>
            <a:noFill/>
          </a:ln>
          <a:effectLst/>
        </p:spPr>
        <p:txBody>
          <a:bodyPr rtlCol="0" anchor="ctr"/>
          <a:lstStyle/>
          <a:p>
            <a:pPr algn="ctr"/>
          </a:p>
        </p:txBody>
      </p:sp>
      <p:sp>
        <p:nvSpPr>
          <p:cNvPr id="14" name="TextBox 13"/>
          <p:cNvSpPr txBox="1"/>
          <p:nvPr/>
        </p:nvSpPr>
        <p:spPr>
          <a:xfrm>
            <a:off x="457200" y="2928365"/>
            <a:ext cx="8229600" cy="27432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1" i="0">
                <a:solidFill>
                  <a:srgbClr val="1F6F8B"/>
                </a:solidFill>
                <a:latin typeface="Arial"/>
              </a:rPr>
              <a:t>OUR FORECAST: ABOUT 5% HIGHER BY AUGUST 2027, WITH A WIDE RANGE</a:t>
            </a:r>
          </a:p>
        </p:txBody>
      </p:sp>
      <p:pic>
        <p:nvPicPr>
          <p:cNvPr id="15" name="Picture 14" descr="LA metro forecast to August 2027: ARIMAX, ARIMA with 80% band, naive drift" title="LA metro forecast to August 2027: ARIMAX, ARIMA with 80% band, naive drift"/>
          <p:cNvPicPr>
            <a:picLocks noChangeAspect="1"/>
          </p:cNvPicPr>
          <p:nvPr/>
        </p:nvPicPr>
        <p:blipFill>
          <a:blip r:embed="rId3"/>
          <a:stretch>
            <a:fillRect/>
          </a:stretch>
        </p:blipFill>
        <p:spPr>
          <a:xfrm>
            <a:off x="1109393" y="3202685"/>
            <a:ext cx="4273453" cy="1300733"/>
          </a:xfrm>
          <a:prstGeom prst="rect">
            <a:avLst/>
          </a:prstGeom>
        </p:spPr>
      </p:pic>
      <p:sp>
        <p:nvSpPr>
          <p:cNvPr id="16" name="TextBox 15"/>
          <p:cNvSpPr txBox="1"/>
          <p:nvPr/>
        </p:nvSpPr>
        <p:spPr>
          <a:xfrm>
            <a:off x="6263640" y="3220973"/>
            <a:ext cx="2514600" cy="302768"/>
          </a:xfrm>
          <a:prstGeom prst="rect">
            <a:avLst/>
          </a:prstGeom>
          <a:noFill/>
          <a:ln/>
        </p:spPr>
        <p:txBody>
          <a:bodyPr wrap="none" anchor="t" lIns="25400" rIns="25400" tIns="25400" bIns="25400">
            <a:spAutoFit/>
          </a:bodyPr>
          <a:lstStyle/>
          <a:p>
            <a:pPr algn="l">
              <a:lnSpc>
                <a:spcPct val="100000"/>
              </a:lnSpc>
              <a:spcBef>
                <a:spcPts val="0"/>
              </a:spcBef>
              <a:spcAft>
                <a:spcPts val="600"/>
              </a:spcAft>
            </a:pPr>
            <a:r>
              <a:rPr sz="2000" b="1" i="0">
                <a:solidFill>
                  <a:srgbClr val="1F6F8B"/>
                </a:solidFill>
                <a:latin typeface="Arial"/>
              </a:rPr>
              <a:t>$998K (+4.8%)</a:t>
            </a:r>
          </a:p>
        </p:txBody>
      </p:sp>
      <p:sp>
        <p:nvSpPr>
          <p:cNvPr id="17" name="TextBox 16"/>
          <p:cNvSpPr txBox="1"/>
          <p:nvPr/>
        </p:nvSpPr>
        <p:spPr>
          <a:xfrm>
            <a:off x="6263640" y="3523742"/>
            <a:ext cx="2514600" cy="135128"/>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950" b="0" i="0">
                <a:solidFill>
                  <a:srgbClr val="6B6F76"/>
                </a:solidFill>
                <a:latin typeface="Arial"/>
              </a:rPr>
              <a:t>ARIMAX forecast, August 2027</a:t>
            </a:r>
          </a:p>
        </p:txBody>
      </p:sp>
      <p:sp>
        <p:nvSpPr>
          <p:cNvPr id="18" name="TextBox 17"/>
          <p:cNvSpPr txBox="1"/>
          <p:nvPr/>
        </p:nvSpPr>
        <p:spPr>
          <a:xfrm>
            <a:off x="6263640" y="3713734"/>
            <a:ext cx="2514600" cy="302768"/>
          </a:xfrm>
          <a:prstGeom prst="rect">
            <a:avLst/>
          </a:prstGeom>
          <a:noFill/>
          <a:ln/>
        </p:spPr>
        <p:txBody>
          <a:bodyPr wrap="none" anchor="t" lIns="25400" rIns="25400" tIns="25400" bIns="25400">
            <a:spAutoFit/>
          </a:bodyPr>
          <a:lstStyle/>
          <a:p>
            <a:pPr algn="l">
              <a:lnSpc>
                <a:spcPct val="100000"/>
              </a:lnSpc>
              <a:spcBef>
                <a:spcPts val="0"/>
              </a:spcBef>
              <a:spcAft>
                <a:spcPts val="600"/>
              </a:spcAft>
            </a:pPr>
            <a:r>
              <a:rPr sz="2000" b="1" i="0">
                <a:solidFill>
                  <a:srgbClr val="16213E"/>
                </a:solidFill>
                <a:latin typeface="Arial"/>
              </a:rPr>
              <a:t>-6% to +17%</a:t>
            </a:r>
          </a:p>
        </p:txBody>
      </p:sp>
      <p:sp>
        <p:nvSpPr>
          <p:cNvPr id="19" name="TextBox 18"/>
          <p:cNvSpPr txBox="1"/>
          <p:nvPr/>
        </p:nvSpPr>
        <p:spPr>
          <a:xfrm>
            <a:off x="6263640" y="4016502"/>
            <a:ext cx="2514600" cy="270256"/>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950" b="0" i="0">
                <a:solidFill>
                  <a:srgbClr val="6B6F76"/>
                </a:solidFill>
                <a:latin typeface="Arial"/>
              </a:rPr>
              <a:t>for context: ARIMA's 80% interval by August 2027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NEIGHBORHOODS · LIVE MAP</a:t>
            </a:r>
          </a:p>
        </p:txBody>
      </p:sp>
      <p:sp>
        <p:nvSpPr>
          <p:cNvPr id="3" name="deckkit-chrome-title"/>
          <p:cNvSpPr txBox="1"/>
          <p:nvPr/>
        </p:nvSpPr>
        <p:spPr>
          <a:xfrm>
            <a:off x="502920" y="493776"/>
            <a:ext cx="8138160" cy="792479"/>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Some neighborhoods are rising while others are falling</a:t>
            </a:r>
          </a:p>
        </p:txBody>
      </p:sp>
      <p:sp>
        <p:nvSpPr>
          <p:cNvPr id="4" name="deckkit-chrome-title"/>
          <p:cNvSpPr/>
          <p:nvPr/>
        </p:nvSpPr>
        <p:spPr>
          <a:xfrm>
            <a:off x="521207" y="1341120"/>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9</a:t>
            </a:r>
          </a:p>
        </p:txBody>
      </p:sp>
      <p:pic>
        <p:nvPicPr>
          <p:cNvPr id="7" name="Picture 6" descr="Map of LA-metro neighborhoods colored by 12-month change in home value" title="Map of LA-metro neighborhoods colored by 12-month change in home value"/>
          <p:cNvPicPr>
            <a:picLocks noChangeAspect="1"/>
          </p:cNvPicPr>
          <p:nvPr/>
        </p:nvPicPr>
        <p:blipFill>
          <a:blip r:embed="rId2"/>
          <a:stretch>
            <a:fillRect/>
          </a:stretch>
        </p:blipFill>
        <p:spPr>
          <a:xfrm>
            <a:off x="1297760" y="1569720"/>
            <a:ext cx="3073758" cy="3025140"/>
          </a:xfrm>
          <a:prstGeom prst="rect">
            <a:avLst/>
          </a:prstGeom>
        </p:spPr>
      </p:pic>
      <p:sp>
        <p:nvSpPr>
          <p:cNvPr id="8" name="TextBox 7"/>
          <p:cNvSpPr txBox="1"/>
          <p:nvPr/>
        </p:nvSpPr>
        <p:spPr>
          <a:xfrm>
            <a:off x="5669280" y="1661160"/>
            <a:ext cx="3108960" cy="406400"/>
          </a:xfrm>
          <a:prstGeom prst="rect">
            <a:avLst/>
          </a:prstGeom>
          <a:noFill/>
          <a:ln/>
        </p:spPr>
        <p:txBody>
          <a:bodyPr wrap="none" anchor="t" lIns="25400" rIns="25400" tIns="25400" bIns="25400">
            <a:spAutoFit/>
          </a:bodyPr>
          <a:lstStyle/>
          <a:p>
            <a:pPr algn="l">
              <a:lnSpc>
                <a:spcPct val="100000"/>
              </a:lnSpc>
              <a:spcBef>
                <a:spcPts val="0"/>
              </a:spcBef>
              <a:spcAft>
                <a:spcPts val="600"/>
              </a:spcAft>
            </a:pPr>
            <a:r>
              <a:rPr sz="2600" b="1" i="0">
                <a:solidFill>
                  <a:srgbClr val="16213E"/>
                </a:solidFill>
                <a:latin typeface="Arial"/>
              </a:rPr>
              <a:t>220 / 216 / 60</a:t>
            </a:r>
          </a:p>
        </p:txBody>
      </p:sp>
      <p:sp>
        <p:nvSpPr>
          <p:cNvPr id="9" name="TextBox 8"/>
          <p:cNvSpPr txBox="1"/>
          <p:nvPr/>
        </p:nvSpPr>
        <p:spPr>
          <a:xfrm>
            <a:off x="5669280" y="2067560"/>
            <a:ext cx="3108960" cy="298704"/>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rising &gt;2% · within ±2% · falling &gt;2%, last 12 months (496 neighborhoods with recent data)</a:t>
            </a:r>
          </a:p>
        </p:txBody>
      </p:sp>
      <p:sp>
        <p:nvSpPr>
          <p:cNvPr id="10" name="TextBox 9"/>
          <p:cNvSpPr txBox="1"/>
          <p:nvPr/>
        </p:nvSpPr>
        <p:spPr>
          <a:xfrm>
            <a:off x="5669280" y="2530856"/>
            <a:ext cx="3108960" cy="406400"/>
          </a:xfrm>
          <a:prstGeom prst="rect">
            <a:avLst/>
          </a:prstGeom>
          <a:noFill/>
          <a:ln/>
        </p:spPr>
        <p:txBody>
          <a:bodyPr wrap="none" anchor="t" lIns="25400" rIns="25400" tIns="25400" bIns="25400">
            <a:spAutoFit/>
          </a:bodyPr>
          <a:lstStyle/>
          <a:p>
            <a:pPr algn="l">
              <a:lnSpc>
                <a:spcPct val="100000"/>
              </a:lnSpc>
              <a:spcBef>
                <a:spcPts val="0"/>
              </a:spcBef>
              <a:spcAft>
                <a:spcPts val="600"/>
              </a:spcAft>
            </a:pPr>
            <a:r>
              <a:rPr sz="2600" b="1" i="0">
                <a:solidFill>
                  <a:srgbClr val="B4400B"/>
                </a:solidFill>
                <a:latin typeface="Arial"/>
              </a:rPr>
              <a:t>152 of 496</a:t>
            </a:r>
          </a:p>
        </p:txBody>
      </p:sp>
      <p:sp>
        <p:nvSpPr>
          <p:cNvPr id="11" name="TextBox 10"/>
          <p:cNvSpPr txBox="1"/>
          <p:nvPr/>
        </p:nvSpPr>
        <p:spPr>
          <a:xfrm>
            <a:off x="5669280" y="2937256"/>
            <a:ext cx="3108960" cy="149352"/>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still below their 2022 peak, mostly in LA County</a:t>
            </a:r>
          </a:p>
        </p:txBody>
      </p:sp>
      <p:sp>
        <p:nvSpPr>
          <p:cNvPr id="12" name="TextBox 11"/>
          <p:cNvSpPr txBox="1"/>
          <p:nvPr/>
        </p:nvSpPr>
        <p:spPr>
          <a:xfrm>
            <a:off x="5669280" y="3251200"/>
            <a:ext cx="3108960" cy="406400"/>
          </a:xfrm>
          <a:prstGeom prst="rect">
            <a:avLst/>
          </a:prstGeom>
          <a:noFill/>
          <a:ln/>
        </p:spPr>
        <p:txBody>
          <a:bodyPr wrap="none" anchor="t" lIns="25400" rIns="25400" tIns="25400" bIns="25400">
            <a:spAutoFit/>
          </a:bodyPr>
          <a:lstStyle/>
          <a:p>
            <a:pPr algn="l">
              <a:lnSpc>
                <a:spcPct val="100000"/>
              </a:lnSpc>
              <a:spcBef>
                <a:spcPts val="0"/>
              </a:spcBef>
              <a:spcAft>
                <a:spcPts val="600"/>
              </a:spcAft>
            </a:pPr>
            <a:r>
              <a:rPr sz="2600" b="1" i="0">
                <a:solidFill>
                  <a:srgbClr val="B4400B"/>
                </a:solidFill>
                <a:latin typeface="Arial"/>
              </a:rPr>
              <a:t>−1.2 pts</a:t>
            </a:r>
          </a:p>
        </p:txBody>
      </p:sp>
      <p:sp>
        <p:nvSpPr>
          <p:cNvPr id="13" name="TextBox 12"/>
          <p:cNvSpPr txBox="1"/>
          <p:nvPr/>
        </p:nvSpPr>
        <p:spPr>
          <a:xfrm>
            <a:off x="5669280" y="3657600"/>
            <a:ext cx="3108960" cy="298704"/>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0" i="0">
                <a:solidFill>
                  <a:srgbClr val="6B6F76"/>
                </a:solidFill>
                <a:latin typeface="Arial"/>
              </a:rPr>
              <a:t>in LA County, doubling the starting home value went with a 1.2-point larger decline after the 2022 peak</a:t>
            </a:r>
          </a:p>
        </p:txBody>
      </p:sp>
      <p:sp>
        <p:nvSpPr>
          <p:cNvPr id="14" name="TextBox 13"/>
          <p:cNvSpPr txBox="1"/>
          <p:nvPr/>
        </p:nvSpPr>
        <p:spPr>
          <a:xfrm>
            <a:off x="5669280" y="4139184"/>
            <a:ext cx="3108960" cy="457200"/>
          </a:xfrm>
          <a:prstGeom prst="rect">
            <a:avLst/>
          </a:prstGeom>
          <a:noFill/>
          <a:ln/>
        </p:spPr>
        <p:txBody>
          <a:bodyPr wrap="square" anchor="t" lIns="25400" rIns="25400" tIns="25400" bIns="25400">
            <a:spAutoFit/>
          </a:bodyPr>
          <a:lstStyle/>
          <a:p>
            <a:pPr algn="l">
              <a:lnSpc>
                <a:spcPct val="100000"/>
              </a:lnSpc>
              <a:spcBef>
                <a:spcPts val="0"/>
              </a:spcBef>
              <a:spcAft>
                <a:spcPts val="600"/>
              </a:spcAft>
            </a:pPr>
            <a:r>
              <a:rPr sz="1050" b="1" i="0">
                <a:solidFill>
                  <a:srgbClr val="1F6F8B"/>
                </a:solidFill>
                <a:latin typeface="Arial"/>
                <a:hlinkClick r:id="rId3"/>
              </a:rPr>
              <a:t>Live map: neiltd.github.io/la-housing-forecast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TAKEAWAYS</a:t>
            </a:r>
          </a:p>
        </p:txBody>
      </p:sp>
      <p:sp>
        <p:nvSpPr>
          <p:cNvPr id="3" name="deckkit-chrome-title"/>
          <p:cNvSpPr txBox="1"/>
          <p:nvPr/>
        </p:nvSpPr>
        <p:spPr>
          <a:xfrm>
            <a:off x="502920" y="493776"/>
            <a:ext cx="813816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Our answer: simple models held up best</a:t>
            </a:r>
          </a:p>
        </p:txBody>
      </p:sp>
      <p:sp>
        <p:nvSpPr>
          <p:cNvPr id="4" name="deckkit-chrome-title"/>
          <p:cNvSpPr/>
          <p:nvPr/>
        </p:nvSpPr>
        <p:spPr>
          <a:xfrm>
            <a:off x="521207" y="1060704"/>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10</a:t>
            </a:r>
          </a:p>
        </p:txBody>
      </p:sp>
      <p:sp>
        <p:nvSpPr>
          <p:cNvPr id="7" name="Rounded Rectangle 6"/>
          <p:cNvSpPr/>
          <p:nvPr/>
        </p:nvSpPr>
        <p:spPr>
          <a:xfrm>
            <a:off x="457200" y="3826763"/>
            <a:ext cx="8229600" cy="722376"/>
          </a:xfrm>
          <a:prstGeom prst="roundRect">
            <a:avLst>
              <a:gd name="adj" fmla="val 8000"/>
            </a:avLst>
          </a:prstGeom>
          <a:solidFill>
            <a:srgbClr val="E8EFF1"/>
          </a:solidFill>
          <a:ln>
            <a:noFill/>
          </a:ln>
          <a:effectLst/>
        </p:spPr>
        <p:txBody>
          <a:bodyPr rtlCol="0" anchor="ctr"/>
          <a:lstStyle/>
          <a:p>
            <a:pPr algn="ctr"/>
          </a:p>
        </p:txBody>
      </p:sp>
      <p:sp>
        <p:nvSpPr>
          <p:cNvPr id="8" name="Rectangle 7"/>
          <p:cNvSpPr/>
          <p:nvPr/>
        </p:nvSpPr>
        <p:spPr>
          <a:xfrm>
            <a:off x="457200" y="3884554"/>
            <a:ext cx="64008" cy="606795"/>
          </a:xfrm>
          <a:prstGeom prst="rect">
            <a:avLst/>
          </a:prstGeom>
          <a:solidFill>
            <a:srgbClr val="1F6F8B"/>
          </a:solidFill>
          <a:ln>
            <a:noFill/>
          </a:ln>
          <a:effectLst/>
        </p:spPr>
        <p:txBody>
          <a:bodyPr rtlCol="0" anchor="ctr"/>
          <a:lstStyle/>
          <a:p>
            <a:pPr algn="ctr"/>
          </a:p>
        </p:txBody>
      </p:sp>
      <p:sp>
        <p:nvSpPr>
          <p:cNvPr id="9" name="TextBox 8"/>
          <p:cNvSpPr txBox="1"/>
          <p:nvPr/>
        </p:nvSpPr>
        <p:spPr>
          <a:xfrm>
            <a:off x="676656" y="3826763"/>
            <a:ext cx="7827264" cy="722376"/>
          </a:xfrm>
          <a:prstGeom prst="rect">
            <a:avLst/>
          </a:prstGeom>
          <a:noFill/>
          <a:ln/>
        </p:spPr>
        <p:txBody>
          <a:bodyPr wrap="square" anchor="ctr" lIns="25400" rIns="25400" tIns="25400" bIns="25400">
            <a:spAutoFit/>
          </a:bodyPr>
          <a:lstStyle/>
          <a:p>
            <a:pPr algn="l">
              <a:lnSpc>
                <a:spcPct val="108000"/>
              </a:lnSpc>
              <a:spcBef>
                <a:spcPts val="0"/>
              </a:spcBef>
              <a:spcAft>
                <a:spcPts val="0"/>
              </a:spcAft>
            </a:pPr>
            <a:r>
              <a:rPr sz="1100" b="1" i="0">
                <a:solidFill>
                  <a:srgbClr val="1F6F8B"/>
                </a:solidFill>
                <a:latin typeface="Arial"/>
              </a:rPr>
              <a:t>NEXT STEPS  </a:t>
            </a:r>
            <a:r>
              <a:rPr sz="1250" b="0" i="0">
                <a:solidFill>
                  <a:srgbClr val="16213E"/>
                </a:solidFill>
                <a:latin typeface="Arial"/>
              </a:rPr>
              <a:t>Test more cities; score the AI live on months after its training cutoff; feed AI altered histories to check whether it forecasts the data or recalls the past.</a:t>
            </a:r>
          </a:p>
        </p:txBody>
      </p:sp>
      <p:sp>
        <p:nvSpPr>
          <p:cNvPr id="10" name="Rounded Rectangle 9"/>
          <p:cNvSpPr/>
          <p:nvPr/>
        </p:nvSpPr>
        <p:spPr>
          <a:xfrm>
            <a:off x="502920" y="1261872"/>
            <a:ext cx="384048" cy="384048"/>
          </a:xfrm>
          <a:prstGeom prst="roundRect">
            <a:avLst>
              <a:gd name="adj" fmla="val 50000"/>
            </a:avLst>
          </a:prstGeom>
          <a:solidFill>
            <a:srgbClr val="1F6F8B"/>
          </a:solidFill>
          <a:ln>
            <a:noFill/>
          </a:ln>
          <a:effectLst/>
        </p:spPr>
        <p:txBody>
          <a:bodyPr rtlCol="0" anchor="ctr"/>
          <a:lstStyle/>
          <a:p>
            <a:pPr algn="ctr"/>
          </a:p>
        </p:txBody>
      </p:sp>
      <p:sp>
        <p:nvSpPr>
          <p:cNvPr id="11" name="TextBox 10"/>
          <p:cNvSpPr txBox="1"/>
          <p:nvPr/>
        </p:nvSpPr>
        <p:spPr>
          <a:xfrm>
            <a:off x="502920" y="1261872"/>
            <a:ext cx="384048" cy="38404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400" b="1" i="0">
                <a:solidFill>
                  <a:srgbClr val="FFFFFF"/>
                </a:solidFill>
                <a:latin typeface="Arial"/>
              </a:rPr>
              <a:t>01</a:t>
            </a:r>
          </a:p>
        </p:txBody>
      </p:sp>
      <p:sp>
        <p:nvSpPr>
          <p:cNvPr id="12" name="TextBox 11"/>
          <p:cNvSpPr txBox="1"/>
          <p:nvPr/>
        </p:nvSpPr>
        <p:spPr>
          <a:xfrm>
            <a:off x="1051560" y="1243584"/>
            <a:ext cx="758952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450" b="1" i="0">
                <a:solidFill>
                  <a:srgbClr val="16213E"/>
                </a:solidFill>
                <a:latin typeface="Arial"/>
              </a:rPr>
              <a:t>Simple models were competitive</a:t>
            </a:r>
          </a:p>
        </p:txBody>
      </p:sp>
      <p:sp>
        <p:nvSpPr>
          <p:cNvPr id="13" name="TextBox 12"/>
          <p:cNvSpPr txBox="1"/>
          <p:nvPr/>
        </p:nvSpPr>
        <p:spPr>
          <a:xfrm>
            <a:off x="1051560" y="1536192"/>
            <a:ext cx="7589520" cy="548640"/>
          </a:xfrm>
          <a:prstGeom prst="rect">
            <a:avLst/>
          </a:prstGeom>
          <a:noFill/>
          <a:ln/>
        </p:spPr>
        <p:txBody>
          <a:bodyPr wrap="square" anchor="t" lIns="25400" rIns="25400" tIns="25400" bIns="25400">
            <a:spAutoFit/>
          </a:bodyPr>
          <a:lstStyle/>
          <a:p>
            <a:pPr algn="l">
              <a:lnSpc>
                <a:spcPct val="102000"/>
              </a:lnSpc>
              <a:spcBef>
                <a:spcPts val="0"/>
              </a:spcBef>
              <a:spcAft>
                <a:spcPts val="0"/>
              </a:spcAft>
            </a:pPr>
            <a:r>
              <a:rPr sz="1150" b="0" i="0">
                <a:solidFill>
                  <a:srgbClr val="3D4A5C"/>
                </a:solidFill>
                <a:latin typeface="Arial"/>
              </a:rPr>
              <a:t>ARIMAX had the lowest average error; naive drift was equally competitive at month 12.</a:t>
            </a:r>
          </a:p>
        </p:txBody>
      </p:sp>
      <p:sp>
        <p:nvSpPr>
          <p:cNvPr id="14" name="Rounded Rectangle 13"/>
          <p:cNvSpPr/>
          <p:nvPr/>
        </p:nvSpPr>
        <p:spPr>
          <a:xfrm>
            <a:off x="502920" y="1911095"/>
            <a:ext cx="384048" cy="384048"/>
          </a:xfrm>
          <a:prstGeom prst="roundRect">
            <a:avLst>
              <a:gd name="adj" fmla="val 50000"/>
            </a:avLst>
          </a:prstGeom>
          <a:solidFill>
            <a:srgbClr val="1F6F8B"/>
          </a:solidFill>
          <a:ln>
            <a:noFill/>
          </a:ln>
          <a:effectLst/>
        </p:spPr>
        <p:txBody>
          <a:bodyPr rtlCol="0" anchor="ctr"/>
          <a:lstStyle/>
          <a:p>
            <a:pPr algn="ctr"/>
          </a:p>
        </p:txBody>
      </p:sp>
      <p:sp>
        <p:nvSpPr>
          <p:cNvPr id="15" name="TextBox 14"/>
          <p:cNvSpPr txBox="1"/>
          <p:nvPr/>
        </p:nvSpPr>
        <p:spPr>
          <a:xfrm>
            <a:off x="502920" y="1911095"/>
            <a:ext cx="384048" cy="38404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400" b="1" i="0">
                <a:solidFill>
                  <a:srgbClr val="FFFFFF"/>
                </a:solidFill>
                <a:latin typeface="Arial"/>
              </a:rPr>
              <a:t>02</a:t>
            </a:r>
          </a:p>
        </p:txBody>
      </p:sp>
      <p:sp>
        <p:nvSpPr>
          <p:cNvPr id="16" name="TextBox 15"/>
          <p:cNvSpPr txBox="1"/>
          <p:nvPr/>
        </p:nvSpPr>
        <p:spPr>
          <a:xfrm>
            <a:off x="1051560" y="1892807"/>
            <a:ext cx="758952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450" b="1" i="0">
                <a:solidFill>
                  <a:srgbClr val="16213E"/>
                </a:solidFill>
                <a:latin typeface="Arial"/>
              </a:rPr>
              <a:t>Test chatbots on outcomes they cannot know</a:t>
            </a:r>
          </a:p>
        </p:txBody>
      </p:sp>
      <p:sp>
        <p:nvSpPr>
          <p:cNvPr id="17" name="TextBox 16"/>
          <p:cNvSpPr txBox="1"/>
          <p:nvPr/>
        </p:nvSpPr>
        <p:spPr>
          <a:xfrm>
            <a:off x="1051560" y="2185415"/>
            <a:ext cx="7589520" cy="548640"/>
          </a:xfrm>
          <a:prstGeom prst="rect">
            <a:avLst/>
          </a:prstGeom>
          <a:noFill/>
          <a:ln/>
        </p:spPr>
        <p:txBody>
          <a:bodyPr wrap="square" anchor="t" lIns="25400" rIns="25400" tIns="25400" bIns="25400">
            <a:spAutoFit/>
          </a:bodyPr>
          <a:lstStyle/>
          <a:p>
            <a:pPr algn="l">
              <a:lnSpc>
                <a:spcPct val="102000"/>
              </a:lnSpc>
              <a:spcBef>
                <a:spcPts val="0"/>
              </a:spcBef>
              <a:spcAft>
                <a:spcPts val="0"/>
              </a:spcAft>
            </a:pPr>
            <a:r>
              <a:rPr sz="1150" b="0" i="0">
                <a:solidFill>
                  <a:srgbClr val="3D4A5C"/>
                </a:solidFill>
                <a:latin typeface="Arial"/>
              </a:rPr>
              <a:t>Historical chatbot tests can be affected by recognition of past events.</a:t>
            </a:r>
          </a:p>
        </p:txBody>
      </p:sp>
      <p:sp>
        <p:nvSpPr>
          <p:cNvPr id="18" name="Rounded Rectangle 17"/>
          <p:cNvSpPr/>
          <p:nvPr/>
        </p:nvSpPr>
        <p:spPr>
          <a:xfrm>
            <a:off x="502920" y="2560320"/>
            <a:ext cx="384048" cy="384048"/>
          </a:xfrm>
          <a:prstGeom prst="roundRect">
            <a:avLst>
              <a:gd name="adj" fmla="val 50000"/>
            </a:avLst>
          </a:prstGeom>
          <a:solidFill>
            <a:srgbClr val="1F6F8B"/>
          </a:solidFill>
          <a:ln>
            <a:noFill/>
          </a:ln>
          <a:effectLst/>
        </p:spPr>
        <p:txBody>
          <a:bodyPr rtlCol="0" anchor="ctr"/>
          <a:lstStyle/>
          <a:p>
            <a:pPr algn="ctr"/>
          </a:p>
        </p:txBody>
      </p:sp>
      <p:sp>
        <p:nvSpPr>
          <p:cNvPr id="19" name="TextBox 18"/>
          <p:cNvSpPr txBox="1"/>
          <p:nvPr/>
        </p:nvSpPr>
        <p:spPr>
          <a:xfrm>
            <a:off x="502920" y="2560320"/>
            <a:ext cx="384048" cy="38404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400" b="1" i="0">
                <a:solidFill>
                  <a:srgbClr val="FFFFFF"/>
                </a:solidFill>
                <a:latin typeface="Arial"/>
              </a:rPr>
              <a:t>03</a:t>
            </a:r>
          </a:p>
        </p:txBody>
      </p:sp>
      <p:sp>
        <p:nvSpPr>
          <p:cNvPr id="20" name="TextBox 19"/>
          <p:cNvSpPr txBox="1"/>
          <p:nvPr/>
        </p:nvSpPr>
        <p:spPr>
          <a:xfrm>
            <a:off x="1051560" y="2542032"/>
            <a:ext cx="758952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450" b="1" i="0">
                <a:solidFill>
                  <a:srgbClr val="16213E"/>
                </a:solidFill>
                <a:latin typeface="Arial"/>
              </a:rPr>
              <a:t>Rates showed a delayed relationship</a:t>
            </a:r>
          </a:p>
        </p:txBody>
      </p:sp>
      <p:sp>
        <p:nvSpPr>
          <p:cNvPr id="21" name="TextBox 20"/>
          <p:cNvSpPr txBox="1"/>
          <p:nvPr/>
        </p:nvSpPr>
        <p:spPr>
          <a:xfrm>
            <a:off x="1051560" y="2834639"/>
            <a:ext cx="7589520" cy="548640"/>
          </a:xfrm>
          <a:prstGeom prst="rect">
            <a:avLst/>
          </a:prstGeom>
          <a:noFill/>
          <a:ln/>
        </p:spPr>
        <p:txBody>
          <a:bodyPr wrap="square" anchor="t" lIns="25400" rIns="25400" tIns="25400" bIns="25400">
            <a:spAutoFit/>
          </a:bodyPr>
          <a:lstStyle/>
          <a:p>
            <a:pPr algn="l">
              <a:lnSpc>
                <a:spcPct val="102000"/>
              </a:lnSpc>
              <a:spcBef>
                <a:spcPts val="0"/>
              </a:spcBef>
              <a:spcAft>
                <a:spcPts val="0"/>
              </a:spcAft>
            </a:pPr>
            <a:r>
              <a:rPr sz="1150" b="0" i="0">
                <a:solidFill>
                  <a:srgbClr val="3D4A5C"/>
                </a:solidFill>
                <a:latin typeface="Arial"/>
              </a:rPr>
              <a:t>Adding jobs did not improve our forecast; turning points stayed hard to call.</a:t>
            </a:r>
          </a:p>
        </p:txBody>
      </p:sp>
      <p:sp>
        <p:nvSpPr>
          <p:cNvPr id="22" name="Rounded Rectangle 21"/>
          <p:cNvSpPr/>
          <p:nvPr/>
        </p:nvSpPr>
        <p:spPr>
          <a:xfrm>
            <a:off x="502920" y="3209544"/>
            <a:ext cx="384048" cy="384048"/>
          </a:xfrm>
          <a:prstGeom prst="roundRect">
            <a:avLst>
              <a:gd name="adj" fmla="val 50000"/>
            </a:avLst>
          </a:prstGeom>
          <a:solidFill>
            <a:srgbClr val="1F6F8B"/>
          </a:solidFill>
          <a:ln>
            <a:noFill/>
          </a:ln>
          <a:effectLst/>
        </p:spPr>
        <p:txBody>
          <a:bodyPr rtlCol="0" anchor="ctr"/>
          <a:lstStyle/>
          <a:p>
            <a:pPr algn="ctr"/>
          </a:p>
        </p:txBody>
      </p:sp>
      <p:sp>
        <p:nvSpPr>
          <p:cNvPr id="23" name="TextBox 22"/>
          <p:cNvSpPr txBox="1"/>
          <p:nvPr/>
        </p:nvSpPr>
        <p:spPr>
          <a:xfrm>
            <a:off x="502920" y="3209544"/>
            <a:ext cx="384048" cy="384048"/>
          </a:xfrm>
          <a:prstGeom prst="rect">
            <a:avLst/>
          </a:prstGeom>
          <a:noFill/>
          <a:ln/>
        </p:spPr>
        <p:txBody>
          <a:bodyPr wrap="square" anchor="ctr" lIns="25400" rIns="25400" tIns="25400" bIns="25400">
            <a:spAutoFit/>
          </a:bodyPr>
          <a:lstStyle/>
          <a:p>
            <a:pPr algn="ctr">
              <a:lnSpc>
                <a:spcPct val="100000"/>
              </a:lnSpc>
              <a:spcBef>
                <a:spcPts val="0"/>
              </a:spcBef>
              <a:spcAft>
                <a:spcPts val="0"/>
              </a:spcAft>
            </a:pPr>
            <a:r>
              <a:rPr sz="1400" b="1" i="0">
                <a:solidFill>
                  <a:srgbClr val="FFFFFF"/>
                </a:solidFill>
                <a:latin typeface="Arial"/>
              </a:rPr>
              <a:t>04</a:t>
            </a:r>
          </a:p>
        </p:txBody>
      </p:sp>
      <p:sp>
        <p:nvSpPr>
          <p:cNvPr id="24" name="TextBox 23"/>
          <p:cNvSpPr txBox="1"/>
          <p:nvPr/>
        </p:nvSpPr>
        <p:spPr>
          <a:xfrm>
            <a:off x="1051560" y="3191256"/>
            <a:ext cx="7589520" cy="292608"/>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450" b="1" i="0">
                <a:solidFill>
                  <a:srgbClr val="16213E"/>
                </a:solidFill>
                <a:latin typeface="Arial"/>
              </a:rPr>
              <a:t>The metro average is only part of the picture</a:t>
            </a:r>
          </a:p>
        </p:txBody>
      </p:sp>
      <p:sp>
        <p:nvSpPr>
          <p:cNvPr id="25" name="TextBox 24"/>
          <p:cNvSpPr txBox="1"/>
          <p:nvPr/>
        </p:nvSpPr>
        <p:spPr>
          <a:xfrm>
            <a:off x="1051560" y="3483863"/>
            <a:ext cx="7589520" cy="548640"/>
          </a:xfrm>
          <a:prstGeom prst="rect">
            <a:avLst/>
          </a:prstGeom>
          <a:noFill/>
          <a:ln/>
        </p:spPr>
        <p:txBody>
          <a:bodyPr wrap="square" anchor="t" lIns="25400" rIns="25400" tIns="25400" bIns="25400">
            <a:spAutoFit/>
          </a:bodyPr>
          <a:lstStyle/>
          <a:p>
            <a:pPr algn="l">
              <a:lnSpc>
                <a:spcPct val="102000"/>
              </a:lnSpc>
              <a:spcBef>
                <a:spcPts val="0"/>
              </a:spcBef>
              <a:spcAft>
                <a:spcPts val="0"/>
              </a:spcAft>
            </a:pPr>
            <a:r>
              <a:rPr sz="1150" b="0" i="0">
                <a:solidFill>
                  <a:srgbClr val="3D4A5C"/>
                </a:solidFill>
                <a:latin typeface="Arial"/>
              </a:rPr>
              <a:t>Results varied; per-neighborhood ARIMA beat naive drift (2.8% vs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
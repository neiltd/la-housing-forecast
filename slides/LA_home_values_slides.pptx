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Avg % error, 1-12 months</c:v>
                </c:pt>
              </c:strCache>
            </c:strRef>
          </c:tx>
          <c:spPr>
            <a:solidFill>
              <a:srgbClr val="1F6F8B"/>
            </a:solidFill>
            <a:ln w="31750">
              <a:solidFill>
                <a:srgbClr val="1F6F8B"/>
              </a:solidFill>
            </a:ln>
          </c:spPr>
          <c:dPt>
            <c:idx val="0"/>
            <c:spPr>
              <a:solidFill>
                <a:srgbClr val="B8BECC"/>
              </a:solidFill>
            </c:spPr>
          </c:dPt>
          <c:dPt>
            <c:idx val="1"/>
            <c:spPr>
              <a:solidFill>
                <a:srgbClr val="B8BECC"/>
              </a:solidFill>
            </c:spPr>
          </c:dPt>
          <c:dPt>
            <c:idx val="2"/>
            <c:spPr>
              <a:solidFill>
                <a:srgbClr val="B8BECC"/>
              </a:solidFill>
            </c:spPr>
          </c:dPt>
          <c:dPt>
            <c:idx val="3"/>
            <c:spPr>
              <a:solidFill>
                <a:srgbClr val="B8BECC"/>
              </a:solidFill>
            </c:spPr>
          </c:dPt>
          <c:dPt>
            <c:idx val="4"/>
            <c:spPr>
              <a:solidFill>
                <a:srgbClr val="B8BECC"/>
              </a:solidFill>
            </c:spPr>
          </c:dPt>
          <c:dPt>
            <c:idx val="5"/>
            <c:spPr>
              <a:solidFill>
                <a:srgbClr val="B8BECC"/>
              </a:solidFill>
            </c:spPr>
          </c:dPt>
          <c:dPt>
            <c:idx val="6"/>
            <c:spPr>
              <a:solidFill>
                <a:srgbClr val="B8BECC"/>
              </a:solidFill>
            </c:spPr>
          </c:dPt>
          <c:dPt>
            <c:idx val="7"/>
            <c:spPr>
              <a:solidFill>
                <a:srgbClr val="B8BECC"/>
              </a:solidFill>
            </c:spPr>
          </c:dPt>
          <c:dPt>
            <c:idx val="8"/>
            <c:spPr>
              <a:solidFill>
                <a:srgbClr val="B8BECC"/>
              </a:solidFill>
            </c:spPr>
          </c:dPt>
          <c:dPt>
            <c:idx val="9"/>
            <c:spPr>
              <a:solidFill>
                <a:srgbClr val="B8BECC"/>
              </a:solidFill>
            </c:spPr>
          </c:dPt>
          <c:dPt>
            <c:idx val="10"/>
            <c:spPr>
              <a:solidFill>
                <a:srgbClr val="B8BECC"/>
              </a:solidFill>
            </c:spPr>
          </c:dPt>
          <c:dPt>
            <c:idx val="11"/>
            <c:spPr>
              <a:solidFill>
                <a:srgbClr val="B8BECC"/>
              </a:solidFill>
            </c:spPr>
          </c:dPt>
          <c:dPt>
            <c:idx val="12"/>
            <c:spPr>
              <a:solidFill>
                <a:srgbClr val="B8BECC"/>
              </a:solidFill>
            </c:spPr>
          </c:dPt>
          <c:dPt>
            <c:idx val="13"/>
            <c:spPr>
              <a:solidFill>
                <a:srgbClr val="1F6F8B"/>
              </a:solidFill>
            </c:spPr>
          </c:dPt>
          <c:cat>
            <c:strRef>
              <c:f>Sheet1!$A$2:$A$15</c:f>
              <c:strCache>
                <c:ptCount val="14"/>
                <c:pt idx="0">
                  <c:v>Prophet</c:v>
                </c:pt>
                <c:pt idx="1">
                  <c:v>Prophet + COVID &amp; rates</c:v>
                </c:pt>
                <c:pt idx="2">
                  <c:v>XGBoost</c:v>
                </c:pt>
                <c:pt idx="3">
                  <c:v>Factor VAR (neighborhoods)</c:v>
                </c:pt>
                <c:pt idx="4">
                  <c:v>LightGBM</c:v>
                </c:pt>
                <c:pt idx="5">
                  <c:v>Chronos (foundation model)</c:v>
                </c:pt>
                <c:pt idx="6">
                  <c:v>Holt (damped)</c:v>
                </c:pt>
                <c:pt idx="7">
                  <c:v>Naive drift</c:v>
                </c:pt>
                <c:pt idx="8">
                  <c:v>GRU</c:v>
                </c:pt>
                <c:pt idx="9">
                  <c:v>LSTM</c:v>
                </c:pt>
                <c:pt idx="10">
                  <c:v>VAR (growth + rate)</c:v>
                </c:pt>
                <c:pt idx="11">
                  <c:v>ARIMAX + jobs</c:v>
                </c:pt>
                <c:pt idx="12">
                  <c:v>ARIMA</c:v>
                </c:pt>
                <c:pt idx="13">
                  <c:v>ARIMAX</c:v>
                </c:pt>
              </c:strCache>
            </c:strRef>
          </c:cat>
          <c:val>
            <c:numRef>
              <c:f>Sheet1!$B$2:$B$15</c:f>
              <c:numCache>
                <c:formatCode>General</c:formatCode>
                <c:ptCount val="14"/>
                <c:pt idx="0">
                  <c:v>6.89</c:v>
                </c:pt>
                <c:pt idx="1">
                  <c:v>5.12</c:v>
                </c:pt>
                <c:pt idx="2">
                  <c:v>3.65</c:v>
                </c:pt>
                <c:pt idx="3">
                  <c:v>3.64</c:v>
                </c:pt>
                <c:pt idx="4">
                  <c:v>3.6</c:v>
                </c:pt>
                <c:pt idx="5">
                  <c:v>3.56</c:v>
                </c:pt>
                <c:pt idx="6">
                  <c:v>3.39</c:v>
                </c:pt>
                <c:pt idx="7">
                  <c:v>3.27</c:v>
                </c:pt>
                <c:pt idx="8">
                  <c:v>3.18</c:v>
                </c:pt>
                <c:pt idx="9">
                  <c:v>3.02</c:v>
                </c:pt>
                <c:pt idx="10">
                  <c:v>2.93</c:v>
                </c:pt>
                <c:pt idx="11">
                  <c:v>2.81</c:v>
                </c:pt>
                <c:pt idx="12">
                  <c:v>2.77</c:v>
                </c:pt>
                <c:pt idx="13">
                  <c:v>2.67</c:v>
                </c:pt>
              </c:numCache>
            </c:numRef>
          </c:val>
        </c:ser>
        <c:axId val="-2068027336"/>
        <c:axId val="-2113994440"/>
      </c:barChart>
      <c:catAx>
        <c:axId val="-2068027336"/>
        <c:scaling>
          <c:orientation val="minMax"/>
        </c:scaling>
        <c:delete val="0"/>
        <c:axPos val="l"/>
        <c:majorTickMark val="out"/>
        <c:minorTickMark val="none"/>
        <c:tickLblPos val="nextTo"/>
        <c:spPr>
          <a:ln>
            <a:solidFill>
              <a:srgbClr val="E7E9F0"/>
            </a:solidFill>
          </a:ln>
        </c:spPr>
        <c:txPr>
          <a:bodyPr/>
          <a:lstStyle/>
          <a:p>
            <a:pPr>
              <a:defRPr sz="1000">
                <a:solidFill>
                  <a:srgbClr val="222A37"/>
                </a:solidFill>
                <a:latin typeface="Arial"/>
                <a:ea typeface="Arial"/>
              </a:defRPr>
            </a:pPr>
          </a:p>
        </c:txPr>
        <c:crossAx val="-2113994440"/>
        <c:crosses val="autoZero"/>
        <c:auto val="1"/>
        <c:lblAlgn val="ctr"/>
        <c:lblOffset val="100"/>
        <c:noMultiLvlLbl val="0"/>
      </c:catAx>
      <c:valAx>
        <c:axId val="-2113994440"/>
        <c:scaling>
          <c:min val="0.0"/>
        </c:scaling>
        <c:delete val="0"/>
        <c:axPos val="b"/>
        <c:majorGridlines>
          <c:spPr>
            <a:ln w="6350">
              <a:solidFill>
                <a:srgbClr val="E7E9F0"/>
              </a:solidFill>
            </a:ln>
          </c:spPr>
        </c:majorGridlines>
        <c:numFmt formatCode="0.00&quot;%&quot;" sourceLinked="0"/>
        <c:majorTickMark val="out"/>
        <c:minorTickMark val="none"/>
        <c:tickLblPos val="nextTo"/>
        <c:spPr>
          <a:ln>
            <a:solidFill>
              <a:srgbClr val="E7E9F0"/>
            </a:solidFill>
          </a:ln>
        </c:spPr>
        <c:txPr>
          <a:bodyPr/>
          <a:lstStyle/>
          <a:p>
            <a:pPr>
              <a:defRPr sz="1000">
                <a:solidFill>
                  <a:srgbClr val="222A37"/>
                </a:solidFill>
                <a:latin typeface="Arial"/>
                <a:ea typeface="Arial"/>
              </a:defRPr>
            </a:pPr>
          </a:p>
        </c:txPr>
        <c:crossAx val="-2068027336"/>
        <c:crosses val="autoZero"/>
      </c:valAx>
    </c:plotArea>
    <c:dispBlanksAs val="gap"/>
  </c:chart>
  <c:txPr>
    <a:bodyPr/>
    <a:lstStyle/>
    <a:p>
      <a:pPr>
        <a:defRPr sz="1100">
          <a:solidFill>
            <a:srgbClr val="222A37"/>
          </a:solidFill>
          <a:latin typeface="Arial"/>
          <a:ea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everyone. Our project forecasts home values in the Los Angeles metro using Zillow's Home Value Index from January 2000 to August 2026. The line on the right is the whole story in one picture: a boom and bust in the 2000s, a long recovery, a pandemic surge, and then a stall. That stall lines up with mortgage rates more than doubling. Our question: how well can we forecast LA home values a year ahead, and which approach works best? We compare traditional time-series models with an alternative many people now reach for first: asking an AI chatbot. And we go below the metro level to 499 neighborhoods, because the average hides a lot.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2000 to 2026, LA home values grew about 5.6 percent a year, with a 37 percent crash between 2006 and 2012 along the way. Today the typical home is worth about 952 thousand dollars, which is 1.3 percent below the January 2025 peak, and close to its long-run trend. The bottom panel shows why this period is interesting: the 30-year mortgage rate went from 2.7 percent in 2021 to 7.6 percent in 2023. The shaded area is our test window, so every model has to forecast through that rate shock.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setup. Our data: the Zillow index for the metro, 499 neighborhoods from Zillow's neighborhood file, the 30-year mortgage rate, and payroll jobs for LA and Orange County. We compared fourteen models in four families, from a naive drift baseline to LSTM and GRU networks and Amazon's Chronos foundation model, plus three AI chatbots: Claude, GPT and Gemini. We scored them two ways. The main one is a rolling test: we refit every three months and forecast twelve months ahead, eighteen times. The second is a single blind 80/20 split, like most projects use. Our error measure is simple: for each forecast month, how far off were we in percent, averaged over months one to twelve and over all eighteen start dates.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main result, the rolling test. ARIMAX, which is ARIMA plus mortgage rates, had the lowest average error at 2.67 percent, with plain ARIMA right behind at 2.77. Adding payroll jobs did not help: ARIMAX with jobs came third at 2.81. The neural networks landed in the middle, the tree models near the bottom, and Prophet last at almost 7 percent, mostly because it fits a smooth trend and does not start from the latest value. The ranking holds if we score in dollars with RMSE instead: ARIMAX is still first at about 36 thousand dollars.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why the test design matters. In the single blind test, LightGBM won with a 2.2 percent error. It was the only model whose forecast bent, and it happened to bend in the right years. Across eighteen rolling tests it ranked tenth. Meanwhile VAR, LSTM and XGBoost took the 2021 boom and kept going, ending 25 to 35 percent too high. The lesson for us: one test window can crown the wrong model, so we trust the rolling test.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alternative tool. We asked three AI chatbots, Claude, GPT and Gemini, to forecast at the same eighteen dates, through their APIs, one fresh request per prompt, with only the data up to each date and no code. At first they looked brilliant: between 1.3 and 1.6 percent error, far better than ARIMAX. But every one of these dates is before the models' training cutoff, so they may simply remember what LA prices did next. So we hid the clues: no place, no dates, no mortgage rate, only the last ten years of a rescaled index. Claude's error went from 1.3 to 2.8 percent, GPT's to 2.7, and Gemini's to 3.0. Once they cannot recognize the period, the best LLMs forecast about as well as ARIMAX, not better. The lesson: you cannot backtest an LLM on years it has already read about.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did we test that? Each AI got the same question three ways, each as a fresh API request. Named tells it this is LA, with real dates. Blind hides the place and dates but keeps the real mortgage rate, and that is enough to give the years away: when we asked Claude to name the blind series, it said Los Angeles 16 times out of 18 and got the dates exactly right. Masked shows only the last ten years of a rescaled index, so there is nothing to recognize: Claude never named LA. The chart shows what that means at the 2022 peak. In April 2022, prices had risen 17 percent in a year. With the named and blind prompts, Claude forecast a fall, close to what happened. With the masked prompt it forecast another 12 percent rise, just like our ARIMAX. Without its memory, the AI does what a time-series model does: it extends the momentum.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 using a VAR, we traced what happens to LA home values after a one-point rise in the mortgage rate. Values barely move for a few months, then fall: about 4.5 percent lower after a year and 9 percent after two, and the level stays lower while rates stay high. A Granger test agrees on the direction, though only borderline, p equals 0.052. Inside ARIMAX neither outside variable is significant on its own: the rate term has the expected negative sign but p is 0.16, and payroll jobs have p 0.29. Income and crime don't help either, so the simple model wins. Bottom: our best model forecasts about 998 thousand dollars in August 2027, up 4.8 percent, but the honest headline is the range, from a 6 percent fall to a 17 percent rise.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below the metro level. Over the last twelve months, 220 LA-metro neighborhoods rose more than 2 percent, 216 were flat, and 60 fell. Let me show you on our live map. [Switch to the browser.] Each dot is a neighborhood; blue is rising, red is falling. Expensive coastal pockets like North of Montana in Santa Monica, Point Dume in Malibu and Corona del Mar are blue: the high-end areas that fell hardest in 2023 are leading now. Central LA, Koreatown, Westlake and Downtown, is red. [Click one neighborhood.] Each one shows its value, its change, and our 12-month forecast. [Back to the slides.] After the 2022 rate jump, pricier LA County neighborhoods fell the most, and 152 of 496 are still below their 2022 peak.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takeaways. First, for a smooth monthly housing index, simple time-series models beat complex ones, including the Chronos foundation model, as long as you test over many windows, not one. Second, AI chatbots are a real alternative, about as good as our best model, but only once you hide what they can remember: you cannot backtest them on years they have already read about. Third, mortgage rates matter, but slowly: a one-point rise lowers values about nine percent over two years, and local jobs add nothing on top. And fourth, the metro average hides a split market: look at the neighborhood, not the metro number. We tested this the same rolling way: five yearly start dates, about 400 neighborhoods, twelve months ahead. ARIMA for each neighborhood had 2.8 percent error, the naive benchmark 3.5, and the shared factor model 4.1. With more time, we would test other cities, score the AI live on months after its training cutoff, and try made-up series it cannot have seen.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548640" y="502920"/>
            <a:ext cx="4206240" cy="27432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950" b="1" i="0">
                <a:solidFill>
                  <a:srgbClr val="1F6F8B"/>
                </a:solidFill>
                <a:latin typeface="Arial"/>
              </a:rPr>
              <a:t>MGMTMSA 437 · FINAL PROJECT · OCTOBER 2026</a:t>
            </a:r>
          </a:p>
        </p:txBody>
      </p:sp>
      <p:sp>
        <p:nvSpPr>
          <p:cNvPr id="3" name="TextBox 2"/>
          <p:cNvSpPr txBox="1"/>
          <p:nvPr/>
        </p:nvSpPr>
        <p:spPr>
          <a:xfrm>
            <a:off x="548640" y="868680"/>
            <a:ext cx="4206240" cy="173736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3400" b="1" i="0">
                <a:solidFill>
                  <a:srgbClr val="16213E"/>
                </a:solidFill>
                <a:latin typeface="Arial"/>
              </a:rPr>
              <a:t>Forecasting LA Home Values</a:t>
            </a:r>
          </a:p>
        </p:txBody>
      </p:sp>
      <p:sp>
        <p:nvSpPr>
          <p:cNvPr id="4" name="Rectangle 3"/>
          <p:cNvSpPr/>
          <p:nvPr/>
        </p:nvSpPr>
        <p:spPr>
          <a:xfrm>
            <a:off x="548640" y="2697480"/>
            <a:ext cx="1097280" cy="36576"/>
          </a:xfrm>
          <a:prstGeom prst="rect">
            <a:avLst/>
          </a:prstGeom>
          <a:solidFill>
            <a:srgbClr val="B4400B"/>
          </a:solidFill>
          <a:ln>
            <a:noFill/>
          </a:ln>
          <a:effectLst/>
        </p:spPr>
        <p:txBody>
          <a:bodyPr rtlCol="0" anchor="ctr"/>
          <a:lstStyle/>
          <a:p>
            <a:pPr algn="ctr"/>
          </a:p>
        </p:txBody>
      </p:sp>
      <p:sp>
        <p:nvSpPr>
          <p:cNvPr id="5" name="TextBox 4"/>
          <p:cNvSpPr txBox="1"/>
          <p:nvPr/>
        </p:nvSpPr>
        <p:spPr>
          <a:xfrm>
            <a:off x="548640" y="2880360"/>
            <a:ext cx="4023360" cy="82296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400" b="0" i="0">
                <a:solidFill>
                  <a:srgbClr val="3D4A5C"/>
                </a:solidFill>
                <a:latin typeface="Arial"/>
              </a:rPr>
              <a:t>How well can we forecast LA home values a year ahead, and which works best: time-series models or AI?</a:t>
            </a:r>
          </a:p>
        </p:txBody>
      </p:sp>
      <p:sp>
        <p:nvSpPr>
          <p:cNvPr id="6" name="TextBox 5"/>
          <p:cNvSpPr txBox="1"/>
          <p:nvPr/>
        </p:nvSpPr>
        <p:spPr>
          <a:xfrm>
            <a:off x="548640" y="3703320"/>
            <a:ext cx="4206240" cy="457200"/>
          </a:xfrm>
          <a:prstGeom prst="rect">
            <a:avLst/>
          </a:prstGeom>
          <a:noFill/>
          <a:ln/>
        </p:spPr>
        <p:txBody>
          <a:bodyPr wrap="square" anchor="t" lIns="25400" rIns="25400" tIns="25400" bIns="25400">
            <a:spAutoFit/>
          </a:bodyPr>
          <a:lstStyle/>
          <a:p>
            <a:pPr algn="l">
              <a:lnSpc>
                <a:spcPct val="100000"/>
              </a:lnSpc>
              <a:spcBef>
                <a:spcPts val="0"/>
              </a:spcBef>
              <a:spcAft>
                <a:spcPts val="200"/>
              </a:spcAft>
            </a:pPr>
            <a:r>
              <a:rPr sz="1100" b="1" i="0">
                <a:solidFill>
                  <a:srgbClr val="16213E"/>
                </a:solidFill>
                <a:latin typeface="Arial"/>
              </a:rPr>
              <a:t>Yang Liu  ·  Jinwoo Roh</a:t>
            </a:r>
          </a:p>
          <a:p>
            <a:pPr algn="l">
              <a:lnSpc>
                <a:spcPct val="100000"/>
              </a:lnSpc>
              <a:spcBef>
                <a:spcPts val="0"/>
              </a:spcBef>
              <a:spcAft>
                <a:spcPts val="200"/>
              </a:spcAft>
            </a:pPr>
            <a:r>
              <a:rPr sz="1100" b="1" i="0">
                <a:solidFill>
                  <a:srgbClr val="16213E"/>
                </a:solidFill>
                <a:latin typeface="Arial"/>
              </a:rPr>
              <a:t>Yiu-Hon Lee  ·  Thanapol Doungsaeng</a:t>
            </a:r>
          </a:p>
        </p:txBody>
      </p:sp>
      <p:sp>
        <p:nvSpPr>
          <p:cNvPr id="7" name="TextBox 6"/>
          <p:cNvSpPr txBox="1"/>
          <p:nvPr/>
        </p:nvSpPr>
        <p:spPr>
          <a:xfrm>
            <a:off x="548640" y="4206240"/>
            <a:ext cx="4023360" cy="45720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950" b="0" i="0">
                <a:solidFill>
                  <a:srgbClr val="6B6F76"/>
                </a:solidFill>
                <a:latin typeface="Arial"/>
              </a:rPr>
              <a:t>Zillow Home Value Index, LA metro, Jan 2000 to Aug 2026, plus 499 neighborhoods and the 30-year mortgage rate</a:t>
            </a:r>
          </a:p>
        </p:txBody>
      </p:sp>
      <p:pic>
        <p:nvPicPr>
          <p:cNvPr id="8" name="Picture 7" descr="LA metro typical home value 2000 to 2026 with a dashed 12-month forecast and its 80% band" title="LA metro typical home value 2000 to 2026 with a dashed 12-month forecast and its 80% band"/>
          <p:cNvPicPr>
            <a:picLocks noChangeAspect="1"/>
          </p:cNvPicPr>
          <p:nvPr/>
        </p:nvPicPr>
        <p:blipFill>
          <a:blip r:embed="rId2"/>
          <a:stretch>
            <a:fillRect/>
          </a:stretch>
        </p:blipFill>
        <p:spPr>
          <a:xfrm>
            <a:off x="4846320" y="1331021"/>
            <a:ext cx="3931920" cy="2550036"/>
          </a:xfrm>
          <a:prstGeom prst="rect">
            <a:avLst/>
          </a:prstGeom>
        </p:spPr>
      </p:pic>
      <p:sp>
        <p:nvSpPr>
          <p:cNvPr id="9" name="TextBox 8"/>
          <p:cNvSpPr txBox="1"/>
          <p:nvPr/>
        </p:nvSpPr>
        <p:spPr>
          <a:xfrm>
            <a:off x="4937760" y="4434840"/>
            <a:ext cx="3840480" cy="27432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900" b="0" i="0">
                <a:solidFill>
                  <a:srgbClr val="6B6F76"/>
                </a:solidFill>
                <a:latin typeface="Arial"/>
              </a:rPr>
              <a:t>Solid: actual  ·  Dashed: our forecast to Aug 2027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THE QUESTION</a:t>
            </a:r>
          </a:p>
        </p:txBody>
      </p:sp>
      <p:sp>
        <p:nvSpPr>
          <p:cNvPr id="3" name="deckkit-chrome-title"/>
          <p:cNvSpPr txBox="1"/>
          <p:nvPr/>
        </p:nvSpPr>
        <p:spPr>
          <a:xfrm>
            <a:off x="502920" y="493776"/>
            <a:ext cx="8138160" cy="792479"/>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LA values grew 5.6% a year for 26 years, then stalled when rates hit 7%</a:t>
            </a:r>
          </a:p>
        </p:txBody>
      </p:sp>
      <p:sp>
        <p:nvSpPr>
          <p:cNvPr id="4" name="deckkit-chrome-title"/>
          <p:cNvSpPr/>
          <p:nvPr/>
        </p:nvSpPr>
        <p:spPr>
          <a:xfrm>
            <a:off x="521207" y="1341120"/>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2</a:t>
            </a:r>
          </a:p>
        </p:txBody>
      </p:sp>
      <p:pic>
        <p:nvPicPr>
          <p:cNvPr id="7" name="Picture 6" descr="LA ZHVI 2000-2026 above the 30-year mortgage rate; test window shaded" title="LA ZHVI 2000-2026 above the 30-year mortgage rate; test window shaded"/>
          <p:cNvPicPr>
            <a:picLocks noChangeAspect="1"/>
          </p:cNvPicPr>
          <p:nvPr/>
        </p:nvPicPr>
        <p:blipFill>
          <a:blip r:embed="rId2"/>
          <a:stretch>
            <a:fillRect/>
          </a:stretch>
        </p:blipFill>
        <p:spPr>
          <a:xfrm>
            <a:off x="1000669" y="1569720"/>
            <a:ext cx="4125141" cy="2933699"/>
          </a:xfrm>
          <a:prstGeom prst="rect">
            <a:avLst/>
          </a:prstGeom>
        </p:spPr>
      </p:pic>
      <p:sp>
        <p:nvSpPr>
          <p:cNvPr id="8" name="TextBox 7"/>
          <p:cNvSpPr txBox="1"/>
          <p:nvPr/>
        </p:nvSpPr>
        <p:spPr>
          <a:xfrm>
            <a:off x="5989320" y="1661160"/>
            <a:ext cx="274320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16213E"/>
                </a:solidFill>
                <a:latin typeface="Arial"/>
              </a:rPr>
              <a:t>$952,601</a:t>
            </a:r>
          </a:p>
        </p:txBody>
      </p:sp>
      <p:sp>
        <p:nvSpPr>
          <p:cNvPr id="9" name="TextBox 8"/>
          <p:cNvSpPr txBox="1"/>
          <p:nvPr/>
        </p:nvSpPr>
        <p:spPr>
          <a:xfrm>
            <a:off x="5989320" y="2067560"/>
            <a:ext cx="2743200"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typical LA-metro home, August 2026</a:t>
            </a:r>
          </a:p>
        </p:txBody>
      </p:sp>
      <p:sp>
        <p:nvSpPr>
          <p:cNvPr id="10" name="TextBox 9"/>
          <p:cNvSpPr txBox="1"/>
          <p:nvPr/>
        </p:nvSpPr>
        <p:spPr>
          <a:xfrm>
            <a:off x="5989320" y="2418080"/>
            <a:ext cx="274320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B4400B"/>
                </a:solidFill>
                <a:latin typeface="Arial"/>
              </a:rPr>
              <a:t>-1.3%</a:t>
            </a:r>
          </a:p>
        </p:txBody>
      </p:sp>
      <p:sp>
        <p:nvSpPr>
          <p:cNvPr id="11" name="TextBox 10"/>
          <p:cNvSpPr txBox="1"/>
          <p:nvPr/>
        </p:nvSpPr>
        <p:spPr>
          <a:xfrm>
            <a:off x="5989320" y="2824480"/>
            <a:ext cx="2743200"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vs the January 2025 peak of $965,634</a:t>
            </a:r>
          </a:p>
        </p:txBody>
      </p:sp>
      <p:sp>
        <p:nvSpPr>
          <p:cNvPr id="12" name="TextBox 11"/>
          <p:cNvSpPr txBox="1"/>
          <p:nvPr/>
        </p:nvSpPr>
        <p:spPr>
          <a:xfrm>
            <a:off x="5989320" y="3175000"/>
            <a:ext cx="274320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B4400B"/>
                </a:solidFill>
                <a:latin typeface="Arial"/>
              </a:rPr>
              <a:t>2.7% → 7.6%</a:t>
            </a:r>
          </a:p>
        </p:txBody>
      </p:sp>
      <p:sp>
        <p:nvSpPr>
          <p:cNvPr id="13" name="TextBox 12"/>
          <p:cNvSpPr txBox="1"/>
          <p:nvPr/>
        </p:nvSpPr>
        <p:spPr>
          <a:xfrm>
            <a:off x="5989320" y="3581400"/>
            <a:ext cx="2743200"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30-year mortgage rate, 2021 low to 2023 high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DATA AND DESIGN</a:t>
            </a:r>
          </a:p>
        </p:txBody>
      </p:sp>
      <p:sp>
        <p:nvSpPr>
          <p:cNvPr id="3" name="deckkit-chrome-title"/>
          <p:cNvSpPr txBox="1"/>
          <p:nvPr/>
        </p:nvSpPr>
        <p:spPr>
          <a:xfrm>
            <a:off x="502920" y="493776"/>
            <a:ext cx="8138160" cy="792479"/>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We tested 14 models two ways, so no model could win by luck</a:t>
            </a:r>
          </a:p>
        </p:txBody>
      </p:sp>
      <p:sp>
        <p:nvSpPr>
          <p:cNvPr id="4" name="deckkit-chrome-title"/>
          <p:cNvSpPr/>
          <p:nvPr/>
        </p:nvSpPr>
        <p:spPr>
          <a:xfrm>
            <a:off x="521207" y="1341120"/>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3</a:t>
            </a:r>
          </a:p>
        </p:txBody>
      </p:sp>
      <p:sp>
        <p:nvSpPr>
          <p:cNvPr id="7" name="Rounded Rectangle 6"/>
          <p:cNvSpPr/>
          <p:nvPr/>
        </p:nvSpPr>
        <p:spPr>
          <a:xfrm>
            <a:off x="457200" y="3826763"/>
            <a:ext cx="8229600" cy="722376"/>
          </a:xfrm>
          <a:prstGeom prst="roundRect">
            <a:avLst>
              <a:gd name="adj" fmla="val 8000"/>
            </a:avLst>
          </a:prstGeom>
          <a:solidFill>
            <a:srgbClr val="F3ECE3"/>
          </a:solidFill>
          <a:ln>
            <a:noFill/>
          </a:ln>
          <a:effectLst/>
        </p:spPr>
        <p:txBody>
          <a:bodyPr rtlCol="0" anchor="ctr"/>
          <a:lstStyle/>
          <a:p>
            <a:pPr algn="ctr"/>
          </a:p>
        </p:txBody>
      </p:sp>
      <p:sp>
        <p:nvSpPr>
          <p:cNvPr id="8" name="Rectangle 7"/>
          <p:cNvSpPr/>
          <p:nvPr/>
        </p:nvSpPr>
        <p:spPr>
          <a:xfrm>
            <a:off x="457200" y="3884554"/>
            <a:ext cx="64008" cy="606795"/>
          </a:xfrm>
          <a:prstGeom prst="rect">
            <a:avLst/>
          </a:prstGeom>
          <a:solidFill>
            <a:srgbClr val="B4400B"/>
          </a:solidFill>
          <a:ln>
            <a:noFill/>
          </a:ln>
          <a:effectLst/>
        </p:spPr>
        <p:txBody>
          <a:bodyPr rtlCol="0" anchor="ctr"/>
          <a:lstStyle/>
          <a:p>
            <a:pPr algn="ctr"/>
          </a:p>
        </p:txBody>
      </p:sp>
      <p:sp>
        <p:nvSpPr>
          <p:cNvPr id="9" name="TextBox 8"/>
          <p:cNvSpPr txBox="1"/>
          <p:nvPr/>
        </p:nvSpPr>
        <p:spPr>
          <a:xfrm>
            <a:off x="676656" y="3826763"/>
            <a:ext cx="7827264" cy="722376"/>
          </a:xfrm>
          <a:prstGeom prst="rect">
            <a:avLst/>
          </a:prstGeom>
          <a:noFill/>
          <a:ln/>
        </p:spPr>
        <p:txBody>
          <a:bodyPr wrap="square" anchor="ctr" lIns="25400" rIns="25400" tIns="25400" bIns="25400">
            <a:spAutoFit/>
          </a:bodyPr>
          <a:lstStyle/>
          <a:p>
            <a:pPr algn="l">
              <a:lnSpc>
                <a:spcPct val="108000"/>
              </a:lnSpc>
              <a:spcBef>
                <a:spcPts val="0"/>
              </a:spcBef>
              <a:spcAft>
                <a:spcPts val="0"/>
              </a:spcAft>
            </a:pPr>
            <a:r>
              <a:rPr sz="1100" b="1" i="0">
                <a:solidFill>
                  <a:srgbClr val="B4400B"/>
                </a:solidFill>
                <a:latin typeface="Arial"/>
              </a:rPr>
              <a:t>HOW WE SCORE  </a:t>
            </a:r>
            <a:r>
              <a:rPr sz="1250" b="0" i="0">
                <a:solidFill>
                  <a:srgbClr val="16213E"/>
                </a:solidFill>
                <a:latin typeface="Arial"/>
              </a:rPr>
              <a:t>Error = average % gap between the forecast and Zillow's actual value (MAPE), over 1 to 12 months ahead and all 18 start dates. Lower is better; RMSE in dollars agrees.</a:t>
            </a:r>
          </a:p>
        </p:txBody>
      </p:sp>
      <p:sp>
        <p:nvSpPr>
          <p:cNvPr id="10" name="TextBox 9"/>
          <p:cNvSpPr txBox="1"/>
          <p:nvPr/>
        </p:nvSpPr>
        <p:spPr>
          <a:xfrm>
            <a:off x="365760" y="1615440"/>
            <a:ext cx="2560319" cy="32004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1" i="0">
                <a:solidFill>
                  <a:srgbClr val="1F6F8B"/>
                </a:solidFill>
                <a:latin typeface="Arial"/>
              </a:rPr>
              <a:t>DATA</a:t>
            </a:r>
          </a:p>
        </p:txBody>
      </p:sp>
      <p:sp>
        <p:nvSpPr>
          <p:cNvPr id="11" name="Rectangle 10"/>
          <p:cNvSpPr/>
          <p:nvPr/>
        </p:nvSpPr>
        <p:spPr>
          <a:xfrm>
            <a:off x="365760" y="1944624"/>
            <a:ext cx="2560319" cy="9144"/>
          </a:xfrm>
          <a:prstGeom prst="rect">
            <a:avLst/>
          </a:prstGeom>
          <a:solidFill>
            <a:srgbClr val="6B6F76"/>
          </a:solidFill>
          <a:ln>
            <a:noFill/>
          </a:ln>
          <a:effectLst/>
        </p:spPr>
        <p:txBody>
          <a:bodyPr rtlCol="0" anchor="ctr"/>
          <a:lstStyle/>
          <a:p>
            <a:pPr algn="ctr"/>
          </a:p>
        </p:txBody>
      </p:sp>
      <p:sp>
        <p:nvSpPr>
          <p:cNvPr id="12" name="TextBox 11"/>
          <p:cNvSpPr txBox="1"/>
          <p:nvPr/>
        </p:nvSpPr>
        <p:spPr>
          <a:xfrm>
            <a:off x="365760" y="2072640"/>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Zillow ZHVI, LA metro</a:t>
            </a:r>
          </a:p>
        </p:txBody>
      </p:sp>
      <p:sp>
        <p:nvSpPr>
          <p:cNvPr id="13" name="TextBox 12"/>
          <p:cNvSpPr txBox="1"/>
          <p:nvPr/>
        </p:nvSpPr>
        <p:spPr>
          <a:xfrm>
            <a:off x="365760" y="2243328"/>
            <a:ext cx="2560319"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320 months, Jan 2000 to Aug 2026</a:t>
            </a:r>
          </a:p>
        </p:txBody>
      </p:sp>
      <p:sp>
        <p:nvSpPr>
          <p:cNvPr id="14" name="TextBox 13"/>
          <p:cNvSpPr txBox="1"/>
          <p:nvPr/>
        </p:nvSpPr>
        <p:spPr>
          <a:xfrm>
            <a:off x="365760" y="2465832"/>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499 LA neighborhoods</a:t>
            </a:r>
          </a:p>
        </p:txBody>
      </p:sp>
      <p:sp>
        <p:nvSpPr>
          <p:cNvPr id="15" name="TextBox 14"/>
          <p:cNvSpPr txBox="1"/>
          <p:nvPr/>
        </p:nvSpPr>
        <p:spPr>
          <a:xfrm>
            <a:off x="365760" y="2636520"/>
            <a:ext cx="2560319"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Zillow neighborhood index</a:t>
            </a:r>
          </a:p>
        </p:txBody>
      </p:sp>
      <p:sp>
        <p:nvSpPr>
          <p:cNvPr id="16" name="TextBox 15"/>
          <p:cNvSpPr txBox="1"/>
          <p:nvPr/>
        </p:nvSpPr>
        <p:spPr>
          <a:xfrm>
            <a:off x="365760" y="2859024"/>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Mortgage rate and payroll jobs</a:t>
            </a:r>
          </a:p>
        </p:txBody>
      </p:sp>
      <p:sp>
        <p:nvSpPr>
          <p:cNvPr id="17" name="TextBox 16"/>
          <p:cNvSpPr txBox="1"/>
          <p:nvPr/>
        </p:nvSpPr>
        <p:spPr>
          <a:xfrm>
            <a:off x="365760" y="3029712"/>
            <a:ext cx="2560319"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FRED and BLS, LA and Orange County</a:t>
            </a:r>
          </a:p>
        </p:txBody>
      </p:sp>
      <p:sp>
        <p:nvSpPr>
          <p:cNvPr id="18" name="TextBox 17"/>
          <p:cNvSpPr txBox="1"/>
          <p:nvPr/>
        </p:nvSpPr>
        <p:spPr>
          <a:xfrm>
            <a:off x="3291839" y="1615440"/>
            <a:ext cx="2560319" cy="32004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1" i="0">
                <a:solidFill>
                  <a:srgbClr val="1F6F8B"/>
                </a:solidFill>
                <a:latin typeface="Arial"/>
              </a:rPr>
              <a:t>14 MODELS + 3 LLMS</a:t>
            </a:r>
          </a:p>
        </p:txBody>
      </p:sp>
      <p:sp>
        <p:nvSpPr>
          <p:cNvPr id="19" name="Rectangle 18"/>
          <p:cNvSpPr/>
          <p:nvPr/>
        </p:nvSpPr>
        <p:spPr>
          <a:xfrm>
            <a:off x="3291839" y="1944624"/>
            <a:ext cx="2560319" cy="9144"/>
          </a:xfrm>
          <a:prstGeom prst="rect">
            <a:avLst/>
          </a:prstGeom>
          <a:solidFill>
            <a:srgbClr val="6B6F76"/>
          </a:solidFill>
          <a:ln>
            <a:noFill/>
          </a:ln>
          <a:effectLst/>
        </p:spPr>
        <p:txBody>
          <a:bodyPr rtlCol="0" anchor="ctr"/>
          <a:lstStyle/>
          <a:p>
            <a:pPr algn="ctr"/>
          </a:p>
        </p:txBody>
      </p:sp>
      <p:sp>
        <p:nvSpPr>
          <p:cNvPr id="20" name="TextBox 19"/>
          <p:cNvSpPr txBox="1"/>
          <p:nvPr/>
        </p:nvSpPr>
        <p:spPr>
          <a:xfrm>
            <a:off x="3291839" y="2072640"/>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Baseline and classical</a:t>
            </a:r>
          </a:p>
        </p:txBody>
      </p:sp>
      <p:sp>
        <p:nvSpPr>
          <p:cNvPr id="21" name="TextBox 20"/>
          <p:cNvSpPr txBox="1"/>
          <p:nvPr/>
        </p:nvSpPr>
        <p:spPr>
          <a:xfrm>
            <a:off x="3291839" y="2243328"/>
            <a:ext cx="2560319"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Naive drift · ARIMA · Holt · Prophet ×2</a:t>
            </a:r>
          </a:p>
        </p:txBody>
      </p:sp>
      <p:sp>
        <p:nvSpPr>
          <p:cNvPr id="22" name="TextBox 21"/>
          <p:cNvSpPr txBox="1"/>
          <p:nvPr/>
        </p:nvSpPr>
        <p:spPr>
          <a:xfrm>
            <a:off x="3291839" y="2465832"/>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ML, deep learning, AI</a:t>
            </a:r>
          </a:p>
        </p:txBody>
      </p:sp>
      <p:sp>
        <p:nvSpPr>
          <p:cNvPr id="23" name="TextBox 22"/>
          <p:cNvSpPr txBox="1"/>
          <p:nvPr/>
        </p:nvSpPr>
        <p:spPr>
          <a:xfrm>
            <a:off x="3291839" y="2636520"/>
            <a:ext cx="2560319" cy="298704"/>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XGBoost · LightGBM · LSTM · GRU · Chronos</a:t>
            </a:r>
          </a:p>
        </p:txBody>
      </p:sp>
      <p:sp>
        <p:nvSpPr>
          <p:cNvPr id="24" name="TextBox 23"/>
          <p:cNvSpPr txBox="1"/>
          <p:nvPr/>
        </p:nvSpPr>
        <p:spPr>
          <a:xfrm>
            <a:off x="3291839" y="3008376"/>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Outside information</a:t>
            </a:r>
          </a:p>
        </p:txBody>
      </p:sp>
      <p:sp>
        <p:nvSpPr>
          <p:cNvPr id="25" name="TextBox 24"/>
          <p:cNvSpPr txBox="1"/>
          <p:nvPr/>
        </p:nvSpPr>
        <p:spPr>
          <a:xfrm>
            <a:off x="3291839" y="3179064"/>
            <a:ext cx="2560319"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ARIMAX ×2 · VAR · factor VAR</a:t>
            </a:r>
          </a:p>
        </p:txBody>
      </p:sp>
      <p:sp>
        <p:nvSpPr>
          <p:cNvPr id="26" name="TextBox 25"/>
          <p:cNvSpPr txBox="1"/>
          <p:nvPr/>
        </p:nvSpPr>
        <p:spPr>
          <a:xfrm>
            <a:off x="3291839" y="3401568"/>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Plus 3 chat LLMs</a:t>
            </a:r>
          </a:p>
        </p:txBody>
      </p:sp>
      <p:sp>
        <p:nvSpPr>
          <p:cNvPr id="27" name="TextBox 26"/>
          <p:cNvSpPr txBox="1"/>
          <p:nvPr/>
        </p:nvSpPr>
        <p:spPr>
          <a:xfrm>
            <a:off x="3291839" y="3572256"/>
            <a:ext cx="2560319"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Claude · GPT · Gemini</a:t>
            </a:r>
          </a:p>
        </p:txBody>
      </p:sp>
      <p:sp>
        <p:nvSpPr>
          <p:cNvPr id="28" name="TextBox 27"/>
          <p:cNvSpPr txBox="1"/>
          <p:nvPr/>
        </p:nvSpPr>
        <p:spPr>
          <a:xfrm>
            <a:off x="6217919" y="1615440"/>
            <a:ext cx="2560319" cy="32004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1" i="0">
                <a:solidFill>
                  <a:srgbClr val="1F6F8B"/>
                </a:solidFill>
                <a:latin typeface="Arial"/>
              </a:rPr>
              <a:t>2 TESTS</a:t>
            </a:r>
          </a:p>
        </p:txBody>
      </p:sp>
      <p:sp>
        <p:nvSpPr>
          <p:cNvPr id="29" name="Rectangle 28"/>
          <p:cNvSpPr/>
          <p:nvPr/>
        </p:nvSpPr>
        <p:spPr>
          <a:xfrm>
            <a:off x="6217919" y="1944624"/>
            <a:ext cx="2560319" cy="9144"/>
          </a:xfrm>
          <a:prstGeom prst="rect">
            <a:avLst/>
          </a:prstGeom>
          <a:solidFill>
            <a:srgbClr val="6B6F76"/>
          </a:solidFill>
          <a:ln>
            <a:noFill/>
          </a:ln>
          <a:effectLst/>
        </p:spPr>
        <p:txBody>
          <a:bodyPr rtlCol="0" anchor="ctr"/>
          <a:lstStyle/>
          <a:p>
            <a:pPr algn="ctr"/>
          </a:p>
        </p:txBody>
      </p:sp>
      <p:sp>
        <p:nvSpPr>
          <p:cNvPr id="30" name="TextBox 29"/>
          <p:cNvSpPr txBox="1"/>
          <p:nvPr/>
        </p:nvSpPr>
        <p:spPr>
          <a:xfrm>
            <a:off x="6217919" y="2072640"/>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1. Rolling origin (main)</a:t>
            </a:r>
          </a:p>
        </p:txBody>
      </p:sp>
      <p:sp>
        <p:nvSpPr>
          <p:cNvPr id="31" name="TextBox 30"/>
          <p:cNvSpPr txBox="1"/>
          <p:nvPr/>
        </p:nvSpPr>
        <p:spPr>
          <a:xfrm>
            <a:off x="6217919" y="2243328"/>
            <a:ext cx="2560319" cy="298704"/>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Refit every 3 months, forecast 12 months ahead, 18 times</a:t>
            </a:r>
          </a:p>
        </p:txBody>
      </p:sp>
      <p:sp>
        <p:nvSpPr>
          <p:cNvPr id="32" name="TextBox 31"/>
          <p:cNvSpPr txBox="1"/>
          <p:nvPr/>
        </p:nvSpPr>
        <p:spPr>
          <a:xfrm>
            <a:off x="6217919" y="2615184"/>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2. Single blind 80/20</a:t>
            </a:r>
          </a:p>
        </p:txBody>
      </p:sp>
      <p:sp>
        <p:nvSpPr>
          <p:cNvPr id="33" name="TextBox 32"/>
          <p:cNvSpPr txBox="1"/>
          <p:nvPr/>
        </p:nvSpPr>
        <p:spPr>
          <a:xfrm>
            <a:off x="6217919" y="2785872"/>
            <a:ext cx="2560319" cy="298704"/>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Train to Apr 2021, forecast 64 months in one shot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RESULT 1 · ROLLING TEST</a:t>
            </a:r>
          </a:p>
        </p:txBody>
      </p:sp>
      <p:sp>
        <p:nvSpPr>
          <p:cNvPr id="3" name="deckkit-chrome-title"/>
          <p:cNvSpPr txBox="1"/>
          <p:nvPr/>
        </p:nvSpPr>
        <p:spPr>
          <a:xfrm>
            <a:off x="502920" y="493776"/>
            <a:ext cx="8138160" cy="792479"/>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In the fair test, ARIMA-family models beat machine learning</a:t>
            </a:r>
          </a:p>
        </p:txBody>
      </p:sp>
      <p:sp>
        <p:nvSpPr>
          <p:cNvPr id="4" name="deckkit-chrome-title"/>
          <p:cNvSpPr/>
          <p:nvPr/>
        </p:nvSpPr>
        <p:spPr>
          <a:xfrm>
            <a:off x="521207" y="1341120"/>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4</a:t>
            </a:r>
          </a:p>
        </p:txBody>
      </p:sp>
      <p:graphicFrame>
        <p:nvGraphicFramePr>
          <p:cNvPr id="7" name="Chart 6"/>
          <p:cNvGraphicFramePr>
            <a:graphicFrameLocks noGrp="1"/>
          </p:cNvGraphicFramePr>
          <p:nvPr/>
        </p:nvGraphicFramePr>
        <p:xfrm>
          <a:off x="457200" y="1569720"/>
          <a:ext cx="5394960" cy="2979419"/>
        </p:xfrm>
        <a:graphic>
          <a:graphicData uri="http://schemas.openxmlformats.org/drawingml/2006/chart">
            <c:chart xmlns:c="http://schemas.openxmlformats.org/drawingml/2006/chart" r:id="rId2"/>
          </a:graphicData>
        </a:graphic>
      </p:graphicFrame>
      <p:sp>
        <p:nvSpPr>
          <p:cNvPr id="8" name="TextBox 7"/>
          <p:cNvSpPr txBox="1"/>
          <p:nvPr/>
        </p:nvSpPr>
        <p:spPr>
          <a:xfrm>
            <a:off x="6126480" y="1661160"/>
            <a:ext cx="260604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LOWEST ERROR</a:t>
            </a:r>
          </a:p>
        </p:txBody>
      </p:sp>
      <p:sp>
        <p:nvSpPr>
          <p:cNvPr id="9" name="TextBox 8"/>
          <p:cNvSpPr txBox="1"/>
          <p:nvPr/>
        </p:nvSpPr>
        <p:spPr>
          <a:xfrm>
            <a:off x="6126480" y="1972056"/>
            <a:ext cx="2606040" cy="82296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3400" b="1" i="0">
                <a:solidFill>
                  <a:srgbClr val="16213E"/>
                </a:solidFill>
                <a:latin typeface="Arial"/>
              </a:rPr>
              <a:t>2.67%</a:t>
            </a:r>
          </a:p>
        </p:txBody>
      </p:sp>
      <p:sp>
        <p:nvSpPr>
          <p:cNvPr id="10" name="TextBox 9"/>
          <p:cNvSpPr txBox="1"/>
          <p:nvPr/>
        </p:nvSpPr>
        <p:spPr>
          <a:xfrm>
            <a:off x="6126480" y="2849880"/>
            <a:ext cx="2606040" cy="1280160"/>
          </a:xfrm>
          <a:prstGeom prst="rect">
            <a:avLst/>
          </a:prstGeom>
          <a:noFill/>
          <a:ln/>
        </p:spPr>
        <p:txBody>
          <a:bodyPr wrap="square" anchor="t" lIns="25400" rIns="25400" tIns="25400" bIns="25400">
            <a:spAutoFit/>
          </a:bodyPr>
          <a:lstStyle/>
          <a:p>
            <a:pPr algn="l">
              <a:lnSpc>
                <a:spcPct val="120000"/>
              </a:lnSpc>
              <a:spcBef>
                <a:spcPts val="0"/>
              </a:spcBef>
              <a:spcAft>
                <a:spcPts val="0"/>
              </a:spcAft>
            </a:pPr>
            <a:r>
              <a:rPr sz="1400" b="0" i="0">
                <a:solidFill>
                  <a:srgbClr val="3D4A5C"/>
                </a:solidFill>
                <a:latin typeface="Arial"/>
              </a:rPr>
              <a:t>ARIMAX, average error 1 to 12 months ahead. ARIMA 2.77%. LSTM 3.02%, XGBoost 3.65%, Prophet 6.89%. Also 1st on RMSE ($35.8K).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RESULT 2 · SINGLE BLIND TEST (ONE WINDOW)</a:t>
            </a:r>
          </a:p>
        </p:txBody>
      </p:sp>
      <p:sp>
        <p:nvSpPr>
          <p:cNvPr id="3" name="deckkit-chrome-title"/>
          <p:cNvSpPr txBox="1"/>
          <p:nvPr/>
        </p:nvSpPr>
        <p:spPr>
          <a:xfrm>
            <a:off x="502920" y="493776"/>
            <a:ext cx="8138160" cy="792479"/>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One test window crowned LightGBM; 18 windows ranked it tenth</a:t>
            </a:r>
          </a:p>
        </p:txBody>
      </p:sp>
      <p:sp>
        <p:nvSpPr>
          <p:cNvPr id="4" name="deckkit-chrome-title"/>
          <p:cNvSpPr/>
          <p:nvPr/>
        </p:nvSpPr>
        <p:spPr>
          <a:xfrm>
            <a:off x="521207" y="1341120"/>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5</a:t>
            </a:r>
          </a:p>
        </p:txBody>
      </p:sp>
      <p:pic>
        <p:nvPicPr>
          <p:cNvPr id="7" name="Picture 6" descr="Grid of 11 model forecasts from April 2021 against actual LA values" title="Grid of 11 model forecasts from April 2021 against actual LA values"/>
          <p:cNvPicPr>
            <a:picLocks noChangeAspect="1"/>
          </p:cNvPicPr>
          <p:nvPr/>
        </p:nvPicPr>
        <p:blipFill>
          <a:blip r:embed="rId2"/>
          <a:stretch>
            <a:fillRect/>
          </a:stretch>
        </p:blipFill>
        <p:spPr>
          <a:xfrm>
            <a:off x="1652987" y="1542288"/>
            <a:ext cx="3003385" cy="3052571"/>
          </a:xfrm>
          <a:prstGeom prst="rect">
            <a:avLst/>
          </a:prstGeom>
        </p:spPr>
      </p:pic>
      <p:sp>
        <p:nvSpPr>
          <p:cNvPr id="8" name="TextBox 7"/>
          <p:cNvSpPr txBox="1"/>
          <p:nvPr/>
        </p:nvSpPr>
        <p:spPr>
          <a:xfrm>
            <a:off x="6172200" y="1661160"/>
            <a:ext cx="256032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B4400B"/>
                </a:solidFill>
                <a:latin typeface="Arial"/>
              </a:rPr>
              <a:t>SAME MODEL, TWO TESTS</a:t>
            </a:r>
          </a:p>
        </p:txBody>
      </p:sp>
      <p:sp>
        <p:nvSpPr>
          <p:cNvPr id="9" name="TextBox 8"/>
          <p:cNvSpPr txBox="1"/>
          <p:nvPr/>
        </p:nvSpPr>
        <p:spPr>
          <a:xfrm>
            <a:off x="6172200" y="1972056"/>
            <a:ext cx="2560320" cy="82296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3400" b="1" i="0">
                <a:solidFill>
                  <a:srgbClr val="16213E"/>
                </a:solidFill>
                <a:latin typeface="Arial"/>
              </a:rPr>
              <a:t>1st → 10th</a:t>
            </a:r>
          </a:p>
        </p:txBody>
      </p:sp>
      <p:sp>
        <p:nvSpPr>
          <p:cNvPr id="10" name="TextBox 9"/>
          <p:cNvSpPr txBox="1"/>
          <p:nvPr/>
        </p:nvSpPr>
        <p:spPr>
          <a:xfrm>
            <a:off x="6172200" y="2849880"/>
            <a:ext cx="2560320" cy="1280160"/>
          </a:xfrm>
          <a:prstGeom prst="rect">
            <a:avLst/>
          </a:prstGeom>
          <a:noFill/>
          <a:ln/>
        </p:spPr>
        <p:txBody>
          <a:bodyPr wrap="square" anchor="t" lIns="25400" rIns="25400" tIns="25400" bIns="25400">
            <a:spAutoFit/>
          </a:bodyPr>
          <a:lstStyle/>
          <a:p>
            <a:pPr algn="l">
              <a:lnSpc>
                <a:spcPct val="120000"/>
              </a:lnSpc>
              <a:spcBef>
                <a:spcPts val="0"/>
              </a:spcBef>
              <a:spcAft>
                <a:spcPts val="0"/>
              </a:spcAft>
            </a:pPr>
            <a:r>
              <a:rPr sz="1400" b="0" i="0">
                <a:solidFill>
                  <a:srgbClr val="3D4A5C"/>
                </a:solidFill>
                <a:latin typeface="Arial"/>
              </a:rPr>
              <a:t>LightGBM won the single 64-month test (2.2% error) but ranked 10th across 18 rolling tests: it got lucky in the one window that counted.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RESULT 3 · AI AS AN ALTERNATIVE</a:t>
            </a:r>
          </a:p>
        </p:txBody>
      </p:sp>
      <p:sp>
        <p:nvSpPr>
          <p:cNvPr id="3" name="deckkit-chrome-title"/>
          <p:cNvSpPr txBox="1"/>
          <p:nvPr/>
        </p:nvSpPr>
        <p:spPr>
          <a:xfrm>
            <a:off x="502920" y="493776"/>
            <a:ext cx="8138160" cy="792479"/>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An alternative tool: AI chatbots won by memory, not forecasting</a:t>
            </a:r>
          </a:p>
        </p:txBody>
      </p:sp>
      <p:sp>
        <p:nvSpPr>
          <p:cNvPr id="4" name="deckkit-chrome-title"/>
          <p:cNvSpPr/>
          <p:nvPr/>
        </p:nvSpPr>
        <p:spPr>
          <a:xfrm>
            <a:off x="521207" y="1341120"/>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6</a:t>
            </a:r>
          </a:p>
        </p:txBody>
      </p:sp>
      <p:pic>
        <p:nvPicPr>
          <p:cNvPr id="7" name="Picture 6" descr="Average and 12-month error of Claude, GPT and Gemini under named, blind and masked prompts, against ARIMAX and naive drift" title="Average and 12-month error of Claude, GPT and Gemini under named, blind and masked prompts, against ARIMAX and naive dri"/>
          <p:cNvPicPr>
            <a:picLocks noChangeAspect="1"/>
          </p:cNvPicPr>
          <p:nvPr/>
        </p:nvPicPr>
        <p:blipFill>
          <a:blip r:embed="rId2"/>
          <a:stretch>
            <a:fillRect/>
          </a:stretch>
        </p:blipFill>
        <p:spPr>
          <a:xfrm>
            <a:off x="411480" y="1712810"/>
            <a:ext cx="5577840" cy="2693239"/>
          </a:xfrm>
          <a:prstGeom prst="rect">
            <a:avLst/>
          </a:prstGeom>
        </p:spPr>
      </p:pic>
      <p:sp>
        <p:nvSpPr>
          <p:cNvPr id="8" name="TextBox 7"/>
          <p:cNvSpPr txBox="1"/>
          <p:nvPr/>
        </p:nvSpPr>
        <p:spPr>
          <a:xfrm>
            <a:off x="6217920" y="1661160"/>
            <a:ext cx="25146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B4400B"/>
                </a:solidFill>
                <a:latin typeface="Arial"/>
              </a:rPr>
              <a:t>SAME MODEL, DATES HIDDEN</a:t>
            </a:r>
          </a:p>
        </p:txBody>
      </p:sp>
      <p:sp>
        <p:nvSpPr>
          <p:cNvPr id="9" name="TextBox 8"/>
          <p:cNvSpPr txBox="1"/>
          <p:nvPr/>
        </p:nvSpPr>
        <p:spPr>
          <a:xfrm>
            <a:off x="6217920" y="1972056"/>
            <a:ext cx="2514600" cy="82296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3400" b="1" i="0">
                <a:solidFill>
                  <a:srgbClr val="16213E"/>
                </a:solidFill>
                <a:latin typeface="Arial"/>
              </a:rPr>
              <a:t>1.3 → 2.8%</a:t>
            </a:r>
          </a:p>
        </p:txBody>
      </p:sp>
      <p:sp>
        <p:nvSpPr>
          <p:cNvPr id="10" name="TextBox 9"/>
          <p:cNvSpPr txBox="1"/>
          <p:nvPr/>
        </p:nvSpPr>
        <p:spPr>
          <a:xfrm>
            <a:off x="6217920" y="2849880"/>
            <a:ext cx="2514600" cy="1280160"/>
          </a:xfrm>
          <a:prstGeom prst="rect">
            <a:avLst/>
          </a:prstGeom>
          <a:noFill/>
          <a:ln/>
        </p:spPr>
        <p:txBody>
          <a:bodyPr wrap="square" anchor="t" lIns="25400" rIns="25400" tIns="25400" bIns="25400">
            <a:spAutoFit/>
          </a:bodyPr>
          <a:lstStyle/>
          <a:p>
            <a:pPr algn="l">
              <a:lnSpc>
                <a:spcPct val="120000"/>
              </a:lnSpc>
              <a:spcBef>
                <a:spcPts val="0"/>
              </a:spcBef>
              <a:spcAft>
                <a:spcPts val="0"/>
              </a:spcAft>
            </a:pPr>
            <a:r>
              <a:rPr sz="1400" b="0" i="0">
                <a:solidFill>
                  <a:srgbClr val="3D4A5C"/>
                </a:solidFill>
                <a:latin typeface="Arial"/>
              </a:rPr>
              <a:t>Claude's error once it could not tell the place, dates or mortgage rate (ARIMAX 2.67%). All test dates are inside the LLMs' training data.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RESULT 3 · AI AS AN ALTERNATIVE, HOW WE TESTED</a:t>
            </a:r>
          </a:p>
        </p:txBody>
      </p:sp>
      <p:sp>
        <p:nvSpPr>
          <p:cNvPr id="3" name="deckkit-chrome-title"/>
          <p:cNvSpPr txBox="1"/>
          <p:nvPr/>
        </p:nvSpPr>
        <p:spPr>
          <a:xfrm>
            <a:off x="502920" y="493776"/>
            <a:ext cx="8138160" cy="64008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The LLMs' edge disappears once we mask the data</a:t>
            </a:r>
          </a:p>
        </p:txBody>
      </p:sp>
      <p:sp>
        <p:nvSpPr>
          <p:cNvPr id="4" name="deckkit-chrome-title"/>
          <p:cNvSpPr/>
          <p:nvPr/>
        </p:nvSpPr>
        <p:spPr>
          <a:xfrm>
            <a:off x="521207" y="1060704"/>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7</a:t>
            </a:r>
          </a:p>
        </p:txBody>
      </p:sp>
      <p:sp>
        <p:nvSpPr>
          <p:cNvPr id="7" name="Rounded Rectangle 6"/>
          <p:cNvSpPr/>
          <p:nvPr/>
        </p:nvSpPr>
        <p:spPr>
          <a:xfrm>
            <a:off x="457200" y="3826763"/>
            <a:ext cx="8229600" cy="722376"/>
          </a:xfrm>
          <a:prstGeom prst="roundRect">
            <a:avLst>
              <a:gd name="adj" fmla="val 8000"/>
            </a:avLst>
          </a:prstGeom>
          <a:solidFill>
            <a:srgbClr val="F3ECE3"/>
          </a:solidFill>
          <a:ln>
            <a:noFill/>
          </a:ln>
          <a:effectLst/>
        </p:spPr>
        <p:txBody>
          <a:bodyPr rtlCol="0" anchor="ctr"/>
          <a:lstStyle/>
          <a:p>
            <a:pPr algn="ctr"/>
          </a:p>
        </p:txBody>
      </p:sp>
      <p:sp>
        <p:nvSpPr>
          <p:cNvPr id="8" name="Rectangle 7"/>
          <p:cNvSpPr/>
          <p:nvPr/>
        </p:nvSpPr>
        <p:spPr>
          <a:xfrm>
            <a:off x="457200" y="3884554"/>
            <a:ext cx="64008" cy="606795"/>
          </a:xfrm>
          <a:prstGeom prst="rect">
            <a:avLst/>
          </a:prstGeom>
          <a:solidFill>
            <a:srgbClr val="B4400B"/>
          </a:solidFill>
          <a:ln>
            <a:noFill/>
          </a:ln>
          <a:effectLst/>
        </p:spPr>
        <p:txBody>
          <a:bodyPr rtlCol="0" anchor="ctr"/>
          <a:lstStyle/>
          <a:p>
            <a:pPr algn="ctr"/>
          </a:p>
        </p:txBody>
      </p:sp>
      <p:sp>
        <p:nvSpPr>
          <p:cNvPr id="9" name="TextBox 8"/>
          <p:cNvSpPr txBox="1"/>
          <p:nvPr/>
        </p:nvSpPr>
        <p:spPr>
          <a:xfrm>
            <a:off x="676656" y="3826763"/>
            <a:ext cx="7827264" cy="722376"/>
          </a:xfrm>
          <a:prstGeom prst="rect">
            <a:avLst/>
          </a:prstGeom>
          <a:noFill/>
          <a:ln/>
        </p:spPr>
        <p:txBody>
          <a:bodyPr wrap="square" anchor="ctr" lIns="25400" rIns="25400" tIns="25400" bIns="25400">
            <a:spAutoFit/>
          </a:bodyPr>
          <a:lstStyle/>
          <a:p>
            <a:pPr algn="l">
              <a:lnSpc>
                <a:spcPct val="108000"/>
              </a:lnSpc>
              <a:spcBef>
                <a:spcPts val="0"/>
              </a:spcBef>
              <a:spcAft>
                <a:spcPts val="0"/>
              </a:spcAft>
            </a:pPr>
            <a:r>
              <a:rPr sz="1100" b="1" i="0">
                <a:solidFill>
                  <a:srgbClr val="B4400B"/>
                </a:solidFill>
                <a:latin typeface="Arial"/>
              </a:rPr>
              <a:t>NAME THIS SERIES  </a:t>
            </a:r>
            <a:r>
              <a:rPr sz="1250" b="0" i="0">
                <a:solidFill>
                  <a:srgbClr val="16213E"/>
                </a:solidFill>
                <a:latin typeface="Arial"/>
              </a:rPr>
              <a:t>Given the blind data, Claude named Los Angeles 16 of 18 times and got the dates exactly right. Masked: 0 of 18.</a:t>
            </a:r>
          </a:p>
        </p:txBody>
      </p:sp>
      <p:sp>
        <p:nvSpPr>
          <p:cNvPr id="10" name="Rectangle 9"/>
          <p:cNvSpPr/>
          <p:nvPr/>
        </p:nvSpPr>
        <p:spPr>
          <a:xfrm>
            <a:off x="457200" y="1316736"/>
            <a:ext cx="2834640" cy="729995"/>
          </a:xfrm>
          <a:prstGeom prst="rect">
            <a:avLst/>
          </a:prstGeom>
          <a:solidFill>
            <a:srgbClr val="FFFFFF"/>
          </a:solidFill>
          <a:ln w="9525">
            <a:solidFill>
              <a:srgbClr val="DDD8CC"/>
            </a:solidFill>
          </a:ln>
          <a:effectLst/>
        </p:spPr>
        <p:txBody>
          <a:bodyPr rtlCol="0" anchor="ctr"/>
          <a:lstStyle/>
          <a:p>
            <a:pPr algn="ctr"/>
          </a:p>
        </p:txBody>
      </p:sp>
      <p:sp>
        <p:nvSpPr>
          <p:cNvPr id="11" name="TextBox 10"/>
          <p:cNvSpPr txBox="1"/>
          <p:nvPr/>
        </p:nvSpPr>
        <p:spPr>
          <a:xfrm>
            <a:off x="566928" y="1371600"/>
            <a:ext cx="2615184" cy="256032"/>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1" i="0">
                <a:solidFill>
                  <a:srgbClr val="B4400B"/>
                </a:solidFill>
                <a:latin typeface="Arial"/>
              </a:rPr>
              <a:t>NAMED</a:t>
            </a:r>
          </a:p>
        </p:txBody>
      </p:sp>
      <p:sp>
        <p:nvSpPr>
          <p:cNvPr id="12" name="TextBox 11"/>
          <p:cNvSpPr txBox="1"/>
          <p:nvPr/>
        </p:nvSpPr>
        <p:spPr>
          <a:xfrm>
            <a:off x="566928" y="1609344"/>
            <a:ext cx="2615184" cy="181355"/>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0" i="0">
                <a:solidFill>
                  <a:srgbClr val="16213E"/>
                </a:solidFill>
                <a:latin typeface="Arial"/>
              </a:rPr>
              <a:t>LA, real dates, dollars, mortgage rate</a:t>
            </a:r>
          </a:p>
        </p:txBody>
      </p:sp>
      <p:sp>
        <p:nvSpPr>
          <p:cNvPr id="13" name="TextBox 12"/>
          <p:cNvSpPr txBox="1"/>
          <p:nvPr/>
        </p:nvSpPr>
        <p:spPr>
          <a:xfrm>
            <a:off x="566928" y="1754124"/>
            <a:ext cx="2615184" cy="256032"/>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950" b="1" i="0">
                <a:solidFill>
                  <a:srgbClr val="B4400B"/>
                </a:solidFill>
                <a:latin typeface="Arial"/>
              </a:rPr>
              <a:t>Leaks: it knows the place and the years</a:t>
            </a:r>
          </a:p>
        </p:txBody>
      </p:sp>
      <p:sp>
        <p:nvSpPr>
          <p:cNvPr id="14" name="Rectangle 13"/>
          <p:cNvSpPr/>
          <p:nvPr/>
        </p:nvSpPr>
        <p:spPr>
          <a:xfrm>
            <a:off x="457200" y="2138171"/>
            <a:ext cx="2834640" cy="729995"/>
          </a:xfrm>
          <a:prstGeom prst="rect">
            <a:avLst/>
          </a:prstGeom>
          <a:solidFill>
            <a:srgbClr val="FFFFFF"/>
          </a:solidFill>
          <a:ln w="9525">
            <a:solidFill>
              <a:srgbClr val="DDD8CC"/>
            </a:solidFill>
          </a:ln>
          <a:effectLst/>
        </p:spPr>
        <p:txBody>
          <a:bodyPr rtlCol="0" anchor="ctr"/>
          <a:lstStyle/>
          <a:p>
            <a:pPr algn="ctr"/>
          </a:p>
        </p:txBody>
      </p:sp>
      <p:sp>
        <p:nvSpPr>
          <p:cNvPr id="15" name="TextBox 14"/>
          <p:cNvSpPr txBox="1"/>
          <p:nvPr/>
        </p:nvSpPr>
        <p:spPr>
          <a:xfrm>
            <a:off x="566928" y="2193035"/>
            <a:ext cx="2615184" cy="256032"/>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1" i="0">
                <a:solidFill>
                  <a:srgbClr val="B4400B"/>
                </a:solidFill>
                <a:latin typeface="Arial"/>
              </a:rPr>
              <a:t>BLIND</a:t>
            </a:r>
          </a:p>
        </p:txBody>
      </p:sp>
      <p:sp>
        <p:nvSpPr>
          <p:cNvPr id="16" name="TextBox 15"/>
          <p:cNvSpPr txBox="1"/>
          <p:nvPr/>
        </p:nvSpPr>
        <p:spPr>
          <a:xfrm>
            <a:off x="566928" y="2430779"/>
            <a:ext cx="2615184" cy="181355"/>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0" i="0">
                <a:solidFill>
                  <a:srgbClr val="16213E"/>
                </a:solidFill>
                <a:latin typeface="Arial"/>
              </a:rPr>
              <a:t>No place or dates, but the real rate</a:t>
            </a:r>
          </a:p>
        </p:txBody>
      </p:sp>
      <p:sp>
        <p:nvSpPr>
          <p:cNvPr id="17" name="TextBox 16"/>
          <p:cNvSpPr txBox="1"/>
          <p:nvPr/>
        </p:nvSpPr>
        <p:spPr>
          <a:xfrm>
            <a:off x="566928" y="2575559"/>
            <a:ext cx="2615184" cy="256032"/>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950" b="1" i="0">
                <a:solidFill>
                  <a:srgbClr val="B4400B"/>
                </a:solidFill>
                <a:latin typeface="Arial"/>
              </a:rPr>
              <a:t>Leaks: the 2022 rate jump dates the series</a:t>
            </a:r>
          </a:p>
        </p:txBody>
      </p:sp>
      <p:sp>
        <p:nvSpPr>
          <p:cNvPr id="18" name="Rectangle 17"/>
          <p:cNvSpPr/>
          <p:nvPr/>
        </p:nvSpPr>
        <p:spPr>
          <a:xfrm>
            <a:off x="457200" y="2959607"/>
            <a:ext cx="2834640" cy="729995"/>
          </a:xfrm>
          <a:prstGeom prst="rect">
            <a:avLst/>
          </a:prstGeom>
          <a:solidFill>
            <a:srgbClr val="FFFFFF"/>
          </a:solidFill>
          <a:ln w="9525">
            <a:solidFill>
              <a:srgbClr val="DDD8CC"/>
            </a:solidFill>
          </a:ln>
          <a:effectLst/>
        </p:spPr>
        <p:txBody>
          <a:bodyPr rtlCol="0" anchor="ctr"/>
          <a:lstStyle/>
          <a:p>
            <a:pPr algn="ctr"/>
          </a:p>
        </p:txBody>
      </p:sp>
      <p:sp>
        <p:nvSpPr>
          <p:cNvPr id="19" name="TextBox 18"/>
          <p:cNvSpPr txBox="1"/>
          <p:nvPr/>
        </p:nvSpPr>
        <p:spPr>
          <a:xfrm>
            <a:off x="566928" y="3014471"/>
            <a:ext cx="2615184" cy="256032"/>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1" i="0">
                <a:solidFill>
                  <a:srgbClr val="1F6F8B"/>
                </a:solidFill>
                <a:latin typeface="Arial"/>
              </a:rPr>
              <a:t>MASKED</a:t>
            </a:r>
          </a:p>
        </p:txBody>
      </p:sp>
      <p:sp>
        <p:nvSpPr>
          <p:cNvPr id="20" name="TextBox 19"/>
          <p:cNvSpPr txBox="1"/>
          <p:nvPr/>
        </p:nvSpPr>
        <p:spPr>
          <a:xfrm>
            <a:off x="566928" y="3252215"/>
            <a:ext cx="2615184" cy="181355"/>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0" i="0">
                <a:solidFill>
                  <a:srgbClr val="16213E"/>
                </a:solidFill>
                <a:latin typeface="Arial"/>
              </a:rPr>
              <a:t>Last 10 years only; no place, dates or rate</a:t>
            </a:r>
          </a:p>
        </p:txBody>
      </p:sp>
      <p:sp>
        <p:nvSpPr>
          <p:cNvPr id="21" name="TextBox 20"/>
          <p:cNvSpPr txBox="1"/>
          <p:nvPr/>
        </p:nvSpPr>
        <p:spPr>
          <a:xfrm>
            <a:off x="566928" y="3396995"/>
            <a:ext cx="2615184" cy="256032"/>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950" b="1" i="0">
                <a:solidFill>
                  <a:srgbClr val="1F6F8B"/>
                </a:solidFill>
                <a:latin typeface="Arial"/>
              </a:rPr>
              <a:t>The fair test</a:t>
            </a:r>
          </a:p>
        </p:txBody>
      </p:sp>
      <p:pic>
        <p:nvPicPr>
          <p:cNvPr id="22" name="Picture 21" descr="April 2022: actual LA values fell; Claude's named and blind forecasts followed the drop, its masked forecast and ARIMAX kept rising" title="April 2022: actual LA values fell; Claude's named and blind forecasts followed the drop, its masked forecast and ARIMAX "/>
          <p:cNvPicPr>
            <a:picLocks noChangeAspect="1"/>
          </p:cNvPicPr>
          <p:nvPr/>
        </p:nvPicPr>
        <p:blipFill>
          <a:blip r:embed="rId2"/>
          <a:stretch>
            <a:fillRect/>
          </a:stretch>
        </p:blipFill>
        <p:spPr>
          <a:xfrm>
            <a:off x="4077069" y="1289304"/>
            <a:ext cx="4053101" cy="2400299"/>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RESULT 4 · MORTGAGE RATES AND OUTLOOK</a:t>
            </a:r>
          </a:p>
        </p:txBody>
      </p:sp>
      <p:sp>
        <p:nvSpPr>
          <p:cNvPr id="3" name="deckkit-chrome-title"/>
          <p:cNvSpPr txBox="1"/>
          <p:nvPr/>
        </p:nvSpPr>
        <p:spPr>
          <a:xfrm>
            <a:off x="502920" y="493776"/>
            <a:ext cx="8138160" cy="64008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Rates act slowly; we forecast +5% by Aug 2027</a:t>
            </a:r>
          </a:p>
        </p:txBody>
      </p:sp>
      <p:sp>
        <p:nvSpPr>
          <p:cNvPr id="4" name="deckkit-chrome-title"/>
          <p:cNvSpPr/>
          <p:nvPr/>
        </p:nvSpPr>
        <p:spPr>
          <a:xfrm>
            <a:off x="521207" y="1060704"/>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8</a:t>
            </a:r>
          </a:p>
        </p:txBody>
      </p:sp>
      <p:pic>
        <p:nvPicPr>
          <p:cNvPr id="7" name="Picture 6" descr="Impulse response of LA home values to a 1-point mortgage rate rise over 36 months, with 90% band" title="Impulse response of LA home values to a 1-point mortgage rate rise over 36 months, with 90% band"/>
          <p:cNvPicPr>
            <a:picLocks noChangeAspect="1"/>
          </p:cNvPicPr>
          <p:nvPr/>
        </p:nvPicPr>
        <p:blipFill>
          <a:blip r:embed="rId2"/>
          <a:stretch>
            <a:fillRect/>
          </a:stretch>
        </p:blipFill>
        <p:spPr>
          <a:xfrm>
            <a:off x="1003181" y="1261872"/>
            <a:ext cx="4394437" cy="1593341"/>
          </a:xfrm>
          <a:prstGeom prst="rect">
            <a:avLst/>
          </a:prstGeom>
        </p:spPr>
      </p:pic>
      <p:pic>
        <p:nvPicPr>
          <p:cNvPr id="8" name="Picture 7" descr="LA metro forecast to August 2027: ARIMAX, ARIMA with 80% band, naive drift" title="LA metro forecast to August 2027: ARIMAX, ARIMA with 80% band, naive drift"/>
          <p:cNvPicPr>
            <a:picLocks noChangeAspect="1"/>
          </p:cNvPicPr>
          <p:nvPr/>
        </p:nvPicPr>
        <p:blipFill>
          <a:blip r:embed="rId3"/>
          <a:stretch>
            <a:fillRect/>
          </a:stretch>
        </p:blipFill>
        <p:spPr>
          <a:xfrm>
            <a:off x="1168888" y="2928366"/>
            <a:ext cx="4063022" cy="1593341"/>
          </a:xfrm>
          <a:prstGeom prst="rect">
            <a:avLst/>
          </a:prstGeom>
        </p:spPr>
      </p:pic>
      <p:sp>
        <p:nvSpPr>
          <p:cNvPr id="9" name="TextBox 8"/>
          <p:cNvSpPr txBox="1"/>
          <p:nvPr/>
        </p:nvSpPr>
        <p:spPr>
          <a:xfrm>
            <a:off x="6217920" y="1335024"/>
            <a:ext cx="251460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B4400B"/>
                </a:solidFill>
                <a:latin typeface="Arial"/>
              </a:rPr>
              <a:t>−9.2%</a:t>
            </a:r>
          </a:p>
        </p:txBody>
      </p:sp>
      <p:sp>
        <p:nvSpPr>
          <p:cNvPr id="10" name="TextBox 9"/>
          <p:cNvSpPr txBox="1"/>
          <p:nvPr/>
        </p:nvSpPr>
        <p:spPr>
          <a:xfrm>
            <a:off x="6217920" y="1741424"/>
            <a:ext cx="2514600" cy="298704"/>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two years after a 1-point rate rise (−4.5% after one)</a:t>
            </a:r>
          </a:p>
        </p:txBody>
      </p:sp>
      <p:sp>
        <p:nvSpPr>
          <p:cNvPr id="11" name="TextBox 10"/>
          <p:cNvSpPr txBox="1"/>
          <p:nvPr/>
        </p:nvSpPr>
        <p:spPr>
          <a:xfrm>
            <a:off x="6217920" y="2149856"/>
            <a:ext cx="251460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16213E"/>
                </a:solidFill>
                <a:latin typeface="Arial"/>
              </a:rPr>
              <a:t>p = 0.052</a:t>
            </a:r>
          </a:p>
        </p:txBody>
      </p:sp>
      <p:sp>
        <p:nvSpPr>
          <p:cNvPr id="12" name="TextBox 11"/>
          <p:cNvSpPr txBox="1"/>
          <p:nvPr/>
        </p:nvSpPr>
        <p:spPr>
          <a:xfrm>
            <a:off x="6217920" y="2556256"/>
            <a:ext cx="2514600" cy="298704"/>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rates lead prices (Granger, borderline). In ARIMAX: rate p = 0.16, jobs p = 0.29</a:t>
            </a:r>
          </a:p>
        </p:txBody>
      </p:sp>
      <p:sp>
        <p:nvSpPr>
          <p:cNvPr id="13" name="TextBox 12"/>
          <p:cNvSpPr txBox="1"/>
          <p:nvPr/>
        </p:nvSpPr>
        <p:spPr>
          <a:xfrm>
            <a:off x="6217920" y="2964688"/>
            <a:ext cx="251460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1F6F8B"/>
                </a:solidFill>
                <a:latin typeface="Arial"/>
              </a:rPr>
              <a:t>$998K (+4.8%)</a:t>
            </a:r>
          </a:p>
        </p:txBody>
      </p:sp>
      <p:sp>
        <p:nvSpPr>
          <p:cNvPr id="14" name="TextBox 13"/>
          <p:cNvSpPr txBox="1"/>
          <p:nvPr/>
        </p:nvSpPr>
        <p:spPr>
          <a:xfrm>
            <a:off x="6217920" y="3371088"/>
            <a:ext cx="2514600"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ARIMAX forecast, August 2027</a:t>
            </a:r>
          </a:p>
        </p:txBody>
      </p:sp>
      <p:sp>
        <p:nvSpPr>
          <p:cNvPr id="15" name="TextBox 14"/>
          <p:cNvSpPr txBox="1"/>
          <p:nvPr/>
        </p:nvSpPr>
        <p:spPr>
          <a:xfrm>
            <a:off x="6217920" y="3630168"/>
            <a:ext cx="251460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16213E"/>
                </a:solidFill>
                <a:latin typeface="Arial"/>
              </a:rPr>
              <a:t>-6% to +17%</a:t>
            </a:r>
          </a:p>
        </p:txBody>
      </p:sp>
      <p:sp>
        <p:nvSpPr>
          <p:cNvPr id="16" name="TextBox 15"/>
          <p:cNvSpPr txBox="1"/>
          <p:nvPr/>
        </p:nvSpPr>
        <p:spPr>
          <a:xfrm>
            <a:off x="6217920" y="4036568"/>
            <a:ext cx="2514600"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80% range for the next 12 months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NEIGHBORHOODS · LIVE MAP</a:t>
            </a:r>
          </a:p>
        </p:txBody>
      </p:sp>
      <p:sp>
        <p:nvSpPr>
          <p:cNvPr id="3" name="deckkit-chrome-title"/>
          <p:cNvSpPr txBox="1"/>
          <p:nvPr/>
        </p:nvSpPr>
        <p:spPr>
          <a:xfrm>
            <a:off x="502920" y="493776"/>
            <a:ext cx="8138160" cy="792479"/>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The metro average hides a split market, neighborhood by neighborhood</a:t>
            </a:r>
          </a:p>
        </p:txBody>
      </p:sp>
      <p:sp>
        <p:nvSpPr>
          <p:cNvPr id="4" name="deckkit-chrome-title"/>
          <p:cNvSpPr/>
          <p:nvPr/>
        </p:nvSpPr>
        <p:spPr>
          <a:xfrm>
            <a:off x="521207" y="1341120"/>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9</a:t>
            </a:r>
          </a:p>
        </p:txBody>
      </p:sp>
      <p:pic>
        <p:nvPicPr>
          <p:cNvPr id="7" name="Picture 6" descr="Map of LA-metro neighborhoods colored by 12-month change in home value" title="Map of LA-metro neighborhoods colored by 12-month change in home value"/>
          <p:cNvPicPr>
            <a:picLocks noChangeAspect="1"/>
          </p:cNvPicPr>
          <p:nvPr/>
        </p:nvPicPr>
        <p:blipFill>
          <a:blip r:embed="rId2"/>
          <a:stretch>
            <a:fillRect/>
          </a:stretch>
        </p:blipFill>
        <p:spPr>
          <a:xfrm>
            <a:off x="1297760" y="1569720"/>
            <a:ext cx="3073758" cy="3025140"/>
          </a:xfrm>
          <a:prstGeom prst="rect">
            <a:avLst/>
          </a:prstGeom>
        </p:spPr>
      </p:pic>
      <p:sp>
        <p:nvSpPr>
          <p:cNvPr id="8" name="TextBox 7"/>
          <p:cNvSpPr txBox="1"/>
          <p:nvPr/>
        </p:nvSpPr>
        <p:spPr>
          <a:xfrm>
            <a:off x="5669280" y="1661160"/>
            <a:ext cx="310896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16213E"/>
                </a:solidFill>
                <a:latin typeface="Arial"/>
              </a:rPr>
              <a:t>220 / 216 / 60</a:t>
            </a:r>
          </a:p>
        </p:txBody>
      </p:sp>
      <p:sp>
        <p:nvSpPr>
          <p:cNvPr id="9" name="TextBox 8"/>
          <p:cNvSpPr txBox="1"/>
          <p:nvPr/>
        </p:nvSpPr>
        <p:spPr>
          <a:xfrm>
            <a:off x="5669280" y="2067560"/>
            <a:ext cx="3108960" cy="298704"/>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neighborhoods rising / flat / falling more than 2%, last 12 months</a:t>
            </a:r>
          </a:p>
        </p:txBody>
      </p:sp>
      <p:sp>
        <p:nvSpPr>
          <p:cNvPr id="10" name="TextBox 9"/>
          <p:cNvSpPr txBox="1"/>
          <p:nvPr/>
        </p:nvSpPr>
        <p:spPr>
          <a:xfrm>
            <a:off x="5669280" y="2530856"/>
            <a:ext cx="310896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B4400B"/>
                </a:solidFill>
                <a:latin typeface="Arial"/>
              </a:rPr>
              <a:t>152 of 496</a:t>
            </a:r>
          </a:p>
        </p:txBody>
      </p:sp>
      <p:sp>
        <p:nvSpPr>
          <p:cNvPr id="11" name="TextBox 10"/>
          <p:cNvSpPr txBox="1"/>
          <p:nvPr/>
        </p:nvSpPr>
        <p:spPr>
          <a:xfrm>
            <a:off x="5669280" y="2937256"/>
            <a:ext cx="3108960"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still below their 2022 peak, mostly in LA County</a:t>
            </a:r>
          </a:p>
        </p:txBody>
      </p:sp>
      <p:sp>
        <p:nvSpPr>
          <p:cNvPr id="12" name="TextBox 11"/>
          <p:cNvSpPr txBox="1"/>
          <p:nvPr/>
        </p:nvSpPr>
        <p:spPr>
          <a:xfrm>
            <a:off x="5669280" y="3251200"/>
            <a:ext cx="310896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B4400B"/>
                </a:solidFill>
                <a:latin typeface="Arial"/>
              </a:rPr>
              <a:t>−1.2 pts</a:t>
            </a:r>
          </a:p>
        </p:txBody>
      </p:sp>
      <p:sp>
        <p:nvSpPr>
          <p:cNvPr id="13" name="TextBox 12"/>
          <p:cNvSpPr txBox="1"/>
          <p:nvPr/>
        </p:nvSpPr>
        <p:spPr>
          <a:xfrm>
            <a:off x="5669280" y="3657600"/>
            <a:ext cx="3108960" cy="298704"/>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deeper 2022 drop per doubling of price in LA County (reverses in Orange County)</a:t>
            </a:r>
          </a:p>
        </p:txBody>
      </p:sp>
      <p:sp>
        <p:nvSpPr>
          <p:cNvPr id="14" name="TextBox 13"/>
          <p:cNvSpPr txBox="1"/>
          <p:nvPr/>
        </p:nvSpPr>
        <p:spPr>
          <a:xfrm>
            <a:off x="5669280" y="4139184"/>
            <a:ext cx="3108960" cy="45720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1" i="0">
                <a:solidFill>
                  <a:srgbClr val="1F6F8B"/>
                </a:solidFill>
                <a:latin typeface="Arial"/>
              </a:rPr>
              <a:t>Live map: neiltd.github.io/la-housing-forecast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TAKEAWAYS</a:t>
            </a:r>
          </a:p>
        </p:txBody>
      </p:sp>
      <p:sp>
        <p:nvSpPr>
          <p:cNvPr id="3" name="deckkit-chrome-title"/>
          <p:cNvSpPr txBox="1"/>
          <p:nvPr/>
        </p:nvSpPr>
        <p:spPr>
          <a:xfrm>
            <a:off x="502920" y="493776"/>
            <a:ext cx="8138160" cy="64008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What we learned, and what we would do next</a:t>
            </a:r>
          </a:p>
        </p:txBody>
      </p:sp>
      <p:sp>
        <p:nvSpPr>
          <p:cNvPr id="4" name="deckkit-chrome-title"/>
          <p:cNvSpPr/>
          <p:nvPr/>
        </p:nvSpPr>
        <p:spPr>
          <a:xfrm>
            <a:off x="521207" y="1060704"/>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10</a:t>
            </a:r>
          </a:p>
        </p:txBody>
      </p:sp>
      <p:sp>
        <p:nvSpPr>
          <p:cNvPr id="7" name="Rounded Rectangle 6"/>
          <p:cNvSpPr/>
          <p:nvPr/>
        </p:nvSpPr>
        <p:spPr>
          <a:xfrm>
            <a:off x="457200" y="3826763"/>
            <a:ext cx="8229600" cy="722376"/>
          </a:xfrm>
          <a:prstGeom prst="roundRect">
            <a:avLst>
              <a:gd name="adj" fmla="val 8000"/>
            </a:avLst>
          </a:prstGeom>
          <a:solidFill>
            <a:srgbClr val="E8EFF1"/>
          </a:solidFill>
          <a:ln>
            <a:noFill/>
          </a:ln>
          <a:effectLst/>
        </p:spPr>
        <p:txBody>
          <a:bodyPr rtlCol="0" anchor="ctr"/>
          <a:lstStyle/>
          <a:p>
            <a:pPr algn="ctr"/>
          </a:p>
        </p:txBody>
      </p:sp>
      <p:sp>
        <p:nvSpPr>
          <p:cNvPr id="8" name="Rectangle 7"/>
          <p:cNvSpPr/>
          <p:nvPr/>
        </p:nvSpPr>
        <p:spPr>
          <a:xfrm>
            <a:off x="457200" y="3884554"/>
            <a:ext cx="64008" cy="606795"/>
          </a:xfrm>
          <a:prstGeom prst="rect">
            <a:avLst/>
          </a:prstGeom>
          <a:solidFill>
            <a:srgbClr val="1F6F8B"/>
          </a:solidFill>
          <a:ln>
            <a:noFill/>
          </a:ln>
          <a:effectLst/>
        </p:spPr>
        <p:txBody>
          <a:bodyPr rtlCol="0" anchor="ctr"/>
          <a:lstStyle/>
          <a:p>
            <a:pPr algn="ctr"/>
          </a:p>
        </p:txBody>
      </p:sp>
      <p:sp>
        <p:nvSpPr>
          <p:cNvPr id="9" name="TextBox 8"/>
          <p:cNvSpPr txBox="1"/>
          <p:nvPr/>
        </p:nvSpPr>
        <p:spPr>
          <a:xfrm>
            <a:off x="676656" y="3826763"/>
            <a:ext cx="7827264" cy="722376"/>
          </a:xfrm>
          <a:prstGeom prst="rect">
            <a:avLst/>
          </a:prstGeom>
          <a:noFill/>
          <a:ln/>
        </p:spPr>
        <p:txBody>
          <a:bodyPr wrap="square" anchor="ctr" lIns="25400" rIns="25400" tIns="25400" bIns="25400">
            <a:spAutoFit/>
          </a:bodyPr>
          <a:lstStyle/>
          <a:p>
            <a:pPr algn="l">
              <a:lnSpc>
                <a:spcPct val="108000"/>
              </a:lnSpc>
              <a:spcBef>
                <a:spcPts val="0"/>
              </a:spcBef>
              <a:spcAft>
                <a:spcPts val="0"/>
              </a:spcAft>
            </a:pPr>
            <a:r>
              <a:rPr sz="1100" b="1" i="0">
                <a:solidFill>
                  <a:srgbClr val="1F6F8B"/>
                </a:solidFill>
                <a:latin typeface="Arial"/>
              </a:rPr>
              <a:t>NEXT STEPS  </a:t>
            </a:r>
            <a:r>
              <a:rPr sz="1250" b="0" i="0">
                <a:solidFill>
                  <a:srgbClr val="16213E"/>
                </a:solidFill>
                <a:latin typeface="Arial"/>
              </a:rPr>
              <a:t>Test more cities; score the AI live on months after its training cutoff; try made-up look-alike series the AI cannot have seen.</a:t>
            </a:r>
          </a:p>
        </p:txBody>
      </p:sp>
      <p:sp>
        <p:nvSpPr>
          <p:cNvPr id="10" name="Rounded Rectangle 9"/>
          <p:cNvSpPr/>
          <p:nvPr/>
        </p:nvSpPr>
        <p:spPr>
          <a:xfrm>
            <a:off x="502920" y="1261872"/>
            <a:ext cx="384048" cy="384048"/>
          </a:xfrm>
          <a:prstGeom prst="roundRect">
            <a:avLst>
              <a:gd name="adj" fmla="val 50000"/>
            </a:avLst>
          </a:prstGeom>
          <a:solidFill>
            <a:srgbClr val="1F6F8B"/>
          </a:solidFill>
          <a:ln>
            <a:noFill/>
          </a:ln>
          <a:effectLst/>
        </p:spPr>
        <p:txBody>
          <a:bodyPr rtlCol="0" anchor="ctr"/>
          <a:lstStyle/>
          <a:p>
            <a:pPr algn="ctr"/>
          </a:p>
        </p:txBody>
      </p:sp>
      <p:sp>
        <p:nvSpPr>
          <p:cNvPr id="11" name="TextBox 10"/>
          <p:cNvSpPr txBox="1"/>
          <p:nvPr/>
        </p:nvSpPr>
        <p:spPr>
          <a:xfrm>
            <a:off x="502920" y="1261872"/>
            <a:ext cx="384048" cy="384048"/>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400" b="1" i="0">
                <a:solidFill>
                  <a:srgbClr val="FFFFFF"/>
                </a:solidFill>
                <a:latin typeface="Arial"/>
              </a:rPr>
              <a:t>01</a:t>
            </a:r>
          </a:p>
        </p:txBody>
      </p:sp>
      <p:sp>
        <p:nvSpPr>
          <p:cNvPr id="12" name="TextBox 11"/>
          <p:cNvSpPr txBox="1"/>
          <p:nvPr/>
        </p:nvSpPr>
        <p:spPr>
          <a:xfrm>
            <a:off x="1051560" y="1243584"/>
            <a:ext cx="7589520" cy="29260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450" b="1" i="0">
                <a:solidFill>
                  <a:srgbClr val="16213E"/>
                </a:solidFill>
                <a:latin typeface="Arial"/>
              </a:rPr>
              <a:t>Simple beats complex, if you test fairly</a:t>
            </a:r>
          </a:p>
        </p:txBody>
      </p:sp>
      <p:sp>
        <p:nvSpPr>
          <p:cNvPr id="13" name="TextBox 12"/>
          <p:cNvSpPr txBox="1"/>
          <p:nvPr/>
        </p:nvSpPr>
        <p:spPr>
          <a:xfrm>
            <a:off x="1051560" y="1536192"/>
            <a:ext cx="7589520" cy="548640"/>
          </a:xfrm>
          <a:prstGeom prst="rect">
            <a:avLst/>
          </a:prstGeom>
          <a:noFill/>
          <a:ln/>
        </p:spPr>
        <p:txBody>
          <a:bodyPr wrap="square" anchor="t" lIns="25400" rIns="25400" tIns="25400" bIns="25400">
            <a:spAutoFit/>
          </a:bodyPr>
          <a:lstStyle/>
          <a:p>
            <a:pPr algn="l">
              <a:lnSpc>
                <a:spcPct val="102000"/>
              </a:lnSpc>
              <a:spcBef>
                <a:spcPts val="0"/>
              </a:spcBef>
              <a:spcAft>
                <a:spcPts val="0"/>
              </a:spcAft>
            </a:pPr>
            <a:r>
              <a:rPr sz="1150" b="0" i="0">
                <a:solidFill>
                  <a:srgbClr val="3D4A5C"/>
                </a:solidFill>
                <a:latin typeface="Arial"/>
              </a:rPr>
              <a:t>ARIMA models beat ML and Chronos; one blind window would have crowned LightGBM (10th overall).</a:t>
            </a:r>
          </a:p>
        </p:txBody>
      </p:sp>
      <p:sp>
        <p:nvSpPr>
          <p:cNvPr id="14" name="Rounded Rectangle 13"/>
          <p:cNvSpPr/>
          <p:nvPr/>
        </p:nvSpPr>
        <p:spPr>
          <a:xfrm>
            <a:off x="502920" y="1911095"/>
            <a:ext cx="384048" cy="384048"/>
          </a:xfrm>
          <a:prstGeom prst="roundRect">
            <a:avLst>
              <a:gd name="adj" fmla="val 50000"/>
            </a:avLst>
          </a:prstGeom>
          <a:solidFill>
            <a:srgbClr val="1F6F8B"/>
          </a:solidFill>
          <a:ln>
            <a:noFill/>
          </a:ln>
          <a:effectLst/>
        </p:spPr>
        <p:txBody>
          <a:bodyPr rtlCol="0" anchor="ctr"/>
          <a:lstStyle/>
          <a:p>
            <a:pPr algn="ctr"/>
          </a:p>
        </p:txBody>
      </p:sp>
      <p:sp>
        <p:nvSpPr>
          <p:cNvPr id="15" name="TextBox 14"/>
          <p:cNvSpPr txBox="1"/>
          <p:nvPr/>
        </p:nvSpPr>
        <p:spPr>
          <a:xfrm>
            <a:off x="502920" y="1911095"/>
            <a:ext cx="384048" cy="384048"/>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400" b="1" i="0">
                <a:solidFill>
                  <a:srgbClr val="FFFFFF"/>
                </a:solidFill>
                <a:latin typeface="Arial"/>
              </a:rPr>
              <a:t>02</a:t>
            </a:r>
          </a:p>
        </p:txBody>
      </p:sp>
      <p:sp>
        <p:nvSpPr>
          <p:cNvPr id="16" name="TextBox 15"/>
          <p:cNvSpPr txBox="1"/>
          <p:nvPr/>
        </p:nvSpPr>
        <p:spPr>
          <a:xfrm>
            <a:off x="1051560" y="1892807"/>
            <a:ext cx="7589520" cy="29260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450" b="1" i="0">
                <a:solidFill>
                  <a:srgbClr val="16213E"/>
                </a:solidFill>
                <a:latin typeface="Arial"/>
              </a:rPr>
              <a:t>AI is an alternative only if you test it fairly</a:t>
            </a:r>
          </a:p>
        </p:txBody>
      </p:sp>
      <p:sp>
        <p:nvSpPr>
          <p:cNvPr id="17" name="TextBox 16"/>
          <p:cNvSpPr txBox="1"/>
          <p:nvPr/>
        </p:nvSpPr>
        <p:spPr>
          <a:xfrm>
            <a:off x="1051560" y="2185415"/>
            <a:ext cx="7589520" cy="548640"/>
          </a:xfrm>
          <a:prstGeom prst="rect">
            <a:avLst/>
          </a:prstGeom>
          <a:noFill/>
          <a:ln/>
        </p:spPr>
        <p:txBody>
          <a:bodyPr wrap="square" anchor="t" lIns="25400" rIns="25400" tIns="25400" bIns="25400">
            <a:spAutoFit/>
          </a:bodyPr>
          <a:lstStyle/>
          <a:p>
            <a:pPr algn="l">
              <a:lnSpc>
                <a:spcPct val="102000"/>
              </a:lnSpc>
              <a:spcBef>
                <a:spcPts val="0"/>
              </a:spcBef>
              <a:spcAft>
                <a:spcPts val="0"/>
              </a:spcAft>
            </a:pPr>
            <a:r>
              <a:rPr sz="1150" b="0" i="0">
                <a:solidFill>
                  <a:srgbClr val="3D4A5C"/>
                </a:solidFill>
                <a:latin typeface="Arial"/>
              </a:rPr>
              <a:t>Chatbots beat every model until we hid the place, dates and rate; then they only tied ARIMAX.</a:t>
            </a:r>
          </a:p>
        </p:txBody>
      </p:sp>
      <p:sp>
        <p:nvSpPr>
          <p:cNvPr id="18" name="Rounded Rectangle 17"/>
          <p:cNvSpPr/>
          <p:nvPr/>
        </p:nvSpPr>
        <p:spPr>
          <a:xfrm>
            <a:off x="502920" y="2560320"/>
            <a:ext cx="384048" cy="384048"/>
          </a:xfrm>
          <a:prstGeom prst="roundRect">
            <a:avLst>
              <a:gd name="adj" fmla="val 50000"/>
            </a:avLst>
          </a:prstGeom>
          <a:solidFill>
            <a:srgbClr val="1F6F8B"/>
          </a:solidFill>
          <a:ln>
            <a:noFill/>
          </a:ln>
          <a:effectLst/>
        </p:spPr>
        <p:txBody>
          <a:bodyPr rtlCol="0" anchor="ctr"/>
          <a:lstStyle/>
          <a:p>
            <a:pPr algn="ctr"/>
          </a:p>
        </p:txBody>
      </p:sp>
      <p:sp>
        <p:nvSpPr>
          <p:cNvPr id="19" name="TextBox 18"/>
          <p:cNvSpPr txBox="1"/>
          <p:nvPr/>
        </p:nvSpPr>
        <p:spPr>
          <a:xfrm>
            <a:off x="502920" y="2560320"/>
            <a:ext cx="384048" cy="384048"/>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400" b="1" i="0">
                <a:solidFill>
                  <a:srgbClr val="FFFFFF"/>
                </a:solidFill>
                <a:latin typeface="Arial"/>
              </a:rPr>
              <a:t>03</a:t>
            </a:r>
          </a:p>
        </p:txBody>
      </p:sp>
      <p:sp>
        <p:nvSpPr>
          <p:cNvPr id="20" name="TextBox 19"/>
          <p:cNvSpPr txBox="1"/>
          <p:nvPr/>
        </p:nvSpPr>
        <p:spPr>
          <a:xfrm>
            <a:off x="1051560" y="2542032"/>
            <a:ext cx="7589520" cy="29260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450" b="1" i="0">
                <a:solidFill>
                  <a:srgbClr val="16213E"/>
                </a:solidFill>
                <a:latin typeface="Arial"/>
              </a:rPr>
              <a:t>Mortgage rates matter, slowly; local jobs don't add</a:t>
            </a:r>
          </a:p>
        </p:txBody>
      </p:sp>
      <p:sp>
        <p:nvSpPr>
          <p:cNvPr id="21" name="TextBox 20"/>
          <p:cNvSpPr txBox="1"/>
          <p:nvPr/>
        </p:nvSpPr>
        <p:spPr>
          <a:xfrm>
            <a:off x="1051560" y="2834639"/>
            <a:ext cx="7589520" cy="548640"/>
          </a:xfrm>
          <a:prstGeom prst="rect">
            <a:avLst/>
          </a:prstGeom>
          <a:noFill/>
          <a:ln/>
        </p:spPr>
        <p:txBody>
          <a:bodyPr wrap="square" anchor="t" lIns="25400" rIns="25400" tIns="25400" bIns="25400">
            <a:spAutoFit/>
          </a:bodyPr>
          <a:lstStyle/>
          <a:p>
            <a:pPr algn="l">
              <a:lnSpc>
                <a:spcPct val="102000"/>
              </a:lnSpc>
              <a:spcBef>
                <a:spcPts val="0"/>
              </a:spcBef>
              <a:spcAft>
                <a:spcPts val="0"/>
              </a:spcAft>
            </a:pPr>
            <a:r>
              <a:rPr sz="1150" b="0" i="0">
                <a:solidFill>
                  <a:srgbClr val="3D4A5C"/>
                </a:solidFill>
                <a:latin typeface="Arial"/>
              </a:rPr>
              <a:t>A 1-point rise lowers values about 9% over two years. Turning points stay hard to call.</a:t>
            </a:r>
          </a:p>
        </p:txBody>
      </p:sp>
      <p:sp>
        <p:nvSpPr>
          <p:cNvPr id="22" name="Rounded Rectangle 21"/>
          <p:cNvSpPr/>
          <p:nvPr/>
        </p:nvSpPr>
        <p:spPr>
          <a:xfrm>
            <a:off x="502920" y="3209544"/>
            <a:ext cx="384048" cy="384048"/>
          </a:xfrm>
          <a:prstGeom prst="roundRect">
            <a:avLst>
              <a:gd name="adj" fmla="val 50000"/>
            </a:avLst>
          </a:prstGeom>
          <a:solidFill>
            <a:srgbClr val="1F6F8B"/>
          </a:solidFill>
          <a:ln>
            <a:noFill/>
          </a:ln>
          <a:effectLst/>
        </p:spPr>
        <p:txBody>
          <a:bodyPr rtlCol="0" anchor="ctr"/>
          <a:lstStyle/>
          <a:p>
            <a:pPr algn="ctr"/>
          </a:p>
        </p:txBody>
      </p:sp>
      <p:sp>
        <p:nvSpPr>
          <p:cNvPr id="23" name="TextBox 22"/>
          <p:cNvSpPr txBox="1"/>
          <p:nvPr/>
        </p:nvSpPr>
        <p:spPr>
          <a:xfrm>
            <a:off x="502920" y="3209544"/>
            <a:ext cx="384048" cy="384048"/>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400" b="1" i="0">
                <a:solidFill>
                  <a:srgbClr val="FFFFFF"/>
                </a:solidFill>
                <a:latin typeface="Arial"/>
              </a:rPr>
              <a:t>04</a:t>
            </a:r>
          </a:p>
        </p:txBody>
      </p:sp>
      <p:sp>
        <p:nvSpPr>
          <p:cNvPr id="24" name="TextBox 23"/>
          <p:cNvSpPr txBox="1"/>
          <p:nvPr/>
        </p:nvSpPr>
        <p:spPr>
          <a:xfrm>
            <a:off x="1051560" y="3191256"/>
            <a:ext cx="7589520" cy="29260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450" b="1" i="0">
                <a:solidFill>
                  <a:srgbClr val="16213E"/>
                </a:solidFill>
                <a:latin typeface="Arial"/>
              </a:rPr>
              <a:t>The metro average hides a split market</a:t>
            </a:r>
          </a:p>
        </p:txBody>
      </p:sp>
      <p:sp>
        <p:nvSpPr>
          <p:cNvPr id="25" name="TextBox 24"/>
          <p:cNvSpPr txBox="1"/>
          <p:nvPr/>
        </p:nvSpPr>
        <p:spPr>
          <a:xfrm>
            <a:off x="1051560" y="3483863"/>
            <a:ext cx="7589520" cy="548640"/>
          </a:xfrm>
          <a:prstGeom prst="rect">
            <a:avLst/>
          </a:prstGeom>
          <a:noFill/>
          <a:ln/>
        </p:spPr>
        <p:txBody>
          <a:bodyPr wrap="square" anchor="t" lIns="25400" rIns="25400" tIns="25400" bIns="25400">
            <a:spAutoFit/>
          </a:bodyPr>
          <a:lstStyle/>
          <a:p>
            <a:pPr algn="l">
              <a:lnSpc>
                <a:spcPct val="102000"/>
              </a:lnSpc>
              <a:spcBef>
                <a:spcPts val="0"/>
              </a:spcBef>
              <a:spcAft>
                <a:spcPts val="0"/>
              </a:spcAft>
            </a:pPr>
            <a:r>
              <a:rPr sz="1150" b="0" i="0">
                <a:solidFill>
                  <a:srgbClr val="3D4A5C"/>
                </a:solidFill>
                <a:latin typeface="Arial"/>
              </a:rPr>
              <a:t>Separate models per neighborhood beat one shared factor (2.8% vs 4.1% error).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
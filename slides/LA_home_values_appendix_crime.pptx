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slide, only if Professor Yu asks about crime. Two reasons it is not in the main talk: it covers only part of our neighborhoods, and it does not help predict prices. LAPD data only covers the City of LA, so this is 91 neighborhoods. We counted crimes within 1.5 kilometers of each neighborhood per 1,000 residents, and split them into violent crime (murder, rape, robbery, aggravated assault) and property crime, using the FBI definitions so 2021 and 2025 count the same things. On the left, violent crime and home value go together strongly: safer neighborhoods cost more, correlation minus 0.68. But the question for forecasting is whether crime tells us anything beyond price. The middle and right panels compare neighborhoods at the same price level. Crime did not predict which neighborhoods fell more in 2022 and 2023, p equals 0.59, or which are rising over the last year, p equals 0.68. Without the price control, high-crime areas did grow less this year, but that is just because they are the cheaper areas, and cheaper areas grew less. Same answer for total crime and property crime.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about income. We did use income, in the ZIP-level panel. We left it out of the monthly ARIMAX because IRS income is annual, only starts in 2011, and comes out with a lag, so it barely varies month to month. And when we tested lagged income growth out of sample in the panel, it did not help: RMSE 3.77 versus 3.79. So the monthly model uses the mortgage rate.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APPENDIX · ONLY IF ASKED ABOUT CRIME</a:t>
            </a:r>
          </a:p>
        </p:txBody>
      </p:sp>
      <p:sp>
        <p:nvSpPr>
          <p:cNvPr id="3" name="deckkit-chrome-title"/>
          <p:cNvSpPr txBox="1"/>
          <p:nvPr/>
        </p:nvSpPr>
        <p:spPr>
          <a:xfrm>
            <a:off x="502920" y="493776"/>
            <a:ext cx="8138160" cy="792479"/>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Crime tracks price, but it didn't predict the 2022 drop or today's winners</a:t>
            </a:r>
          </a:p>
        </p:txBody>
      </p:sp>
      <p:sp>
        <p:nvSpPr>
          <p:cNvPr id="4" name="deckkit-chrome-title"/>
          <p:cNvSpPr/>
          <p:nvPr/>
        </p:nvSpPr>
        <p:spPr>
          <a:xfrm>
            <a:off x="521207" y="1341120"/>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1</a:t>
            </a:r>
          </a:p>
        </p:txBody>
      </p:sp>
      <p:sp>
        <p:nvSpPr>
          <p:cNvPr id="7" name="Rounded Rectangle 6"/>
          <p:cNvSpPr/>
          <p:nvPr/>
        </p:nvSpPr>
        <p:spPr>
          <a:xfrm>
            <a:off x="457200" y="3826763"/>
            <a:ext cx="8229600" cy="722376"/>
          </a:xfrm>
          <a:prstGeom prst="roundRect">
            <a:avLst>
              <a:gd name="adj" fmla="val 8000"/>
            </a:avLst>
          </a:prstGeom>
          <a:solidFill>
            <a:srgbClr val="F3ECE3"/>
          </a:solidFill>
          <a:ln>
            <a:noFill/>
          </a:ln>
          <a:effectLst/>
        </p:spPr>
        <p:txBody>
          <a:bodyPr rtlCol="0" anchor="ctr"/>
          <a:lstStyle/>
          <a:p>
            <a:pPr algn="ctr"/>
          </a:p>
        </p:txBody>
      </p:sp>
      <p:sp>
        <p:nvSpPr>
          <p:cNvPr id="8" name="Rectangle 7"/>
          <p:cNvSpPr/>
          <p:nvPr/>
        </p:nvSpPr>
        <p:spPr>
          <a:xfrm>
            <a:off x="457200" y="3884554"/>
            <a:ext cx="64008" cy="606795"/>
          </a:xfrm>
          <a:prstGeom prst="rect">
            <a:avLst/>
          </a:prstGeom>
          <a:solidFill>
            <a:srgbClr val="B4400B"/>
          </a:solidFill>
          <a:ln>
            <a:noFill/>
          </a:ln>
          <a:effectLst/>
        </p:spPr>
        <p:txBody>
          <a:bodyPr rtlCol="0" anchor="ctr"/>
          <a:lstStyle/>
          <a:p>
            <a:pPr algn="ctr"/>
          </a:p>
        </p:txBody>
      </p:sp>
      <p:sp>
        <p:nvSpPr>
          <p:cNvPr id="9" name="TextBox 8"/>
          <p:cNvSpPr txBox="1"/>
          <p:nvPr/>
        </p:nvSpPr>
        <p:spPr>
          <a:xfrm>
            <a:off x="676656" y="3826763"/>
            <a:ext cx="7827264" cy="722376"/>
          </a:xfrm>
          <a:prstGeom prst="rect">
            <a:avLst/>
          </a:prstGeom>
          <a:noFill/>
          <a:ln/>
        </p:spPr>
        <p:txBody>
          <a:bodyPr wrap="square" anchor="ctr" lIns="25400" rIns="25400" tIns="25400" bIns="25400">
            <a:spAutoFit/>
          </a:bodyPr>
          <a:lstStyle/>
          <a:p>
            <a:pPr algn="l">
              <a:lnSpc>
                <a:spcPct val="108000"/>
              </a:lnSpc>
              <a:spcBef>
                <a:spcPts val="0"/>
              </a:spcBef>
              <a:spcAft>
                <a:spcPts val="0"/>
              </a:spcAft>
            </a:pPr>
            <a:r>
              <a:rPr sz="1100" b="1" i="0">
                <a:solidFill>
                  <a:srgbClr val="B4400B"/>
                </a:solidFill>
                <a:latin typeface="Arial"/>
              </a:rPr>
              <a:t>WHY IT'S IN THE APPENDIX  </a:t>
            </a:r>
            <a:r>
              <a:rPr sz="1250" b="0" i="0">
                <a:solidFill>
                  <a:srgbClr val="16213E"/>
                </a:solidFill>
                <a:latin typeface="Arial"/>
              </a:rPr>
              <a:t>Crime data covers only the City of LA (91 of 496 neighborhoods), and it adds nothing to price prediction: at the same price level, p = 0.59 and 0.68. Price already carries it.</a:t>
            </a:r>
          </a:p>
        </p:txBody>
      </p:sp>
      <p:pic>
        <p:nvPicPr>
          <p:cNvPr id="10" name="Picture 9" descr="City of LA neighborhoods: violent crime vs home value, and vs the 2022-23 drop and last-12-month change after controlling for price" title="City of LA neighborhoods: violent crime vs home value, and vs the 2022-23 drop and last-12-month change after controllin"/>
          <p:cNvPicPr>
            <a:picLocks noChangeAspect="1"/>
          </p:cNvPicPr>
          <p:nvPr/>
        </p:nvPicPr>
        <p:blipFill>
          <a:blip r:embed="rId2"/>
          <a:stretch>
            <a:fillRect/>
          </a:stretch>
        </p:blipFill>
        <p:spPr>
          <a:xfrm>
            <a:off x="1380702" y="1569720"/>
            <a:ext cx="6382594" cy="211988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APPENDIX · ONLY IF ASKED ABOUT INCOME</a:t>
            </a:r>
          </a:p>
        </p:txBody>
      </p:sp>
      <p:sp>
        <p:nvSpPr>
          <p:cNvPr id="3" name="deckkit-chrome-title"/>
          <p:cNvSpPr txBox="1"/>
          <p:nvPr/>
        </p:nvSpPr>
        <p:spPr>
          <a:xfrm>
            <a:off x="502920" y="493776"/>
            <a:ext cx="8138160" cy="64008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Why income is not in our monthly ARIMAX</a:t>
            </a:r>
          </a:p>
        </p:txBody>
      </p:sp>
      <p:sp>
        <p:nvSpPr>
          <p:cNvPr id="4" name="deckkit-chrome-title"/>
          <p:cNvSpPr/>
          <p:nvPr/>
        </p:nvSpPr>
        <p:spPr>
          <a:xfrm>
            <a:off x="521207" y="1060704"/>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2</a:t>
            </a:r>
          </a:p>
        </p:txBody>
      </p:sp>
      <p:sp>
        <p:nvSpPr>
          <p:cNvPr id="7" name="Rounded Rectangle 6"/>
          <p:cNvSpPr/>
          <p:nvPr/>
        </p:nvSpPr>
        <p:spPr>
          <a:xfrm>
            <a:off x="502920" y="1335024"/>
            <a:ext cx="384048" cy="384048"/>
          </a:xfrm>
          <a:prstGeom prst="roundRect">
            <a:avLst>
              <a:gd name="adj" fmla="val 50000"/>
            </a:avLst>
          </a:prstGeom>
          <a:solidFill>
            <a:srgbClr val="1F6F8B"/>
          </a:solidFill>
          <a:ln>
            <a:noFill/>
          </a:ln>
          <a:effectLst/>
        </p:spPr>
        <p:txBody>
          <a:bodyPr rtlCol="0" anchor="ctr"/>
          <a:lstStyle/>
          <a:p>
            <a:pPr algn="ctr"/>
          </a:p>
        </p:txBody>
      </p:sp>
      <p:sp>
        <p:nvSpPr>
          <p:cNvPr id="8" name="TextBox 7"/>
          <p:cNvSpPr txBox="1"/>
          <p:nvPr/>
        </p:nvSpPr>
        <p:spPr>
          <a:xfrm>
            <a:off x="502920" y="1335024"/>
            <a:ext cx="384048" cy="384048"/>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400" b="1" i="0">
                <a:solidFill>
                  <a:srgbClr val="FFFFFF"/>
                </a:solidFill>
                <a:latin typeface="Arial"/>
              </a:rPr>
              <a:t>01</a:t>
            </a:r>
          </a:p>
        </p:txBody>
      </p:sp>
      <p:sp>
        <p:nvSpPr>
          <p:cNvPr id="9" name="TextBox 8"/>
          <p:cNvSpPr txBox="1"/>
          <p:nvPr/>
        </p:nvSpPr>
        <p:spPr>
          <a:xfrm>
            <a:off x="1051560" y="1316736"/>
            <a:ext cx="7589520"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450" b="1" i="0">
                <a:solidFill>
                  <a:srgbClr val="16213E"/>
                </a:solidFill>
                <a:latin typeface="Arial"/>
              </a:rPr>
              <a:t>Used in the ZIP-level panel</a:t>
            </a:r>
          </a:p>
        </p:txBody>
      </p:sp>
      <p:sp>
        <p:nvSpPr>
          <p:cNvPr id="10" name="TextBox 9"/>
          <p:cNvSpPr txBox="1"/>
          <p:nvPr/>
        </p:nvSpPr>
        <p:spPr>
          <a:xfrm>
            <a:off x="1051560" y="1609344"/>
            <a:ext cx="7589520" cy="548640"/>
          </a:xfrm>
          <a:prstGeom prst="rect">
            <a:avLst/>
          </a:prstGeom>
          <a:noFill/>
          <a:ln/>
        </p:spPr>
        <p:txBody>
          <a:bodyPr wrap="square" anchor="t" lIns="25400" rIns="25400" tIns="25400" bIns="25400">
            <a:spAutoFit/>
          </a:bodyPr>
          <a:lstStyle/>
          <a:p>
            <a:pPr algn="l">
              <a:lnSpc>
                <a:spcPct val="102000"/>
              </a:lnSpc>
              <a:spcBef>
                <a:spcPts val="0"/>
              </a:spcBef>
              <a:spcAft>
                <a:spcPts val="0"/>
              </a:spcAft>
            </a:pPr>
            <a:r>
              <a:rPr sz="1150" b="0" i="0">
                <a:solidFill>
                  <a:srgbClr val="3D4A5C"/>
                </a:solidFill>
                <a:latin typeface="Arial"/>
              </a:rPr>
              <a:t>Income enters the cross-sectional panel analysis across ZIP codes.</a:t>
            </a:r>
          </a:p>
        </p:txBody>
      </p:sp>
      <p:sp>
        <p:nvSpPr>
          <p:cNvPr id="11" name="Rounded Rectangle 10"/>
          <p:cNvSpPr/>
          <p:nvPr/>
        </p:nvSpPr>
        <p:spPr>
          <a:xfrm>
            <a:off x="502920" y="1993392"/>
            <a:ext cx="384048" cy="384048"/>
          </a:xfrm>
          <a:prstGeom prst="roundRect">
            <a:avLst>
              <a:gd name="adj" fmla="val 50000"/>
            </a:avLst>
          </a:prstGeom>
          <a:solidFill>
            <a:srgbClr val="1F6F8B"/>
          </a:solidFill>
          <a:ln>
            <a:noFill/>
          </a:ln>
          <a:effectLst/>
        </p:spPr>
        <p:txBody>
          <a:bodyPr rtlCol="0" anchor="ctr"/>
          <a:lstStyle/>
          <a:p>
            <a:pPr algn="ctr"/>
          </a:p>
        </p:txBody>
      </p:sp>
      <p:sp>
        <p:nvSpPr>
          <p:cNvPr id="12" name="TextBox 11"/>
          <p:cNvSpPr txBox="1"/>
          <p:nvPr/>
        </p:nvSpPr>
        <p:spPr>
          <a:xfrm>
            <a:off x="502920" y="1993392"/>
            <a:ext cx="384048" cy="384048"/>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400" b="1" i="0">
                <a:solidFill>
                  <a:srgbClr val="FFFFFF"/>
                </a:solidFill>
                <a:latin typeface="Arial"/>
              </a:rPr>
              <a:t>02</a:t>
            </a:r>
          </a:p>
        </p:txBody>
      </p:sp>
      <p:sp>
        <p:nvSpPr>
          <p:cNvPr id="13" name="TextBox 12"/>
          <p:cNvSpPr txBox="1"/>
          <p:nvPr/>
        </p:nvSpPr>
        <p:spPr>
          <a:xfrm>
            <a:off x="1051560" y="1975104"/>
            <a:ext cx="7589520"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450" b="1" i="0">
                <a:solidFill>
                  <a:srgbClr val="16213E"/>
                </a:solidFill>
                <a:latin typeface="Arial"/>
              </a:rPr>
              <a:t>Too slow for a monthly model</a:t>
            </a:r>
          </a:p>
        </p:txBody>
      </p:sp>
      <p:sp>
        <p:nvSpPr>
          <p:cNvPr id="14" name="TextBox 13"/>
          <p:cNvSpPr txBox="1"/>
          <p:nvPr/>
        </p:nvSpPr>
        <p:spPr>
          <a:xfrm>
            <a:off x="1051560" y="2267712"/>
            <a:ext cx="7589520" cy="548640"/>
          </a:xfrm>
          <a:prstGeom prst="rect">
            <a:avLst/>
          </a:prstGeom>
          <a:noFill/>
          <a:ln/>
        </p:spPr>
        <p:txBody>
          <a:bodyPr wrap="square" anchor="t" lIns="25400" rIns="25400" tIns="25400" bIns="25400">
            <a:spAutoFit/>
          </a:bodyPr>
          <a:lstStyle/>
          <a:p>
            <a:pPr algn="l">
              <a:lnSpc>
                <a:spcPct val="102000"/>
              </a:lnSpc>
              <a:spcBef>
                <a:spcPts val="0"/>
              </a:spcBef>
              <a:spcAft>
                <a:spcPts val="0"/>
              </a:spcAft>
            </a:pPr>
            <a:r>
              <a:rPr sz="1150" b="0" i="0">
                <a:solidFill>
                  <a:srgbClr val="3D4A5C"/>
                </a:solidFill>
                <a:latin typeface="Arial"/>
              </a:rPr>
              <a:t>IRS income is annual, starts in 2011 and is released with a lag, so it adds little month-to-month variation.</a:t>
            </a:r>
          </a:p>
        </p:txBody>
      </p:sp>
      <p:sp>
        <p:nvSpPr>
          <p:cNvPr id="15" name="Rounded Rectangle 14"/>
          <p:cNvSpPr/>
          <p:nvPr/>
        </p:nvSpPr>
        <p:spPr>
          <a:xfrm>
            <a:off x="502920" y="2651760"/>
            <a:ext cx="384048" cy="384048"/>
          </a:xfrm>
          <a:prstGeom prst="roundRect">
            <a:avLst>
              <a:gd name="adj" fmla="val 50000"/>
            </a:avLst>
          </a:prstGeom>
          <a:solidFill>
            <a:srgbClr val="1F6F8B"/>
          </a:solidFill>
          <a:ln>
            <a:noFill/>
          </a:ln>
          <a:effectLst/>
        </p:spPr>
        <p:txBody>
          <a:bodyPr rtlCol="0" anchor="ctr"/>
          <a:lstStyle/>
          <a:p>
            <a:pPr algn="ctr"/>
          </a:p>
        </p:txBody>
      </p:sp>
      <p:sp>
        <p:nvSpPr>
          <p:cNvPr id="16" name="TextBox 15"/>
          <p:cNvSpPr txBox="1"/>
          <p:nvPr/>
        </p:nvSpPr>
        <p:spPr>
          <a:xfrm>
            <a:off x="502920" y="2651760"/>
            <a:ext cx="384048" cy="384048"/>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400" b="1" i="0">
                <a:solidFill>
                  <a:srgbClr val="FFFFFF"/>
                </a:solidFill>
                <a:latin typeface="Arial"/>
              </a:rPr>
              <a:t>03</a:t>
            </a:r>
          </a:p>
        </p:txBody>
      </p:sp>
      <p:sp>
        <p:nvSpPr>
          <p:cNvPr id="17" name="TextBox 16"/>
          <p:cNvSpPr txBox="1"/>
          <p:nvPr/>
        </p:nvSpPr>
        <p:spPr>
          <a:xfrm>
            <a:off x="1051560" y="2633472"/>
            <a:ext cx="7589520"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450" b="1" i="0">
                <a:solidFill>
                  <a:srgbClr val="16213E"/>
                </a:solidFill>
                <a:latin typeface="Arial"/>
              </a:rPr>
              <a:t>No forecast gain</a:t>
            </a:r>
          </a:p>
        </p:txBody>
      </p:sp>
      <p:sp>
        <p:nvSpPr>
          <p:cNvPr id="18" name="TextBox 17"/>
          <p:cNvSpPr txBox="1"/>
          <p:nvPr/>
        </p:nvSpPr>
        <p:spPr>
          <a:xfrm>
            <a:off x="1051560" y="2926080"/>
            <a:ext cx="7589520" cy="548640"/>
          </a:xfrm>
          <a:prstGeom prst="rect">
            <a:avLst/>
          </a:prstGeom>
          <a:noFill/>
          <a:ln/>
        </p:spPr>
        <p:txBody>
          <a:bodyPr wrap="square" anchor="t" lIns="25400" rIns="25400" tIns="25400" bIns="25400">
            <a:spAutoFit/>
          </a:bodyPr>
          <a:lstStyle/>
          <a:p>
            <a:pPr algn="l">
              <a:lnSpc>
                <a:spcPct val="102000"/>
              </a:lnSpc>
              <a:spcBef>
                <a:spcPts val="0"/>
              </a:spcBef>
              <a:spcAft>
                <a:spcPts val="0"/>
              </a:spcAft>
            </a:pPr>
            <a:r>
              <a:rPr sz="1150" b="0" i="0">
                <a:solidFill>
                  <a:srgbClr val="3D4A5C"/>
                </a:solidFill>
                <a:latin typeface="Arial"/>
              </a:rPr>
              <a:t>Lagged income growth did not improve out-of-sample forecasts in the panel (RMSE 3.77 vs 3.79).</a:t>
            </a:r>
          </a:p>
        </p:txBody>
      </p:sp>
      <p:sp>
        <p:nvSpPr>
          <p:cNvPr id="19" name="Rounded Rectangle 18"/>
          <p:cNvSpPr/>
          <p:nvPr/>
        </p:nvSpPr>
        <p:spPr>
          <a:xfrm>
            <a:off x="502920" y="3310128"/>
            <a:ext cx="384048" cy="384048"/>
          </a:xfrm>
          <a:prstGeom prst="roundRect">
            <a:avLst>
              <a:gd name="adj" fmla="val 50000"/>
            </a:avLst>
          </a:prstGeom>
          <a:solidFill>
            <a:srgbClr val="1F6F8B"/>
          </a:solidFill>
          <a:ln>
            <a:noFill/>
          </a:ln>
          <a:effectLst/>
        </p:spPr>
        <p:txBody>
          <a:bodyPr rtlCol="0" anchor="ctr"/>
          <a:lstStyle/>
          <a:p>
            <a:pPr algn="ctr"/>
          </a:p>
        </p:txBody>
      </p:sp>
      <p:sp>
        <p:nvSpPr>
          <p:cNvPr id="20" name="TextBox 19"/>
          <p:cNvSpPr txBox="1"/>
          <p:nvPr/>
        </p:nvSpPr>
        <p:spPr>
          <a:xfrm>
            <a:off x="502920" y="3310128"/>
            <a:ext cx="384048" cy="384048"/>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400" b="1" i="0">
                <a:solidFill>
                  <a:srgbClr val="FFFFFF"/>
                </a:solidFill>
                <a:latin typeface="Arial"/>
              </a:rPr>
              <a:t>04</a:t>
            </a:r>
          </a:p>
        </p:txBody>
      </p:sp>
      <p:sp>
        <p:nvSpPr>
          <p:cNvPr id="21" name="TextBox 20"/>
          <p:cNvSpPr txBox="1"/>
          <p:nvPr/>
        </p:nvSpPr>
        <p:spPr>
          <a:xfrm>
            <a:off x="1051560" y="3291840"/>
            <a:ext cx="7589520"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450" b="1" i="0">
                <a:solidFill>
                  <a:srgbClr val="16213E"/>
                </a:solidFill>
                <a:latin typeface="Arial"/>
              </a:rPr>
              <a:t>So ARIMAX uses the mortgage rate</a:t>
            </a:r>
          </a:p>
        </p:txBody>
      </p:sp>
      <p:sp>
        <p:nvSpPr>
          <p:cNvPr id="22" name="TextBox 21"/>
          <p:cNvSpPr txBox="1"/>
          <p:nvPr/>
        </p:nvSpPr>
        <p:spPr>
          <a:xfrm>
            <a:off x="1051560" y="3584448"/>
            <a:ext cx="7589520" cy="548640"/>
          </a:xfrm>
          <a:prstGeom prst="rect">
            <a:avLst/>
          </a:prstGeom>
          <a:noFill/>
          <a:ln/>
        </p:spPr>
        <p:txBody>
          <a:bodyPr wrap="square" anchor="t" lIns="25400" rIns="25400" tIns="25400" bIns="25400">
            <a:spAutoFit/>
          </a:bodyPr>
          <a:lstStyle/>
          <a:p>
            <a:pPr algn="l">
              <a:lnSpc>
                <a:spcPct val="102000"/>
              </a:lnSpc>
              <a:spcBef>
                <a:spcPts val="0"/>
              </a:spcBef>
              <a:spcAft>
                <a:spcPts val="0"/>
              </a:spcAft>
            </a:pPr>
            <a:r>
              <a:rPr sz="1150" b="0" i="0">
                <a:solidFill>
                  <a:srgbClr val="3D4A5C"/>
                </a:solidFill>
                <a:latin typeface="Arial"/>
              </a:rPr>
              <a:t>The rate is the one outside driver that is monthly, timely and leads prices.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
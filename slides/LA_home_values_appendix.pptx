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what each method could see. Every method saw only data up to its forecast date. Models and the masked AI never see the place or the dates. Named and blind AI see the real mortgage rate, which is enough to date the series.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a specific model. One line each,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absolute percentage error at 1, 3, 6 and 12 months ahead and averaged over months 1 to 12, across 18 forecast dates. RMSE is in dollars, averaged over months 1 to 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how we know the AI recognized the period. These checks ran on Claude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 forecaster that recalls the outcome tracks what actually happened; one that forecasts from the data tracks the recent trend, as ARIMAX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only if Professor Yu asks about crime. Two reasons it is not in the main talk: it covers only part of our neighborhoods, and it does not help predict prices. LAPD data only covers the City of LA, so this is 91 neighborhoods. We counted crimes within 1.5 kilometers of each neighborhood per 1,000 residents, and split them into violent crime (murder, rape, robbery, aggravated assault) and property crime, using the FBI definitions so 2021 and 2025 count the same things. On the left, violent crime and home value go together strongly: safer neighborhoods cost more, correlation minus 0.68. But the question for forecasting is whether crime tells us anything beyond price. The middle and right panels compare neighborhoods at the same price level. Crime did not predict which neighborhoods fell more in 2022 and 2023, p equals 0.59, or which are rising over the last year, p equals 0.68. Without the price control, high-crime areas did grow less this year, but that is just because they are the cheaper areas, and cheaper areas grew less. Same answer for total crime and property crime.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A1 · INFORMATION SETS</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What each method knew at each forecast date</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1</a:t>
            </a:r>
          </a:p>
        </p:txBody>
      </p:sp>
      <p:graphicFrame>
        <p:nvGraphicFramePr>
          <p:cNvPr id="7" name="Table 6"/>
          <p:cNvGraphicFramePr>
            <a:graphicFrameLocks noGrp="1"/>
          </p:cNvGraphicFramePr>
          <p:nvPr/>
        </p:nvGraphicFramePr>
        <p:xfrm>
          <a:off x="457200" y="1316736"/>
          <a:ext cx="8229600" cy="2926080"/>
        </p:xfrm>
        <a:graphic>
          <a:graphicData uri="http://schemas.openxmlformats.org/drawingml/2006/table">
            <a:tbl>
              <a:tblPr firstRow="0" bandRow="0">
                <a:tableStyleId>{2D5ABB26-0587-4C30-8999-92F81FD0307C}</a:tableStyleId>
              </a:tblPr>
              <a:tblGrid>
                <a:gridCol w="2743200"/>
                <a:gridCol w="1600200"/>
                <a:gridCol w="868680"/>
                <a:gridCol w="731520"/>
                <a:gridCol w="1234440"/>
                <a:gridCol w="1051560"/>
              </a:tblGrid>
              <a:tr h="365760">
                <a:tc>
                  <a:txBody>
                    <a:bodyPr/>
                    <a:lstStyle/>
                    <a:p>
                      <a:pPr algn="l"/>
                      <a:r>
                        <a:rPr sz="1050" b="1" i="0">
                          <a:solidFill>
                            <a:srgbClr val="16213E"/>
                          </a:solidFill>
                          <a:latin typeface="Arial"/>
                        </a:rPr>
                        <a:t>Method</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050" b="1" i="0">
                          <a:solidFill>
                            <a:srgbClr val="16213E"/>
                          </a:solidFill>
                          <a:latin typeface="Arial"/>
                        </a:rPr>
                        <a:t>Price history</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050" b="1" i="0">
                          <a:solidFill>
                            <a:srgbClr val="16213E"/>
                          </a:solidFill>
                          <a:latin typeface="Arial"/>
                        </a:rPr>
                        <a:t>Real dates</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050" b="1" i="0">
                          <a:solidFill>
                            <a:srgbClr val="16213E"/>
                          </a:solidFill>
                          <a:latin typeface="Arial"/>
                        </a:rPr>
                        <a:t>Place</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050" b="1" i="0">
                          <a:solidFill>
                            <a:srgbClr val="16213E"/>
                          </a:solidFill>
                          <a:latin typeface="Arial"/>
                        </a:rPr>
                        <a:t>Mortgage rate</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050" b="1" i="0">
                          <a:solidFill>
                            <a:srgbClr val="16213E"/>
                          </a:solidFill>
                          <a:latin typeface="Arial"/>
                        </a:rPr>
                        <a:t>Jobs</a:t>
                      </a:r>
                    </a:p>
                  </a:txBody>
                  <a:tcPr marL="88900" marR="88900" marT="25400" marB="25400" anchor="ctr">
                    <a:lnT w="17780" cap="flat" cmpd="sng" algn="ctr">
                      <a:solidFill>
                        <a:srgbClr val="16213E"/>
                      </a:solidFill>
                    </a:lnT>
                    <a:lnB w="10160" cap="flat" cmpd="sng" algn="ctr">
                      <a:solidFill>
                        <a:srgbClr val="6B6F76"/>
                      </a:solidFill>
                    </a:lnB>
                    <a:noFill/>
                  </a:tcPr>
                </a:tc>
              </a:tr>
              <a:tr h="365760">
                <a:tc>
                  <a:txBody>
                    <a:bodyPr/>
                    <a:lstStyle/>
                    <a:p>
                      <a:pPr algn="l"/>
                      <a:r>
                        <a:rPr sz="1050" b="0" i="0">
                          <a:solidFill>
                            <a:srgbClr val="3D4A5C"/>
                          </a:solidFill>
                          <a:latin typeface="Arial"/>
                        </a:rPr>
                        <a:t>ARIMA, naive drift, ML models</a:t>
                      </a:r>
                    </a:p>
                  </a:txBody>
                  <a:tcPr marL="88900" marR="88900" marT="25400" marB="25400" anchor="ctr">
                    <a:noFill/>
                  </a:tcPr>
                </a:tc>
                <a:tc>
                  <a:txBody>
                    <a:bodyPr/>
                    <a:lstStyle/>
                    <a:p>
                      <a:pPr algn="l"/>
                      <a:r>
                        <a:rPr sz="1050" b="0" i="0">
                          <a:solidFill>
                            <a:srgbClr val="3D4A5C"/>
                          </a:solidFill>
                          <a:latin typeface="Arial"/>
                        </a:rPr>
                        <a:t>2000 to forecast date</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r>
              <a:tr h="365760">
                <a:tc>
                  <a:txBody>
                    <a:bodyPr/>
                    <a:lstStyle/>
                    <a:p>
                      <a:pPr algn="l"/>
                      <a:r>
                        <a:rPr sz="1050" b="0" i="0">
                          <a:solidFill>
                            <a:srgbClr val="3D4A5C"/>
                          </a:solidFill>
                          <a:latin typeface="Arial"/>
                        </a:rPr>
                        <a:t>ARIMAX</a:t>
                      </a:r>
                    </a:p>
                  </a:txBody>
                  <a:tcPr marL="88900" marR="88900" marT="25400" marB="25400" anchor="ctr">
                    <a:noFill/>
                  </a:tcPr>
                </a:tc>
                <a:tc>
                  <a:txBody>
                    <a:bodyPr/>
                    <a:lstStyle/>
                    <a:p>
                      <a:pPr algn="l"/>
                      <a:r>
                        <a:rPr sz="1050" b="0" i="0">
                          <a:solidFill>
                            <a:srgbClr val="3D4A5C"/>
                          </a:solidFill>
                          <a:latin typeface="Arial"/>
                        </a:rPr>
                        <a:t>2000 to forecast date</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yes, lag 24</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r>
              <a:tr h="365760">
                <a:tc>
                  <a:txBody>
                    <a:bodyPr/>
                    <a:lstStyle/>
                    <a:p>
                      <a:pPr algn="l"/>
                      <a:r>
                        <a:rPr sz="1050" b="0" i="0">
                          <a:solidFill>
                            <a:srgbClr val="3D4A5C"/>
                          </a:solidFill>
                          <a:latin typeface="Arial"/>
                        </a:rPr>
                        <a:t>ARIMAX + jobs</a:t>
                      </a:r>
                    </a:p>
                  </a:txBody>
                  <a:tcPr marL="88900" marR="88900" marT="25400" marB="25400" anchor="ctr">
                    <a:noFill/>
                  </a:tcPr>
                </a:tc>
                <a:tc>
                  <a:txBody>
                    <a:bodyPr/>
                    <a:lstStyle/>
                    <a:p>
                      <a:pPr algn="l"/>
                      <a:r>
                        <a:rPr sz="1050" b="0" i="0">
                          <a:solidFill>
                            <a:srgbClr val="3D4A5C"/>
                          </a:solidFill>
                          <a:latin typeface="Arial"/>
                        </a:rPr>
                        <a:t>2000 to forecast date</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yes, lag 24</a:t>
                      </a:r>
                    </a:p>
                  </a:txBody>
                  <a:tcPr marL="88900" marR="88900" marT="25400" marB="25400" anchor="ctr">
                    <a:noFill/>
                  </a:tcPr>
                </a:tc>
                <a:tc>
                  <a:txBody>
                    <a:bodyPr/>
                    <a:lstStyle/>
                    <a:p>
                      <a:pPr algn="l"/>
                      <a:r>
                        <a:rPr sz="1050" b="0" i="0">
                          <a:solidFill>
                            <a:srgbClr val="3D4A5C"/>
                          </a:solidFill>
                          <a:latin typeface="Arial"/>
                        </a:rPr>
                        <a:t>yes, lag 12</a:t>
                      </a:r>
                    </a:p>
                  </a:txBody>
                  <a:tcPr marL="88900" marR="88900" marT="25400" marB="25400" anchor="ctr">
                    <a:noFill/>
                  </a:tcPr>
                </a:tc>
              </a:tr>
              <a:tr h="365760">
                <a:tc>
                  <a:txBody>
                    <a:bodyPr/>
                    <a:lstStyle/>
                    <a:p>
                      <a:pPr algn="l"/>
                      <a:r>
                        <a:rPr sz="1050" b="0" i="0">
                          <a:solidFill>
                            <a:srgbClr val="3D4A5C"/>
                          </a:solidFill>
                          <a:latin typeface="Arial"/>
                        </a:rPr>
                        <a:t>AI, named prompt</a:t>
                      </a:r>
                    </a:p>
                  </a:txBody>
                  <a:tcPr marL="88900" marR="88900" marT="25400" marB="25400" anchor="ctr">
                    <a:noFill/>
                  </a:tcPr>
                </a:tc>
                <a:tc>
                  <a:txBody>
                    <a:bodyPr/>
                    <a:lstStyle/>
                    <a:p>
                      <a:pPr algn="l"/>
                      <a:r>
                        <a:rPr sz="1050" b="0" i="0">
                          <a:solidFill>
                            <a:srgbClr val="3D4A5C"/>
                          </a:solidFill>
                          <a:latin typeface="Arial"/>
                        </a:rPr>
                        <a:t>2000 to forecast date</a:t>
                      </a:r>
                    </a:p>
                  </a:txBody>
                  <a:tcPr marL="88900" marR="88900" marT="25400" marB="25400" anchor="ctr">
                    <a:noFill/>
                  </a:tcPr>
                </a:tc>
                <a:tc>
                  <a:txBody>
                    <a:bodyPr/>
                    <a:lstStyle/>
                    <a:p>
                      <a:pPr algn="l"/>
                      <a:r>
                        <a:rPr sz="1050" b="0" i="0">
                          <a:solidFill>
                            <a:srgbClr val="3D4A5C"/>
                          </a:solidFill>
                          <a:latin typeface="Arial"/>
                        </a:rPr>
                        <a:t>yes</a:t>
                      </a:r>
                    </a:p>
                  </a:txBody>
                  <a:tcPr marL="88900" marR="88900" marT="25400" marB="25400" anchor="ctr">
                    <a:noFill/>
                  </a:tcPr>
                </a:tc>
                <a:tc>
                  <a:txBody>
                    <a:bodyPr/>
                    <a:lstStyle/>
                    <a:p>
                      <a:pPr algn="l"/>
                      <a:r>
                        <a:rPr sz="1050" b="0" i="0">
                          <a:solidFill>
                            <a:srgbClr val="3D4A5C"/>
                          </a:solidFill>
                          <a:latin typeface="Arial"/>
                        </a:rPr>
                        <a:t>yes</a:t>
                      </a:r>
                    </a:p>
                  </a:txBody>
                  <a:tcPr marL="88900" marR="88900" marT="25400" marB="25400" anchor="ctr">
                    <a:noFill/>
                  </a:tcPr>
                </a:tc>
                <a:tc>
                  <a:txBody>
                    <a:bodyPr/>
                    <a:lstStyle/>
                    <a:p>
                      <a:pPr algn="l"/>
                      <a:r>
                        <a:rPr sz="1050" b="0" i="0">
                          <a:solidFill>
                            <a:srgbClr val="3D4A5C"/>
                          </a:solidFill>
                          <a:latin typeface="Arial"/>
                        </a:rPr>
                        <a:t>yes</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r>
              <a:tr h="365760">
                <a:tc>
                  <a:txBody>
                    <a:bodyPr/>
                    <a:lstStyle/>
                    <a:p>
                      <a:pPr algn="l"/>
                      <a:r>
                        <a:rPr sz="1050" b="0" i="0">
                          <a:solidFill>
                            <a:srgbClr val="3D4A5C"/>
                          </a:solidFill>
                          <a:latin typeface="Arial"/>
                        </a:rPr>
                        <a:t>AI, blind prompt</a:t>
                      </a:r>
                    </a:p>
                  </a:txBody>
                  <a:tcPr marL="88900" marR="88900" marT="25400" marB="25400" anchor="ctr">
                    <a:noFill/>
                  </a:tcPr>
                </a:tc>
                <a:tc>
                  <a:txBody>
                    <a:bodyPr/>
                    <a:lstStyle/>
                    <a:p>
                      <a:pPr algn="l"/>
                      <a:r>
                        <a:rPr sz="1050" b="0" i="0">
                          <a:solidFill>
                            <a:srgbClr val="3D4A5C"/>
                          </a:solidFill>
                          <a:latin typeface="Arial"/>
                        </a:rPr>
                        <a:t>2000 to forecast date</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yes</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r>
              <a:tr h="365760">
                <a:tc>
                  <a:txBody>
                    <a:bodyPr/>
                    <a:lstStyle/>
                    <a:p>
                      <a:pPr algn="l"/>
                      <a:r>
                        <a:rPr sz="1050" b="0" i="0">
                          <a:solidFill>
                            <a:srgbClr val="3D4A5C"/>
                          </a:solidFill>
                          <a:latin typeface="Arial"/>
                        </a:rPr>
                        <a:t>AI, masked prompt</a:t>
                      </a:r>
                    </a:p>
                  </a:txBody>
                  <a:tcPr marL="88900" marR="88900" marT="25400" marB="25400" anchor="ctr">
                    <a:noFill/>
                  </a:tcPr>
                </a:tc>
                <a:tc>
                  <a:txBody>
                    <a:bodyPr/>
                    <a:lstStyle/>
                    <a:p>
                      <a:pPr algn="l"/>
                      <a:r>
                        <a:rPr sz="1050" b="0" i="0">
                          <a:solidFill>
                            <a:srgbClr val="3D4A5C"/>
                          </a:solidFill>
                          <a:latin typeface="Arial"/>
                        </a:rPr>
                        <a:t>last 10 years</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c>
                  <a:txBody>
                    <a:bodyPr/>
                    <a:lstStyle/>
                    <a:p>
                      <a:pPr algn="l"/>
                      <a:r>
                        <a:rPr sz="1050" b="0" i="0">
                          <a:solidFill>
                            <a:srgbClr val="3D4A5C"/>
                          </a:solidFill>
                          <a:latin typeface="Arial"/>
                        </a:rPr>
                        <a:t>no</a:t>
                      </a:r>
                    </a:p>
                  </a:txBody>
                  <a:tcPr marL="88900" marR="88900" marT="25400" marB="25400" anchor="ctr">
                    <a:noFill/>
                  </a:tcPr>
                </a:tc>
              </a:tr>
              <a:tr h="365760">
                <a:tc>
                  <a:txBody>
                    <a:bodyPr/>
                    <a:lstStyle/>
                    <a:p>
                      <a:pPr algn="l"/>
                      <a:r>
                        <a:rPr sz="1050" b="0" i="0">
                          <a:solidFill>
                            <a:srgbClr val="3D4A5C"/>
                          </a:solidFill>
                          <a:latin typeface="Arial"/>
                        </a:rPr>
                        <a:t>AI, masked, all history (Claude only)</a:t>
                      </a:r>
                    </a:p>
                  </a:txBody>
                  <a:tcPr marL="88900" marR="88900" marT="25400" marB="25400" anchor="ctr">
                    <a:lnB w="17780" cap="flat" cmpd="sng" algn="ctr">
                      <a:solidFill>
                        <a:srgbClr val="16213E"/>
                      </a:solidFill>
                    </a:lnB>
                    <a:noFill/>
                  </a:tcPr>
                </a:tc>
                <a:tc>
                  <a:txBody>
                    <a:bodyPr/>
                    <a:lstStyle/>
                    <a:p>
                      <a:pPr algn="l"/>
                      <a:r>
                        <a:rPr sz="1050" b="0" i="0">
                          <a:solidFill>
                            <a:srgbClr val="3D4A5C"/>
                          </a:solidFill>
                          <a:latin typeface="Arial"/>
                        </a:rPr>
                        <a:t>2000 to forecast date</a:t>
                      </a:r>
                    </a:p>
                  </a:txBody>
                  <a:tcPr marL="88900" marR="88900" marT="25400" marB="25400" anchor="ctr">
                    <a:lnB w="17780" cap="flat" cmpd="sng" algn="ctr">
                      <a:solidFill>
                        <a:srgbClr val="16213E"/>
                      </a:solidFill>
                    </a:lnB>
                    <a:noFill/>
                  </a:tcPr>
                </a:tc>
                <a:tc>
                  <a:txBody>
                    <a:bodyPr/>
                    <a:lstStyle/>
                    <a:p>
                      <a:pPr algn="l"/>
                      <a:r>
                        <a:rPr sz="1050" b="0" i="0">
                          <a:solidFill>
                            <a:srgbClr val="3D4A5C"/>
                          </a:solidFill>
                          <a:latin typeface="Arial"/>
                        </a:rPr>
                        <a:t>no</a:t>
                      </a:r>
                    </a:p>
                  </a:txBody>
                  <a:tcPr marL="88900" marR="88900" marT="25400" marB="25400" anchor="ctr">
                    <a:lnB w="17780" cap="flat" cmpd="sng" algn="ctr">
                      <a:solidFill>
                        <a:srgbClr val="16213E"/>
                      </a:solidFill>
                    </a:lnB>
                    <a:noFill/>
                  </a:tcPr>
                </a:tc>
                <a:tc>
                  <a:txBody>
                    <a:bodyPr/>
                    <a:lstStyle/>
                    <a:p>
                      <a:pPr algn="l"/>
                      <a:r>
                        <a:rPr sz="1050" b="0" i="0">
                          <a:solidFill>
                            <a:srgbClr val="3D4A5C"/>
                          </a:solidFill>
                          <a:latin typeface="Arial"/>
                        </a:rPr>
                        <a:t>no</a:t>
                      </a:r>
                    </a:p>
                  </a:txBody>
                  <a:tcPr marL="88900" marR="88900" marT="25400" marB="25400" anchor="ctr">
                    <a:lnB w="17780" cap="flat" cmpd="sng" algn="ctr">
                      <a:solidFill>
                        <a:srgbClr val="16213E"/>
                      </a:solidFill>
                    </a:lnB>
                    <a:noFill/>
                  </a:tcPr>
                </a:tc>
                <a:tc>
                  <a:txBody>
                    <a:bodyPr/>
                    <a:lstStyle/>
                    <a:p>
                      <a:pPr algn="l"/>
                      <a:r>
                        <a:rPr sz="1050" b="0" i="0">
                          <a:solidFill>
                            <a:srgbClr val="3D4A5C"/>
                          </a:solidFill>
                          <a:latin typeface="Arial"/>
                        </a:rPr>
                        <a:t>no</a:t>
                      </a:r>
                    </a:p>
                  </a:txBody>
                  <a:tcPr marL="88900" marR="88900" marT="25400" marB="25400" anchor="ctr">
                    <a:lnB w="17780" cap="flat" cmpd="sng" algn="ctr">
                      <a:solidFill>
                        <a:srgbClr val="16213E"/>
                      </a:solidFill>
                    </a:lnB>
                    <a:noFill/>
                  </a:tcPr>
                </a:tc>
                <a:tc>
                  <a:txBody>
                    <a:bodyPr/>
                    <a:lstStyle/>
                    <a:p>
                      <a:pPr algn="l"/>
                      <a:r>
                        <a:rPr sz="1050" b="0" i="0">
                          <a:solidFill>
                            <a:srgbClr val="3D4A5C"/>
                          </a:solidFill>
                          <a:latin typeface="Arial"/>
                        </a:rPr>
                        <a:t>no</a:t>
                      </a:r>
                    </a:p>
                  </a:txBody>
                  <a:tcPr marL="88900" marR="88900" marT="25400" marB="25400" anchor="ctr">
                    <a:lnB w="17780" cap="flat" cmpd="sng" algn="ctr">
                      <a:solidFill>
                        <a:srgbClr val="16213E"/>
                      </a:solidFill>
                    </a:lnB>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A2 · MODELS</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The 14 models in one line each</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2</a:t>
            </a:r>
          </a:p>
        </p:txBody>
      </p:sp>
      <p:graphicFrame>
        <p:nvGraphicFramePr>
          <p:cNvPr id="7" name="Table 6"/>
          <p:cNvGraphicFramePr>
            <a:graphicFrameLocks noGrp="1"/>
          </p:cNvGraphicFramePr>
          <p:nvPr/>
        </p:nvGraphicFramePr>
        <p:xfrm>
          <a:off x="457200" y="1316736"/>
          <a:ext cx="8229600" cy="3223260"/>
        </p:xfrm>
        <a:graphic>
          <a:graphicData uri="http://schemas.openxmlformats.org/drawingml/2006/table">
            <a:tbl>
              <a:tblPr firstRow="0" bandRow="0">
                <a:tableStyleId>{2D5ABB26-0587-4C30-8999-92F81FD0307C}</a:tableStyleId>
              </a:tblPr>
              <a:tblGrid>
                <a:gridCol w="1783080"/>
                <a:gridCol w="914400"/>
                <a:gridCol w="5532120"/>
              </a:tblGrid>
              <a:tr h="214884">
                <a:tc>
                  <a:txBody>
                    <a:bodyPr/>
                    <a:lstStyle/>
                    <a:p>
                      <a:pPr algn="l"/>
                      <a:r>
                        <a:rPr sz="750" b="1" i="0">
                          <a:solidFill>
                            <a:srgbClr val="16213E"/>
                          </a:solidFill>
                          <a:latin typeface="Arial"/>
                        </a:rPr>
                        <a:t>Model</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750" b="1" i="0">
                          <a:solidFill>
                            <a:srgbClr val="16213E"/>
                          </a:solidFill>
                          <a:latin typeface="Arial"/>
                        </a:rPr>
                        <a:t>Family</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750" b="1" i="0">
                          <a:solidFill>
                            <a:srgbClr val="16213E"/>
                          </a:solidFill>
                          <a:latin typeface="Arial"/>
                        </a:rPr>
                        <a:t>In one line</a:t>
                      </a:r>
                    </a:p>
                  </a:txBody>
                  <a:tcPr marL="88900" marR="88900" marT="25400" marB="25400" anchor="ctr">
                    <a:lnT w="17780" cap="flat" cmpd="sng" algn="ctr">
                      <a:solidFill>
                        <a:srgbClr val="16213E"/>
                      </a:solidFill>
                    </a:lnT>
                    <a:lnB w="10160" cap="flat" cmpd="sng" algn="ctr">
                      <a:solidFill>
                        <a:srgbClr val="6B6F76"/>
                      </a:solidFill>
                    </a:lnB>
                    <a:noFill/>
                  </a:tcPr>
                </a:tc>
              </a:tr>
              <a:tr h="214884">
                <a:tc>
                  <a:txBody>
                    <a:bodyPr/>
                    <a:lstStyle/>
                    <a:p>
                      <a:pPr algn="l"/>
                      <a:r>
                        <a:rPr sz="750" b="0" i="0">
                          <a:solidFill>
                            <a:srgbClr val="3D4A5C"/>
                          </a:solidFill>
                          <a:latin typeface="Arial"/>
                        </a:rPr>
                        <a:t>Naive drift</a:t>
                      </a:r>
                    </a:p>
                  </a:txBody>
                  <a:tcPr marL="88900" marR="88900" marT="25400" marB="25400" anchor="ctr">
                    <a:noFill/>
                  </a:tcPr>
                </a:tc>
                <a:tc>
                  <a:txBody>
                    <a:bodyPr/>
                    <a:lstStyle/>
                    <a:p>
                      <a:pPr algn="l"/>
                      <a:r>
                        <a:rPr sz="750" b="0" i="0">
                          <a:solidFill>
                            <a:srgbClr val="3D4A5C"/>
                          </a:solidFill>
                          <a:latin typeface="Arial"/>
                        </a:rPr>
                        <a:t>Baseline</a:t>
                      </a:r>
                    </a:p>
                  </a:txBody>
                  <a:tcPr marL="88900" marR="88900" marT="25400" marB="25400" anchor="ctr">
                    <a:noFill/>
                  </a:tcPr>
                </a:tc>
                <a:tc>
                  <a:txBody>
                    <a:bodyPr/>
                    <a:lstStyle/>
                    <a:p>
                      <a:pPr algn="l"/>
                      <a:r>
                        <a:rPr sz="750" b="0" i="0">
                          <a:solidFill>
                            <a:srgbClr val="3D4A5C"/>
                          </a:solidFill>
                          <a:latin typeface="Arial"/>
                        </a:rPr>
                        <a:t>Last value, grown at the average monthly growth since 2000 (a random walk with drift).</a:t>
                      </a:r>
                    </a:p>
                  </a:txBody>
                  <a:tcPr marL="88900" marR="88900" marT="25400" marB="25400" anchor="ctr">
                    <a:noFill/>
                  </a:tcPr>
                </a:tc>
              </a:tr>
              <a:tr h="214884">
                <a:tc>
                  <a:txBody>
                    <a:bodyPr/>
                    <a:lstStyle/>
                    <a:p>
                      <a:pPr algn="l"/>
                      <a:r>
                        <a:rPr sz="750" b="0" i="0">
                          <a:solidFill>
                            <a:srgbClr val="3D4A5C"/>
                          </a:solidFill>
                          <a:latin typeface="Arial"/>
                        </a:rPr>
                        <a:t>ARIMA</a:t>
                      </a:r>
                    </a:p>
                  </a:txBody>
                  <a:tcPr marL="88900" marR="88900" marT="25400" marB="25400" anchor="ctr">
                    <a:noFill/>
                  </a:tcPr>
                </a:tc>
                <a:tc>
                  <a:txBody>
                    <a:bodyPr/>
                    <a:lstStyle/>
                    <a:p>
                      <a:pPr algn="l"/>
                      <a:r>
                        <a:rPr sz="750" b="0" i="0">
                          <a:solidFill>
                            <a:srgbClr val="3D4A5C"/>
                          </a:solidFill>
                          <a:latin typeface="Arial"/>
                        </a:rPr>
                        <a:t>Classical</a:t>
                      </a:r>
                    </a:p>
                  </a:txBody>
                  <a:tcPr marL="88900" marR="88900" marT="25400" marB="25400" anchor="ctr">
                    <a:noFill/>
                  </a:tcPr>
                </a:tc>
                <a:tc>
                  <a:txBody>
                    <a:bodyPr/>
                    <a:lstStyle/>
                    <a:p>
                      <a:pPr algn="l"/>
                      <a:r>
                        <a:rPr sz="750" b="0" i="0">
                          <a:solidFill>
                            <a:srgbClr val="3D4A5C"/>
                          </a:solidFill>
                          <a:latin typeface="Arial"/>
                        </a:rPr>
                        <a:t>Forecasts from the series' own recent values and recent surprises, after differencing once; ARIMA(1,1,2) on log price.</a:t>
                      </a:r>
                    </a:p>
                  </a:txBody>
                  <a:tcPr marL="88900" marR="88900" marT="25400" marB="25400" anchor="ctr">
                    <a:noFill/>
                  </a:tcPr>
                </a:tc>
              </a:tr>
              <a:tr h="214884">
                <a:tc>
                  <a:txBody>
                    <a:bodyPr/>
                    <a:lstStyle/>
                    <a:p>
                      <a:pPr algn="l"/>
                      <a:r>
                        <a:rPr sz="750" b="0" i="0">
                          <a:solidFill>
                            <a:srgbClr val="3D4A5C"/>
                          </a:solidFill>
                          <a:latin typeface="Arial"/>
                        </a:rPr>
                        <a:t>Holt (damped)</a:t>
                      </a:r>
                    </a:p>
                  </a:txBody>
                  <a:tcPr marL="88900" marR="88900" marT="25400" marB="25400" anchor="ctr">
                    <a:noFill/>
                  </a:tcPr>
                </a:tc>
                <a:tc>
                  <a:txBody>
                    <a:bodyPr/>
                    <a:lstStyle/>
                    <a:p>
                      <a:pPr algn="l"/>
                      <a:r>
                        <a:rPr sz="750" b="0" i="0">
                          <a:solidFill>
                            <a:srgbClr val="3D4A5C"/>
                          </a:solidFill>
                          <a:latin typeface="Arial"/>
                        </a:rPr>
                        <a:t>Classical</a:t>
                      </a:r>
                    </a:p>
                  </a:txBody>
                  <a:tcPr marL="88900" marR="88900" marT="25400" marB="25400" anchor="ctr">
                    <a:noFill/>
                  </a:tcPr>
                </a:tc>
                <a:tc>
                  <a:txBody>
                    <a:bodyPr/>
                    <a:lstStyle/>
                    <a:p>
                      <a:pPr algn="l"/>
                      <a:r>
                        <a:rPr sz="750" b="0" i="0">
                          <a:solidFill>
                            <a:srgbClr val="3D4A5C"/>
                          </a:solidFill>
                          <a:latin typeface="Arial"/>
                        </a:rPr>
                        <a:t>Exponential smoothing of the level and trend, with the trend slowly flattening out.</a:t>
                      </a:r>
                    </a:p>
                  </a:txBody>
                  <a:tcPr marL="88900" marR="88900" marT="25400" marB="25400" anchor="ctr">
                    <a:noFill/>
                  </a:tcPr>
                </a:tc>
              </a:tr>
              <a:tr h="214884">
                <a:tc>
                  <a:txBody>
                    <a:bodyPr/>
                    <a:lstStyle/>
                    <a:p>
                      <a:pPr algn="l"/>
                      <a:r>
                        <a:rPr sz="750" b="0" i="0">
                          <a:solidFill>
                            <a:srgbClr val="3D4A5C"/>
                          </a:solidFill>
                          <a:latin typeface="Arial"/>
                        </a:rPr>
                        <a:t>Prophet</a:t>
                      </a:r>
                    </a:p>
                  </a:txBody>
                  <a:tcPr marL="88900" marR="88900" marT="25400" marB="25400" anchor="ctr">
                    <a:noFill/>
                  </a:tcPr>
                </a:tc>
                <a:tc>
                  <a:txBody>
                    <a:bodyPr/>
                    <a:lstStyle/>
                    <a:p>
                      <a:pPr algn="l"/>
                      <a:r>
                        <a:rPr sz="750" b="0" i="0">
                          <a:solidFill>
                            <a:srgbClr val="3D4A5C"/>
                          </a:solidFill>
                          <a:latin typeface="Arial"/>
                        </a:rPr>
                        <a:t>Classical</a:t>
                      </a:r>
                    </a:p>
                  </a:txBody>
                  <a:tcPr marL="88900" marR="88900" marT="25400" marB="25400" anchor="ctr">
                    <a:noFill/>
                  </a:tcPr>
                </a:tc>
                <a:tc>
                  <a:txBody>
                    <a:bodyPr/>
                    <a:lstStyle/>
                    <a:p>
                      <a:pPr algn="l"/>
                      <a:r>
                        <a:rPr sz="750" b="0" i="0">
                          <a:solidFill>
                            <a:srgbClr val="3D4A5C"/>
                          </a:solidFill>
                          <a:latin typeface="Arial"/>
                        </a:rPr>
                        <a:t>Meta's curve-fitting model: one smooth trend line plus changepoints; does not start from the latest value.</a:t>
                      </a:r>
                    </a:p>
                  </a:txBody>
                  <a:tcPr marL="88900" marR="88900" marT="25400" marB="25400" anchor="ctr">
                    <a:noFill/>
                  </a:tcPr>
                </a:tc>
              </a:tr>
              <a:tr h="214884">
                <a:tc>
                  <a:txBody>
                    <a:bodyPr/>
                    <a:lstStyle/>
                    <a:p>
                      <a:pPr algn="l"/>
                      <a:r>
                        <a:rPr sz="750" b="0" i="0">
                          <a:solidFill>
                            <a:srgbClr val="3D4A5C"/>
                          </a:solidFill>
                          <a:latin typeface="Arial"/>
                        </a:rPr>
                        <a:t>Prophet + COVID &amp; rates</a:t>
                      </a:r>
                    </a:p>
                  </a:txBody>
                  <a:tcPr marL="88900" marR="88900" marT="25400" marB="25400" anchor="ctr">
                    <a:noFill/>
                  </a:tcPr>
                </a:tc>
                <a:tc>
                  <a:txBody>
                    <a:bodyPr/>
                    <a:lstStyle/>
                    <a:p>
                      <a:pPr algn="l"/>
                      <a:r>
                        <a:rPr sz="750" b="0" i="0">
                          <a:solidFill>
                            <a:srgbClr val="3D4A5C"/>
                          </a:solidFill>
                          <a:latin typeface="Arial"/>
                        </a:rPr>
                        <a:t>Classical</a:t>
                      </a:r>
                    </a:p>
                  </a:txBody>
                  <a:tcPr marL="88900" marR="88900" marT="25400" marB="25400" anchor="ctr">
                    <a:noFill/>
                  </a:tcPr>
                </a:tc>
                <a:tc>
                  <a:txBody>
                    <a:bodyPr/>
                    <a:lstStyle/>
                    <a:p>
                      <a:pPr algn="l"/>
                      <a:r>
                        <a:rPr sz="750" b="0" i="0">
                          <a:solidFill>
                            <a:srgbClr val="3D4A5C"/>
                          </a:solidFill>
                          <a:latin typeface="Arial"/>
                        </a:rPr>
                        <a:t>Prophet with the 2020-22 boom marked as a one-off and the mortgage rate (lagged 24 months) added.</a:t>
                      </a:r>
                    </a:p>
                  </a:txBody>
                  <a:tcPr marL="88900" marR="88900" marT="25400" marB="25400" anchor="ctr">
                    <a:noFill/>
                  </a:tcPr>
                </a:tc>
              </a:tr>
              <a:tr h="214884">
                <a:tc>
                  <a:txBody>
                    <a:bodyPr/>
                    <a:lstStyle/>
                    <a:p>
                      <a:pPr algn="l"/>
                      <a:r>
                        <a:rPr sz="750" b="0" i="0">
                          <a:solidFill>
                            <a:srgbClr val="3D4A5C"/>
                          </a:solidFill>
                          <a:latin typeface="Arial"/>
                        </a:rPr>
                        <a:t>XGBoost</a:t>
                      </a:r>
                    </a:p>
                  </a:txBody>
                  <a:tcPr marL="88900" marR="88900" marT="25400" marB="25400" anchor="ctr">
                    <a:noFill/>
                  </a:tcPr>
                </a:tc>
                <a:tc>
                  <a:txBody>
                    <a:bodyPr/>
                    <a:lstStyle/>
                    <a:p>
                      <a:pPr algn="l"/>
                      <a:r>
                        <a:rPr sz="750" b="0" i="0">
                          <a:solidFill>
                            <a:srgbClr val="3D4A5C"/>
                          </a:solidFill>
                          <a:latin typeface="Arial"/>
                        </a:rPr>
                        <a:t>ML</a:t>
                      </a:r>
                    </a:p>
                  </a:txBody>
                  <a:tcPr marL="88900" marR="88900" marT="25400" marB="25400" anchor="ctr">
                    <a:noFill/>
                  </a:tcPr>
                </a:tc>
                <a:tc>
                  <a:txBody>
                    <a:bodyPr/>
                    <a:lstStyle/>
                    <a:p>
                      <a:pPr algn="l"/>
                      <a:r>
                        <a:rPr sz="750" b="0" i="0">
                          <a:solidFill>
                            <a:srgbClr val="3D4A5C"/>
                          </a:solidFill>
                          <a:latin typeface="Arial"/>
                        </a:rPr>
                        <a:t>Boosted decision trees predicting next month's growth from the last 12 months of growth.</a:t>
                      </a:r>
                    </a:p>
                  </a:txBody>
                  <a:tcPr marL="88900" marR="88900" marT="25400" marB="25400" anchor="ctr">
                    <a:noFill/>
                  </a:tcPr>
                </a:tc>
              </a:tr>
              <a:tr h="214884">
                <a:tc>
                  <a:txBody>
                    <a:bodyPr/>
                    <a:lstStyle/>
                    <a:p>
                      <a:pPr algn="l"/>
                      <a:r>
                        <a:rPr sz="750" b="0" i="0">
                          <a:solidFill>
                            <a:srgbClr val="3D4A5C"/>
                          </a:solidFill>
                          <a:latin typeface="Arial"/>
                        </a:rPr>
                        <a:t>LightGBM</a:t>
                      </a:r>
                    </a:p>
                  </a:txBody>
                  <a:tcPr marL="88900" marR="88900" marT="25400" marB="25400" anchor="ctr">
                    <a:noFill/>
                  </a:tcPr>
                </a:tc>
                <a:tc>
                  <a:txBody>
                    <a:bodyPr/>
                    <a:lstStyle/>
                    <a:p>
                      <a:pPr algn="l"/>
                      <a:r>
                        <a:rPr sz="750" b="0" i="0">
                          <a:solidFill>
                            <a:srgbClr val="3D4A5C"/>
                          </a:solidFill>
                          <a:latin typeface="Arial"/>
                        </a:rPr>
                        <a:t>ML</a:t>
                      </a:r>
                    </a:p>
                  </a:txBody>
                  <a:tcPr marL="88900" marR="88900" marT="25400" marB="25400" anchor="ctr">
                    <a:noFill/>
                  </a:tcPr>
                </a:tc>
                <a:tc>
                  <a:txBody>
                    <a:bodyPr/>
                    <a:lstStyle/>
                    <a:p>
                      <a:pPr algn="l"/>
                      <a:r>
                        <a:rPr sz="750" b="0" i="0">
                          <a:solidFill>
                            <a:srgbClr val="3D4A5C"/>
                          </a:solidFill>
                          <a:latin typeface="Arial"/>
                        </a:rPr>
                        <a:t>A faster boosted-tree method, same inputs as XGBoost.</a:t>
                      </a:r>
                    </a:p>
                  </a:txBody>
                  <a:tcPr marL="88900" marR="88900" marT="25400" marB="25400" anchor="ctr">
                    <a:noFill/>
                  </a:tcPr>
                </a:tc>
              </a:tr>
              <a:tr h="214884">
                <a:tc>
                  <a:txBody>
                    <a:bodyPr/>
                    <a:lstStyle/>
                    <a:p>
                      <a:pPr algn="l"/>
                      <a:r>
                        <a:rPr sz="750" b="0" i="0">
                          <a:solidFill>
                            <a:srgbClr val="3D4A5C"/>
                          </a:solidFill>
                          <a:latin typeface="Arial"/>
                        </a:rPr>
                        <a:t>LSTM</a:t>
                      </a:r>
                    </a:p>
                  </a:txBody>
                  <a:tcPr marL="88900" marR="88900" marT="25400" marB="25400" anchor="ctr">
                    <a:noFill/>
                  </a:tcPr>
                </a:tc>
                <a:tc>
                  <a:txBody>
                    <a:bodyPr/>
                    <a:lstStyle/>
                    <a:p>
                      <a:pPr algn="l"/>
                      <a:r>
                        <a:rPr sz="750" b="0" i="0">
                          <a:solidFill>
                            <a:srgbClr val="3D4A5C"/>
                          </a:solidFill>
                          <a:latin typeface="Arial"/>
                        </a:rPr>
                        <a:t>Deep learning</a:t>
                      </a:r>
                    </a:p>
                  </a:txBody>
                  <a:tcPr marL="88900" marR="88900" marT="25400" marB="25400" anchor="ctr">
                    <a:noFill/>
                  </a:tcPr>
                </a:tc>
                <a:tc>
                  <a:txBody>
                    <a:bodyPr/>
                    <a:lstStyle/>
                    <a:p>
                      <a:pPr algn="l"/>
                      <a:r>
                        <a:rPr sz="750" b="0" i="0">
                          <a:solidFill>
                            <a:srgbClr val="3D4A5C"/>
                          </a:solidFill>
                          <a:latin typeface="Arial"/>
                        </a:rPr>
                        <a:t>A recurrent neural network that reads the last 24 months of growth and predicts the next.</a:t>
                      </a:r>
                    </a:p>
                  </a:txBody>
                  <a:tcPr marL="88900" marR="88900" marT="25400" marB="25400" anchor="ctr">
                    <a:noFill/>
                  </a:tcPr>
                </a:tc>
              </a:tr>
              <a:tr h="214884">
                <a:tc>
                  <a:txBody>
                    <a:bodyPr/>
                    <a:lstStyle/>
                    <a:p>
                      <a:pPr algn="l"/>
                      <a:r>
                        <a:rPr sz="750" b="0" i="0">
                          <a:solidFill>
                            <a:srgbClr val="3D4A5C"/>
                          </a:solidFill>
                          <a:latin typeface="Arial"/>
                        </a:rPr>
                        <a:t>GRU</a:t>
                      </a:r>
                    </a:p>
                  </a:txBody>
                  <a:tcPr marL="88900" marR="88900" marT="25400" marB="25400" anchor="ctr">
                    <a:noFill/>
                  </a:tcPr>
                </a:tc>
                <a:tc>
                  <a:txBody>
                    <a:bodyPr/>
                    <a:lstStyle/>
                    <a:p>
                      <a:pPr algn="l"/>
                      <a:r>
                        <a:rPr sz="750" b="0" i="0">
                          <a:solidFill>
                            <a:srgbClr val="3D4A5C"/>
                          </a:solidFill>
                          <a:latin typeface="Arial"/>
                        </a:rPr>
                        <a:t>Deep learning</a:t>
                      </a:r>
                    </a:p>
                  </a:txBody>
                  <a:tcPr marL="88900" marR="88900" marT="25400" marB="25400" anchor="ctr">
                    <a:noFill/>
                  </a:tcPr>
                </a:tc>
                <a:tc>
                  <a:txBody>
                    <a:bodyPr/>
                    <a:lstStyle/>
                    <a:p>
                      <a:pPr algn="l"/>
                      <a:r>
                        <a:rPr sz="750" b="0" i="0">
                          <a:solidFill>
                            <a:srgbClr val="3D4A5C"/>
                          </a:solidFill>
                          <a:latin typeface="Arial"/>
                        </a:rPr>
                        <a:t>A simpler recurrent network, same setup as the LSTM.</a:t>
                      </a:r>
                    </a:p>
                  </a:txBody>
                  <a:tcPr marL="88900" marR="88900" marT="25400" marB="25400" anchor="ctr">
                    <a:noFill/>
                  </a:tcPr>
                </a:tc>
              </a:tr>
              <a:tr h="214884">
                <a:tc>
                  <a:txBody>
                    <a:bodyPr/>
                    <a:lstStyle/>
                    <a:p>
                      <a:pPr algn="l"/>
                      <a:r>
                        <a:rPr sz="750" b="0" i="0">
                          <a:solidFill>
                            <a:srgbClr val="3D4A5C"/>
                          </a:solidFill>
                          <a:latin typeface="Arial"/>
                        </a:rPr>
                        <a:t>Chronos (foundation model)</a:t>
                      </a:r>
                    </a:p>
                  </a:txBody>
                  <a:tcPr marL="88900" marR="88900" marT="25400" marB="25400" anchor="ctr">
                    <a:noFill/>
                  </a:tcPr>
                </a:tc>
                <a:tc>
                  <a:txBody>
                    <a:bodyPr/>
                    <a:lstStyle/>
                    <a:p>
                      <a:pPr algn="l"/>
                      <a:r>
                        <a:rPr sz="750" b="0" i="0">
                          <a:solidFill>
                            <a:srgbClr val="3D4A5C"/>
                          </a:solidFill>
                          <a:latin typeface="Arial"/>
                        </a:rPr>
                        <a:t>AI, pretrained</a:t>
                      </a:r>
                    </a:p>
                  </a:txBody>
                  <a:tcPr marL="88900" marR="88900" marT="25400" marB="25400" anchor="ctr">
                    <a:noFill/>
                  </a:tcPr>
                </a:tc>
                <a:tc>
                  <a:txBody>
                    <a:bodyPr/>
                    <a:lstStyle/>
                    <a:p>
                      <a:pPr algn="l"/>
                      <a:r>
                        <a:rPr sz="750" b="0" i="0">
                          <a:solidFill>
                            <a:srgbClr val="3D4A5C"/>
                          </a:solidFill>
                          <a:latin typeface="Arial"/>
                        </a:rPr>
                        <a:t>Amazon's pretrained time-series model, used as is: it reads the price history and forecasts, never trained on our data.</a:t>
                      </a:r>
                    </a:p>
                  </a:txBody>
                  <a:tcPr marL="88900" marR="88900" marT="25400" marB="25400" anchor="ctr">
                    <a:noFill/>
                  </a:tcPr>
                </a:tc>
              </a:tr>
              <a:tr h="214884">
                <a:tc>
                  <a:txBody>
                    <a:bodyPr/>
                    <a:lstStyle/>
                    <a:p>
                      <a:pPr algn="l"/>
                      <a:r>
                        <a:rPr sz="750" b="0" i="0">
                          <a:solidFill>
                            <a:srgbClr val="3D4A5C"/>
                          </a:solidFill>
                          <a:latin typeface="Arial"/>
                        </a:rPr>
                        <a:t>ARIMAX</a:t>
                      </a:r>
                    </a:p>
                  </a:txBody>
                  <a:tcPr marL="88900" marR="88900" marT="25400" marB="25400" anchor="ctr">
                    <a:noFill/>
                  </a:tcPr>
                </a:tc>
                <a:tc>
                  <a:txBody>
                    <a:bodyPr/>
                    <a:lstStyle/>
                    <a:p>
                      <a:pPr algn="l"/>
                      <a:r>
                        <a:rPr sz="750" b="0" i="0">
                          <a:solidFill>
                            <a:srgbClr val="3D4A5C"/>
                          </a:solidFill>
                          <a:latin typeface="Arial"/>
                        </a:rPr>
                        <a:t>Outside info</a:t>
                      </a:r>
                    </a:p>
                  </a:txBody>
                  <a:tcPr marL="88900" marR="88900" marT="25400" marB="25400" anchor="ctr">
                    <a:noFill/>
                  </a:tcPr>
                </a:tc>
                <a:tc>
                  <a:txBody>
                    <a:bodyPr/>
                    <a:lstStyle/>
                    <a:p>
                      <a:pPr algn="l"/>
                      <a:r>
                        <a:rPr sz="750" b="0" i="0">
                          <a:solidFill>
                            <a:srgbClr val="3D4A5C"/>
                          </a:solidFill>
                          <a:latin typeface="Arial"/>
                        </a:rPr>
                        <a:t>ARIMA on monthly growth plus the 12-month change in the mortgage rate, lagged 24 months.</a:t>
                      </a:r>
                    </a:p>
                  </a:txBody>
                  <a:tcPr marL="88900" marR="88900" marT="25400" marB="25400" anchor="ctr">
                    <a:noFill/>
                  </a:tcPr>
                </a:tc>
              </a:tr>
              <a:tr h="214884">
                <a:tc>
                  <a:txBody>
                    <a:bodyPr/>
                    <a:lstStyle/>
                    <a:p>
                      <a:pPr algn="l"/>
                      <a:r>
                        <a:rPr sz="750" b="0" i="0">
                          <a:solidFill>
                            <a:srgbClr val="3D4A5C"/>
                          </a:solidFill>
                          <a:latin typeface="Arial"/>
                        </a:rPr>
                        <a:t>ARIMAX + jobs</a:t>
                      </a:r>
                    </a:p>
                  </a:txBody>
                  <a:tcPr marL="88900" marR="88900" marT="25400" marB="25400" anchor="ctr">
                    <a:noFill/>
                  </a:tcPr>
                </a:tc>
                <a:tc>
                  <a:txBody>
                    <a:bodyPr/>
                    <a:lstStyle/>
                    <a:p>
                      <a:pPr algn="l"/>
                      <a:r>
                        <a:rPr sz="750" b="0" i="0">
                          <a:solidFill>
                            <a:srgbClr val="3D4A5C"/>
                          </a:solidFill>
                          <a:latin typeface="Arial"/>
                        </a:rPr>
                        <a:t>Outside info</a:t>
                      </a:r>
                    </a:p>
                  </a:txBody>
                  <a:tcPr marL="88900" marR="88900" marT="25400" marB="25400" anchor="ctr">
                    <a:noFill/>
                  </a:tcPr>
                </a:tc>
                <a:tc>
                  <a:txBody>
                    <a:bodyPr/>
                    <a:lstStyle/>
                    <a:p>
                      <a:pPr algn="l"/>
                      <a:r>
                        <a:rPr sz="750" b="0" i="0">
                          <a:solidFill>
                            <a:srgbClr val="3D4A5C"/>
                          </a:solidFill>
                          <a:latin typeface="Arial"/>
                        </a:rPr>
                        <a:t>ARIMAX plus 12-month payroll job growth in LA and Orange County, lagged 12 months.</a:t>
                      </a:r>
                    </a:p>
                  </a:txBody>
                  <a:tcPr marL="88900" marR="88900" marT="25400" marB="25400" anchor="ctr">
                    <a:noFill/>
                  </a:tcPr>
                </a:tc>
              </a:tr>
              <a:tr h="214884">
                <a:tc>
                  <a:txBody>
                    <a:bodyPr/>
                    <a:lstStyle/>
                    <a:p>
                      <a:pPr algn="l"/>
                      <a:r>
                        <a:rPr sz="750" b="0" i="0">
                          <a:solidFill>
                            <a:srgbClr val="3D4A5C"/>
                          </a:solidFill>
                          <a:latin typeface="Arial"/>
                        </a:rPr>
                        <a:t>VAR (growth + rate)</a:t>
                      </a:r>
                    </a:p>
                  </a:txBody>
                  <a:tcPr marL="88900" marR="88900" marT="25400" marB="25400" anchor="ctr">
                    <a:noFill/>
                  </a:tcPr>
                </a:tc>
                <a:tc>
                  <a:txBody>
                    <a:bodyPr/>
                    <a:lstStyle/>
                    <a:p>
                      <a:pPr algn="l"/>
                      <a:r>
                        <a:rPr sz="750" b="0" i="0">
                          <a:solidFill>
                            <a:srgbClr val="3D4A5C"/>
                          </a:solidFill>
                          <a:latin typeface="Arial"/>
                        </a:rPr>
                        <a:t>Outside info</a:t>
                      </a:r>
                    </a:p>
                  </a:txBody>
                  <a:tcPr marL="88900" marR="88900" marT="25400" marB="25400" anchor="ctr">
                    <a:noFill/>
                  </a:tcPr>
                </a:tc>
                <a:tc>
                  <a:txBody>
                    <a:bodyPr/>
                    <a:lstStyle/>
                    <a:p>
                      <a:pPr algn="l"/>
                      <a:r>
                        <a:rPr sz="750" b="0" i="0">
                          <a:solidFill>
                            <a:srgbClr val="3D4A5C"/>
                          </a:solidFill>
                          <a:latin typeface="Arial"/>
                        </a:rPr>
                        <a:t>Home growth and rate changes forecast each other (11 monthly lags).</a:t>
                      </a:r>
                    </a:p>
                  </a:txBody>
                  <a:tcPr marL="88900" marR="88900" marT="25400" marB="25400" anchor="ctr">
                    <a:noFill/>
                  </a:tcPr>
                </a:tc>
              </a:tr>
              <a:tr h="214884">
                <a:tc>
                  <a:txBody>
                    <a:bodyPr/>
                    <a:lstStyle/>
                    <a:p>
                      <a:pPr algn="l"/>
                      <a:r>
                        <a:rPr sz="750" b="0" i="0">
                          <a:solidFill>
                            <a:srgbClr val="3D4A5C"/>
                          </a:solidFill>
                          <a:latin typeface="Arial"/>
                        </a:rPr>
                        <a:t>Factor VAR (neighborhoods)</a:t>
                      </a:r>
                    </a:p>
                  </a:txBody>
                  <a:tcPr marL="88900" marR="88900" marT="25400" marB="25400" anchor="ctr">
                    <a:lnB w="17780" cap="flat" cmpd="sng" algn="ctr">
                      <a:solidFill>
                        <a:srgbClr val="16213E"/>
                      </a:solidFill>
                    </a:lnB>
                    <a:noFill/>
                  </a:tcPr>
                </a:tc>
                <a:tc>
                  <a:txBody>
                    <a:bodyPr/>
                    <a:lstStyle/>
                    <a:p>
                      <a:pPr algn="l"/>
                      <a:r>
                        <a:rPr sz="750" b="0" i="0">
                          <a:solidFill>
                            <a:srgbClr val="3D4A5C"/>
                          </a:solidFill>
                          <a:latin typeface="Arial"/>
                        </a:rPr>
                        <a:t>Outside info</a:t>
                      </a:r>
                    </a:p>
                  </a:txBody>
                  <a:tcPr marL="88900" marR="88900" marT="25400" marB="25400" anchor="ctr">
                    <a:lnB w="17780" cap="flat" cmpd="sng" algn="ctr">
                      <a:solidFill>
                        <a:srgbClr val="16213E"/>
                      </a:solidFill>
                    </a:lnB>
                    <a:noFill/>
                  </a:tcPr>
                </a:tc>
                <a:tc>
                  <a:txBody>
                    <a:bodyPr/>
                    <a:lstStyle/>
                    <a:p>
                      <a:pPr algn="l"/>
                      <a:r>
                        <a:rPr sz="750" b="0" i="0">
                          <a:solidFill>
                            <a:srgbClr val="3D4A5C"/>
                          </a:solidFill>
                          <a:latin typeface="Arial"/>
                        </a:rPr>
                        <a:t>Summarizes ~400 neighborhoods into 2 common factors and forecasts them together with metro growth.</a:t>
                      </a:r>
                    </a:p>
                  </a:txBody>
                  <a:tcPr marL="88900" marR="88900" marT="25400" marB="25400" anchor="ctr">
                    <a:lnB w="17780" cap="flat" cmpd="sng" algn="ctr">
                      <a:solidFill>
                        <a:srgbClr val="16213E"/>
                      </a:solidFill>
                    </a:lnB>
                    <a:no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A3 · ROLLING-ORIGIN TEST</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Full rolling-origin results, 14 models</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3</a:t>
            </a:r>
          </a:p>
        </p:txBody>
      </p:sp>
      <p:graphicFrame>
        <p:nvGraphicFramePr>
          <p:cNvPr id="7" name="Table 6"/>
          <p:cNvGraphicFramePr>
            <a:graphicFrameLocks noGrp="1"/>
          </p:cNvGraphicFramePr>
          <p:nvPr/>
        </p:nvGraphicFramePr>
        <p:xfrm>
          <a:off x="457200" y="1316736"/>
          <a:ext cx="8229600" cy="3360420"/>
        </p:xfrm>
        <a:graphic>
          <a:graphicData uri="http://schemas.openxmlformats.org/drawingml/2006/table">
            <a:tbl>
              <a:tblPr firstRow="0" bandRow="0">
                <a:tableStyleId>{2D5ABB26-0587-4C30-8999-92F81FD0307C}</a:tableStyleId>
              </a:tblPr>
              <a:tblGrid>
                <a:gridCol w="2377440"/>
                <a:gridCol w="685800"/>
                <a:gridCol w="685800"/>
                <a:gridCol w="685800"/>
                <a:gridCol w="731520"/>
                <a:gridCol w="868680"/>
                <a:gridCol w="1143000"/>
                <a:gridCol w="1051560"/>
              </a:tblGrid>
              <a:tr h="224028">
                <a:tc>
                  <a:txBody>
                    <a:bodyPr/>
                    <a:lstStyle/>
                    <a:p>
                      <a:pPr algn="l"/>
                      <a:r>
                        <a:rPr sz="900" b="1" i="0">
                          <a:solidFill>
                            <a:srgbClr val="16213E"/>
                          </a:solidFill>
                          <a:latin typeface="Arial"/>
                        </a:rPr>
                        <a:t>Model</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1 mo</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3 mo</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6 mo</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12 mo</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Avg 1-12</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RMSE $</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900" b="1" i="0">
                          <a:solidFill>
                            <a:srgbClr val="16213E"/>
                          </a:solidFill>
                          <a:latin typeface="Arial"/>
                        </a:rPr>
                        <a:t>RMSE rank</a:t>
                      </a:r>
                    </a:p>
                  </a:txBody>
                  <a:tcPr marL="88900" marR="88900" marT="25400" marB="25400" anchor="ctr">
                    <a:lnT w="17780" cap="flat" cmpd="sng" algn="ctr">
                      <a:solidFill>
                        <a:srgbClr val="16213E"/>
                      </a:solidFill>
                    </a:lnT>
                    <a:lnB w="10160" cap="flat" cmpd="sng" algn="ctr">
                      <a:solidFill>
                        <a:srgbClr val="6B6F76"/>
                      </a:solidFill>
                    </a:lnB>
                    <a:noFill/>
                  </a:tcPr>
                </a:tc>
              </a:tr>
              <a:tr h="224028">
                <a:tc>
                  <a:txBody>
                    <a:bodyPr/>
                    <a:lstStyle/>
                    <a:p>
                      <a:pPr algn="l"/>
                      <a:r>
                        <a:rPr sz="900" b="1" i="0">
                          <a:solidFill>
                            <a:srgbClr val="B4400B"/>
                          </a:solidFill>
                          <a:latin typeface="Arial"/>
                        </a:rPr>
                        <a:t>ARIMAX</a:t>
                      </a:r>
                    </a:p>
                  </a:txBody>
                  <a:tcPr marL="88900" marR="88900" marT="25400" marB="25400" anchor="ctr">
                    <a:solidFill>
                      <a:srgbClr val="EFEAE2"/>
                    </a:solidFill>
                  </a:tcPr>
                </a:tc>
                <a:tc>
                  <a:txBody>
                    <a:bodyPr/>
                    <a:lstStyle/>
                    <a:p>
                      <a:pPr algn="r"/>
                      <a:r>
                        <a:rPr sz="900" b="1" i="0">
                          <a:solidFill>
                            <a:srgbClr val="B4400B"/>
                          </a:solidFill>
                          <a:latin typeface="Arial"/>
                        </a:rPr>
                        <a:t>0.09</a:t>
                      </a:r>
                    </a:p>
                  </a:txBody>
                  <a:tcPr marL="88900" marR="88900" marT="25400" marB="25400" anchor="ctr">
                    <a:solidFill>
                      <a:srgbClr val="EFEAE2"/>
                    </a:solidFill>
                  </a:tcPr>
                </a:tc>
                <a:tc>
                  <a:txBody>
                    <a:bodyPr/>
                    <a:lstStyle/>
                    <a:p>
                      <a:pPr algn="r"/>
                      <a:r>
                        <a:rPr sz="900" b="1" i="0">
                          <a:solidFill>
                            <a:srgbClr val="B4400B"/>
                          </a:solidFill>
                          <a:latin typeface="Arial"/>
                        </a:rPr>
                        <a:t>0.81</a:t>
                      </a:r>
                    </a:p>
                  </a:txBody>
                  <a:tcPr marL="88900" marR="88900" marT="25400" marB="25400" anchor="ctr">
                    <a:solidFill>
                      <a:srgbClr val="EFEAE2"/>
                    </a:solidFill>
                  </a:tcPr>
                </a:tc>
                <a:tc>
                  <a:txBody>
                    <a:bodyPr/>
                    <a:lstStyle/>
                    <a:p>
                      <a:pPr algn="r"/>
                      <a:r>
                        <a:rPr sz="900" b="1" i="0">
                          <a:solidFill>
                            <a:srgbClr val="B4400B"/>
                          </a:solidFill>
                          <a:latin typeface="Arial"/>
                        </a:rPr>
                        <a:t>2.45</a:t>
                      </a:r>
                    </a:p>
                  </a:txBody>
                  <a:tcPr marL="88900" marR="88900" marT="25400" marB="25400" anchor="ctr">
                    <a:solidFill>
                      <a:srgbClr val="EFEAE2"/>
                    </a:solidFill>
                  </a:tcPr>
                </a:tc>
                <a:tc>
                  <a:txBody>
                    <a:bodyPr/>
                    <a:lstStyle/>
                    <a:p>
                      <a:pPr algn="r"/>
                      <a:r>
                        <a:rPr sz="900" b="1" i="0">
                          <a:solidFill>
                            <a:srgbClr val="B4400B"/>
                          </a:solidFill>
                          <a:latin typeface="Arial"/>
                        </a:rPr>
                        <a:t>4.98</a:t>
                      </a:r>
                    </a:p>
                  </a:txBody>
                  <a:tcPr marL="88900" marR="88900" marT="25400" marB="25400" anchor="ctr">
                    <a:solidFill>
                      <a:srgbClr val="EFEAE2"/>
                    </a:solidFill>
                  </a:tcPr>
                </a:tc>
                <a:tc>
                  <a:txBody>
                    <a:bodyPr/>
                    <a:lstStyle/>
                    <a:p>
                      <a:pPr algn="r"/>
                      <a:r>
                        <a:rPr sz="900" b="1" i="0">
                          <a:solidFill>
                            <a:srgbClr val="B4400B"/>
                          </a:solidFill>
                          <a:latin typeface="Arial"/>
                        </a:rPr>
                        <a:t>2.67</a:t>
                      </a:r>
                    </a:p>
                  </a:txBody>
                  <a:tcPr marL="88900" marR="88900" marT="25400" marB="25400" anchor="ctr">
                    <a:solidFill>
                      <a:srgbClr val="EFEAE2"/>
                    </a:solidFill>
                  </a:tcPr>
                </a:tc>
                <a:tc>
                  <a:txBody>
                    <a:bodyPr/>
                    <a:lstStyle/>
                    <a:p>
                      <a:pPr algn="r"/>
                      <a:r>
                        <a:rPr sz="900" b="1" i="0">
                          <a:solidFill>
                            <a:srgbClr val="B4400B"/>
                          </a:solidFill>
                          <a:latin typeface="Arial"/>
                        </a:rPr>
                        <a:t>35.8K</a:t>
                      </a:r>
                    </a:p>
                  </a:txBody>
                  <a:tcPr marL="88900" marR="88900" marT="25400" marB="25400" anchor="ctr">
                    <a:solidFill>
                      <a:srgbClr val="EFEAE2"/>
                    </a:solidFill>
                  </a:tcPr>
                </a:tc>
                <a:tc>
                  <a:txBody>
                    <a:bodyPr/>
                    <a:lstStyle/>
                    <a:p>
                      <a:pPr algn="r"/>
                      <a:r>
                        <a:rPr sz="900" b="1" i="0">
                          <a:solidFill>
                            <a:srgbClr val="B4400B"/>
                          </a:solidFill>
                          <a:latin typeface="Arial"/>
                        </a:rPr>
                        <a:t>1</a:t>
                      </a:r>
                    </a:p>
                  </a:txBody>
                  <a:tcPr marL="88900" marR="88900" marT="25400" marB="25400" anchor="ctr">
                    <a:solidFill>
                      <a:srgbClr val="EFEAE2"/>
                    </a:solidFill>
                  </a:tcPr>
                </a:tc>
              </a:tr>
              <a:tr h="224028">
                <a:tc>
                  <a:txBody>
                    <a:bodyPr/>
                    <a:lstStyle/>
                    <a:p>
                      <a:pPr algn="l"/>
                      <a:r>
                        <a:rPr sz="900" b="0" i="0">
                          <a:solidFill>
                            <a:srgbClr val="3D4A5C"/>
                          </a:solidFill>
                          <a:latin typeface="Arial"/>
                        </a:rPr>
                        <a:t>ARIMA</a:t>
                      </a:r>
                    </a:p>
                  </a:txBody>
                  <a:tcPr marL="88900" marR="88900" marT="25400" marB="25400" anchor="ctr">
                    <a:noFill/>
                  </a:tcPr>
                </a:tc>
                <a:tc>
                  <a:txBody>
                    <a:bodyPr/>
                    <a:lstStyle/>
                    <a:p>
                      <a:pPr algn="r"/>
                      <a:r>
                        <a:rPr sz="900" b="0" i="0">
                          <a:solidFill>
                            <a:srgbClr val="3D4A5C"/>
                          </a:solidFill>
                          <a:latin typeface="Arial"/>
                        </a:rPr>
                        <a:t>0.09</a:t>
                      </a:r>
                    </a:p>
                  </a:txBody>
                  <a:tcPr marL="88900" marR="88900" marT="25400" marB="25400" anchor="ctr">
                    <a:noFill/>
                  </a:tcPr>
                </a:tc>
                <a:tc>
                  <a:txBody>
                    <a:bodyPr/>
                    <a:lstStyle/>
                    <a:p>
                      <a:pPr algn="r"/>
                      <a:r>
                        <a:rPr sz="900" b="0" i="0">
                          <a:solidFill>
                            <a:srgbClr val="3D4A5C"/>
                          </a:solidFill>
                          <a:latin typeface="Arial"/>
                        </a:rPr>
                        <a:t>0.78</a:t>
                      </a:r>
                    </a:p>
                  </a:txBody>
                  <a:tcPr marL="88900" marR="88900" marT="25400" marB="25400" anchor="ctr">
                    <a:noFill/>
                  </a:tcPr>
                </a:tc>
                <a:tc>
                  <a:txBody>
                    <a:bodyPr/>
                    <a:lstStyle/>
                    <a:p>
                      <a:pPr algn="r"/>
                      <a:r>
                        <a:rPr sz="900" b="0" i="0">
                          <a:solidFill>
                            <a:srgbClr val="3D4A5C"/>
                          </a:solidFill>
                          <a:latin typeface="Arial"/>
                        </a:rPr>
                        <a:t>2.53</a:t>
                      </a:r>
                    </a:p>
                  </a:txBody>
                  <a:tcPr marL="88900" marR="88900" marT="25400" marB="25400" anchor="ctr">
                    <a:noFill/>
                  </a:tcPr>
                </a:tc>
                <a:tc>
                  <a:txBody>
                    <a:bodyPr/>
                    <a:lstStyle/>
                    <a:p>
                      <a:pPr algn="r"/>
                      <a:r>
                        <a:rPr sz="900" b="0" i="0">
                          <a:solidFill>
                            <a:srgbClr val="3D4A5C"/>
                          </a:solidFill>
                          <a:latin typeface="Arial"/>
                        </a:rPr>
                        <a:t>5.37</a:t>
                      </a:r>
                    </a:p>
                  </a:txBody>
                  <a:tcPr marL="88900" marR="88900" marT="25400" marB="25400" anchor="ctr">
                    <a:noFill/>
                  </a:tcPr>
                </a:tc>
                <a:tc>
                  <a:txBody>
                    <a:bodyPr/>
                    <a:lstStyle/>
                    <a:p>
                      <a:pPr algn="r"/>
                      <a:r>
                        <a:rPr sz="900" b="0" i="0">
                          <a:solidFill>
                            <a:srgbClr val="3D4A5C"/>
                          </a:solidFill>
                          <a:latin typeface="Arial"/>
                        </a:rPr>
                        <a:t>2.77</a:t>
                      </a:r>
                    </a:p>
                  </a:txBody>
                  <a:tcPr marL="88900" marR="88900" marT="25400" marB="25400" anchor="ctr">
                    <a:noFill/>
                  </a:tcPr>
                </a:tc>
                <a:tc>
                  <a:txBody>
                    <a:bodyPr/>
                    <a:lstStyle/>
                    <a:p>
                      <a:pPr algn="r"/>
                      <a:r>
                        <a:rPr sz="900" b="0" i="0">
                          <a:solidFill>
                            <a:srgbClr val="3D4A5C"/>
                          </a:solidFill>
                          <a:latin typeface="Arial"/>
                        </a:rPr>
                        <a:t>38.1K</a:t>
                      </a:r>
                    </a:p>
                  </a:txBody>
                  <a:tcPr marL="88900" marR="88900" marT="25400" marB="25400" anchor="ctr">
                    <a:noFill/>
                  </a:tcPr>
                </a:tc>
                <a:tc>
                  <a:txBody>
                    <a:bodyPr/>
                    <a:lstStyle/>
                    <a:p>
                      <a:pPr algn="r"/>
                      <a:r>
                        <a:rPr sz="900" b="0" i="0">
                          <a:solidFill>
                            <a:srgbClr val="3D4A5C"/>
                          </a:solidFill>
                          <a:latin typeface="Arial"/>
                        </a:rPr>
                        <a:t>4</a:t>
                      </a:r>
                    </a:p>
                  </a:txBody>
                  <a:tcPr marL="88900" marR="88900" marT="25400" marB="25400" anchor="ctr">
                    <a:noFill/>
                  </a:tcPr>
                </a:tc>
              </a:tr>
              <a:tr h="224028">
                <a:tc>
                  <a:txBody>
                    <a:bodyPr/>
                    <a:lstStyle/>
                    <a:p>
                      <a:pPr algn="l"/>
                      <a:r>
                        <a:rPr sz="900" b="0" i="0">
                          <a:solidFill>
                            <a:srgbClr val="3D4A5C"/>
                          </a:solidFill>
                          <a:latin typeface="Arial"/>
                        </a:rPr>
                        <a:t>ARIMAX + jobs</a:t>
                      </a:r>
                    </a:p>
                  </a:txBody>
                  <a:tcPr marL="88900" marR="88900" marT="25400" marB="25400" anchor="ctr">
                    <a:noFill/>
                  </a:tcPr>
                </a:tc>
                <a:tc>
                  <a:txBody>
                    <a:bodyPr/>
                    <a:lstStyle/>
                    <a:p>
                      <a:pPr algn="r"/>
                      <a:r>
                        <a:rPr sz="900" b="0" i="0">
                          <a:solidFill>
                            <a:srgbClr val="3D4A5C"/>
                          </a:solidFill>
                          <a:latin typeface="Arial"/>
                        </a:rPr>
                        <a:t>0.12</a:t>
                      </a:r>
                    </a:p>
                  </a:txBody>
                  <a:tcPr marL="88900" marR="88900" marT="25400" marB="25400" anchor="ctr">
                    <a:noFill/>
                  </a:tcPr>
                </a:tc>
                <a:tc>
                  <a:txBody>
                    <a:bodyPr/>
                    <a:lstStyle/>
                    <a:p>
                      <a:pPr algn="r"/>
                      <a:r>
                        <a:rPr sz="900" b="0" i="0">
                          <a:solidFill>
                            <a:srgbClr val="3D4A5C"/>
                          </a:solidFill>
                          <a:latin typeface="Arial"/>
                        </a:rPr>
                        <a:t>0.94</a:t>
                      </a:r>
                    </a:p>
                  </a:txBody>
                  <a:tcPr marL="88900" marR="88900" marT="25400" marB="25400" anchor="ctr">
                    <a:noFill/>
                  </a:tcPr>
                </a:tc>
                <a:tc>
                  <a:txBody>
                    <a:bodyPr/>
                    <a:lstStyle/>
                    <a:p>
                      <a:pPr algn="r"/>
                      <a:r>
                        <a:rPr sz="900" b="0" i="0">
                          <a:solidFill>
                            <a:srgbClr val="3D4A5C"/>
                          </a:solidFill>
                          <a:latin typeface="Arial"/>
                        </a:rPr>
                        <a:t>2.63</a:t>
                      </a:r>
                    </a:p>
                  </a:txBody>
                  <a:tcPr marL="88900" marR="88900" marT="25400" marB="25400" anchor="ctr">
                    <a:noFill/>
                  </a:tcPr>
                </a:tc>
                <a:tc>
                  <a:txBody>
                    <a:bodyPr/>
                    <a:lstStyle/>
                    <a:p>
                      <a:pPr algn="r"/>
                      <a:r>
                        <a:rPr sz="900" b="0" i="0">
                          <a:solidFill>
                            <a:srgbClr val="3D4A5C"/>
                          </a:solidFill>
                          <a:latin typeface="Arial"/>
                        </a:rPr>
                        <a:t>5.12</a:t>
                      </a:r>
                    </a:p>
                  </a:txBody>
                  <a:tcPr marL="88900" marR="88900" marT="25400" marB="25400" anchor="ctr">
                    <a:noFill/>
                  </a:tcPr>
                </a:tc>
                <a:tc>
                  <a:txBody>
                    <a:bodyPr/>
                    <a:lstStyle/>
                    <a:p>
                      <a:pPr algn="r"/>
                      <a:r>
                        <a:rPr sz="900" b="0" i="0">
                          <a:solidFill>
                            <a:srgbClr val="3D4A5C"/>
                          </a:solidFill>
                          <a:latin typeface="Arial"/>
                        </a:rPr>
                        <a:t>2.81</a:t>
                      </a:r>
                    </a:p>
                  </a:txBody>
                  <a:tcPr marL="88900" marR="88900" marT="25400" marB="25400" anchor="ctr">
                    <a:noFill/>
                  </a:tcPr>
                </a:tc>
                <a:tc>
                  <a:txBody>
                    <a:bodyPr/>
                    <a:lstStyle/>
                    <a:p>
                      <a:pPr algn="r"/>
                      <a:r>
                        <a:rPr sz="900" b="0" i="0">
                          <a:solidFill>
                            <a:srgbClr val="3D4A5C"/>
                          </a:solidFill>
                          <a:latin typeface="Arial"/>
                        </a:rPr>
                        <a:t>36.2K</a:t>
                      </a:r>
                    </a:p>
                  </a:txBody>
                  <a:tcPr marL="88900" marR="88900" marT="25400" marB="25400" anchor="ctr">
                    <a:noFill/>
                  </a:tcPr>
                </a:tc>
                <a:tc>
                  <a:txBody>
                    <a:bodyPr/>
                    <a:lstStyle/>
                    <a:p>
                      <a:pPr algn="r"/>
                      <a:r>
                        <a:rPr sz="900" b="0" i="0">
                          <a:solidFill>
                            <a:srgbClr val="3D4A5C"/>
                          </a:solidFill>
                          <a:latin typeface="Arial"/>
                        </a:rPr>
                        <a:t>2</a:t>
                      </a:r>
                    </a:p>
                  </a:txBody>
                  <a:tcPr marL="88900" marR="88900" marT="25400" marB="25400" anchor="ctr">
                    <a:noFill/>
                  </a:tcPr>
                </a:tc>
              </a:tr>
              <a:tr h="224028">
                <a:tc>
                  <a:txBody>
                    <a:bodyPr/>
                    <a:lstStyle/>
                    <a:p>
                      <a:pPr algn="l"/>
                      <a:r>
                        <a:rPr sz="900" b="0" i="0">
                          <a:solidFill>
                            <a:srgbClr val="3D4A5C"/>
                          </a:solidFill>
                          <a:latin typeface="Arial"/>
                        </a:rPr>
                        <a:t>VAR (growth + rate)</a:t>
                      </a:r>
                    </a:p>
                  </a:txBody>
                  <a:tcPr marL="88900" marR="88900" marT="25400" marB="25400" anchor="ctr">
                    <a:noFill/>
                  </a:tcPr>
                </a:tc>
                <a:tc>
                  <a:txBody>
                    <a:bodyPr/>
                    <a:lstStyle/>
                    <a:p>
                      <a:pPr algn="r"/>
                      <a:r>
                        <a:rPr sz="900" b="0" i="0">
                          <a:solidFill>
                            <a:srgbClr val="3D4A5C"/>
                          </a:solidFill>
                          <a:latin typeface="Arial"/>
                        </a:rPr>
                        <a:t>0.14</a:t>
                      </a:r>
                    </a:p>
                  </a:txBody>
                  <a:tcPr marL="88900" marR="88900" marT="25400" marB="25400" anchor="ctr">
                    <a:noFill/>
                  </a:tcPr>
                </a:tc>
                <a:tc>
                  <a:txBody>
                    <a:bodyPr/>
                    <a:lstStyle/>
                    <a:p>
                      <a:pPr algn="r"/>
                      <a:r>
                        <a:rPr sz="900" b="0" i="0">
                          <a:solidFill>
                            <a:srgbClr val="3D4A5C"/>
                          </a:solidFill>
                          <a:latin typeface="Arial"/>
                        </a:rPr>
                        <a:t>0.94</a:t>
                      </a:r>
                    </a:p>
                  </a:txBody>
                  <a:tcPr marL="88900" marR="88900" marT="25400" marB="25400" anchor="ctr">
                    <a:noFill/>
                  </a:tcPr>
                </a:tc>
                <a:tc>
                  <a:txBody>
                    <a:bodyPr/>
                    <a:lstStyle/>
                    <a:p>
                      <a:pPr algn="r"/>
                      <a:r>
                        <a:rPr sz="900" b="0" i="0">
                          <a:solidFill>
                            <a:srgbClr val="3D4A5C"/>
                          </a:solidFill>
                          <a:latin typeface="Arial"/>
                        </a:rPr>
                        <a:t>2.56</a:t>
                      </a:r>
                    </a:p>
                  </a:txBody>
                  <a:tcPr marL="88900" marR="88900" marT="25400" marB="25400" anchor="ctr">
                    <a:noFill/>
                  </a:tcPr>
                </a:tc>
                <a:tc>
                  <a:txBody>
                    <a:bodyPr/>
                    <a:lstStyle/>
                    <a:p>
                      <a:pPr algn="r"/>
                      <a:r>
                        <a:rPr sz="900" b="0" i="0">
                          <a:solidFill>
                            <a:srgbClr val="3D4A5C"/>
                          </a:solidFill>
                          <a:latin typeface="Arial"/>
                        </a:rPr>
                        <a:t>5.74</a:t>
                      </a:r>
                    </a:p>
                  </a:txBody>
                  <a:tcPr marL="88900" marR="88900" marT="25400" marB="25400" anchor="ctr">
                    <a:noFill/>
                  </a:tcPr>
                </a:tc>
                <a:tc>
                  <a:txBody>
                    <a:bodyPr/>
                    <a:lstStyle/>
                    <a:p>
                      <a:pPr algn="r"/>
                      <a:r>
                        <a:rPr sz="900" b="0" i="0">
                          <a:solidFill>
                            <a:srgbClr val="3D4A5C"/>
                          </a:solidFill>
                          <a:latin typeface="Arial"/>
                        </a:rPr>
                        <a:t>2.93</a:t>
                      </a:r>
                    </a:p>
                  </a:txBody>
                  <a:tcPr marL="88900" marR="88900" marT="25400" marB="25400" anchor="ctr">
                    <a:noFill/>
                  </a:tcPr>
                </a:tc>
                <a:tc>
                  <a:txBody>
                    <a:bodyPr/>
                    <a:lstStyle/>
                    <a:p>
                      <a:pPr algn="r"/>
                      <a:r>
                        <a:rPr sz="900" b="0" i="0">
                          <a:solidFill>
                            <a:srgbClr val="3D4A5C"/>
                          </a:solidFill>
                          <a:latin typeface="Arial"/>
                        </a:rPr>
                        <a:t>47.6K</a:t>
                      </a:r>
                    </a:p>
                  </a:txBody>
                  <a:tcPr marL="88900" marR="88900" marT="25400" marB="25400" anchor="ctr">
                    <a:noFill/>
                  </a:tcPr>
                </a:tc>
                <a:tc>
                  <a:txBody>
                    <a:bodyPr/>
                    <a:lstStyle/>
                    <a:p>
                      <a:pPr algn="r"/>
                      <a:r>
                        <a:rPr sz="900" b="0" i="0">
                          <a:solidFill>
                            <a:srgbClr val="3D4A5C"/>
                          </a:solidFill>
                          <a:latin typeface="Arial"/>
                        </a:rPr>
                        <a:t>10</a:t>
                      </a:r>
                    </a:p>
                  </a:txBody>
                  <a:tcPr marL="88900" marR="88900" marT="25400" marB="25400" anchor="ctr">
                    <a:noFill/>
                  </a:tcPr>
                </a:tc>
              </a:tr>
              <a:tr h="224028">
                <a:tc>
                  <a:txBody>
                    <a:bodyPr/>
                    <a:lstStyle/>
                    <a:p>
                      <a:pPr algn="l"/>
                      <a:r>
                        <a:rPr sz="900" b="0" i="0">
                          <a:solidFill>
                            <a:srgbClr val="3D4A5C"/>
                          </a:solidFill>
                          <a:latin typeface="Arial"/>
                        </a:rPr>
                        <a:t>LSTM</a:t>
                      </a:r>
                    </a:p>
                  </a:txBody>
                  <a:tcPr marL="88900" marR="88900" marT="25400" marB="25400" anchor="ctr">
                    <a:noFill/>
                  </a:tcPr>
                </a:tc>
                <a:tc>
                  <a:txBody>
                    <a:bodyPr/>
                    <a:lstStyle/>
                    <a:p>
                      <a:pPr algn="r"/>
                      <a:r>
                        <a:rPr sz="900" b="0" i="0">
                          <a:solidFill>
                            <a:srgbClr val="3D4A5C"/>
                          </a:solidFill>
                          <a:latin typeface="Arial"/>
                        </a:rPr>
                        <a:t>0.12</a:t>
                      </a:r>
                    </a:p>
                  </a:txBody>
                  <a:tcPr marL="88900" marR="88900" marT="25400" marB="25400" anchor="ctr">
                    <a:noFill/>
                  </a:tcPr>
                </a:tc>
                <a:tc>
                  <a:txBody>
                    <a:bodyPr/>
                    <a:lstStyle/>
                    <a:p>
                      <a:pPr algn="r"/>
                      <a:r>
                        <a:rPr sz="900" b="0" i="0">
                          <a:solidFill>
                            <a:srgbClr val="3D4A5C"/>
                          </a:solidFill>
                          <a:latin typeface="Arial"/>
                        </a:rPr>
                        <a:t>0.89</a:t>
                      </a:r>
                    </a:p>
                  </a:txBody>
                  <a:tcPr marL="88900" marR="88900" marT="25400" marB="25400" anchor="ctr">
                    <a:noFill/>
                  </a:tcPr>
                </a:tc>
                <a:tc>
                  <a:txBody>
                    <a:bodyPr/>
                    <a:lstStyle/>
                    <a:p>
                      <a:pPr algn="r"/>
                      <a:r>
                        <a:rPr sz="900" b="0" i="0">
                          <a:solidFill>
                            <a:srgbClr val="3D4A5C"/>
                          </a:solidFill>
                          <a:latin typeface="Arial"/>
                        </a:rPr>
                        <a:t>2.95</a:t>
                      </a:r>
                    </a:p>
                  </a:txBody>
                  <a:tcPr marL="88900" marR="88900" marT="25400" marB="25400" anchor="ctr">
                    <a:noFill/>
                  </a:tcPr>
                </a:tc>
                <a:tc>
                  <a:txBody>
                    <a:bodyPr/>
                    <a:lstStyle/>
                    <a:p>
                      <a:pPr algn="r"/>
                      <a:r>
                        <a:rPr sz="900" b="0" i="0">
                          <a:solidFill>
                            <a:srgbClr val="3D4A5C"/>
                          </a:solidFill>
                          <a:latin typeface="Arial"/>
                        </a:rPr>
                        <a:t>5.58</a:t>
                      </a:r>
                    </a:p>
                  </a:txBody>
                  <a:tcPr marL="88900" marR="88900" marT="25400" marB="25400" anchor="ctr">
                    <a:noFill/>
                  </a:tcPr>
                </a:tc>
                <a:tc>
                  <a:txBody>
                    <a:bodyPr/>
                    <a:lstStyle/>
                    <a:p>
                      <a:pPr algn="r"/>
                      <a:r>
                        <a:rPr sz="900" b="0" i="0">
                          <a:solidFill>
                            <a:srgbClr val="3D4A5C"/>
                          </a:solidFill>
                          <a:latin typeface="Arial"/>
                        </a:rPr>
                        <a:t>3.02</a:t>
                      </a:r>
                    </a:p>
                  </a:txBody>
                  <a:tcPr marL="88900" marR="88900" marT="25400" marB="25400" anchor="ctr">
                    <a:noFill/>
                  </a:tcPr>
                </a:tc>
                <a:tc>
                  <a:txBody>
                    <a:bodyPr/>
                    <a:lstStyle/>
                    <a:p>
                      <a:pPr algn="r"/>
                      <a:r>
                        <a:rPr sz="900" b="0" i="0">
                          <a:solidFill>
                            <a:srgbClr val="3D4A5C"/>
                          </a:solidFill>
                          <a:latin typeface="Arial"/>
                        </a:rPr>
                        <a:t>43.3K</a:t>
                      </a:r>
                    </a:p>
                  </a:txBody>
                  <a:tcPr marL="88900" marR="88900" marT="25400" marB="25400" anchor="ctr">
                    <a:noFill/>
                  </a:tcPr>
                </a:tc>
                <a:tc>
                  <a:txBody>
                    <a:bodyPr/>
                    <a:lstStyle/>
                    <a:p>
                      <a:pPr algn="r"/>
                      <a:r>
                        <a:rPr sz="900" b="0" i="0">
                          <a:solidFill>
                            <a:srgbClr val="3D4A5C"/>
                          </a:solidFill>
                          <a:latin typeface="Arial"/>
                        </a:rPr>
                        <a:t>6</a:t>
                      </a:r>
                    </a:p>
                  </a:txBody>
                  <a:tcPr marL="88900" marR="88900" marT="25400" marB="25400" anchor="ctr">
                    <a:noFill/>
                  </a:tcPr>
                </a:tc>
              </a:tr>
              <a:tr h="224028">
                <a:tc>
                  <a:txBody>
                    <a:bodyPr/>
                    <a:lstStyle/>
                    <a:p>
                      <a:pPr algn="l"/>
                      <a:r>
                        <a:rPr sz="900" b="0" i="0">
                          <a:solidFill>
                            <a:srgbClr val="3D4A5C"/>
                          </a:solidFill>
                          <a:latin typeface="Arial"/>
                        </a:rPr>
                        <a:t>GRU</a:t>
                      </a:r>
                    </a:p>
                  </a:txBody>
                  <a:tcPr marL="88900" marR="88900" marT="25400" marB="25400" anchor="ctr">
                    <a:noFill/>
                  </a:tcPr>
                </a:tc>
                <a:tc>
                  <a:txBody>
                    <a:bodyPr/>
                    <a:lstStyle/>
                    <a:p>
                      <a:pPr algn="r"/>
                      <a:r>
                        <a:rPr sz="900" b="0" i="0">
                          <a:solidFill>
                            <a:srgbClr val="3D4A5C"/>
                          </a:solidFill>
                          <a:latin typeface="Arial"/>
                        </a:rPr>
                        <a:t>0.11</a:t>
                      </a:r>
                    </a:p>
                  </a:txBody>
                  <a:tcPr marL="88900" marR="88900" marT="25400" marB="25400" anchor="ctr">
                    <a:noFill/>
                  </a:tcPr>
                </a:tc>
                <a:tc>
                  <a:txBody>
                    <a:bodyPr/>
                    <a:lstStyle/>
                    <a:p>
                      <a:pPr algn="r"/>
                      <a:r>
                        <a:rPr sz="900" b="0" i="0">
                          <a:solidFill>
                            <a:srgbClr val="3D4A5C"/>
                          </a:solidFill>
                          <a:latin typeface="Arial"/>
                        </a:rPr>
                        <a:t>0.93</a:t>
                      </a:r>
                    </a:p>
                  </a:txBody>
                  <a:tcPr marL="88900" marR="88900" marT="25400" marB="25400" anchor="ctr">
                    <a:noFill/>
                  </a:tcPr>
                </a:tc>
                <a:tc>
                  <a:txBody>
                    <a:bodyPr/>
                    <a:lstStyle/>
                    <a:p>
                      <a:pPr algn="r"/>
                      <a:r>
                        <a:rPr sz="900" b="0" i="0">
                          <a:solidFill>
                            <a:srgbClr val="3D4A5C"/>
                          </a:solidFill>
                          <a:latin typeface="Arial"/>
                        </a:rPr>
                        <a:t>2.99</a:t>
                      </a:r>
                    </a:p>
                  </a:txBody>
                  <a:tcPr marL="88900" marR="88900" marT="25400" marB="25400" anchor="ctr">
                    <a:noFill/>
                  </a:tcPr>
                </a:tc>
                <a:tc>
                  <a:txBody>
                    <a:bodyPr/>
                    <a:lstStyle/>
                    <a:p>
                      <a:pPr algn="r"/>
                      <a:r>
                        <a:rPr sz="900" b="0" i="0">
                          <a:solidFill>
                            <a:srgbClr val="3D4A5C"/>
                          </a:solidFill>
                          <a:latin typeface="Arial"/>
                        </a:rPr>
                        <a:t>5.86</a:t>
                      </a:r>
                    </a:p>
                  </a:txBody>
                  <a:tcPr marL="88900" marR="88900" marT="25400" marB="25400" anchor="ctr">
                    <a:noFill/>
                  </a:tcPr>
                </a:tc>
                <a:tc>
                  <a:txBody>
                    <a:bodyPr/>
                    <a:lstStyle/>
                    <a:p>
                      <a:pPr algn="r"/>
                      <a:r>
                        <a:rPr sz="900" b="0" i="0">
                          <a:solidFill>
                            <a:srgbClr val="3D4A5C"/>
                          </a:solidFill>
                          <a:latin typeface="Arial"/>
                        </a:rPr>
                        <a:t>3.18</a:t>
                      </a:r>
                    </a:p>
                  </a:txBody>
                  <a:tcPr marL="88900" marR="88900" marT="25400" marB="25400" anchor="ctr">
                    <a:noFill/>
                  </a:tcPr>
                </a:tc>
                <a:tc>
                  <a:txBody>
                    <a:bodyPr/>
                    <a:lstStyle/>
                    <a:p>
                      <a:pPr algn="r"/>
                      <a:r>
                        <a:rPr sz="900" b="0" i="0">
                          <a:solidFill>
                            <a:srgbClr val="3D4A5C"/>
                          </a:solidFill>
                          <a:latin typeface="Arial"/>
                        </a:rPr>
                        <a:t>41.5K</a:t>
                      </a:r>
                    </a:p>
                  </a:txBody>
                  <a:tcPr marL="88900" marR="88900" marT="25400" marB="25400" anchor="ctr">
                    <a:noFill/>
                  </a:tcPr>
                </a:tc>
                <a:tc>
                  <a:txBody>
                    <a:bodyPr/>
                    <a:lstStyle/>
                    <a:p>
                      <a:pPr algn="r"/>
                      <a:r>
                        <a:rPr sz="900" b="0" i="0">
                          <a:solidFill>
                            <a:srgbClr val="3D4A5C"/>
                          </a:solidFill>
                          <a:latin typeface="Arial"/>
                        </a:rPr>
                        <a:t>5</a:t>
                      </a:r>
                    </a:p>
                  </a:txBody>
                  <a:tcPr marL="88900" marR="88900" marT="25400" marB="25400" anchor="ctr">
                    <a:noFill/>
                  </a:tcPr>
                </a:tc>
              </a:tr>
              <a:tr h="224028">
                <a:tc>
                  <a:txBody>
                    <a:bodyPr/>
                    <a:lstStyle/>
                    <a:p>
                      <a:pPr algn="l"/>
                      <a:r>
                        <a:rPr sz="900" b="0" i="0">
                          <a:solidFill>
                            <a:srgbClr val="3D4A5C"/>
                          </a:solidFill>
                          <a:latin typeface="Arial"/>
                        </a:rPr>
                        <a:t>Naive drift</a:t>
                      </a:r>
                    </a:p>
                  </a:txBody>
                  <a:tcPr marL="88900" marR="88900" marT="25400" marB="25400" anchor="ctr">
                    <a:noFill/>
                  </a:tcPr>
                </a:tc>
                <a:tc>
                  <a:txBody>
                    <a:bodyPr/>
                    <a:lstStyle/>
                    <a:p>
                      <a:pPr algn="r"/>
                      <a:r>
                        <a:rPr sz="900" b="0" i="0">
                          <a:solidFill>
                            <a:srgbClr val="3D4A5C"/>
                          </a:solidFill>
                          <a:latin typeface="Arial"/>
                        </a:rPr>
                        <a:t>0.69</a:t>
                      </a:r>
                    </a:p>
                  </a:txBody>
                  <a:tcPr marL="88900" marR="88900" marT="25400" marB="25400" anchor="ctr">
                    <a:noFill/>
                  </a:tcPr>
                </a:tc>
                <a:tc>
                  <a:txBody>
                    <a:bodyPr/>
                    <a:lstStyle/>
                    <a:p>
                      <a:pPr algn="r"/>
                      <a:r>
                        <a:rPr sz="900" b="0" i="0">
                          <a:solidFill>
                            <a:srgbClr val="3D4A5C"/>
                          </a:solidFill>
                          <a:latin typeface="Arial"/>
                        </a:rPr>
                        <a:t>1.93</a:t>
                      </a:r>
                    </a:p>
                  </a:txBody>
                  <a:tcPr marL="88900" marR="88900" marT="25400" marB="25400" anchor="ctr">
                    <a:noFill/>
                  </a:tcPr>
                </a:tc>
                <a:tc>
                  <a:txBody>
                    <a:bodyPr/>
                    <a:lstStyle/>
                    <a:p>
                      <a:pPr algn="r"/>
                      <a:r>
                        <a:rPr sz="900" b="0" i="0">
                          <a:solidFill>
                            <a:srgbClr val="3D4A5C"/>
                          </a:solidFill>
                          <a:latin typeface="Arial"/>
                        </a:rPr>
                        <a:t>3.48</a:t>
                      </a:r>
                    </a:p>
                  </a:txBody>
                  <a:tcPr marL="88900" marR="88900" marT="25400" marB="25400" anchor="ctr">
                    <a:noFill/>
                  </a:tcPr>
                </a:tc>
                <a:tc>
                  <a:txBody>
                    <a:bodyPr/>
                    <a:lstStyle/>
                    <a:p>
                      <a:pPr algn="r"/>
                      <a:r>
                        <a:rPr sz="900" b="0" i="0">
                          <a:solidFill>
                            <a:srgbClr val="3D4A5C"/>
                          </a:solidFill>
                          <a:latin typeface="Arial"/>
                        </a:rPr>
                        <a:t>4.92</a:t>
                      </a:r>
                    </a:p>
                  </a:txBody>
                  <a:tcPr marL="88900" marR="88900" marT="25400" marB="25400" anchor="ctr">
                    <a:noFill/>
                  </a:tcPr>
                </a:tc>
                <a:tc>
                  <a:txBody>
                    <a:bodyPr/>
                    <a:lstStyle/>
                    <a:p>
                      <a:pPr algn="r"/>
                      <a:r>
                        <a:rPr sz="900" b="0" i="0">
                          <a:solidFill>
                            <a:srgbClr val="3D4A5C"/>
                          </a:solidFill>
                          <a:latin typeface="Arial"/>
                        </a:rPr>
                        <a:t>3.27</a:t>
                      </a:r>
                    </a:p>
                  </a:txBody>
                  <a:tcPr marL="88900" marR="88900" marT="25400" marB="25400" anchor="ctr">
                    <a:noFill/>
                  </a:tcPr>
                </a:tc>
                <a:tc>
                  <a:txBody>
                    <a:bodyPr/>
                    <a:lstStyle/>
                    <a:p>
                      <a:pPr algn="r"/>
                      <a:r>
                        <a:rPr sz="900" b="0" i="0">
                          <a:solidFill>
                            <a:srgbClr val="3D4A5C"/>
                          </a:solidFill>
                          <a:latin typeface="Arial"/>
                        </a:rPr>
                        <a:t>37.6K</a:t>
                      </a:r>
                    </a:p>
                  </a:txBody>
                  <a:tcPr marL="88900" marR="88900" marT="25400" marB="25400" anchor="ctr">
                    <a:noFill/>
                  </a:tcPr>
                </a:tc>
                <a:tc>
                  <a:txBody>
                    <a:bodyPr/>
                    <a:lstStyle/>
                    <a:p>
                      <a:pPr algn="r"/>
                      <a:r>
                        <a:rPr sz="900" b="0" i="0">
                          <a:solidFill>
                            <a:srgbClr val="3D4A5C"/>
                          </a:solidFill>
                          <a:latin typeface="Arial"/>
                        </a:rPr>
                        <a:t>3</a:t>
                      </a:r>
                    </a:p>
                  </a:txBody>
                  <a:tcPr marL="88900" marR="88900" marT="25400" marB="25400" anchor="ctr">
                    <a:noFill/>
                  </a:tcPr>
                </a:tc>
              </a:tr>
              <a:tr h="224028">
                <a:tc>
                  <a:txBody>
                    <a:bodyPr/>
                    <a:lstStyle/>
                    <a:p>
                      <a:pPr algn="l"/>
                      <a:r>
                        <a:rPr sz="900" b="0" i="0">
                          <a:solidFill>
                            <a:srgbClr val="3D4A5C"/>
                          </a:solidFill>
                          <a:latin typeface="Arial"/>
                        </a:rPr>
                        <a:t>Holt (damped)</a:t>
                      </a:r>
                    </a:p>
                  </a:txBody>
                  <a:tcPr marL="88900" marR="88900" marT="25400" marB="25400" anchor="ctr">
                    <a:noFill/>
                  </a:tcPr>
                </a:tc>
                <a:tc>
                  <a:txBody>
                    <a:bodyPr/>
                    <a:lstStyle/>
                    <a:p>
                      <a:pPr algn="r"/>
                      <a:r>
                        <a:rPr sz="900" b="0" i="0">
                          <a:solidFill>
                            <a:srgbClr val="3D4A5C"/>
                          </a:solidFill>
                          <a:latin typeface="Arial"/>
                        </a:rPr>
                        <a:t>0.28</a:t>
                      </a:r>
                    </a:p>
                  </a:txBody>
                  <a:tcPr marL="88900" marR="88900" marT="25400" marB="25400" anchor="ctr">
                    <a:noFill/>
                  </a:tcPr>
                </a:tc>
                <a:tc>
                  <a:txBody>
                    <a:bodyPr/>
                    <a:lstStyle/>
                    <a:p>
                      <a:pPr algn="r"/>
                      <a:r>
                        <a:rPr sz="900" b="0" i="0">
                          <a:solidFill>
                            <a:srgbClr val="3D4A5C"/>
                          </a:solidFill>
                          <a:latin typeface="Arial"/>
                        </a:rPr>
                        <a:t>1.15</a:t>
                      </a:r>
                    </a:p>
                  </a:txBody>
                  <a:tcPr marL="88900" marR="88900" marT="25400" marB="25400" anchor="ctr">
                    <a:noFill/>
                  </a:tcPr>
                </a:tc>
                <a:tc>
                  <a:txBody>
                    <a:bodyPr/>
                    <a:lstStyle/>
                    <a:p>
                      <a:pPr algn="r"/>
                      <a:r>
                        <a:rPr sz="900" b="0" i="0">
                          <a:solidFill>
                            <a:srgbClr val="3D4A5C"/>
                          </a:solidFill>
                          <a:latin typeface="Arial"/>
                        </a:rPr>
                        <a:t>3.04</a:t>
                      </a:r>
                    </a:p>
                  </a:txBody>
                  <a:tcPr marL="88900" marR="88900" marT="25400" marB="25400" anchor="ctr">
                    <a:noFill/>
                  </a:tcPr>
                </a:tc>
                <a:tc>
                  <a:txBody>
                    <a:bodyPr/>
                    <a:lstStyle/>
                    <a:p>
                      <a:pPr algn="r"/>
                      <a:r>
                        <a:rPr sz="900" b="0" i="0">
                          <a:solidFill>
                            <a:srgbClr val="3D4A5C"/>
                          </a:solidFill>
                          <a:latin typeface="Arial"/>
                        </a:rPr>
                        <a:t>6.34</a:t>
                      </a:r>
                    </a:p>
                  </a:txBody>
                  <a:tcPr marL="88900" marR="88900" marT="25400" marB="25400" anchor="ctr">
                    <a:noFill/>
                  </a:tcPr>
                </a:tc>
                <a:tc>
                  <a:txBody>
                    <a:bodyPr/>
                    <a:lstStyle/>
                    <a:p>
                      <a:pPr algn="r"/>
                      <a:r>
                        <a:rPr sz="900" b="0" i="0">
                          <a:solidFill>
                            <a:srgbClr val="3D4A5C"/>
                          </a:solidFill>
                          <a:latin typeface="Arial"/>
                        </a:rPr>
                        <a:t>3.39</a:t>
                      </a:r>
                    </a:p>
                  </a:txBody>
                  <a:tcPr marL="88900" marR="88900" marT="25400" marB="25400" anchor="ctr">
                    <a:noFill/>
                  </a:tcPr>
                </a:tc>
                <a:tc>
                  <a:txBody>
                    <a:bodyPr/>
                    <a:lstStyle/>
                    <a:p>
                      <a:pPr algn="r"/>
                      <a:r>
                        <a:rPr sz="900" b="0" i="0">
                          <a:solidFill>
                            <a:srgbClr val="3D4A5C"/>
                          </a:solidFill>
                          <a:latin typeface="Arial"/>
                        </a:rPr>
                        <a:t>44.3K</a:t>
                      </a:r>
                    </a:p>
                  </a:txBody>
                  <a:tcPr marL="88900" marR="88900" marT="25400" marB="25400" anchor="ctr">
                    <a:noFill/>
                  </a:tcPr>
                </a:tc>
                <a:tc>
                  <a:txBody>
                    <a:bodyPr/>
                    <a:lstStyle/>
                    <a:p>
                      <a:pPr algn="r"/>
                      <a:r>
                        <a:rPr sz="900" b="0" i="0">
                          <a:solidFill>
                            <a:srgbClr val="3D4A5C"/>
                          </a:solidFill>
                          <a:latin typeface="Arial"/>
                        </a:rPr>
                        <a:t>7</a:t>
                      </a:r>
                    </a:p>
                  </a:txBody>
                  <a:tcPr marL="88900" marR="88900" marT="25400" marB="25400" anchor="ctr">
                    <a:noFill/>
                  </a:tcPr>
                </a:tc>
              </a:tr>
              <a:tr h="224028">
                <a:tc>
                  <a:txBody>
                    <a:bodyPr/>
                    <a:lstStyle/>
                    <a:p>
                      <a:pPr algn="l"/>
                      <a:r>
                        <a:rPr sz="900" b="0" i="0">
                          <a:solidFill>
                            <a:srgbClr val="3D4A5C"/>
                          </a:solidFill>
                          <a:latin typeface="Arial"/>
                        </a:rPr>
                        <a:t>Chronos (foundation model)</a:t>
                      </a:r>
                    </a:p>
                  </a:txBody>
                  <a:tcPr marL="88900" marR="88900" marT="25400" marB="25400" anchor="ctr">
                    <a:noFill/>
                  </a:tcPr>
                </a:tc>
                <a:tc>
                  <a:txBody>
                    <a:bodyPr/>
                    <a:lstStyle/>
                    <a:p>
                      <a:pPr algn="r"/>
                      <a:r>
                        <a:rPr sz="900" b="0" i="0">
                          <a:solidFill>
                            <a:srgbClr val="3D4A5C"/>
                          </a:solidFill>
                          <a:latin typeface="Arial"/>
                        </a:rPr>
                        <a:t>0.69</a:t>
                      </a:r>
                    </a:p>
                  </a:txBody>
                  <a:tcPr marL="88900" marR="88900" marT="25400" marB="25400" anchor="ctr">
                    <a:noFill/>
                  </a:tcPr>
                </a:tc>
                <a:tc>
                  <a:txBody>
                    <a:bodyPr/>
                    <a:lstStyle/>
                    <a:p>
                      <a:pPr algn="r"/>
                      <a:r>
                        <a:rPr sz="900" b="0" i="0">
                          <a:solidFill>
                            <a:srgbClr val="3D4A5C"/>
                          </a:solidFill>
                          <a:latin typeface="Arial"/>
                        </a:rPr>
                        <a:t>1.61</a:t>
                      </a:r>
                    </a:p>
                  </a:txBody>
                  <a:tcPr marL="88900" marR="88900" marT="25400" marB="25400" anchor="ctr">
                    <a:noFill/>
                  </a:tcPr>
                </a:tc>
                <a:tc>
                  <a:txBody>
                    <a:bodyPr/>
                    <a:lstStyle/>
                    <a:p>
                      <a:pPr algn="r"/>
                      <a:r>
                        <a:rPr sz="900" b="0" i="0">
                          <a:solidFill>
                            <a:srgbClr val="3D4A5C"/>
                          </a:solidFill>
                          <a:latin typeface="Arial"/>
                        </a:rPr>
                        <a:t>3.44</a:t>
                      </a:r>
                    </a:p>
                  </a:txBody>
                  <a:tcPr marL="88900" marR="88900" marT="25400" marB="25400" anchor="ctr">
                    <a:noFill/>
                  </a:tcPr>
                </a:tc>
                <a:tc>
                  <a:txBody>
                    <a:bodyPr/>
                    <a:lstStyle/>
                    <a:p>
                      <a:pPr algn="r"/>
                      <a:r>
                        <a:rPr sz="900" b="0" i="0">
                          <a:solidFill>
                            <a:srgbClr val="3D4A5C"/>
                          </a:solidFill>
                          <a:latin typeface="Arial"/>
                        </a:rPr>
                        <a:t>6.13</a:t>
                      </a:r>
                    </a:p>
                  </a:txBody>
                  <a:tcPr marL="88900" marR="88900" marT="25400" marB="25400" anchor="ctr">
                    <a:noFill/>
                  </a:tcPr>
                </a:tc>
                <a:tc>
                  <a:txBody>
                    <a:bodyPr/>
                    <a:lstStyle/>
                    <a:p>
                      <a:pPr algn="r"/>
                      <a:r>
                        <a:rPr sz="900" b="0" i="0">
                          <a:solidFill>
                            <a:srgbClr val="3D4A5C"/>
                          </a:solidFill>
                          <a:latin typeface="Arial"/>
                        </a:rPr>
                        <a:t>3.56</a:t>
                      </a:r>
                    </a:p>
                  </a:txBody>
                  <a:tcPr marL="88900" marR="88900" marT="25400" marB="25400" anchor="ctr">
                    <a:noFill/>
                  </a:tcPr>
                </a:tc>
                <a:tc>
                  <a:txBody>
                    <a:bodyPr/>
                    <a:lstStyle/>
                    <a:p>
                      <a:pPr algn="r"/>
                      <a:r>
                        <a:rPr sz="900" b="0" i="0">
                          <a:solidFill>
                            <a:srgbClr val="3D4A5C"/>
                          </a:solidFill>
                          <a:latin typeface="Arial"/>
                        </a:rPr>
                        <a:t>45.3K</a:t>
                      </a:r>
                    </a:p>
                  </a:txBody>
                  <a:tcPr marL="88900" marR="88900" marT="25400" marB="25400" anchor="ctr">
                    <a:noFill/>
                  </a:tcPr>
                </a:tc>
                <a:tc>
                  <a:txBody>
                    <a:bodyPr/>
                    <a:lstStyle/>
                    <a:p>
                      <a:pPr algn="r"/>
                      <a:r>
                        <a:rPr sz="900" b="0" i="0">
                          <a:solidFill>
                            <a:srgbClr val="3D4A5C"/>
                          </a:solidFill>
                          <a:latin typeface="Arial"/>
                        </a:rPr>
                        <a:t>8</a:t>
                      </a:r>
                    </a:p>
                  </a:txBody>
                  <a:tcPr marL="88900" marR="88900" marT="25400" marB="25400" anchor="ctr">
                    <a:noFill/>
                  </a:tcPr>
                </a:tc>
              </a:tr>
              <a:tr h="224028">
                <a:tc>
                  <a:txBody>
                    <a:bodyPr/>
                    <a:lstStyle/>
                    <a:p>
                      <a:pPr algn="l"/>
                      <a:r>
                        <a:rPr sz="900" b="0" i="0">
                          <a:solidFill>
                            <a:srgbClr val="3D4A5C"/>
                          </a:solidFill>
                          <a:latin typeface="Arial"/>
                        </a:rPr>
                        <a:t>LightGBM</a:t>
                      </a:r>
                    </a:p>
                  </a:txBody>
                  <a:tcPr marL="88900" marR="88900" marT="25400" marB="25400" anchor="ctr">
                    <a:noFill/>
                  </a:tcPr>
                </a:tc>
                <a:tc>
                  <a:txBody>
                    <a:bodyPr/>
                    <a:lstStyle/>
                    <a:p>
                      <a:pPr algn="r"/>
                      <a:r>
                        <a:rPr sz="900" b="0" i="0">
                          <a:solidFill>
                            <a:srgbClr val="3D4A5C"/>
                          </a:solidFill>
                          <a:latin typeface="Arial"/>
                        </a:rPr>
                        <a:t>0.22</a:t>
                      </a:r>
                    </a:p>
                  </a:txBody>
                  <a:tcPr marL="88900" marR="88900" marT="25400" marB="25400" anchor="ctr">
                    <a:noFill/>
                  </a:tcPr>
                </a:tc>
                <a:tc>
                  <a:txBody>
                    <a:bodyPr/>
                    <a:lstStyle/>
                    <a:p>
                      <a:pPr algn="r"/>
                      <a:r>
                        <a:rPr sz="900" b="0" i="0">
                          <a:solidFill>
                            <a:srgbClr val="3D4A5C"/>
                          </a:solidFill>
                          <a:latin typeface="Arial"/>
                        </a:rPr>
                        <a:t>1.23</a:t>
                      </a:r>
                    </a:p>
                  </a:txBody>
                  <a:tcPr marL="88900" marR="88900" marT="25400" marB="25400" anchor="ctr">
                    <a:noFill/>
                  </a:tcPr>
                </a:tc>
                <a:tc>
                  <a:txBody>
                    <a:bodyPr/>
                    <a:lstStyle/>
                    <a:p>
                      <a:pPr algn="r"/>
                      <a:r>
                        <a:rPr sz="900" b="0" i="0">
                          <a:solidFill>
                            <a:srgbClr val="3D4A5C"/>
                          </a:solidFill>
                          <a:latin typeface="Arial"/>
                        </a:rPr>
                        <a:t>3.32</a:t>
                      </a:r>
                    </a:p>
                  </a:txBody>
                  <a:tcPr marL="88900" marR="88900" marT="25400" marB="25400" anchor="ctr">
                    <a:noFill/>
                  </a:tcPr>
                </a:tc>
                <a:tc>
                  <a:txBody>
                    <a:bodyPr/>
                    <a:lstStyle/>
                    <a:p>
                      <a:pPr algn="r"/>
                      <a:r>
                        <a:rPr sz="900" b="0" i="0">
                          <a:solidFill>
                            <a:srgbClr val="3D4A5C"/>
                          </a:solidFill>
                          <a:latin typeface="Arial"/>
                        </a:rPr>
                        <a:t>6.97</a:t>
                      </a:r>
                    </a:p>
                  </a:txBody>
                  <a:tcPr marL="88900" marR="88900" marT="25400" marB="25400" anchor="ctr">
                    <a:noFill/>
                  </a:tcPr>
                </a:tc>
                <a:tc>
                  <a:txBody>
                    <a:bodyPr/>
                    <a:lstStyle/>
                    <a:p>
                      <a:pPr algn="r"/>
                      <a:r>
                        <a:rPr sz="900" b="0" i="0">
                          <a:solidFill>
                            <a:srgbClr val="3D4A5C"/>
                          </a:solidFill>
                          <a:latin typeface="Arial"/>
                        </a:rPr>
                        <a:t>3.60</a:t>
                      </a:r>
                    </a:p>
                  </a:txBody>
                  <a:tcPr marL="88900" marR="88900" marT="25400" marB="25400" anchor="ctr">
                    <a:noFill/>
                  </a:tcPr>
                </a:tc>
                <a:tc>
                  <a:txBody>
                    <a:bodyPr/>
                    <a:lstStyle/>
                    <a:p>
                      <a:pPr algn="r"/>
                      <a:r>
                        <a:rPr sz="900" b="0" i="0">
                          <a:solidFill>
                            <a:srgbClr val="3D4A5C"/>
                          </a:solidFill>
                          <a:latin typeface="Arial"/>
                        </a:rPr>
                        <a:t>46.5K</a:t>
                      </a:r>
                    </a:p>
                  </a:txBody>
                  <a:tcPr marL="88900" marR="88900" marT="25400" marB="25400" anchor="ctr">
                    <a:noFill/>
                  </a:tcPr>
                </a:tc>
                <a:tc>
                  <a:txBody>
                    <a:bodyPr/>
                    <a:lstStyle/>
                    <a:p>
                      <a:pPr algn="r"/>
                      <a:r>
                        <a:rPr sz="900" b="0" i="0">
                          <a:solidFill>
                            <a:srgbClr val="3D4A5C"/>
                          </a:solidFill>
                          <a:latin typeface="Arial"/>
                        </a:rPr>
                        <a:t>9</a:t>
                      </a:r>
                    </a:p>
                  </a:txBody>
                  <a:tcPr marL="88900" marR="88900" marT="25400" marB="25400" anchor="ctr">
                    <a:noFill/>
                  </a:tcPr>
                </a:tc>
              </a:tr>
              <a:tr h="224028">
                <a:tc>
                  <a:txBody>
                    <a:bodyPr/>
                    <a:lstStyle/>
                    <a:p>
                      <a:pPr algn="l"/>
                      <a:r>
                        <a:rPr sz="900" b="0" i="0">
                          <a:solidFill>
                            <a:srgbClr val="3D4A5C"/>
                          </a:solidFill>
                          <a:latin typeface="Arial"/>
                        </a:rPr>
                        <a:t>Factor VAR (neighborhoods)</a:t>
                      </a:r>
                    </a:p>
                  </a:txBody>
                  <a:tcPr marL="88900" marR="88900" marT="25400" marB="25400" anchor="ctr">
                    <a:noFill/>
                  </a:tcPr>
                </a:tc>
                <a:tc>
                  <a:txBody>
                    <a:bodyPr/>
                    <a:lstStyle/>
                    <a:p>
                      <a:pPr algn="r"/>
                      <a:r>
                        <a:rPr sz="900" b="0" i="0">
                          <a:solidFill>
                            <a:srgbClr val="3D4A5C"/>
                          </a:solidFill>
                          <a:latin typeface="Arial"/>
                        </a:rPr>
                        <a:t>0.16</a:t>
                      </a:r>
                    </a:p>
                  </a:txBody>
                  <a:tcPr marL="88900" marR="88900" marT="25400" marB="25400" anchor="ctr">
                    <a:noFill/>
                  </a:tcPr>
                </a:tc>
                <a:tc>
                  <a:txBody>
                    <a:bodyPr/>
                    <a:lstStyle/>
                    <a:p>
                      <a:pPr algn="r"/>
                      <a:r>
                        <a:rPr sz="900" b="0" i="0">
                          <a:solidFill>
                            <a:srgbClr val="3D4A5C"/>
                          </a:solidFill>
                          <a:latin typeface="Arial"/>
                        </a:rPr>
                        <a:t>1.15</a:t>
                      </a:r>
                    </a:p>
                  </a:txBody>
                  <a:tcPr marL="88900" marR="88900" marT="25400" marB="25400" anchor="ctr">
                    <a:noFill/>
                  </a:tcPr>
                </a:tc>
                <a:tc>
                  <a:txBody>
                    <a:bodyPr/>
                    <a:lstStyle/>
                    <a:p>
                      <a:pPr algn="r"/>
                      <a:r>
                        <a:rPr sz="900" b="0" i="0">
                          <a:solidFill>
                            <a:srgbClr val="3D4A5C"/>
                          </a:solidFill>
                          <a:latin typeface="Arial"/>
                        </a:rPr>
                        <a:t>3.56</a:t>
                      </a:r>
                    </a:p>
                  </a:txBody>
                  <a:tcPr marL="88900" marR="88900" marT="25400" marB="25400" anchor="ctr">
                    <a:noFill/>
                  </a:tcPr>
                </a:tc>
                <a:tc>
                  <a:txBody>
                    <a:bodyPr/>
                    <a:lstStyle/>
                    <a:p>
                      <a:pPr algn="r"/>
                      <a:r>
                        <a:rPr sz="900" b="0" i="0">
                          <a:solidFill>
                            <a:srgbClr val="3D4A5C"/>
                          </a:solidFill>
                          <a:latin typeface="Arial"/>
                        </a:rPr>
                        <a:t>6.60</a:t>
                      </a:r>
                    </a:p>
                  </a:txBody>
                  <a:tcPr marL="88900" marR="88900" marT="25400" marB="25400" anchor="ctr">
                    <a:noFill/>
                  </a:tcPr>
                </a:tc>
                <a:tc>
                  <a:txBody>
                    <a:bodyPr/>
                    <a:lstStyle/>
                    <a:p>
                      <a:pPr algn="r"/>
                      <a:r>
                        <a:rPr sz="900" b="0" i="0">
                          <a:solidFill>
                            <a:srgbClr val="3D4A5C"/>
                          </a:solidFill>
                          <a:latin typeface="Arial"/>
                        </a:rPr>
                        <a:t>3.64</a:t>
                      </a:r>
                    </a:p>
                  </a:txBody>
                  <a:tcPr marL="88900" marR="88900" marT="25400" marB="25400" anchor="ctr">
                    <a:noFill/>
                  </a:tcPr>
                </a:tc>
                <a:tc>
                  <a:txBody>
                    <a:bodyPr/>
                    <a:lstStyle/>
                    <a:p>
                      <a:pPr algn="r"/>
                      <a:r>
                        <a:rPr sz="900" b="0" i="0">
                          <a:solidFill>
                            <a:srgbClr val="3D4A5C"/>
                          </a:solidFill>
                          <a:latin typeface="Arial"/>
                        </a:rPr>
                        <a:t>50.7K</a:t>
                      </a:r>
                    </a:p>
                  </a:txBody>
                  <a:tcPr marL="88900" marR="88900" marT="25400" marB="25400" anchor="ctr">
                    <a:noFill/>
                  </a:tcPr>
                </a:tc>
                <a:tc>
                  <a:txBody>
                    <a:bodyPr/>
                    <a:lstStyle/>
                    <a:p>
                      <a:pPr algn="r"/>
                      <a:r>
                        <a:rPr sz="900" b="0" i="0">
                          <a:solidFill>
                            <a:srgbClr val="3D4A5C"/>
                          </a:solidFill>
                          <a:latin typeface="Arial"/>
                        </a:rPr>
                        <a:t>12</a:t>
                      </a:r>
                    </a:p>
                  </a:txBody>
                  <a:tcPr marL="88900" marR="88900" marT="25400" marB="25400" anchor="ctr">
                    <a:noFill/>
                  </a:tcPr>
                </a:tc>
              </a:tr>
              <a:tr h="224028">
                <a:tc>
                  <a:txBody>
                    <a:bodyPr/>
                    <a:lstStyle/>
                    <a:p>
                      <a:pPr algn="l"/>
                      <a:r>
                        <a:rPr sz="900" b="0" i="0">
                          <a:solidFill>
                            <a:srgbClr val="3D4A5C"/>
                          </a:solidFill>
                          <a:latin typeface="Arial"/>
                        </a:rPr>
                        <a:t>XGBoost</a:t>
                      </a:r>
                    </a:p>
                  </a:txBody>
                  <a:tcPr marL="88900" marR="88900" marT="25400" marB="25400" anchor="ctr">
                    <a:noFill/>
                  </a:tcPr>
                </a:tc>
                <a:tc>
                  <a:txBody>
                    <a:bodyPr/>
                    <a:lstStyle/>
                    <a:p>
                      <a:pPr algn="r"/>
                      <a:r>
                        <a:rPr sz="900" b="0" i="0">
                          <a:solidFill>
                            <a:srgbClr val="3D4A5C"/>
                          </a:solidFill>
                          <a:latin typeface="Arial"/>
                        </a:rPr>
                        <a:t>0.25</a:t>
                      </a:r>
                    </a:p>
                  </a:txBody>
                  <a:tcPr marL="88900" marR="88900" marT="25400" marB="25400" anchor="ctr">
                    <a:noFill/>
                  </a:tcPr>
                </a:tc>
                <a:tc>
                  <a:txBody>
                    <a:bodyPr/>
                    <a:lstStyle/>
                    <a:p>
                      <a:pPr algn="r"/>
                      <a:r>
                        <a:rPr sz="900" b="0" i="0">
                          <a:solidFill>
                            <a:srgbClr val="3D4A5C"/>
                          </a:solidFill>
                          <a:latin typeface="Arial"/>
                        </a:rPr>
                        <a:t>1.25</a:t>
                      </a:r>
                    </a:p>
                  </a:txBody>
                  <a:tcPr marL="88900" marR="88900" marT="25400" marB="25400" anchor="ctr">
                    <a:noFill/>
                  </a:tcPr>
                </a:tc>
                <a:tc>
                  <a:txBody>
                    <a:bodyPr/>
                    <a:lstStyle/>
                    <a:p>
                      <a:pPr algn="r"/>
                      <a:r>
                        <a:rPr sz="900" b="0" i="0">
                          <a:solidFill>
                            <a:srgbClr val="3D4A5C"/>
                          </a:solidFill>
                          <a:latin typeface="Arial"/>
                        </a:rPr>
                        <a:t>3.40</a:t>
                      </a:r>
                    </a:p>
                  </a:txBody>
                  <a:tcPr marL="88900" marR="88900" marT="25400" marB="25400" anchor="ctr">
                    <a:noFill/>
                  </a:tcPr>
                </a:tc>
                <a:tc>
                  <a:txBody>
                    <a:bodyPr/>
                    <a:lstStyle/>
                    <a:p>
                      <a:pPr algn="r"/>
                      <a:r>
                        <a:rPr sz="900" b="0" i="0">
                          <a:solidFill>
                            <a:srgbClr val="3D4A5C"/>
                          </a:solidFill>
                          <a:latin typeface="Arial"/>
                        </a:rPr>
                        <a:t>6.82</a:t>
                      </a:r>
                    </a:p>
                  </a:txBody>
                  <a:tcPr marL="88900" marR="88900" marT="25400" marB="25400" anchor="ctr">
                    <a:noFill/>
                  </a:tcPr>
                </a:tc>
                <a:tc>
                  <a:txBody>
                    <a:bodyPr/>
                    <a:lstStyle/>
                    <a:p>
                      <a:pPr algn="r"/>
                      <a:r>
                        <a:rPr sz="900" b="0" i="0">
                          <a:solidFill>
                            <a:srgbClr val="3D4A5C"/>
                          </a:solidFill>
                          <a:latin typeface="Arial"/>
                        </a:rPr>
                        <a:t>3.65</a:t>
                      </a:r>
                    </a:p>
                  </a:txBody>
                  <a:tcPr marL="88900" marR="88900" marT="25400" marB="25400" anchor="ctr">
                    <a:noFill/>
                  </a:tcPr>
                </a:tc>
                <a:tc>
                  <a:txBody>
                    <a:bodyPr/>
                    <a:lstStyle/>
                    <a:p>
                      <a:pPr algn="r"/>
                      <a:r>
                        <a:rPr sz="900" b="0" i="0">
                          <a:solidFill>
                            <a:srgbClr val="3D4A5C"/>
                          </a:solidFill>
                          <a:latin typeface="Arial"/>
                        </a:rPr>
                        <a:t>47.8K</a:t>
                      </a:r>
                    </a:p>
                  </a:txBody>
                  <a:tcPr marL="88900" marR="88900" marT="25400" marB="25400" anchor="ctr">
                    <a:noFill/>
                  </a:tcPr>
                </a:tc>
                <a:tc>
                  <a:txBody>
                    <a:bodyPr/>
                    <a:lstStyle/>
                    <a:p>
                      <a:pPr algn="r"/>
                      <a:r>
                        <a:rPr sz="900" b="0" i="0">
                          <a:solidFill>
                            <a:srgbClr val="3D4A5C"/>
                          </a:solidFill>
                          <a:latin typeface="Arial"/>
                        </a:rPr>
                        <a:t>11</a:t>
                      </a:r>
                    </a:p>
                  </a:txBody>
                  <a:tcPr marL="88900" marR="88900" marT="25400" marB="25400" anchor="ctr">
                    <a:noFill/>
                  </a:tcPr>
                </a:tc>
              </a:tr>
              <a:tr h="224028">
                <a:tc>
                  <a:txBody>
                    <a:bodyPr/>
                    <a:lstStyle/>
                    <a:p>
                      <a:pPr algn="l"/>
                      <a:r>
                        <a:rPr sz="900" b="0" i="0">
                          <a:solidFill>
                            <a:srgbClr val="3D4A5C"/>
                          </a:solidFill>
                          <a:latin typeface="Arial"/>
                        </a:rPr>
                        <a:t>Prophet + COVID &amp; rates</a:t>
                      </a:r>
                    </a:p>
                  </a:txBody>
                  <a:tcPr marL="88900" marR="88900" marT="25400" marB="25400" anchor="ctr">
                    <a:noFill/>
                  </a:tcPr>
                </a:tc>
                <a:tc>
                  <a:txBody>
                    <a:bodyPr/>
                    <a:lstStyle/>
                    <a:p>
                      <a:pPr algn="r"/>
                      <a:r>
                        <a:rPr sz="900" b="0" i="0">
                          <a:solidFill>
                            <a:srgbClr val="3D4A5C"/>
                          </a:solidFill>
                          <a:latin typeface="Arial"/>
                        </a:rPr>
                        <a:t>3.27</a:t>
                      </a:r>
                    </a:p>
                  </a:txBody>
                  <a:tcPr marL="88900" marR="88900" marT="25400" marB="25400" anchor="ctr">
                    <a:noFill/>
                  </a:tcPr>
                </a:tc>
                <a:tc>
                  <a:txBody>
                    <a:bodyPr/>
                    <a:lstStyle/>
                    <a:p>
                      <a:pPr algn="r"/>
                      <a:r>
                        <a:rPr sz="900" b="0" i="0">
                          <a:solidFill>
                            <a:srgbClr val="3D4A5C"/>
                          </a:solidFill>
                          <a:latin typeface="Arial"/>
                        </a:rPr>
                        <a:t>4.08</a:t>
                      </a:r>
                    </a:p>
                  </a:txBody>
                  <a:tcPr marL="88900" marR="88900" marT="25400" marB="25400" anchor="ctr">
                    <a:noFill/>
                  </a:tcPr>
                </a:tc>
                <a:tc>
                  <a:txBody>
                    <a:bodyPr/>
                    <a:lstStyle/>
                    <a:p>
                      <a:pPr algn="r"/>
                      <a:r>
                        <a:rPr sz="900" b="0" i="0">
                          <a:solidFill>
                            <a:srgbClr val="3D4A5C"/>
                          </a:solidFill>
                          <a:latin typeface="Arial"/>
                        </a:rPr>
                        <a:t>5.32</a:t>
                      </a:r>
                    </a:p>
                  </a:txBody>
                  <a:tcPr marL="88900" marR="88900" marT="25400" marB="25400" anchor="ctr">
                    <a:noFill/>
                  </a:tcPr>
                </a:tc>
                <a:tc>
                  <a:txBody>
                    <a:bodyPr/>
                    <a:lstStyle/>
                    <a:p>
                      <a:pPr algn="r"/>
                      <a:r>
                        <a:rPr sz="900" b="0" i="0">
                          <a:solidFill>
                            <a:srgbClr val="3D4A5C"/>
                          </a:solidFill>
                          <a:latin typeface="Arial"/>
                        </a:rPr>
                        <a:t>6.45</a:t>
                      </a:r>
                    </a:p>
                  </a:txBody>
                  <a:tcPr marL="88900" marR="88900" marT="25400" marB="25400" anchor="ctr">
                    <a:noFill/>
                  </a:tcPr>
                </a:tc>
                <a:tc>
                  <a:txBody>
                    <a:bodyPr/>
                    <a:lstStyle/>
                    <a:p>
                      <a:pPr algn="r"/>
                      <a:r>
                        <a:rPr sz="900" b="0" i="0">
                          <a:solidFill>
                            <a:srgbClr val="3D4A5C"/>
                          </a:solidFill>
                          <a:latin typeface="Arial"/>
                        </a:rPr>
                        <a:t>5.12</a:t>
                      </a:r>
                    </a:p>
                  </a:txBody>
                  <a:tcPr marL="88900" marR="88900" marT="25400" marB="25400" anchor="ctr">
                    <a:noFill/>
                  </a:tcPr>
                </a:tc>
                <a:tc>
                  <a:txBody>
                    <a:bodyPr/>
                    <a:lstStyle/>
                    <a:p>
                      <a:pPr algn="r"/>
                      <a:r>
                        <a:rPr sz="900" b="0" i="0">
                          <a:solidFill>
                            <a:srgbClr val="3D4A5C"/>
                          </a:solidFill>
                          <a:latin typeface="Arial"/>
                        </a:rPr>
                        <a:t>53.5K</a:t>
                      </a:r>
                    </a:p>
                  </a:txBody>
                  <a:tcPr marL="88900" marR="88900" marT="25400" marB="25400" anchor="ctr">
                    <a:noFill/>
                  </a:tcPr>
                </a:tc>
                <a:tc>
                  <a:txBody>
                    <a:bodyPr/>
                    <a:lstStyle/>
                    <a:p>
                      <a:pPr algn="r"/>
                      <a:r>
                        <a:rPr sz="900" b="0" i="0">
                          <a:solidFill>
                            <a:srgbClr val="3D4A5C"/>
                          </a:solidFill>
                          <a:latin typeface="Arial"/>
                        </a:rPr>
                        <a:t>13</a:t>
                      </a:r>
                    </a:p>
                  </a:txBody>
                  <a:tcPr marL="88900" marR="88900" marT="25400" marB="25400" anchor="ctr">
                    <a:noFill/>
                  </a:tcPr>
                </a:tc>
              </a:tr>
              <a:tr h="224028">
                <a:tc>
                  <a:txBody>
                    <a:bodyPr/>
                    <a:lstStyle/>
                    <a:p>
                      <a:pPr algn="l"/>
                      <a:r>
                        <a:rPr sz="900" b="0" i="0">
                          <a:solidFill>
                            <a:srgbClr val="3D4A5C"/>
                          </a:solidFill>
                          <a:latin typeface="Arial"/>
                        </a:rPr>
                        <a:t>Prophet</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5.00</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5.76</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6.73</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8.62</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6.89</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70.2K</a:t>
                      </a:r>
                    </a:p>
                  </a:txBody>
                  <a:tcPr marL="88900" marR="88900" marT="25400" marB="25400" anchor="ctr">
                    <a:lnB w="17780" cap="flat" cmpd="sng" algn="ctr">
                      <a:solidFill>
                        <a:srgbClr val="16213E"/>
                      </a:solidFill>
                    </a:lnB>
                    <a:noFill/>
                  </a:tcPr>
                </a:tc>
                <a:tc>
                  <a:txBody>
                    <a:bodyPr/>
                    <a:lstStyle/>
                    <a:p>
                      <a:pPr algn="r"/>
                      <a:r>
                        <a:rPr sz="900" b="0" i="0">
                          <a:solidFill>
                            <a:srgbClr val="3D4A5C"/>
                          </a:solidFill>
                          <a:latin typeface="Arial"/>
                        </a:rPr>
                        <a:t>14</a:t>
                      </a:r>
                    </a:p>
                  </a:txBody>
                  <a:tcPr marL="88900" marR="88900" marT="25400" marB="25400" anchor="ctr">
                    <a:lnB w="17780" cap="flat" cmpd="sng" algn="ctr">
                      <a:solidFill>
                        <a:srgbClr val="16213E"/>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A4 · AI RECOGNITION CHECKS</a:t>
            </a:r>
          </a:p>
        </p:txBody>
      </p:sp>
      <p:sp>
        <p:nvSpPr>
          <p:cNvPr id="3" name="deckkit-chrome-title"/>
          <p:cNvSpPr txBox="1"/>
          <p:nvPr/>
        </p:nvSpPr>
        <p:spPr>
          <a:xfrm>
            <a:off x="502920" y="493776"/>
            <a:ext cx="8138160" cy="64008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Memory checks on Claude</a:t>
            </a:r>
          </a:p>
        </p:txBody>
      </p:sp>
      <p:sp>
        <p:nvSpPr>
          <p:cNvPr id="4" name="deckkit-chrome-title"/>
          <p:cNvSpPr/>
          <p:nvPr/>
        </p:nvSpPr>
        <p:spPr>
          <a:xfrm>
            <a:off x="521207" y="1060704"/>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4</a:t>
            </a:r>
          </a:p>
        </p:txBody>
      </p:sp>
      <p:graphicFrame>
        <p:nvGraphicFramePr>
          <p:cNvPr id="7" name="Table 6"/>
          <p:cNvGraphicFramePr>
            <a:graphicFrameLocks noGrp="1"/>
          </p:cNvGraphicFramePr>
          <p:nvPr/>
        </p:nvGraphicFramePr>
        <p:xfrm>
          <a:off x="457200" y="1316736"/>
          <a:ext cx="8229600" cy="2743200"/>
        </p:xfrm>
        <a:graphic>
          <a:graphicData uri="http://schemas.openxmlformats.org/drawingml/2006/table">
            <a:tbl>
              <a:tblPr firstRow="0" bandRow="0">
                <a:tableStyleId>{2D5ABB26-0587-4C30-8999-92F81FD0307C}</a:tableStyleId>
              </a:tblPr>
              <a:tblGrid>
                <a:gridCol w="2377440"/>
                <a:gridCol w="5852160"/>
              </a:tblGrid>
              <a:tr h="457200">
                <a:tc>
                  <a:txBody>
                    <a:bodyPr/>
                    <a:lstStyle/>
                    <a:p>
                      <a:pPr algn="l"/>
                      <a:r>
                        <a:rPr sz="1050" b="1" i="0">
                          <a:solidFill>
                            <a:srgbClr val="16213E"/>
                          </a:solidFill>
                          <a:latin typeface="Arial"/>
                        </a:rPr>
                        <a:t>Check (Claude only)</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050" b="1" i="0">
                          <a:solidFill>
                            <a:srgbClr val="16213E"/>
                          </a:solidFill>
                          <a:latin typeface="Arial"/>
                        </a:rPr>
                        <a:t>Result</a:t>
                      </a:r>
                    </a:p>
                  </a:txBody>
                  <a:tcPr marL="88900" marR="88900" marT="25400" marB="25400" anchor="ctr">
                    <a:lnT w="17780" cap="flat" cmpd="sng" algn="ctr">
                      <a:solidFill>
                        <a:srgbClr val="16213E"/>
                      </a:solidFill>
                    </a:lnT>
                    <a:lnB w="10160" cap="flat" cmpd="sng" algn="ctr">
                      <a:solidFill>
                        <a:srgbClr val="6B6F76"/>
                      </a:solidFill>
                    </a:lnB>
                    <a:noFill/>
                  </a:tcPr>
                </a:tc>
              </a:tr>
              <a:tr h="457200">
                <a:tc>
                  <a:txBody>
                    <a:bodyPr/>
                    <a:lstStyle/>
                    <a:p>
                      <a:pPr algn="l"/>
                      <a:r>
                        <a:rPr sz="1050" b="0" i="0">
                          <a:solidFill>
                            <a:srgbClr val="3D4A5C"/>
                          </a:solidFill>
                          <a:latin typeface="Arial"/>
                        </a:rPr>
                        <a:t>Name the blind series</a:t>
                      </a:r>
                    </a:p>
                  </a:txBody>
                  <a:tcPr marL="88900" marR="88900" marT="25400" marB="25400" anchor="ctr">
                    <a:noFill/>
                  </a:tcPr>
                </a:tc>
                <a:tc>
                  <a:txBody>
                    <a:bodyPr/>
                    <a:lstStyle/>
                    <a:p>
                      <a:pPr algn="l"/>
                      <a:r>
                        <a:rPr sz="1050" b="0" i="0">
                          <a:solidFill>
                            <a:srgbClr val="3D4A5C"/>
                          </a:solidFill>
                          <a:latin typeface="Arial"/>
                        </a:rPr>
                        <a:t>Los Angeles 16 of 18, California 17 of 18; dates exact every time</a:t>
                      </a:r>
                    </a:p>
                  </a:txBody>
                  <a:tcPr marL="88900" marR="88900" marT="25400" marB="25400" anchor="ctr">
                    <a:noFill/>
                  </a:tcPr>
                </a:tc>
              </a:tr>
              <a:tr h="457200">
                <a:tc>
                  <a:txBody>
                    <a:bodyPr/>
                    <a:lstStyle/>
                    <a:p>
                      <a:pPr algn="l"/>
                      <a:r>
                        <a:rPr sz="1050" b="0" i="0">
                          <a:solidFill>
                            <a:srgbClr val="3D4A5C"/>
                          </a:solidFill>
                          <a:latin typeface="Arial"/>
                        </a:rPr>
                        <a:t>Name the masked series</a:t>
                      </a:r>
                    </a:p>
                  </a:txBody>
                  <a:tcPr marL="88900" marR="88900" marT="25400" marB="25400" anchor="ctr">
                    <a:noFill/>
                  </a:tcPr>
                </a:tc>
                <a:tc>
                  <a:txBody>
                    <a:bodyPr/>
                    <a:lstStyle/>
                    <a:p>
                      <a:pPr algn="l"/>
                      <a:r>
                        <a:rPr sz="1050" b="0" i="0">
                          <a:solidFill>
                            <a:srgbClr val="3D4A5C"/>
                          </a:solidFill>
                          <a:latin typeface="Arial"/>
                        </a:rPr>
                        <a:t>Los Angeles 0 of 18; guesses: unknown 7, Seattle 6, Portland 2, San Francisco 1, Dallas 1, Denver 1</a:t>
                      </a:r>
                    </a:p>
                  </a:txBody>
                  <a:tcPr marL="88900" marR="88900" marT="25400" marB="25400" anchor="ctr">
                    <a:noFill/>
                  </a:tcPr>
                </a:tc>
              </a:tr>
              <a:tr h="457200">
                <a:tc>
                  <a:txBody>
                    <a:bodyPr/>
                    <a:lstStyle/>
                    <a:p>
                      <a:pPr algn="l"/>
                      <a:r>
                        <a:rPr sz="1050" b="0" i="0">
                          <a:solidFill>
                            <a:srgbClr val="3D4A5C"/>
                          </a:solidFill>
                          <a:latin typeface="Arial"/>
                        </a:rPr>
                        <a:t>Date the masked series</a:t>
                      </a:r>
                    </a:p>
                  </a:txBody>
                  <a:tcPr marL="88900" marR="88900" marT="25400" marB="25400" anchor="ctr">
                    <a:noFill/>
                  </a:tcPr>
                </a:tc>
                <a:tc>
                  <a:txBody>
                    <a:bodyPr/>
                    <a:lstStyle/>
                    <a:p>
                      <a:pPr algn="l"/>
                      <a:r>
                        <a:rPr sz="1050" b="0" i="0">
                          <a:solidFill>
                            <a:srgbClr val="3D4A5C"/>
                          </a:solidFill>
                          <a:latin typeface="Arial"/>
                        </a:rPr>
                        <a:t>median 1 month off, max 4</a:t>
                      </a:r>
                    </a:p>
                  </a:txBody>
                  <a:tcPr marL="88900" marR="88900" marT="25400" marB="25400" anchor="ctr">
                    <a:noFill/>
                  </a:tcPr>
                </a:tc>
              </a:tr>
              <a:tr h="457200">
                <a:tc>
                  <a:txBody>
                    <a:bodyPr/>
                    <a:lstStyle/>
                    <a:p>
                      <a:pPr algn="l"/>
                      <a:r>
                        <a:rPr sz="1050" b="0" i="0">
                          <a:solidFill>
                            <a:srgbClr val="3D4A5C"/>
                          </a:solidFill>
                          <a:latin typeface="Arial"/>
                        </a:rPr>
                        <a:t>Masked, all history since 2000</a:t>
                      </a:r>
                    </a:p>
                  </a:txBody>
                  <a:tcPr marL="88900" marR="88900" marT="25400" marB="25400" anchor="ctr">
                    <a:noFill/>
                  </a:tcPr>
                </a:tc>
                <a:tc>
                  <a:txBody>
                    <a:bodyPr/>
                    <a:lstStyle/>
                    <a:p>
                      <a:pPr algn="l"/>
                      <a:r>
                        <a:rPr sz="1050" b="0" i="0">
                          <a:solidFill>
                            <a:srgbClr val="3D4A5C"/>
                          </a:solidFill>
                          <a:latin typeface="Arial"/>
                        </a:rPr>
                        <a:t>2.47% avg error (ARIMAX 2.67%), DM p = 0.25; April 2022 forecast -4.7% (actual -3.7%)</a:t>
                      </a:r>
                    </a:p>
                  </a:txBody>
                  <a:tcPr marL="88900" marR="88900" marT="25400" marB="25400" anchor="ctr">
                    <a:noFill/>
                  </a:tcPr>
                </a:tc>
              </a:tr>
              <a:tr h="457200">
                <a:tc>
                  <a:txBody>
                    <a:bodyPr/>
                    <a:lstStyle/>
                    <a:p>
                      <a:pPr algn="l"/>
                      <a:r>
                        <a:rPr sz="1050" b="0" i="0">
                          <a:solidFill>
                            <a:srgbClr val="3D4A5C"/>
                          </a:solidFill>
                          <a:latin typeface="Arial"/>
                        </a:rPr>
                        <a:t>Earlier run through Claude Code</a:t>
                      </a:r>
                    </a:p>
                  </a:txBody>
                  <a:tcPr marL="88900" marR="88900" marT="25400" marB="25400" anchor="ctr">
                    <a:lnB w="17780" cap="flat" cmpd="sng" algn="ctr">
                      <a:solidFill>
                        <a:srgbClr val="16213E"/>
                      </a:solidFill>
                    </a:lnB>
                    <a:noFill/>
                  </a:tcPr>
                </a:tc>
                <a:tc>
                  <a:txBody>
                    <a:bodyPr/>
                    <a:lstStyle/>
                    <a:p>
                      <a:pPr algn="l"/>
                      <a:r>
                        <a:rPr sz="1050" b="0" i="0">
                          <a:solidFill>
                            <a:srgbClr val="3D4A5C"/>
                          </a:solidFill>
                          <a:latin typeface="Arial"/>
                        </a:rPr>
                        <a:t>named 1.58%, masked 2.67%; the clean API rerun changed little</a:t>
                      </a:r>
                    </a:p>
                  </a:txBody>
                  <a:tcPr marL="88900" marR="88900" marT="25400" marB="25400" anchor="ctr">
                    <a:lnB w="17780" cap="flat" cmpd="sng" algn="ctr">
                      <a:solidFill>
                        <a:srgbClr val="16213E"/>
                      </a:solidFill>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A5 · TREND CHECK</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Named and blind AI tracked what happened; masked AI tracked the trend</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5</a:t>
            </a:r>
          </a:p>
        </p:txBody>
      </p:sp>
      <p:sp>
        <p:nvSpPr>
          <p:cNvPr id="7" name="Rounded Rectangle 6"/>
          <p:cNvSpPr/>
          <p:nvPr/>
        </p:nvSpPr>
        <p:spPr>
          <a:xfrm>
            <a:off x="457200" y="3826763"/>
            <a:ext cx="8229600" cy="722376"/>
          </a:xfrm>
          <a:prstGeom prst="roundRect">
            <a:avLst>
              <a:gd name="adj" fmla="val 8000"/>
            </a:avLst>
          </a:prstGeom>
          <a:solidFill>
            <a:srgbClr val="E8EFF1"/>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1F6F8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1F6F8B"/>
                </a:solidFill>
                <a:latin typeface="Arial"/>
              </a:rPr>
              <a:t>NOTE  </a:t>
            </a:r>
            <a:r>
              <a:rPr sz="1250" b="0" i="0">
                <a:solidFill>
                  <a:srgbClr val="16213E"/>
                </a:solidFill>
                <a:latin typeface="Arial"/>
              </a:rPr>
              <a:t>Each cell: correlation of the 12-month forecast with the actual 12-month change / with the last 3 months' growth, across 18 forecast dates.</a:t>
            </a:r>
          </a:p>
        </p:txBody>
      </p:sp>
      <p:graphicFrame>
        <p:nvGraphicFramePr>
          <p:cNvPr id="10" name="Table 9"/>
          <p:cNvGraphicFramePr>
            <a:graphicFrameLocks noGrp="1"/>
          </p:cNvGraphicFramePr>
          <p:nvPr/>
        </p:nvGraphicFramePr>
        <p:xfrm>
          <a:off x="457200" y="1597152"/>
          <a:ext cx="8229600" cy="1920240"/>
        </p:xfrm>
        <a:graphic>
          <a:graphicData uri="http://schemas.openxmlformats.org/drawingml/2006/table">
            <a:tbl>
              <a:tblPr firstRow="0" bandRow="0">
                <a:tableStyleId>{2D5ABB26-0587-4C30-8999-92F81FD0307C}</a:tableStyleId>
              </a:tblPr>
              <a:tblGrid>
                <a:gridCol w="1463040"/>
                <a:gridCol w="1600200"/>
                <a:gridCol w="1600200"/>
                <a:gridCol w="1600200"/>
                <a:gridCol w="1965960"/>
              </a:tblGrid>
              <a:tr h="384048">
                <a:tc>
                  <a:txBody>
                    <a:bodyPr/>
                    <a:lstStyle/>
                    <a:p>
                      <a:pPr algn="l"/>
                      <a:r>
                        <a:rPr sz="1100" b="1" i="0">
                          <a:solidFill>
                            <a:srgbClr val="16213E"/>
                          </a:solidFill>
                          <a:latin typeface="Arial"/>
                        </a:rPr>
                        <a:t>Prompt</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1100" b="1" i="0">
                          <a:solidFill>
                            <a:srgbClr val="16213E"/>
                          </a:solidFill>
                          <a:latin typeface="Arial"/>
                        </a:rPr>
                        <a:t>Claude</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1100" b="1" i="0">
                          <a:solidFill>
                            <a:srgbClr val="16213E"/>
                          </a:solidFill>
                          <a:latin typeface="Arial"/>
                        </a:rPr>
                        <a:t>GPT</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r"/>
                      <a:r>
                        <a:rPr sz="1100" b="1" i="0">
                          <a:solidFill>
                            <a:srgbClr val="16213E"/>
                          </a:solidFill>
                          <a:latin typeface="Arial"/>
                        </a:rPr>
                        <a:t>Gemini</a:t>
                      </a:r>
                    </a:p>
                  </a:txBody>
                  <a:tcPr marL="88900" marR="88900" marT="25400" marB="25400" anchor="ctr">
                    <a:lnT w="17780" cap="flat" cmpd="sng" algn="ctr">
                      <a:solidFill>
                        <a:srgbClr val="16213E"/>
                      </a:solidFill>
                    </a:lnT>
                    <a:lnB w="10160" cap="flat" cmpd="sng" algn="ctr">
                      <a:solidFill>
                        <a:srgbClr val="6B6F76"/>
                      </a:solidFill>
                    </a:lnB>
                    <a:noFill/>
                  </a:tcPr>
                </a:tc>
                <a:tc>
                  <a:txBody>
                    <a:bodyPr/>
                    <a:lstStyle/>
                    <a:p>
                      <a:pPr algn="l"/>
                      <a:r>
                        <a:rPr sz="1100" b="1" i="0">
                          <a:solidFill>
                            <a:srgbClr val="16213E"/>
                          </a:solidFill>
                          <a:latin typeface="Arial"/>
                        </a:rPr>
                        <a:t>Follows</a:t>
                      </a:r>
                    </a:p>
                  </a:txBody>
                  <a:tcPr marL="88900" marR="88900" marT="25400" marB="25400" anchor="ctr">
                    <a:lnT w="17780" cap="flat" cmpd="sng" algn="ctr">
                      <a:solidFill>
                        <a:srgbClr val="16213E"/>
                      </a:solidFill>
                    </a:lnT>
                    <a:lnB w="10160" cap="flat" cmpd="sng" algn="ctr">
                      <a:solidFill>
                        <a:srgbClr val="6B6F76"/>
                      </a:solidFill>
                    </a:lnB>
                    <a:noFill/>
                  </a:tcPr>
                </a:tc>
              </a:tr>
              <a:tr h="384048">
                <a:tc>
                  <a:txBody>
                    <a:bodyPr/>
                    <a:lstStyle/>
                    <a:p>
                      <a:pPr algn="l"/>
                      <a:r>
                        <a:rPr sz="1100" b="0" i="0">
                          <a:solidFill>
                            <a:srgbClr val="3D4A5C"/>
                          </a:solidFill>
                          <a:latin typeface="Arial"/>
                        </a:rPr>
                        <a:t>Named</a:t>
                      </a:r>
                    </a:p>
                  </a:txBody>
                  <a:tcPr marL="88900" marR="88900" marT="25400" marB="25400" anchor="ctr">
                    <a:noFill/>
                  </a:tcPr>
                </a:tc>
                <a:tc>
                  <a:txBody>
                    <a:bodyPr/>
                    <a:lstStyle/>
                    <a:p>
                      <a:pPr algn="r"/>
                      <a:r>
                        <a:rPr sz="1100" b="0" i="0">
                          <a:solidFill>
                            <a:srgbClr val="3D4A5C"/>
                          </a:solidFill>
                          <a:latin typeface="Arial"/>
                        </a:rPr>
                        <a:t>0.97 / 0.14</a:t>
                      </a:r>
                    </a:p>
                  </a:txBody>
                  <a:tcPr marL="88900" marR="88900" marT="25400" marB="25400" anchor="ctr">
                    <a:noFill/>
                  </a:tcPr>
                </a:tc>
                <a:tc>
                  <a:txBody>
                    <a:bodyPr/>
                    <a:lstStyle/>
                    <a:p>
                      <a:pPr algn="r"/>
                      <a:r>
                        <a:rPr sz="1100" b="0" i="0">
                          <a:solidFill>
                            <a:srgbClr val="3D4A5C"/>
                          </a:solidFill>
                          <a:latin typeface="Arial"/>
                        </a:rPr>
                        <a:t>0.91 / 0.16</a:t>
                      </a:r>
                    </a:p>
                  </a:txBody>
                  <a:tcPr marL="88900" marR="88900" marT="25400" marB="25400" anchor="ctr">
                    <a:noFill/>
                  </a:tcPr>
                </a:tc>
                <a:tc>
                  <a:txBody>
                    <a:bodyPr/>
                    <a:lstStyle/>
                    <a:p>
                      <a:pPr algn="r"/>
                      <a:r>
                        <a:rPr sz="1100" b="0" i="0">
                          <a:solidFill>
                            <a:srgbClr val="3D4A5C"/>
                          </a:solidFill>
                          <a:latin typeface="Arial"/>
                        </a:rPr>
                        <a:t>0.90 / 0.28</a:t>
                      </a:r>
                    </a:p>
                  </a:txBody>
                  <a:tcPr marL="88900" marR="88900" marT="25400" marB="25400" anchor="ctr">
                    <a:noFill/>
                  </a:tcPr>
                </a:tc>
                <a:tc>
                  <a:txBody>
                    <a:bodyPr/>
                    <a:lstStyle/>
                    <a:p>
                      <a:pPr algn="l"/>
                      <a:r>
                        <a:rPr sz="1100" b="0" i="0">
                          <a:solidFill>
                            <a:srgbClr val="3D4A5C"/>
                          </a:solidFill>
                          <a:latin typeface="Arial"/>
                        </a:rPr>
                        <a:t>what happened</a:t>
                      </a:r>
                    </a:p>
                  </a:txBody>
                  <a:tcPr marL="88900" marR="88900" marT="25400" marB="25400" anchor="ctr">
                    <a:noFill/>
                  </a:tcPr>
                </a:tc>
              </a:tr>
              <a:tr h="384048">
                <a:tc>
                  <a:txBody>
                    <a:bodyPr/>
                    <a:lstStyle/>
                    <a:p>
                      <a:pPr algn="l"/>
                      <a:r>
                        <a:rPr sz="1100" b="0" i="0">
                          <a:solidFill>
                            <a:srgbClr val="3D4A5C"/>
                          </a:solidFill>
                          <a:latin typeface="Arial"/>
                        </a:rPr>
                        <a:t>Blind</a:t>
                      </a:r>
                    </a:p>
                  </a:txBody>
                  <a:tcPr marL="88900" marR="88900" marT="25400" marB="25400" anchor="ctr">
                    <a:noFill/>
                  </a:tcPr>
                </a:tc>
                <a:tc>
                  <a:txBody>
                    <a:bodyPr/>
                    <a:lstStyle/>
                    <a:p>
                      <a:pPr algn="r"/>
                      <a:r>
                        <a:rPr sz="1100" b="0" i="0">
                          <a:solidFill>
                            <a:srgbClr val="3D4A5C"/>
                          </a:solidFill>
                          <a:latin typeface="Arial"/>
                        </a:rPr>
                        <a:t>0.89 / 0.19</a:t>
                      </a:r>
                    </a:p>
                  </a:txBody>
                  <a:tcPr marL="88900" marR="88900" marT="25400" marB="25400" anchor="ctr">
                    <a:noFill/>
                  </a:tcPr>
                </a:tc>
                <a:tc>
                  <a:txBody>
                    <a:bodyPr/>
                    <a:lstStyle/>
                    <a:p>
                      <a:pPr algn="r"/>
                      <a:r>
                        <a:rPr sz="1100" b="0" i="0">
                          <a:solidFill>
                            <a:srgbClr val="3D4A5C"/>
                          </a:solidFill>
                          <a:latin typeface="Arial"/>
                        </a:rPr>
                        <a:t>0.94 / 0.23</a:t>
                      </a:r>
                    </a:p>
                  </a:txBody>
                  <a:tcPr marL="88900" marR="88900" marT="25400" marB="25400" anchor="ctr">
                    <a:noFill/>
                  </a:tcPr>
                </a:tc>
                <a:tc>
                  <a:txBody>
                    <a:bodyPr/>
                    <a:lstStyle/>
                    <a:p>
                      <a:pPr algn="r"/>
                      <a:r>
                        <a:rPr sz="1100" b="0" i="0">
                          <a:solidFill>
                            <a:srgbClr val="3D4A5C"/>
                          </a:solidFill>
                          <a:latin typeface="Arial"/>
                        </a:rPr>
                        <a:t>0.83 / 0.15</a:t>
                      </a:r>
                    </a:p>
                  </a:txBody>
                  <a:tcPr marL="88900" marR="88900" marT="25400" marB="25400" anchor="ctr">
                    <a:noFill/>
                  </a:tcPr>
                </a:tc>
                <a:tc>
                  <a:txBody>
                    <a:bodyPr/>
                    <a:lstStyle/>
                    <a:p>
                      <a:pPr algn="l"/>
                      <a:r>
                        <a:rPr sz="1100" b="0" i="0">
                          <a:solidFill>
                            <a:srgbClr val="3D4A5C"/>
                          </a:solidFill>
                          <a:latin typeface="Arial"/>
                        </a:rPr>
                        <a:t>what happened</a:t>
                      </a:r>
                    </a:p>
                  </a:txBody>
                  <a:tcPr marL="88900" marR="88900" marT="25400" marB="25400" anchor="ctr">
                    <a:noFill/>
                  </a:tcPr>
                </a:tc>
              </a:tr>
              <a:tr h="384048">
                <a:tc>
                  <a:txBody>
                    <a:bodyPr/>
                    <a:lstStyle/>
                    <a:p>
                      <a:pPr algn="l"/>
                      <a:r>
                        <a:rPr sz="1100" b="0" i="0">
                          <a:solidFill>
                            <a:srgbClr val="3D4A5C"/>
                          </a:solidFill>
                          <a:latin typeface="Arial"/>
                        </a:rPr>
                        <a:t>Masked</a:t>
                      </a:r>
                    </a:p>
                  </a:txBody>
                  <a:tcPr marL="88900" marR="88900" marT="25400" marB="25400" anchor="ctr">
                    <a:noFill/>
                  </a:tcPr>
                </a:tc>
                <a:tc>
                  <a:txBody>
                    <a:bodyPr/>
                    <a:lstStyle/>
                    <a:p>
                      <a:pPr algn="r"/>
                      <a:r>
                        <a:rPr sz="1100" b="0" i="0">
                          <a:solidFill>
                            <a:srgbClr val="3D4A5C"/>
                          </a:solidFill>
                          <a:latin typeface="Arial"/>
                        </a:rPr>
                        <a:t>0.21 / 0.83</a:t>
                      </a:r>
                    </a:p>
                  </a:txBody>
                  <a:tcPr marL="88900" marR="88900" marT="25400" marB="25400" anchor="ctr">
                    <a:noFill/>
                  </a:tcPr>
                </a:tc>
                <a:tc>
                  <a:txBody>
                    <a:bodyPr/>
                    <a:lstStyle/>
                    <a:p>
                      <a:pPr algn="r"/>
                      <a:r>
                        <a:rPr sz="1100" b="0" i="0">
                          <a:solidFill>
                            <a:srgbClr val="3D4A5C"/>
                          </a:solidFill>
                          <a:latin typeface="Arial"/>
                        </a:rPr>
                        <a:t>0.26 / 0.87</a:t>
                      </a:r>
                    </a:p>
                  </a:txBody>
                  <a:tcPr marL="88900" marR="88900" marT="25400" marB="25400" anchor="ctr">
                    <a:noFill/>
                  </a:tcPr>
                </a:tc>
                <a:tc>
                  <a:txBody>
                    <a:bodyPr/>
                    <a:lstStyle/>
                    <a:p>
                      <a:pPr algn="r"/>
                      <a:r>
                        <a:rPr sz="1100" b="0" i="0">
                          <a:solidFill>
                            <a:srgbClr val="3D4A5C"/>
                          </a:solidFill>
                          <a:latin typeface="Arial"/>
                        </a:rPr>
                        <a:t>0.15 / 0.49</a:t>
                      </a:r>
                    </a:p>
                  </a:txBody>
                  <a:tcPr marL="88900" marR="88900" marT="25400" marB="25400" anchor="ctr">
                    <a:noFill/>
                  </a:tcPr>
                </a:tc>
                <a:tc>
                  <a:txBody>
                    <a:bodyPr/>
                    <a:lstStyle/>
                    <a:p>
                      <a:pPr algn="l"/>
                      <a:r>
                        <a:rPr sz="1100" b="0" i="0">
                          <a:solidFill>
                            <a:srgbClr val="3D4A5C"/>
                          </a:solidFill>
                          <a:latin typeface="Arial"/>
                        </a:rPr>
                        <a:t>recent trend</a:t>
                      </a:r>
                    </a:p>
                  </a:txBody>
                  <a:tcPr marL="88900" marR="88900" marT="25400" marB="25400" anchor="ctr">
                    <a:noFill/>
                  </a:tcPr>
                </a:tc>
              </a:tr>
              <a:tr h="384048">
                <a:tc>
                  <a:txBody>
                    <a:bodyPr/>
                    <a:lstStyle/>
                    <a:p>
                      <a:pPr algn="l"/>
                      <a:r>
                        <a:rPr sz="1100" b="0" i="0">
                          <a:solidFill>
                            <a:srgbClr val="3D4A5C"/>
                          </a:solidFill>
                          <a:latin typeface="Arial"/>
                        </a:rPr>
                        <a:t>ARIMAX</a:t>
                      </a:r>
                    </a:p>
                  </a:txBody>
                  <a:tcPr marL="88900" marR="88900" marT="25400" marB="25400" anchor="ctr">
                    <a:lnB w="17780" cap="flat" cmpd="sng" algn="ctr">
                      <a:solidFill>
                        <a:srgbClr val="16213E"/>
                      </a:solidFill>
                    </a:lnB>
                    <a:noFill/>
                  </a:tcPr>
                </a:tc>
                <a:tc>
                  <a:txBody>
                    <a:bodyPr/>
                    <a:lstStyle/>
                    <a:p>
                      <a:pPr algn="r"/>
                      <a:r>
                        <a:rPr sz="1100" b="0" i="0">
                          <a:solidFill>
                            <a:srgbClr val="3D4A5C"/>
                          </a:solidFill>
                          <a:latin typeface="Arial"/>
                        </a:rPr>
                        <a:t>0.37 / 0.66</a:t>
                      </a:r>
                    </a:p>
                  </a:txBody>
                  <a:tcPr marL="88900" marR="88900" marT="25400" marB="25400" anchor="ctr">
                    <a:lnB w="17780" cap="flat" cmpd="sng" algn="ctr">
                      <a:solidFill>
                        <a:srgbClr val="16213E"/>
                      </a:solidFill>
                    </a:lnB>
                    <a:noFill/>
                  </a:tcPr>
                </a:tc>
                <a:tc>
                  <a:txBody>
                    <a:bodyPr/>
                    <a:lstStyle/>
                    <a:p>
                      <a:pPr algn="r"/>
                    </a:p>
                  </a:txBody>
                  <a:tcPr marL="88900" marR="88900" marT="25400" marB="25400" anchor="ctr">
                    <a:lnB w="17780" cap="flat" cmpd="sng" algn="ctr">
                      <a:solidFill>
                        <a:srgbClr val="16213E"/>
                      </a:solidFill>
                    </a:lnB>
                    <a:noFill/>
                  </a:tcPr>
                </a:tc>
                <a:tc>
                  <a:txBody>
                    <a:bodyPr/>
                    <a:lstStyle/>
                    <a:p>
                      <a:pPr algn="r"/>
                    </a:p>
                  </a:txBody>
                  <a:tcPr marL="88900" marR="88900" marT="25400" marB="25400" anchor="ctr">
                    <a:lnB w="17780" cap="flat" cmpd="sng" algn="ctr">
                      <a:solidFill>
                        <a:srgbClr val="16213E"/>
                      </a:solidFill>
                    </a:lnB>
                    <a:noFill/>
                  </a:tcPr>
                </a:tc>
                <a:tc>
                  <a:txBody>
                    <a:bodyPr/>
                    <a:lstStyle/>
                    <a:p>
                      <a:pPr algn="l"/>
                      <a:r>
                        <a:rPr sz="1100" b="0" i="0">
                          <a:solidFill>
                            <a:srgbClr val="3D4A5C"/>
                          </a:solidFill>
                          <a:latin typeface="Arial"/>
                        </a:rPr>
                        <a:t>recent trend</a:t>
                      </a:r>
                    </a:p>
                  </a:txBody>
                  <a:tcPr marL="88900" marR="88900" marT="25400" marB="25400" anchor="ctr">
                    <a:lnB w="17780" cap="flat" cmpd="sng" algn="ctr">
                      <a:solidFill>
                        <a:srgbClr val="16213E"/>
                      </a:solidFill>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deckkit-chrome-title"/>
          <p:cNvSpPr txBox="1"/>
          <p:nvPr/>
        </p:nvSpPr>
        <p:spPr>
          <a:xfrm>
            <a:off x="502920" y="274320"/>
            <a:ext cx="813816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1100" b="1" i="0">
                <a:solidFill>
                  <a:srgbClr val="1F6F8B"/>
                </a:solidFill>
                <a:latin typeface="Arial"/>
              </a:rPr>
              <a:t>APPENDIX A6 · ONLY IF ASKED ABOUT CRIME</a:t>
            </a:r>
          </a:p>
        </p:txBody>
      </p:sp>
      <p:sp>
        <p:nvSpPr>
          <p:cNvPr id="3" name="deckkit-chrome-title"/>
          <p:cNvSpPr txBox="1"/>
          <p:nvPr/>
        </p:nvSpPr>
        <p:spPr>
          <a:xfrm>
            <a:off x="502920" y="493776"/>
            <a:ext cx="8138160" cy="792479"/>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2600" b="1" i="0">
                <a:solidFill>
                  <a:srgbClr val="16213E"/>
                </a:solidFill>
                <a:latin typeface="Arial"/>
              </a:rPr>
              <a:t>Crime tracks price, but it didn't predict the 2022 drop or today's winners</a:t>
            </a:r>
          </a:p>
        </p:txBody>
      </p:sp>
      <p:sp>
        <p:nvSpPr>
          <p:cNvPr id="4" name="deckkit-chrome-title"/>
          <p:cNvSpPr/>
          <p:nvPr/>
        </p:nvSpPr>
        <p:spPr>
          <a:xfrm>
            <a:off x="521207" y="1341120"/>
            <a:ext cx="1005840" cy="41148"/>
          </a:xfrm>
          <a:prstGeom prst="rect">
            <a:avLst/>
          </a:prstGeom>
          <a:solidFill>
            <a:srgbClr val="1F6F8B"/>
          </a:solidFill>
          <a:ln>
            <a:noFill/>
          </a:ln>
          <a:effectLst/>
        </p:spPr>
        <p:txBody>
          <a:bodyPr rtlCol="0" anchor="ctr"/>
          <a:lstStyle/>
          <a:p>
            <a:pPr algn="ctr"/>
          </a:p>
        </p:txBody>
      </p:sp>
      <p:sp>
        <p:nvSpPr>
          <p:cNvPr id="5" name="TextBox 4"/>
          <p:cNvSpPr txBox="1"/>
          <p:nvPr/>
        </p:nvSpPr>
        <p:spPr>
          <a:xfrm>
            <a:off x="502920" y="4823460"/>
            <a:ext cx="5486400" cy="274320"/>
          </a:xfrm>
          <a:prstGeom prst="rect">
            <a:avLst/>
          </a:prstGeom>
          <a:noFill/>
          <a:ln/>
        </p:spPr>
        <p:txBody>
          <a:bodyPr wrap="square" anchor="t" lIns="25400" rIns="25400" tIns="25400" bIns="25400">
            <a:spAutoFit/>
          </a:bodyPr>
          <a:lstStyle/>
          <a:p>
            <a:pPr algn="l">
              <a:lnSpc>
                <a:spcPct val="100000"/>
              </a:lnSpc>
              <a:spcBef>
                <a:spcPts val="0"/>
              </a:spcBef>
              <a:spcAft>
                <a:spcPts val="0"/>
              </a:spcAft>
            </a:pPr>
            <a:r>
              <a:rPr sz="800" b="0" i="0">
                <a:solidFill>
                  <a:srgbClr val="6B6F76"/>
                </a:solidFill>
                <a:latin typeface="Arial"/>
              </a:rPr>
              <a:t>MGMTMSA 437 · Forecasting LA Home Values · Data: Zillow ZHVI, FRED, BLS</a:t>
            </a:r>
          </a:p>
        </p:txBody>
      </p:sp>
      <p:sp>
        <p:nvSpPr>
          <p:cNvPr id="6" name="TextBox 5"/>
          <p:cNvSpPr txBox="1"/>
          <p:nvPr/>
        </p:nvSpPr>
        <p:spPr>
          <a:xfrm>
            <a:off x="8229600" y="4823460"/>
            <a:ext cx="548640" cy="274320"/>
          </a:xfrm>
          <a:prstGeom prst="rect">
            <a:avLst/>
          </a:prstGeom>
          <a:noFill/>
          <a:ln/>
        </p:spPr>
        <p:txBody>
          <a:bodyPr wrap="square" anchor="t" lIns="25400" rIns="25400" tIns="25400" bIns="25400">
            <a:spAutoFit/>
          </a:bodyPr>
          <a:lstStyle/>
          <a:p>
            <a:pPr algn="r">
              <a:lnSpc>
                <a:spcPct val="100000"/>
              </a:lnSpc>
              <a:spcBef>
                <a:spcPts val="0"/>
              </a:spcBef>
              <a:spcAft>
                <a:spcPts val="0"/>
              </a:spcAft>
            </a:pPr>
            <a:r>
              <a:rPr sz="900" b="1" i="0">
                <a:solidFill>
                  <a:srgbClr val="6B6F76"/>
                </a:solidFill>
                <a:latin typeface="Arial"/>
              </a:rPr>
              <a:t>6</a:t>
            </a:r>
          </a:p>
        </p:txBody>
      </p:sp>
      <p:sp>
        <p:nvSpPr>
          <p:cNvPr id="7" name="Rounded Rectangle 6"/>
          <p:cNvSpPr/>
          <p:nvPr/>
        </p:nvSpPr>
        <p:spPr>
          <a:xfrm>
            <a:off x="457200" y="3826763"/>
            <a:ext cx="8229600" cy="722376"/>
          </a:xfrm>
          <a:prstGeom prst="roundRect">
            <a:avLst>
              <a:gd name="adj" fmla="val 8000"/>
            </a:avLst>
          </a:prstGeom>
          <a:solidFill>
            <a:srgbClr val="F3ECE3"/>
          </a:solidFill>
          <a:ln>
            <a:noFill/>
          </a:ln>
          <a:effectLst/>
        </p:spPr>
        <p:txBody>
          <a:bodyPr rtlCol="0" anchor="ctr"/>
          <a:lstStyle/>
          <a:p>
            <a:pPr algn="ctr"/>
          </a:p>
        </p:txBody>
      </p:sp>
      <p:sp>
        <p:nvSpPr>
          <p:cNvPr id="8" name="Rectangle 7"/>
          <p:cNvSpPr/>
          <p:nvPr/>
        </p:nvSpPr>
        <p:spPr>
          <a:xfrm>
            <a:off x="457200" y="3884554"/>
            <a:ext cx="64008" cy="606795"/>
          </a:xfrm>
          <a:prstGeom prst="rect">
            <a:avLst/>
          </a:prstGeom>
          <a:solidFill>
            <a:srgbClr val="B4400B"/>
          </a:solidFill>
          <a:ln>
            <a:noFill/>
          </a:ln>
          <a:effectLst/>
        </p:spPr>
        <p:txBody>
          <a:bodyPr rtlCol="0" anchor="ctr"/>
          <a:lstStyle/>
          <a:p>
            <a:pPr algn="ctr"/>
          </a:p>
        </p:txBody>
      </p:sp>
      <p:sp>
        <p:nvSpPr>
          <p:cNvPr id="9" name="TextBox 8"/>
          <p:cNvSpPr txBox="1"/>
          <p:nvPr/>
        </p:nvSpPr>
        <p:spPr>
          <a:xfrm>
            <a:off x="676656" y="3826763"/>
            <a:ext cx="7827264" cy="722376"/>
          </a:xfrm>
          <a:prstGeom prst="rect">
            <a:avLst/>
          </a:prstGeom>
          <a:noFill/>
          <a:ln/>
        </p:spPr>
        <p:txBody>
          <a:bodyPr wrap="square" anchor="ctr" lIns="25400" rIns="25400" tIns="25400" bIns="25400">
            <a:spAutoFit/>
          </a:bodyPr>
          <a:lstStyle/>
          <a:p>
            <a:pPr algn="l">
              <a:lnSpc>
                <a:spcPct val="108000"/>
              </a:lnSpc>
              <a:spcBef>
                <a:spcPts val="0"/>
              </a:spcBef>
              <a:spcAft>
                <a:spcPts val="0"/>
              </a:spcAft>
            </a:pPr>
            <a:r>
              <a:rPr sz="1100" b="1" i="0">
                <a:solidFill>
                  <a:srgbClr val="B4400B"/>
                </a:solidFill>
                <a:latin typeface="Arial"/>
              </a:rPr>
              <a:t>WHY IT'S IN THE APPENDIX  </a:t>
            </a:r>
            <a:r>
              <a:rPr sz="1250" b="0" i="0">
                <a:solidFill>
                  <a:srgbClr val="16213E"/>
                </a:solidFill>
                <a:latin typeface="Arial"/>
              </a:rPr>
              <a:t>Crime data covers only the City of LA (91 of 496 neighborhoods), and it adds nothing to price prediction: at the same price level, p = 0.59 and 0.68. Price already carries it.</a:t>
            </a:r>
          </a:p>
        </p:txBody>
      </p:sp>
      <p:pic>
        <p:nvPicPr>
          <p:cNvPr id="10" name="Picture 9" descr="City of LA neighborhoods: violent crime vs home value, and vs the 2022-23 drop and last-12-month change after controlling for price" title="City of LA neighborhoods: violent crime vs home value, and vs the 2022-23 drop and last-12-month change after controllin"/>
          <p:cNvPicPr>
            <a:picLocks noChangeAspect="1"/>
          </p:cNvPicPr>
          <p:nvPr/>
        </p:nvPicPr>
        <p:blipFill>
          <a:blip r:embed="rId2"/>
          <a:stretch>
            <a:fillRect/>
          </a:stretch>
        </p:blipFill>
        <p:spPr>
          <a:xfrm>
            <a:off x="1380702" y="1569720"/>
            <a:ext cx="6382594" cy="211988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
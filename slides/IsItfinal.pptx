
<file path=[Content_Types].xml><?xml version="1.0" encoding="utf-8"?>
<Types xmlns="http://schemas.openxmlformats.org/package/2006/content-types">
  <Default Extension="fntdata" ContentType="application/x-fo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embeddedFontLst>
    <p:embeddedFont>
      <p:font typeface="Outfit SemiBold" pitchFamily="2" charset="0"/>
      <p:regular r:id="rId24"/>
    </p:embeddedFont>
    <p:embeddedFont>
      <p:font typeface="Outfit Medium" pitchFamily="2" charset="0"/>
      <p:regular r:id="rId25"/>
    </p:embeddedFont>
    <p:embeddedFont>
      <p:font typeface="Geist" pitchFamily="2" charset="0"/>
      <p:regular r:id="rId26"/>
    </p:embeddedFont>
    <p:embeddedFont>
      <p:font typeface="Geist Medium" pitchFamily="2" charset="0"/>
      <p:regular r:id="rId27"/>
    </p:embeddedFont>
    <p:embeddedFont>
      <p:font typeface="Geist SemiBold" pitchFamily="2" charset="0"/>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31461"/>
          <c:y val="0"/>
          <c:w val="0.61236"/>
          <c:h val="1"/>
        </c:manualLayout>
      </c:layout>
      <c:barChart>
        <c:barDir val="bar"/>
        <c:grouping val="clustered"/>
        <c:varyColors val="0"/>
        <c:ser>
          <c:idx val="0"/>
          <c:order val="0"/>
          <c:tx>
            <c:strRef>
              <c:f>Sheet1!$B$1</c:f>
              <c:strCache>
                <c:ptCount val="1"/>
                <c:pt idx="0">
                  <c:v>Avg % error, 1-12 months</c:v>
                </c:pt>
              </c:strCache>
            </c:strRef>
          </c:tx>
          <c:spPr>
            <a:solidFill>
              <a:srgbClr val="B9BFCB"/>
            </a:solidFill>
            <a:ln>
              <a:noFill/>
            </a:ln>
          </c:spPr>
          <c:dPt>
            <c:idx val="0"/>
            <c:spPr>
              <a:solidFill>
                <a:srgbClr val="1F6F8B"/>
              </a:solidFill>
            </c:spPr>
          </c:dPt>
          <c:cat>
            <c:strRef>
              <c:f>Sheet1!$A$2:$A$15</c:f>
              <c:strCache>
                <c:ptCount val="14"/>
                <c:pt idx="0">
                  <c:v>ARIMAX</c:v>
                </c:pt>
                <c:pt idx="1">
                  <c:v>ARIMA</c:v>
                </c:pt>
                <c:pt idx="2">
                  <c:v>ARIMAX + jobs</c:v>
                </c:pt>
                <c:pt idx="3">
                  <c:v>VAR (growth + rate)</c:v>
                </c:pt>
                <c:pt idx="4">
                  <c:v>LSTM</c:v>
                </c:pt>
                <c:pt idx="5">
                  <c:v>GRU</c:v>
                </c:pt>
                <c:pt idx="6">
                  <c:v>Naive drift</c:v>
                </c:pt>
                <c:pt idx="7">
                  <c:v>Holt (damped)</c:v>
                </c:pt>
                <c:pt idx="8">
                  <c:v>Chronos (foundation model)</c:v>
                </c:pt>
                <c:pt idx="9">
                  <c:v>LightGBM</c:v>
                </c:pt>
                <c:pt idx="10">
                  <c:v>Factor VAR (neighborhoods)</c:v>
                </c:pt>
                <c:pt idx="11">
                  <c:v>XGBoost</c:v>
                </c:pt>
                <c:pt idx="12">
                  <c:v>Prophet + COVID &amp; rates</c:v>
                </c:pt>
                <c:pt idx="13">
                  <c:v>Prophet</c:v>
                </c:pt>
              </c:strCache>
            </c:strRef>
          </c:cat>
          <c:val>
            <c:numRef>
              <c:f>Sheet1!$B$2:$B$15</c:f>
              <c:numCache>
                <c:formatCode>General</c:formatCode>
                <c:ptCount val="14"/>
                <c:pt idx="0">
                  <c:v>2.67</c:v>
                </c:pt>
                <c:pt idx="1">
                  <c:v>2.77</c:v>
                </c:pt>
                <c:pt idx="2">
                  <c:v>2.81</c:v>
                </c:pt>
                <c:pt idx="3">
                  <c:v>2.93</c:v>
                </c:pt>
                <c:pt idx="4">
                  <c:v>3.02</c:v>
                </c:pt>
                <c:pt idx="5">
                  <c:v>3.18</c:v>
                </c:pt>
                <c:pt idx="6">
                  <c:v>3.27</c:v>
                </c:pt>
                <c:pt idx="7">
                  <c:v>3.39</c:v>
                </c:pt>
                <c:pt idx="8">
                  <c:v>3.56</c:v>
                </c:pt>
                <c:pt idx="9">
                  <c:v>3.6</c:v>
                </c:pt>
                <c:pt idx="10">
                  <c:v>3.64</c:v>
                </c:pt>
                <c:pt idx="11">
                  <c:v>3.65</c:v>
                </c:pt>
                <c:pt idx="12">
                  <c:v>5.12</c:v>
                </c:pt>
                <c:pt idx="13">
                  <c:v>6.89</c:v>
                </c:pt>
              </c:numCache>
            </c:numRef>
          </c:val>
        </c:ser>
        <c:dLbls>
          <c:numFmt formatCode="0.00" sourceLinked="0"/>
          <c:txPr>
            <a:bodyPr/>
            <a:lstStyle/>
            <a:p>
              <a:pPr>
                <a:defRPr sz="1125" b="0">
                  <a:solidFill>
                    <a:srgbClr val="16213E"/>
                  </a:solidFill>
                  <a:latin typeface="Geist Medium"/>
                  <a:ea typeface="Geist Medium"/>
                  <a:cs typeface="Geist Medium"/>
                </a:defRPr>
              </a:pPr>
              <a:endParaRPr lang="en-US"/>
            </a:p>
          </c:txPr>
          <c:dLblPos val="outEnd"/>
          <c:showLegendKey val="0"/>
          <c:showVal val="1"/>
          <c:showCatName val="0"/>
          <c:showSerName val="0"/>
          <c:showPercent val="0"/>
          <c:showBubbleSize val="0"/>
          <c:showLeaderLines val="1"/>
        </c:dLbls>
        <c:gapWidth val="95"/>
        <c:axId val="-2068027336"/>
        <c:axId val="-2113994440"/>
      </c:barChart>
      <c:catAx>
        <c:axId val="-2068027336"/>
        <c:scaling>
          <c:orientation val="maxMin"/>
        </c:scaling>
        <c:delete val="0"/>
        <c:axPos val="l"/>
        <c:majorTickMark val="none"/>
        <c:minorTickMark val="none"/>
        <c:tickLblPos val="none"/>
        <c:spPr>
          <a:ln>
            <a:noFill/>
          </a:ln>
        </c:spPr>
        <c:txPr>
          <a:bodyPr/>
          <a:lstStyle/>
          <a:p>
            <a:pPr>
              <a:defRPr sz="1125" b="0">
                <a:solidFill>
                  <a:srgbClr val="3D4A5C"/>
                </a:solidFill>
                <a:latin typeface="Geist"/>
                <a:ea typeface="Geist"/>
                <a:cs typeface="Geist"/>
              </a:defRPr>
            </a:pPr>
            <a:endParaRPr lang="en-US"/>
          </a:p>
        </c:txPr>
        <c:crossAx val="-2113994440"/>
        <c:crosses val="autoZero"/>
        <c:auto val="1"/>
        <c:lblAlgn val="ctr"/>
        <c:lblOffset val="100"/>
        <c:noMultiLvlLbl val="0"/>
      </c:catAx>
      <c:valAx>
        <c:axId val="-2113994440"/>
        <c:scaling>
          <c:max val="7.0"/>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Hi everyone. We forecast home values in the Los Angeles metro, using Zillow's monthly index from 2000 to August 2026. The line shows the whole story: a boom and bust in the 2000s, a long recovery, a pandemic surge, then a stall. Our question: how well can we forecast LA home values up to a year ahead, and what works best? We compare traditional time-series models with an alternative many people now try first: asking an AI chatbot. From here on we just say AI, or LLM. We asked each one through its API, one fresh question at a time, with no conversation history.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From 2000 to 2026, LA home values grew about 5.6 percent a year on average, with a 39 percent crash from 2006 to 2012. The typical home is worth about 952 thousand dollars, 1.3 percent below the January 2025 peak. The orange line takes out inflation: in today's dollars, LA is about 7 percent below its 2022 peak, not 1 percent. The bottom panel shows why this is a hard test: the 30-year mortgage rate went from 2.7 percent in 2021 to 7.6 percent in 2023, and the shaded test window runs right through that shock.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That history gives us a difficult forecasting test. Our data: the Zillow index, about 500 neighborhoods, the mortgage rate, and payroll jobs for LA and Orange County. We compared fourteen models, from a simple naive-drift benchmark to neural networks and Amazon's Chronos foundation model, plus three AI models. Every model setting, including the mortgage-rate lag, was chosen on training data only. Our main test is a rolling-origin test: we repeat a twelve-month forecast at eighteen start dates, every three months. The score is the average absolute percentage error across those months and dates. Lower is better.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ARIMAX, which is ARIMA plus the mortgage rate, had the lowest average error, 2.67 percent, just ahead of plain ARIMA at 2.77. The gap is small. Neural networks landed in the middle, tree models lower, and Prophet had the highest error in our test. The ranking holds in dollars too. One honest point: at twelve months ahead, ARIMAX and naive drift, which just extends the historical average growth, both have errors of about five percent: 5.0 and 4.9.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Why test at eighteen dates instead of one? In a single 80/20 split, LightGBM, circled in red, won with 2.2 percent error. Across our rolling tests it ranked tenth, and ARIMAX, in green, was first. The long test forecasts 64 months at once, so it is a different task. The ranking depends on the forecast period and horizon, so we put more weight on repeated tests.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[Jeremy] We then asked whether AI could improve on these results. AI introduces another testing problem: they may recognize the historical period. We asked Claude, GPT and Gemini to forecast the same eighteen dates, each as a fresh API request with only the data up to that date. At first they looked brilliant: 1.3 to 1.6 percent error, better than every model. But all eighteen dates are before their training cutoff, so these periods may already be familiar to them. When we hid the place, the dates and the mortgage rate, Claude's error rose to 2.8 percent, GPT's to 2.7 and Gemini's to 3.0. Their average errors were close to ARIMAX's, and at month 12 our statistical test did not detect a difference.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[Jeremy] Here is how we gave the AI fewer clues. Named says Los Angeles, with real dates. Blind hides the place and dates but keeps the real mortgage rate, and that is enough: asked to identify the blind series, Claude named Los Angeles 16 times out of 18 and got the dates exactly right. Masked shows only the last ten years, rescaled, with no rate. Claude never named LA, though it could still guess the period from the shape, so masking reduces the clues rather than removing them. The chart shows a forecast made in April 2022, just before the downturn. With the clues, Claude forecast a fall, close to what happened. With the masked prompt, Claude predicted continued growth, as ARIMAX did. The masked forecast and ARIMAX both missed the downturn. One more check: given 26 years of masked data instead of 10, Claude called the 2022 fall and scored 2.47 percent. A longer history gives the dates away, so masking is a dial, not a switch.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We also examined the relationship with rates and produced a forecast for August 2027. Top: our VAR estimates how LA values respond after a one-point rise in the mortgage rate: little at first, about 4.5 percent lower after a year and 9 after two. That is a predictive relationship, not a proven causal effect, and the Granger test is borderline, p equals 0.052. Inside ARIMAX neither the rate nor jobs is significant on its own, and jobs, income and crime didn't improve the forecast. Still, the rate helps out of sample. It enters with a two-year lag, so a twelve-month forecast never needs future rates. Bottom: ARIMAX forecasts about 998 thousand dollars by August 2027, up 4.8 percent. The band is the ARIMA 80 percent interval, for context: from minus 6 to plus 17 percent.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[Jin] That forecast describes the metro average. Individual neighborhoods look very different. Of 496 neighborhoods with recent data, 220 rose more than 2 percent in the last year, 216 stayed within 2 percent, and 60 fell. [Switch to the browser.] Blue is rising, red is falling. The map shows gains in selected coastal neighborhoods, including North of Montana, Point Dume and Corona del Mar, and declines in parts of central LA such as Koreatown and Downtown. [Click one neighborhood.] Each shows its value, its change and our 12-month forecast. [Back to the slides.] Higher starting prices were associated with larger declines in LA County after 2022. We tested neighborhood forecasts the same rolling way, at five yearly dates for about 400 neighborhoods: ARIMA for each neighborhood had 2.8 percent error, the naive benchmark 3.5.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Our answer: a simple ARIMAX had the lowest average error, about 2.7 percent; a full year out, the naive benchmark was just as good; and masked AI showed no clear advantage. Four takeaways. Simple models were competitive. AI needs tests on new outcomes before we can judge its forecasting value; the recognition checks suggest historical familiarity contributed to its apparent advantage. Mortgage rates matter, slowly, while jobs, income and crime didn't improve the forecast. And the metro average is only part of the picture. Next, we would test more cities, and score the AI live after its training cutoff. Thank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what each method could see. Every method saw only data up to its forecast date. Models and the masked AI never see the place or the dates. Named and blind AI see the real mortgage rate, which is enough to date the series.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a specific model. One line each, in plain English.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absolute percentage error at 1, 3, 6 and 12 months ahead and averaged over months 1 to 12, across 18 forecast dates. RMSE is in dollars, averaged over months 1 to 12.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how we know the AI recognized the period. These checks ran on Claude 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 forecaster that recalls the outcome tracks what actually happened; one that forecasts from the data tracks the recent trend, as ARIMAX does.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only if Professor Yu asks about crime. Two reasons it is not in the main talk: it covers only part of our neighborhoods, and it does not help predict prices. LAPD data only covers the City of LA, so this is 91 neighborhoods. We counted crimes within 1.5 kilometers of each neighborhood per 1,000 residents, and split them into violent crime (murder, rape, robbery, aggravated assault) and property crime, using the FBI definitions so 2021 and 2025 count the same things. On the left, violent crime and home value go together strongly: safer neighborhoods cost more, correlation minus 0.68. But the question for forecasting is whether crime tells us anything beyond price. The middle and right panels compare neighborhoods at the same price level. Crime did not predict which neighborhoods fell more in 2022 and 2023, p equals 0.59, or which are rising over the last year, p equals 0.68. Without the price control, high-crime areas did grow less this year, but that is just because they are the cheaper areas, and cheaper areas grew less. Same answer for total crime and property crime.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neiltd.github.io/la-housing-forecast/"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Forecasting LAHome Values"/>
          <p:cNvSpPr>
            <a:spLocks noGrp="1"/>
          </p:cNvSpPr>
          <p:nvPr>
            <p:ph type="title"/>
          </p:nvPr>
        </p:nvSpPr>
        <p:spPr>
          <a:xfrm>
            <a:off x="685800" y="1402080"/>
            <a:ext cx="5654040" cy="1257300"/>
          </a:xfrm>
        </p:spPr>
        <p:txBody>
          <a:bodyPr wrap="square" lIns="0" tIns="0" rIns="0" bIns="0" anchor="t" rtlCol="0" vert="horz">
            <a:noAutofit/>
          </a:bodyPr>
          <a:lstStyle/>
          <a:p>
            <a:pPr algn="l" marL="0" indent="0">
              <a:lnSpc>
                <a:spcPts val="4950"/>
              </a:lnSpc>
              <a:spcBef>
                <a:spcPts val="0"/>
              </a:spcBef>
              <a:spcAft>
                <a:spcPts val="0"/>
              </a:spcAft>
              <a:buNone/>
            </a:pPr>
            <a:r>
              <a:rPr lang="en-US" sz="4800" b="0" i="0" kern="0" dirty="0" spc="-197">
                <a:solidFill>
                  <a:srgbClr val="16213E"/>
                </a:solidFill>
                <a:latin typeface="Outfit SemiBold" pitchFamily="2" charset="0"/>
                <a:ea typeface="Outfit SemiBold" pitchFamily="2" charset="0"/>
                <a:cs typeface="Outfit SemiBold" pitchFamily="2" charset="0"/>
              </a:rPr>
              <a:t>Forecasting LA</a:t>
            </a:r>
            <a:br>
              <a:rPr lang="en-US" sz="4800" b="0" i="0" kern="0" dirty="0" spc="-197">
                <a:solidFill>
                  <a:srgbClr val="16213E"/>
                </a:solidFill>
                <a:latin typeface="Outfit SemiBold" pitchFamily="2" charset="0"/>
                <a:ea typeface="Outfit SemiBold" pitchFamily="2" charset="0"/>
                <a:cs typeface="Outfit SemiBold" pitchFamily="2" charset="0"/>
              </a:rPr>
            </a:br>
            <a:r>
              <a:rPr lang="en-US" sz="4800" b="0" i="0" kern="0" dirty="0" spc="-197">
                <a:solidFill>
                  <a:srgbClr val="16213E"/>
                </a:solidFill>
                <a:latin typeface="Outfit SemiBold" pitchFamily="2" charset="0"/>
                <a:ea typeface="Outfit SemiBold" pitchFamily="2" charset="0"/>
                <a:cs typeface="Outfit SemiBold" pitchFamily="2" charset="0"/>
              </a:rPr>
              <a:t>Home Values</a:t>
            </a:r>
            <a:endParaRPr lang="en-US" sz="4800" b="0" i="0" kern="0" dirty="0" spc="-197">
              <a:solidFill>
                <a:srgbClr val="16213E"/>
              </a:solidFill>
              <a:latin typeface="Outfit SemiBold" pitchFamily="2" charset="0"/>
              <a:ea typeface="Outfit SemiBold" pitchFamily="2" charset="0"/>
              <a:cs typeface="Outfit SemiBold" pitchFamily="2" charset="0"/>
            </a:endParaRPr>
          </a:p>
        </p:txBody>
      </p:sp>
      <p:sp>
        <p:nvSpPr>
          <p:cNvPr id="3" name="Text: MGMTMSA 437 · Final project · October 20"/>
          <p:cNvSpPr txBox="1"/>
          <p:nvPr/>
        </p:nvSpPr>
        <p:spPr>
          <a:xfrm>
            <a:off x="685800" y="9925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9">
                <a:solidFill>
                  <a:srgbClr val="1F6F8B"/>
                </a:solidFill>
                <a:latin typeface="Geist SemiBold" pitchFamily="2" charset="0"/>
                <a:ea typeface="Geist SemiBold" pitchFamily="2" charset="0"/>
                <a:cs typeface="Geist SemiBold" pitchFamily="2" charset="0"/>
              </a:rPr>
              <a:t>MGMTMSA 437 · Final project · October 2026</a:t>
            </a:r>
            <a:endParaRPr lang="en-US" sz="1125" b="0" i="0" kern="0" dirty="0" spc="-9">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2800350"/>
            <a:ext cx="800100" cy="47625"/>
          </a:xfrm>
          <a:prstGeom prst="roundRect">
            <a:avLst>
              <a:gd name="adj" fmla="val 20000"/>
            </a:avLst>
          </a:prstGeom>
          <a:solidFill>
            <a:srgbClr val="B4400B"/>
          </a:solidFill>
          <a:ln>
            <a:noFill/>
          </a:ln>
        </p:spPr>
        <p:txBody>
          <a:bodyPr rtlCol="0" anchor="ctr"/>
          <a:lstStyle/>
          <a:p>
            <a:pPr algn="ctr"/>
          </a:p>
        </p:txBody>
      </p:sp>
      <p:sp>
        <p:nvSpPr>
          <p:cNvPr id="5" name="Text: How well can we forecast LA home values "/>
          <p:cNvSpPr txBox="1"/>
          <p:nvPr/>
        </p:nvSpPr>
        <p:spPr>
          <a:xfrm>
            <a:off x="685800" y="3154680"/>
            <a:ext cx="4762500" cy="885825"/>
          </a:xfrm>
          <a:prstGeom prst="rect">
            <a:avLst/>
          </a:prstGeom>
          <a:noFill/>
        </p:spPr>
        <p:txBody>
          <a:bodyPr wrap="square" lIns="0" tIns="0" rIns="0" bIns="0" anchor="t" rtlCol="0" vert="horz">
            <a:noAutofit/>
          </a:bodyPr>
          <a:lstStyle/>
          <a:p>
            <a:pPr algn="l" marL="0" indent="0">
              <a:lnSpc>
                <a:spcPts val="2325"/>
              </a:lnSpc>
              <a:spcBef>
                <a:spcPts val="0"/>
              </a:spcBef>
              <a:spcAft>
                <a:spcPts val="0"/>
              </a:spcAft>
              <a:buNone/>
            </a:pPr>
            <a:r>
              <a:rPr lang="en-US" sz="1725" b="0" i="0" kern="0" dirty="0" spc="-26">
                <a:solidFill>
                  <a:srgbClr val="1F6F8B"/>
                </a:solidFill>
                <a:latin typeface="Outfit Medium" pitchFamily="2" charset="0"/>
                <a:ea typeface="Outfit Medium" pitchFamily="2" charset="0"/>
                <a:cs typeface="Outfit Medium" pitchFamily="2" charset="0"/>
              </a:rPr>
              <a:t>How well can we forecast LA home values up to a </a:t>
            </a:r>
            <a:r>
              <a:rPr lang="en-US" sz="1725" b="0" i="0" kern="0" dirty="0" spc="-26">
                <a:solidFill>
                  <a:srgbClr val="1F6F8B"/>
                </a:solidFill>
                <a:latin typeface="Outfit Medium" pitchFamily="2" charset="0"/>
                <a:ea typeface="Outfit Medium" pitchFamily="2" charset="0"/>
                <a:cs typeface="Outfit Medium" pitchFamily="2" charset="0"/>
              </a:rPr>
              <a:t>year ahead, and which works best: time-series </a:t>
            </a:r>
            <a:r>
              <a:rPr lang="en-US" sz="1725" b="0" i="0" kern="0" dirty="0" spc="-26">
                <a:solidFill>
                  <a:srgbClr val="1F6F8B"/>
                </a:solidFill>
                <a:latin typeface="Outfit Medium" pitchFamily="2" charset="0"/>
                <a:ea typeface="Outfit Medium" pitchFamily="2" charset="0"/>
                <a:cs typeface="Outfit Medium" pitchFamily="2" charset="0"/>
              </a:rPr>
              <a:t>models or AI?</a:t>
            </a:r>
            <a:endParaRPr lang="en-US" sz="1725" b="0" i="0" kern="0" dirty="0" spc="-26">
              <a:solidFill>
                <a:srgbClr val="1F6F8B"/>
              </a:solidFill>
              <a:latin typeface="Outfit Medium" pitchFamily="2" charset="0"/>
              <a:ea typeface="Outfit Medium" pitchFamily="2" charset="0"/>
              <a:cs typeface="Outfit Medium" pitchFamily="2" charset="0"/>
            </a:endParaRPr>
          </a:p>
        </p:txBody>
      </p:sp>
      <p:sp>
        <p:nvSpPr>
          <p:cNvPr id="6" name="Text: Yang Liu · Jinwoo Roh"/>
          <p:cNvSpPr txBox="1"/>
          <p:nvPr/>
        </p:nvSpPr>
        <p:spPr>
          <a:xfrm>
            <a:off x="685800" y="4299966"/>
            <a:ext cx="4953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275" b="0" i="0" kern="0" dirty="0" spc="-15">
                <a:solidFill>
                  <a:srgbClr val="16213E"/>
                </a:solidFill>
                <a:latin typeface="Geist SemiBold" pitchFamily="2" charset="0"/>
                <a:ea typeface="Geist SemiBold" pitchFamily="2" charset="0"/>
                <a:cs typeface="Geist SemiBold" pitchFamily="2" charset="0"/>
              </a:rPr>
              <a:t>Yang Liu · Jinwoo Roh</a:t>
            </a:r>
            <a:endParaRPr lang="en-US" sz="1275" b="0" i="0" kern="0" dirty="0" spc="-15">
              <a:solidFill>
                <a:srgbClr val="16213E"/>
              </a:solidFill>
              <a:latin typeface="Geist SemiBold" pitchFamily="2" charset="0"/>
              <a:ea typeface="Geist SemiBold" pitchFamily="2" charset="0"/>
              <a:cs typeface="Geist SemiBold" pitchFamily="2" charset="0"/>
            </a:endParaRPr>
          </a:p>
        </p:txBody>
      </p:sp>
      <p:sp>
        <p:nvSpPr>
          <p:cNvPr id="7" name="Text: Yiu-Hon Lee · Thanapol Doungsaeng"/>
          <p:cNvSpPr txBox="1"/>
          <p:nvPr/>
        </p:nvSpPr>
        <p:spPr>
          <a:xfrm>
            <a:off x="685800" y="4536186"/>
            <a:ext cx="4953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275" b="0" i="0" kern="0" dirty="0" spc="-9">
                <a:solidFill>
                  <a:srgbClr val="16213E"/>
                </a:solidFill>
                <a:latin typeface="Geist SemiBold" pitchFamily="2" charset="0"/>
                <a:ea typeface="Geist SemiBold" pitchFamily="2" charset="0"/>
                <a:cs typeface="Geist SemiBold" pitchFamily="2" charset="0"/>
              </a:rPr>
              <a:t>Yiu-Hon Lee · Thanapol Doungsaeng</a:t>
            </a:r>
            <a:endParaRPr lang="en-US" sz="1275" b="0" i="0" kern="0" dirty="0" spc="-9">
              <a:solidFill>
                <a:srgbClr val="16213E"/>
              </a:solidFill>
              <a:latin typeface="Geist SemiBold" pitchFamily="2" charset="0"/>
              <a:ea typeface="Geist SemiBold" pitchFamily="2" charset="0"/>
              <a:cs typeface="Geist SemiBold" pitchFamily="2" charset="0"/>
            </a:endParaRPr>
          </a:p>
        </p:txBody>
      </p:sp>
      <p:sp>
        <p:nvSpPr>
          <p:cNvPr id="8" name="Text: Monthly Zillow home values for the LA me"/>
          <p:cNvSpPr txBox="1"/>
          <p:nvPr/>
        </p:nvSpPr>
        <p:spPr>
          <a:xfrm>
            <a:off x="685800" y="5070729"/>
            <a:ext cx="4476750" cy="3810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050" b="0" i="0" kern="0" dirty="0" spc="-9">
                <a:solidFill>
                  <a:srgbClr val="4F5560"/>
                </a:solidFill>
                <a:latin typeface="Geist" pitchFamily="2" charset="0"/>
                <a:ea typeface="Geist" pitchFamily="2" charset="0"/>
                <a:cs typeface="Geist" pitchFamily="2" charset="0"/>
              </a:rPr>
              <a:t>Monthly Zillow home values for the LA metro, January 2000 to August </a:t>
            </a:r>
            <a:r>
              <a:rPr lang="en-US" sz="1050" b="0" i="0" kern="0" dirty="0" spc="-9">
                <a:solidFill>
                  <a:srgbClr val="4F5560"/>
                </a:solidFill>
                <a:latin typeface="Geist" pitchFamily="2" charset="0"/>
                <a:ea typeface="Geist" pitchFamily="2" charset="0"/>
                <a:cs typeface="Geist" pitchFamily="2" charset="0"/>
              </a:rPr>
              <a:t>2026, with mortgage rates and neighborhood data</a:t>
            </a:r>
            <a:endParaRPr lang="en-US" sz="1050" b="0" i="0" kern="0" dirty="0" spc="-9">
              <a:solidFill>
                <a:srgbClr val="4F5560"/>
              </a:solidFill>
              <a:latin typeface="Geist" pitchFamily="2" charset="0"/>
              <a:ea typeface="Geist" pitchFamily="2" charset="0"/>
              <a:cs typeface="Geist" pitchFamily="2" charset="0"/>
            </a:endParaRPr>
          </a:p>
        </p:txBody>
      </p:sp>
      <p:pic>
        <p:nvPicPr>
          <p:cNvPr id="9" name="Chart image" descr="LA metro typical home value, 2000 to 2026, rising to $953K, with a dashed forecast to August 2027"/>
          <p:cNvPicPr>
            <a:picLocks noChangeAspect="1"/>
          </p:cNvPicPr>
          <p:nvPr/>
        </p:nvPicPr>
        <p:blipFill>
          <a:blip r:embed="rId2"/>
          <a:stretch>
            <a:fillRect/>
          </a:stretch>
        </p:blipFill>
        <p:spPr>
          <a:xfrm>
            <a:off x="5981700" y="1600486"/>
            <a:ext cx="5638800" cy="3657029"/>
          </a:xfrm>
          <a:prstGeom prst="rect">
            <a:avLst/>
          </a:prstGeom>
        </p:spPr>
      </p:pic>
      <p:sp>
        <p:nvSpPr>
          <p:cNvPr id="10" name="Text: Solid: actual · Dashed: our forecast to "/>
          <p:cNvSpPr txBox="1"/>
          <p:nvPr/>
        </p:nvSpPr>
        <p:spPr>
          <a:xfrm>
            <a:off x="6057900" y="5393817"/>
            <a:ext cx="5334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050" b="0" i="0" kern="0" dirty="0" spc="-7">
                <a:solidFill>
                  <a:srgbClr val="4F5560"/>
                </a:solidFill>
                <a:latin typeface="Geist" pitchFamily="2" charset="0"/>
                <a:ea typeface="Geist" pitchFamily="2" charset="0"/>
                <a:cs typeface="Geist" pitchFamily="2" charset="0"/>
              </a:rPr>
              <a:t>Solid: actual · Dashed: our forecast to Aug 2027</a:t>
            </a:r>
            <a:endParaRPr lang="en-US" sz="1050" b="0" i="0" kern="0" dirty="0" spc="-7">
              <a:solidFill>
                <a:srgbClr val="4F5560"/>
              </a:solidFill>
              <a:latin typeface="Geist" pitchFamily="2" charset="0"/>
              <a:ea typeface="Geist" pitchFamily="2" charset="0"/>
              <a:cs typeface="Geist" pitchFamily="2" charset="0"/>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After decades of growth, LA home values "/>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9">
                <a:solidFill>
                  <a:srgbClr val="16213E"/>
                </a:solidFill>
                <a:latin typeface="Outfit SemiBold" pitchFamily="2" charset="0"/>
                <a:ea typeface="Outfit SemiBold" pitchFamily="2" charset="0"/>
                <a:cs typeface="Outfit SemiBold" pitchFamily="2" charset="0"/>
              </a:rPr>
              <a:t>After decades of growth, LA home values have stalled</a:t>
            </a:r>
            <a:endParaRPr lang="en-US" sz="2700" b="0" i="0" kern="0" dirty="0" spc="-79">
              <a:solidFill>
                <a:srgbClr val="16213E"/>
              </a:solidFill>
              <a:latin typeface="Outfit SemiBold" pitchFamily="2" charset="0"/>
              <a:ea typeface="Outfit SemiBold" pitchFamily="2" charset="0"/>
              <a:cs typeface="Outfit SemiBold" pitchFamily="2" charset="0"/>
            </a:endParaRPr>
          </a:p>
        </p:txBody>
      </p:sp>
      <p:sp>
        <p:nvSpPr>
          <p:cNvPr id="3" name="Text: Why LA, why now"/>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Why LA, why now</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Plate"/>
          <p:cNvSpPr/>
          <p:nvPr/>
        </p:nvSpPr>
        <p:spPr>
          <a:xfrm>
            <a:off x="609600" y="1485900"/>
            <a:ext cx="6096000" cy="4448175"/>
          </a:xfrm>
          <a:prstGeom prst="roundRect">
            <a:avLst>
              <a:gd name="adj" fmla="val 2569"/>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6" name="Chart image" descr="LA home values 2000 to 2026, nominal (Zillow) and real (August 2026 dollars), with peaks marked, and the 30-year fixed mortgage rate below; test window shaded"/>
          <p:cNvPicPr>
            <a:picLocks noChangeAspect="1"/>
          </p:cNvPicPr>
          <p:nvPr/>
        </p:nvPicPr>
        <p:blipFill>
          <a:blip r:embed="rId2"/>
          <a:stretch>
            <a:fillRect/>
          </a:stretch>
        </p:blipFill>
        <p:spPr>
          <a:xfrm>
            <a:off x="723900" y="1623612"/>
            <a:ext cx="5867400" cy="4172752"/>
          </a:xfrm>
          <a:prstGeom prst="rect">
            <a:avLst/>
          </a:prstGeom>
        </p:spPr>
      </p:pic>
      <p:sp>
        <p:nvSpPr>
          <p:cNvPr id="7" name="Text: $952,601"/>
          <p:cNvSpPr txBox="1"/>
          <p:nvPr/>
        </p:nvSpPr>
        <p:spPr>
          <a:xfrm>
            <a:off x="7429500" y="1600962"/>
            <a:ext cx="4240530" cy="438150"/>
          </a:xfrm>
          <a:prstGeom prst="rect">
            <a:avLst/>
          </a:prstGeom>
          <a:noFill/>
        </p:spPr>
        <p:txBody>
          <a:bodyPr wrap="square" lIns="0" tIns="0" rIns="0" bIns="0" anchor="t" rtlCol="0" vert="horz">
            <a:noAutofit/>
          </a:bodyPr>
          <a:lstStyle/>
          <a:p>
            <a:pPr algn="l" marL="0" indent="0">
              <a:lnSpc>
                <a:spcPts val="3450"/>
              </a:lnSpc>
              <a:spcBef>
                <a:spcPts val="0"/>
              </a:spcBef>
              <a:spcAft>
                <a:spcPts val="0"/>
              </a:spcAft>
              <a:buNone/>
            </a:pPr>
            <a:r>
              <a:rPr lang="en-US" sz="3150" b="0" i="0" kern="0" dirty="0" spc="-85">
                <a:solidFill>
                  <a:srgbClr val="16213E"/>
                </a:solidFill>
                <a:latin typeface="Outfit SemiBold" pitchFamily="2" charset="0"/>
                <a:ea typeface="Outfit SemiBold" pitchFamily="2" charset="0"/>
                <a:cs typeface="Outfit SemiBold" pitchFamily="2" charset="0"/>
              </a:rPr>
              <a:t>$952,601</a:t>
            </a:r>
            <a:endParaRPr lang="en-US" sz="3150" b="0" i="0" kern="0" dirty="0" spc="-85">
              <a:solidFill>
                <a:srgbClr val="16213E"/>
              </a:solidFill>
              <a:latin typeface="Outfit SemiBold" pitchFamily="2" charset="0"/>
              <a:ea typeface="Outfit SemiBold" pitchFamily="2" charset="0"/>
              <a:cs typeface="Outfit SemiBold" pitchFamily="2" charset="0"/>
            </a:endParaRPr>
          </a:p>
        </p:txBody>
      </p:sp>
      <p:sp>
        <p:nvSpPr>
          <p:cNvPr id="8" name="Text: Typical home value, LA metro, August 202"/>
          <p:cNvSpPr txBox="1"/>
          <p:nvPr/>
        </p:nvSpPr>
        <p:spPr>
          <a:xfrm>
            <a:off x="7429500" y="2063496"/>
            <a:ext cx="40005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0">
                <a:solidFill>
                  <a:srgbClr val="4F5560"/>
                </a:solidFill>
                <a:latin typeface="Geist" pitchFamily="2" charset="0"/>
                <a:ea typeface="Geist" pitchFamily="2" charset="0"/>
                <a:cs typeface="Geist" pitchFamily="2" charset="0"/>
              </a:rPr>
              <a:t>Typical home value, LA metro, August 2026</a:t>
            </a:r>
            <a:endParaRPr lang="en-US" sz="1200" b="0" i="0" kern="0" dirty="0" spc="-10">
              <a:solidFill>
                <a:srgbClr val="4F5560"/>
              </a:solidFill>
              <a:latin typeface="Geist" pitchFamily="2" charset="0"/>
              <a:ea typeface="Geist" pitchFamily="2" charset="0"/>
              <a:cs typeface="Geist" pitchFamily="2" charset="0"/>
            </a:endParaRPr>
          </a:p>
        </p:txBody>
      </p:sp>
      <p:sp>
        <p:nvSpPr>
          <p:cNvPr id="9" name="Text: -1.3%"/>
          <p:cNvSpPr txBox="1"/>
          <p:nvPr/>
        </p:nvSpPr>
        <p:spPr>
          <a:xfrm>
            <a:off x="7429500" y="2533650"/>
            <a:ext cx="4240530" cy="438150"/>
          </a:xfrm>
          <a:prstGeom prst="rect">
            <a:avLst/>
          </a:prstGeom>
          <a:noFill/>
        </p:spPr>
        <p:txBody>
          <a:bodyPr wrap="square" lIns="0" tIns="0" rIns="0" bIns="0" anchor="t" rtlCol="0" vert="horz">
            <a:noAutofit/>
          </a:bodyPr>
          <a:lstStyle/>
          <a:p>
            <a:pPr algn="l" marL="0" indent="0">
              <a:lnSpc>
                <a:spcPts val="3450"/>
              </a:lnSpc>
              <a:spcBef>
                <a:spcPts val="0"/>
              </a:spcBef>
              <a:spcAft>
                <a:spcPts val="0"/>
              </a:spcAft>
              <a:buNone/>
            </a:pPr>
            <a:r>
              <a:rPr lang="en-US" sz="3150" b="0" i="0" kern="0" dirty="0" spc="-105">
                <a:solidFill>
                  <a:srgbClr val="B4400B"/>
                </a:solidFill>
                <a:latin typeface="Outfit SemiBold" pitchFamily="2" charset="0"/>
                <a:ea typeface="Outfit SemiBold" pitchFamily="2" charset="0"/>
                <a:cs typeface="Outfit SemiBold" pitchFamily="2" charset="0"/>
              </a:rPr>
              <a:t>-1.3%</a:t>
            </a:r>
            <a:endParaRPr lang="en-US" sz="3150" b="0" i="0" kern="0" dirty="0" spc="-105">
              <a:solidFill>
                <a:srgbClr val="B4400B"/>
              </a:solidFill>
              <a:latin typeface="Outfit SemiBold" pitchFamily="2" charset="0"/>
              <a:ea typeface="Outfit SemiBold" pitchFamily="2" charset="0"/>
              <a:cs typeface="Outfit SemiBold" pitchFamily="2" charset="0"/>
            </a:endParaRPr>
          </a:p>
        </p:txBody>
      </p:sp>
      <p:sp>
        <p:nvSpPr>
          <p:cNvPr id="10" name="Text: Below the January 2025 peak, before infl"/>
          <p:cNvSpPr txBox="1"/>
          <p:nvPr/>
        </p:nvSpPr>
        <p:spPr>
          <a:xfrm>
            <a:off x="7429500" y="2996184"/>
            <a:ext cx="40005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2">
                <a:solidFill>
                  <a:srgbClr val="4F5560"/>
                </a:solidFill>
                <a:latin typeface="Geist" pitchFamily="2" charset="0"/>
                <a:ea typeface="Geist" pitchFamily="2" charset="0"/>
                <a:cs typeface="Geist" pitchFamily="2" charset="0"/>
              </a:rPr>
              <a:t>Below the January 2025 peak, before inflation</a:t>
            </a:r>
            <a:endParaRPr lang="en-US" sz="1200" b="0" i="0" kern="0" dirty="0" spc="-12">
              <a:solidFill>
                <a:srgbClr val="4F5560"/>
              </a:solidFill>
              <a:latin typeface="Geist" pitchFamily="2" charset="0"/>
              <a:ea typeface="Geist" pitchFamily="2" charset="0"/>
              <a:cs typeface="Geist" pitchFamily="2" charset="0"/>
            </a:endParaRPr>
          </a:p>
        </p:txBody>
      </p:sp>
      <p:sp>
        <p:nvSpPr>
          <p:cNvPr id="11" name="Text: -7.1%"/>
          <p:cNvSpPr txBox="1"/>
          <p:nvPr/>
        </p:nvSpPr>
        <p:spPr>
          <a:xfrm>
            <a:off x="7429500" y="3466338"/>
            <a:ext cx="4240530" cy="438150"/>
          </a:xfrm>
          <a:prstGeom prst="rect">
            <a:avLst/>
          </a:prstGeom>
          <a:noFill/>
        </p:spPr>
        <p:txBody>
          <a:bodyPr wrap="square" lIns="0" tIns="0" rIns="0" bIns="0" anchor="t" rtlCol="0" vert="horz">
            <a:noAutofit/>
          </a:bodyPr>
          <a:lstStyle/>
          <a:p>
            <a:pPr algn="l" marL="0" indent="0">
              <a:lnSpc>
                <a:spcPts val="3450"/>
              </a:lnSpc>
              <a:spcBef>
                <a:spcPts val="0"/>
              </a:spcBef>
              <a:spcAft>
                <a:spcPts val="0"/>
              </a:spcAft>
              <a:buNone/>
            </a:pPr>
            <a:r>
              <a:rPr lang="en-US" sz="3150" b="0" i="0" kern="0" dirty="0" spc="-229">
                <a:solidFill>
                  <a:srgbClr val="B4400B"/>
                </a:solidFill>
                <a:latin typeface="Outfit SemiBold" pitchFamily="2" charset="0"/>
                <a:ea typeface="Outfit SemiBold" pitchFamily="2" charset="0"/>
                <a:cs typeface="Outfit SemiBold" pitchFamily="2" charset="0"/>
              </a:rPr>
              <a:t>-7.1%</a:t>
            </a:r>
            <a:endParaRPr lang="en-US" sz="3150" b="0" i="0" kern="0" dirty="0" spc="-229">
              <a:solidFill>
                <a:srgbClr val="B4400B"/>
              </a:solidFill>
              <a:latin typeface="Outfit SemiBold" pitchFamily="2" charset="0"/>
              <a:ea typeface="Outfit SemiBold" pitchFamily="2" charset="0"/>
              <a:cs typeface="Outfit SemiBold" pitchFamily="2" charset="0"/>
            </a:endParaRPr>
          </a:p>
        </p:txBody>
      </p:sp>
      <p:sp>
        <p:nvSpPr>
          <p:cNvPr id="12" name="Text: Below the May 2022 peak, after inflation"/>
          <p:cNvSpPr txBox="1"/>
          <p:nvPr/>
        </p:nvSpPr>
        <p:spPr>
          <a:xfrm>
            <a:off x="7429500" y="3931920"/>
            <a:ext cx="40005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2">
                <a:solidFill>
                  <a:srgbClr val="4F5560"/>
                </a:solidFill>
                <a:latin typeface="Geist" pitchFamily="2" charset="0"/>
                <a:ea typeface="Geist" pitchFamily="2" charset="0"/>
                <a:cs typeface="Geist" pitchFamily="2" charset="0"/>
              </a:rPr>
              <a:t>Below the May 2022 peak, after inflation</a:t>
            </a:r>
            <a:endParaRPr lang="en-US" sz="1200" b="0" i="0" kern="0" dirty="0" spc="-12">
              <a:solidFill>
                <a:srgbClr val="4F5560"/>
              </a:solidFill>
              <a:latin typeface="Geist" pitchFamily="2" charset="0"/>
              <a:ea typeface="Geist" pitchFamily="2" charset="0"/>
              <a:cs typeface="Geist" pitchFamily="2" charset="0"/>
            </a:endParaRPr>
          </a:p>
        </p:txBody>
      </p:sp>
      <p:sp>
        <p:nvSpPr>
          <p:cNvPr id="13" name="Text: 2.7% → 7.6%"/>
          <p:cNvSpPr txBox="1"/>
          <p:nvPr/>
        </p:nvSpPr>
        <p:spPr>
          <a:xfrm>
            <a:off x="7429500" y="4402074"/>
            <a:ext cx="4240530" cy="438150"/>
          </a:xfrm>
          <a:prstGeom prst="rect">
            <a:avLst/>
          </a:prstGeom>
          <a:noFill/>
        </p:spPr>
        <p:txBody>
          <a:bodyPr wrap="square" lIns="0" tIns="0" rIns="0" bIns="0" anchor="t" rtlCol="0" vert="horz">
            <a:noAutofit/>
          </a:bodyPr>
          <a:lstStyle/>
          <a:p>
            <a:pPr algn="l" marL="0" indent="0">
              <a:lnSpc>
                <a:spcPts val="3450"/>
              </a:lnSpc>
              <a:spcBef>
                <a:spcPts val="0"/>
              </a:spcBef>
              <a:spcAft>
                <a:spcPts val="0"/>
              </a:spcAft>
              <a:buNone/>
            </a:pPr>
            <a:r>
              <a:rPr lang="en-US" sz="3150" b="0" i="0" kern="0" dirty="0" spc="-116">
                <a:solidFill>
                  <a:srgbClr val="B4400B"/>
                </a:solidFill>
                <a:latin typeface="Outfit SemiBold" pitchFamily="2" charset="0"/>
                <a:ea typeface="Outfit SemiBold" pitchFamily="2" charset="0"/>
                <a:cs typeface="Outfit SemiBold" pitchFamily="2" charset="0"/>
              </a:rPr>
              <a:t>2.7% → 7.6%</a:t>
            </a:r>
            <a:endParaRPr lang="en-US" sz="3150" b="0" i="0" kern="0" dirty="0" spc="-116">
              <a:solidFill>
                <a:srgbClr val="B4400B"/>
              </a:solidFill>
              <a:latin typeface="Outfit SemiBold" pitchFamily="2" charset="0"/>
              <a:ea typeface="Outfit SemiBold" pitchFamily="2" charset="0"/>
              <a:cs typeface="Outfit SemiBold" pitchFamily="2" charset="0"/>
            </a:endParaRPr>
          </a:p>
        </p:txBody>
      </p:sp>
      <p:sp>
        <p:nvSpPr>
          <p:cNvPr id="14" name="Text: 30-year mortgage rate, 2021 low to 2023 "/>
          <p:cNvSpPr txBox="1"/>
          <p:nvPr/>
        </p:nvSpPr>
        <p:spPr>
          <a:xfrm>
            <a:off x="7429500" y="4864608"/>
            <a:ext cx="40005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0">
                <a:solidFill>
                  <a:srgbClr val="4F5560"/>
                </a:solidFill>
                <a:latin typeface="Geist" pitchFamily="2" charset="0"/>
                <a:ea typeface="Geist" pitchFamily="2" charset="0"/>
                <a:cs typeface="Geist" pitchFamily="2" charset="0"/>
              </a:rPr>
              <a:t>30-year mortgage rate, 2021 low to 2023 high</a:t>
            </a:r>
            <a:endParaRPr lang="en-US" sz="1200" b="0" i="0" kern="0" dirty="0" spc="-10">
              <a:solidFill>
                <a:srgbClr val="4F5560"/>
              </a:solidFill>
              <a:latin typeface="Geist" pitchFamily="2" charset="0"/>
              <a:ea typeface="Geist" pitchFamily="2" charset="0"/>
              <a:cs typeface="Geist" pitchFamily="2" charset="0"/>
            </a:endParaRPr>
          </a:p>
        </p:txBody>
      </p:sp>
      <p:sp>
        <p:nvSpPr>
          <p:cNvPr id="15"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16" name="Text: 2"/>
          <p:cNvSpPr txBox="1"/>
          <p:nvPr/>
        </p:nvSpPr>
        <p:spPr>
          <a:xfrm>
            <a:off x="10553109"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2</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We tested 14 models at 18 forecast dates"/>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9">
                <a:solidFill>
                  <a:srgbClr val="16213E"/>
                </a:solidFill>
                <a:latin typeface="Outfit SemiBold" pitchFamily="2" charset="0"/>
                <a:ea typeface="Outfit SemiBold" pitchFamily="2" charset="0"/>
                <a:cs typeface="Outfit SemiBold" pitchFamily="2" charset="0"/>
              </a:rPr>
              <a:t>We tested 14 models at 18 forecast dates</a:t>
            </a:r>
            <a:endParaRPr lang="en-US" sz="2700" b="0" i="0" kern="0" dirty="0" spc="-79">
              <a:solidFill>
                <a:srgbClr val="16213E"/>
              </a:solidFill>
              <a:latin typeface="Outfit SemiBold" pitchFamily="2" charset="0"/>
              <a:ea typeface="Outfit SemiBold" pitchFamily="2" charset="0"/>
              <a:cs typeface="Outfit SemiBold" pitchFamily="2" charset="0"/>
            </a:endParaRPr>
          </a:p>
        </p:txBody>
      </p:sp>
      <p:sp>
        <p:nvSpPr>
          <p:cNvPr id="3" name="Text: Data and design"/>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6">
                <a:solidFill>
                  <a:srgbClr val="1F6F8B"/>
                </a:solidFill>
                <a:latin typeface="Geist SemiBold" pitchFamily="2" charset="0"/>
                <a:ea typeface="Geist SemiBold" pitchFamily="2" charset="0"/>
                <a:cs typeface="Geist SemiBold" pitchFamily="2" charset="0"/>
              </a:rPr>
              <a:t>Data and design</a:t>
            </a:r>
            <a:endParaRPr lang="en-US" sz="1125" b="0" i="0" kern="0" dirty="0" spc="-6">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Text: Data"/>
          <p:cNvSpPr txBox="1"/>
          <p:nvPr/>
        </p:nvSpPr>
        <p:spPr>
          <a:xfrm>
            <a:off x="685800" y="1491234"/>
            <a:ext cx="3048000" cy="266700"/>
          </a:xfrm>
          <a:prstGeom prst="rect">
            <a:avLst/>
          </a:prstGeom>
          <a:noFill/>
        </p:spPr>
        <p:txBody>
          <a:bodyPr wrap="square" lIns="0" tIns="0" rIns="0" bIns="0" anchor="t" rtlCol="0" vert="horz">
            <a:noAutofit/>
          </a:bodyPr>
          <a:lstStyle/>
          <a:p>
            <a:pPr algn="l" marL="0" indent="0">
              <a:lnSpc>
                <a:spcPts val="2100"/>
              </a:lnSpc>
              <a:spcBef>
                <a:spcPts val="0"/>
              </a:spcBef>
              <a:spcAft>
                <a:spcPts val="0"/>
              </a:spcAft>
              <a:buNone/>
            </a:pPr>
            <a:r>
              <a:rPr lang="en-US" sz="1650" b="0" i="0" kern="0" dirty="0" spc="-18">
                <a:solidFill>
                  <a:srgbClr val="1F6F8B"/>
                </a:solidFill>
                <a:latin typeface="Outfit SemiBold" pitchFamily="2" charset="0"/>
                <a:ea typeface="Outfit SemiBold" pitchFamily="2" charset="0"/>
                <a:cs typeface="Outfit SemiBold" pitchFamily="2" charset="0"/>
              </a:rPr>
              <a:t>Data</a:t>
            </a:r>
            <a:endParaRPr lang="en-US" sz="1650" b="0" i="0" kern="0" dirty="0" spc="-18">
              <a:solidFill>
                <a:srgbClr val="1F6F8B"/>
              </a:solidFill>
              <a:latin typeface="Outfit SemiBold" pitchFamily="2" charset="0"/>
              <a:ea typeface="Outfit SemiBold" pitchFamily="2" charset="0"/>
              <a:cs typeface="Outfit SemiBold" pitchFamily="2" charset="0"/>
            </a:endParaRPr>
          </a:p>
        </p:txBody>
      </p:sp>
      <p:sp>
        <p:nvSpPr>
          <p:cNvPr id="6" name="Rule"/>
          <p:cNvSpPr/>
          <p:nvPr/>
        </p:nvSpPr>
        <p:spPr>
          <a:xfrm>
            <a:off x="685800" y="1847850"/>
            <a:ext cx="3048000" cy="19050"/>
          </a:xfrm>
          <a:prstGeom prst="rect">
            <a:avLst/>
          </a:prstGeom>
          <a:solidFill>
            <a:srgbClr val="16213E"/>
          </a:solidFill>
          <a:ln>
            <a:noFill/>
          </a:ln>
        </p:spPr>
        <p:txBody>
          <a:bodyPr rtlCol="0" anchor="ctr"/>
          <a:lstStyle/>
          <a:p>
            <a:pPr algn="ctr"/>
          </a:p>
        </p:txBody>
      </p:sp>
      <p:sp>
        <p:nvSpPr>
          <p:cNvPr id="7" name="Text: Zillow ZHVI, LA metro"/>
          <p:cNvSpPr txBox="1"/>
          <p:nvPr/>
        </p:nvSpPr>
        <p:spPr>
          <a:xfrm>
            <a:off x="685800" y="2042541"/>
            <a:ext cx="3048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15">
                <a:solidFill>
                  <a:srgbClr val="16213E"/>
                </a:solidFill>
                <a:latin typeface="Geist SemiBold" pitchFamily="2" charset="0"/>
                <a:ea typeface="Geist SemiBold" pitchFamily="2" charset="0"/>
                <a:cs typeface="Geist SemiBold" pitchFamily="2" charset="0"/>
              </a:rPr>
              <a:t>Zillow ZHVI, LA metro</a:t>
            </a:r>
            <a:endParaRPr lang="en-US" sz="1350" b="0" i="0" kern="0" dirty="0" spc="-15">
              <a:solidFill>
                <a:srgbClr val="16213E"/>
              </a:solidFill>
              <a:latin typeface="Geist SemiBold" pitchFamily="2" charset="0"/>
              <a:ea typeface="Geist SemiBold" pitchFamily="2" charset="0"/>
              <a:cs typeface="Geist SemiBold" pitchFamily="2" charset="0"/>
            </a:endParaRPr>
          </a:p>
        </p:txBody>
      </p:sp>
      <p:sp>
        <p:nvSpPr>
          <p:cNvPr id="8" name="Text: 320 months, Jan 2000 to Aug 2026"/>
          <p:cNvSpPr txBox="1"/>
          <p:nvPr/>
        </p:nvSpPr>
        <p:spPr>
          <a:xfrm>
            <a:off x="685800" y="2273427"/>
            <a:ext cx="3048000" cy="219075"/>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5">
                <a:solidFill>
                  <a:srgbClr val="4F5560"/>
                </a:solidFill>
                <a:latin typeface="Geist" pitchFamily="2" charset="0"/>
                <a:ea typeface="Geist" pitchFamily="2" charset="0"/>
                <a:cs typeface="Geist" pitchFamily="2" charset="0"/>
              </a:rPr>
              <a:t>320 months, Jan 2000 to Aug 2026</a:t>
            </a:r>
            <a:endParaRPr lang="en-US" sz="1200" b="0" i="0" kern="0" dirty="0" spc="-5">
              <a:solidFill>
                <a:srgbClr val="4F5560"/>
              </a:solidFill>
              <a:latin typeface="Geist" pitchFamily="2" charset="0"/>
              <a:ea typeface="Geist" pitchFamily="2" charset="0"/>
              <a:cs typeface="Geist" pitchFamily="2" charset="0"/>
            </a:endParaRPr>
          </a:p>
        </p:txBody>
      </p:sp>
      <p:sp>
        <p:nvSpPr>
          <p:cNvPr id="9" name="Text: 499 LA neighborhoods"/>
          <p:cNvSpPr txBox="1"/>
          <p:nvPr/>
        </p:nvSpPr>
        <p:spPr>
          <a:xfrm>
            <a:off x="685800" y="2670429"/>
            <a:ext cx="3048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13">
                <a:solidFill>
                  <a:srgbClr val="16213E"/>
                </a:solidFill>
                <a:latin typeface="Geist SemiBold" pitchFamily="2" charset="0"/>
                <a:ea typeface="Geist SemiBold" pitchFamily="2" charset="0"/>
                <a:cs typeface="Geist SemiBold" pitchFamily="2" charset="0"/>
              </a:rPr>
              <a:t>499 LA neighborhoods</a:t>
            </a:r>
            <a:endParaRPr lang="en-US" sz="1350" b="0" i="0" kern="0" dirty="0" spc="-13">
              <a:solidFill>
                <a:srgbClr val="16213E"/>
              </a:solidFill>
              <a:latin typeface="Geist SemiBold" pitchFamily="2" charset="0"/>
              <a:ea typeface="Geist SemiBold" pitchFamily="2" charset="0"/>
              <a:cs typeface="Geist SemiBold" pitchFamily="2" charset="0"/>
            </a:endParaRPr>
          </a:p>
        </p:txBody>
      </p:sp>
      <p:sp>
        <p:nvSpPr>
          <p:cNvPr id="10" name="Text: Zillow neighborhood index"/>
          <p:cNvSpPr txBox="1"/>
          <p:nvPr/>
        </p:nvSpPr>
        <p:spPr>
          <a:xfrm>
            <a:off x="685800" y="2901315"/>
            <a:ext cx="3048000" cy="219075"/>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13">
                <a:solidFill>
                  <a:srgbClr val="4F5560"/>
                </a:solidFill>
                <a:latin typeface="Geist" pitchFamily="2" charset="0"/>
                <a:ea typeface="Geist" pitchFamily="2" charset="0"/>
                <a:cs typeface="Geist" pitchFamily="2" charset="0"/>
              </a:rPr>
              <a:t>Zillow neighborhood index</a:t>
            </a:r>
            <a:endParaRPr lang="en-US" sz="1200" b="0" i="0" kern="0" dirty="0" spc="-13">
              <a:solidFill>
                <a:srgbClr val="4F5560"/>
              </a:solidFill>
              <a:latin typeface="Geist" pitchFamily="2" charset="0"/>
              <a:ea typeface="Geist" pitchFamily="2" charset="0"/>
              <a:cs typeface="Geist" pitchFamily="2" charset="0"/>
            </a:endParaRPr>
          </a:p>
        </p:txBody>
      </p:sp>
      <p:sp>
        <p:nvSpPr>
          <p:cNvPr id="11" name="Text: Mortgage rate and payroll jobs"/>
          <p:cNvSpPr txBox="1"/>
          <p:nvPr/>
        </p:nvSpPr>
        <p:spPr>
          <a:xfrm>
            <a:off x="685800" y="3298317"/>
            <a:ext cx="3048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16">
                <a:solidFill>
                  <a:srgbClr val="16213E"/>
                </a:solidFill>
                <a:latin typeface="Geist SemiBold" pitchFamily="2" charset="0"/>
                <a:ea typeface="Geist SemiBold" pitchFamily="2" charset="0"/>
                <a:cs typeface="Geist SemiBold" pitchFamily="2" charset="0"/>
              </a:rPr>
              <a:t>Mortgage rate and payroll jobs</a:t>
            </a:r>
            <a:endParaRPr lang="en-US" sz="1350" b="0" i="0" kern="0" dirty="0" spc="-16">
              <a:solidFill>
                <a:srgbClr val="16213E"/>
              </a:solidFill>
              <a:latin typeface="Geist SemiBold" pitchFamily="2" charset="0"/>
              <a:ea typeface="Geist SemiBold" pitchFamily="2" charset="0"/>
              <a:cs typeface="Geist SemiBold" pitchFamily="2" charset="0"/>
            </a:endParaRPr>
          </a:p>
        </p:txBody>
      </p:sp>
      <p:sp>
        <p:nvSpPr>
          <p:cNvPr id="12" name="Text: FRED and BLS, LA and Orange County"/>
          <p:cNvSpPr txBox="1"/>
          <p:nvPr/>
        </p:nvSpPr>
        <p:spPr>
          <a:xfrm>
            <a:off x="685800" y="3529203"/>
            <a:ext cx="3048000" cy="219075"/>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11">
                <a:solidFill>
                  <a:srgbClr val="4F5560"/>
                </a:solidFill>
                <a:latin typeface="Geist" pitchFamily="2" charset="0"/>
                <a:ea typeface="Geist" pitchFamily="2" charset="0"/>
                <a:cs typeface="Geist" pitchFamily="2" charset="0"/>
              </a:rPr>
              <a:t>FRED and BLS, LA and Orange County</a:t>
            </a:r>
            <a:endParaRPr lang="en-US" sz="1200" b="0" i="0" kern="0" dirty="0" spc="-11">
              <a:solidFill>
                <a:srgbClr val="4F5560"/>
              </a:solidFill>
              <a:latin typeface="Geist" pitchFamily="2" charset="0"/>
              <a:ea typeface="Geist" pitchFamily="2" charset="0"/>
              <a:cs typeface="Geist" pitchFamily="2" charset="0"/>
            </a:endParaRPr>
          </a:p>
        </p:txBody>
      </p:sp>
      <p:sp>
        <p:nvSpPr>
          <p:cNvPr id="13" name="Text: 14 models + 3 AI"/>
          <p:cNvSpPr txBox="1"/>
          <p:nvPr/>
        </p:nvSpPr>
        <p:spPr>
          <a:xfrm>
            <a:off x="4114800" y="1491234"/>
            <a:ext cx="3429000" cy="266700"/>
          </a:xfrm>
          <a:prstGeom prst="rect">
            <a:avLst/>
          </a:prstGeom>
          <a:noFill/>
        </p:spPr>
        <p:txBody>
          <a:bodyPr wrap="square" lIns="0" tIns="0" rIns="0" bIns="0" anchor="t" rtlCol="0" vert="horz">
            <a:noAutofit/>
          </a:bodyPr>
          <a:lstStyle/>
          <a:p>
            <a:pPr algn="l" marL="0" indent="0">
              <a:lnSpc>
                <a:spcPts val="2100"/>
              </a:lnSpc>
              <a:spcBef>
                <a:spcPts val="0"/>
              </a:spcBef>
              <a:spcAft>
                <a:spcPts val="0"/>
              </a:spcAft>
              <a:buNone/>
            </a:pPr>
            <a:r>
              <a:rPr lang="en-US" sz="1650" b="0" i="0" kern="0" dirty="0" spc="-3">
                <a:solidFill>
                  <a:srgbClr val="1F6F8B"/>
                </a:solidFill>
                <a:latin typeface="Outfit SemiBold" pitchFamily="2" charset="0"/>
                <a:ea typeface="Outfit SemiBold" pitchFamily="2" charset="0"/>
                <a:cs typeface="Outfit SemiBold" pitchFamily="2" charset="0"/>
              </a:rPr>
              <a:t>14 models + 3 AI</a:t>
            </a:r>
            <a:endParaRPr lang="en-US" sz="1650" b="0" i="0" kern="0" dirty="0" spc="-3">
              <a:solidFill>
                <a:srgbClr val="1F6F8B"/>
              </a:solidFill>
              <a:latin typeface="Outfit SemiBold" pitchFamily="2" charset="0"/>
              <a:ea typeface="Outfit SemiBold" pitchFamily="2" charset="0"/>
              <a:cs typeface="Outfit SemiBold" pitchFamily="2" charset="0"/>
            </a:endParaRPr>
          </a:p>
        </p:txBody>
      </p:sp>
      <p:sp>
        <p:nvSpPr>
          <p:cNvPr id="14" name="Rule"/>
          <p:cNvSpPr/>
          <p:nvPr/>
        </p:nvSpPr>
        <p:spPr>
          <a:xfrm>
            <a:off x="4114800" y="1847850"/>
            <a:ext cx="3429000" cy="19050"/>
          </a:xfrm>
          <a:prstGeom prst="rect">
            <a:avLst/>
          </a:prstGeom>
          <a:solidFill>
            <a:srgbClr val="16213E"/>
          </a:solidFill>
          <a:ln>
            <a:noFill/>
          </a:ln>
        </p:spPr>
        <p:txBody>
          <a:bodyPr rtlCol="0" anchor="ctr"/>
          <a:lstStyle/>
          <a:p>
            <a:pPr algn="ctr"/>
          </a:p>
        </p:txBody>
      </p:sp>
      <p:sp>
        <p:nvSpPr>
          <p:cNvPr id="15" name="Text: Baseline and classical"/>
          <p:cNvSpPr txBox="1"/>
          <p:nvPr/>
        </p:nvSpPr>
        <p:spPr>
          <a:xfrm>
            <a:off x="4114800" y="2042541"/>
            <a:ext cx="3429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9">
                <a:solidFill>
                  <a:srgbClr val="16213E"/>
                </a:solidFill>
                <a:latin typeface="Geist SemiBold" pitchFamily="2" charset="0"/>
                <a:ea typeface="Geist SemiBold" pitchFamily="2" charset="0"/>
                <a:cs typeface="Geist SemiBold" pitchFamily="2" charset="0"/>
              </a:rPr>
              <a:t>Baseline and classical</a:t>
            </a:r>
            <a:endParaRPr lang="en-US" sz="1350" b="0" i="0" kern="0" dirty="0" spc="-9">
              <a:solidFill>
                <a:srgbClr val="16213E"/>
              </a:solidFill>
              <a:latin typeface="Geist SemiBold" pitchFamily="2" charset="0"/>
              <a:ea typeface="Geist SemiBold" pitchFamily="2" charset="0"/>
              <a:cs typeface="Geist SemiBold" pitchFamily="2" charset="0"/>
            </a:endParaRPr>
          </a:p>
        </p:txBody>
      </p:sp>
      <p:sp>
        <p:nvSpPr>
          <p:cNvPr id="16" name="Text: Naive drift · ARIMA · Holt · Prophet ×2"/>
          <p:cNvSpPr txBox="1"/>
          <p:nvPr/>
        </p:nvSpPr>
        <p:spPr>
          <a:xfrm>
            <a:off x="4114800" y="2273427"/>
            <a:ext cx="3429000" cy="219075"/>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12">
                <a:solidFill>
                  <a:srgbClr val="4F5560"/>
                </a:solidFill>
                <a:latin typeface="Geist" pitchFamily="2" charset="0"/>
                <a:ea typeface="Geist" pitchFamily="2" charset="0"/>
                <a:cs typeface="Geist" pitchFamily="2" charset="0"/>
              </a:rPr>
              <a:t>Naive drift · ARIMA · Holt · Prophet ×2</a:t>
            </a:r>
            <a:endParaRPr lang="en-US" sz="1200" b="0" i="0" kern="0" dirty="0" spc="-12">
              <a:solidFill>
                <a:srgbClr val="4F5560"/>
              </a:solidFill>
              <a:latin typeface="Geist" pitchFamily="2" charset="0"/>
              <a:ea typeface="Geist" pitchFamily="2" charset="0"/>
              <a:cs typeface="Geist" pitchFamily="2" charset="0"/>
            </a:endParaRPr>
          </a:p>
        </p:txBody>
      </p:sp>
      <p:sp>
        <p:nvSpPr>
          <p:cNvPr id="17" name="Text: ML, deep learning, AI"/>
          <p:cNvSpPr txBox="1"/>
          <p:nvPr/>
        </p:nvSpPr>
        <p:spPr>
          <a:xfrm>
            <a:off x="4114800" y="2670429"/>
            <a:ext cx="3429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7">
                <a:solidFill>
                  <a:srgbClr val="16213E"/>
                </a:solidFill>
                <a:latin typeface="Geist SemiBold" pitchFamily="2" charset="0"/>
                <a:ea typeface="Geist SemiBold" pitchFamily="2" charset="0"/>
                <a:cs typeface="Geist SemiBold" pitchFamily="2" charset="0"/>
              </a:rPr>
              <a:t>ML, deep learning, AI</a:t>
            </a:r>
            <a:endParaRPr lang="en-US" sz="1350" b="0" i="0" kern="0" dirty="0" spc="-7">
              <a:solidFill>
                <a:srgbClr val="16213E"/>
              </a:solidFill>
              <a:latin typeface="Geist SemiBold" pitchFamily="2" charset="0"/>
              <a:ea typeface="Geist SemiBold" pitchFamily="2" charset="0"/>
              <a:cs typeface="Geist SemiBold" pitchFamily="2" charset="0"/>
            </a:endParaRPr>
          </a:p>
        </p:txBody>
      </p:sp>
      <p:sp>
        <p:nvSpPr>
          <p:cNvPr id="18" name="Text: XGBoost · LightGBM · LSTM · GRU · Chrono"/>
          <p:cNvSpPr txBox="1"/>
          <p:nvPr/>
        </p:nvSpPr>
        <p:spPr>
          <a:xfrm>
            <a:off x="4114800" y="2901315"/>
            <a:ext cx="3429000" cy="219075"/>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13">
                <a:solidFill>
                  <a:srgbClr val="4F5560"/>
                </a:solidFill>
                <a:latin typeface="Geist" pitchFamily="2" charset="0"/>
                <a:ea typeface="Geist" pitchFamily="2" charset="0"/>
                <a:cs typeface="Geist" pitchFamily="2" charset="0"/>
              </a:rPr>
              <a:t>XGBoost · LightGBM · LSTM · GRU · Chronos</a:t>
            </a:r>
            <a:endParaRPr lang="en-US" sz="1200" b="0" i="0" kern="0" dirty="0" spc="-13">
              <a:solidFill>
                <a:srgbClr val="4F5560"/>
              </a:solidFill>
              <a:latin typeface="Geist" pitchFamily="2" charset="0"/>
              <a:ea typeface="Geist" pitchFamily="2" charset="0"/>
              <a:cs typeface="Geist" pitchFamily="2" charset="0"/>
            </a:endParaRPr>
          </a:p>
        </p:txBody>
      </p:sp>
      <p:sp>
        <p:nvSpPr>
          <p:cNvPr id="19" name="Text: Outside information"/>
          <p:cNvSpPr txBox="1"/>
          <p:nvPr/>
        </p:nvSpPr>
        <p:spPr>
          <a:xfrm>
            <a:off x="4114800" y="3298317"/>
            <a:ext cx="3429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20">
                <a:solidFill>
                  <a:srgbClr val="16213E"/>
                </a:solidFill>
                <a:latin typeface="Geist SemiBold" pitchFamily="2" charset="0"/>
                <a:ea typeface="Geist SemiBold" pitchFamily="2" charset="0"/>
                <a:cs typeface="Geist SemiBold" pitchFamily="2" charset="0"/>
              </a:rPr>
              <a:t>Outside information</a:t>
            </a:r>
            <a:endParaRPr lang="en-US" sz="1350" b="0" i="0" kern="0" dirty="0" spc="-20">
              <a:solidFill>
                <a:srgbClr val="16213E"/>
              </a:solidFill>
              <a:latin typeface="Geist SemiBold" pitchFamily="2" charset="0"/>
              <a:ea typeface="Geist SemiBold" pitchFamily="2" charset="0"/>
              <a:cs typeface="Geist SemiBold" pitchFamily="2" charset="0"/>
            </a:endParaRPr>
          </a:p>
        </p:txBody>
      </p:sp>
      <p:sp>
        <p:nvSpPr>
          <p:cNvPr id="20" name="Text: ARIMAX ×2 · VAR · factor VAR"/>
          <p:cNvSpPr txBox="1"/>
          <p:nvPr/>
        </p:nvSpPr>
        <p:spPr>
          <a:xfrm>
            <a:off x="4114800" y="3529203"/>
            <a:ext cx="3429000" cy="219075"/>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17">
                <a:solidFill>
                  <a:srgbClr val="4F5560"/>
                </a:solidFill>
                <a:latin typeface="Geist" pitchFamily="2" charset="0"/>
                <a:ea typeface="Geist" pitchFamily="2" charset="0"/>
                <a:cs typeface="Geist" pitchFamily="2" charset="0"/>
              </a:rPr>
              <a:t>ARIMAX ×2 · VAR · factor VAR</a:t>
            </a:r>
            <a:endParaRPr lang="en-US" sz="1200" b="0" i="0" kern="0" dirty="0" spc="-17">
              <a:solidFill>
                <a:srgbClr val="4F5560"/>
              </a:solidFill>
              <a:latin typeface="Geist" pitchFamily="2" charset="0"/>
              <a:ea typeface="Geist" pitchFamily="2" charset="0"/>
              <a:cs typeface="Geist" pitchFamily="2" charset="0"/>
            </a:endParaRPr>
          </a:p>
        </p:txBody>
      </p:sp>
      <p:sp>
        <p:nvSpPr>
          <p:cNvPr id="21" name="Text: Plus 3 AI models (LLMs)"/>
          <p:cNvSpPr txBox="1"/>
          <p:nvPr/>
        </p:nvSpPr>
        <p:spPr>
          <a:xfrm>
            <a:off x="4114800" y="3926205"/>
            <a:ext cx="34290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10">
                <a:solidFill>
                  <a:srgbClr val="16213E"/>
                </a:solidFill>
                <a:latin typeface="Geist SemiBold" pitchFamily="2" charset="0"/>
                <a:ea typeface="Geist SemiBold" pitchFamily="2" charset="0"/>
                <a:cs typeface="Geist SemiBold" pitchFamily="2" charset="0"/>
              </a:rPr>
              <a:t>Plus 3 AI models (LLMs)</a:t>
            </a:r>
            <a:endParaRPr lang="en-US" sz="1350" b="0" i="0" kern="0" dirty="0" spc="-10">
              <a:solidFill>
                <a:srgbClr val="16213E"/>
              </a:solidFill>
              <a:latin typeface="Geist SemiBold" pitchFamily="2" charset="0"/>
              <a:ea typeface="Geist SemiBold" pitchFamily="2" charset="0"/>
              <a:cs typeface="Geist SemiBold" pitchFamily="2" charset="0"/>
            </a:endParaRPr>
          </a:p>
        </p:txBody>
      </p:sp>
      <p:sp>
        <p:nvSpPr>
          <p:cNvPr id="22" name="Text: Claude · GPT · Gemini"/>
          <p:cNvSpPr txBox="1"/>
          <p:nvPr/>
        </p:nvSpPr>
        <p:spPr>
          <a:xfrm>
            <a:off x="4114800" y="4160139"/>
            <a:ext cx="3429000" cy="219075"/>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2">
                <a:solidFill>
                  <a:srgbClr val="4F5560"/>
                </a:solidFill>
                <a:latin typeface="Geist" pitchFamily="2" charset="0"/>
                <a:ea typeface="Geist" pitchFamily="2" charset="0"/>
                <a:cs typeface="Geist" pitchFamily="2" charset="0"/>
              </a:rPr>
              <a:t>Claude · GPT · Gemini</a:t>
            </a:r>
            <a:endParaRPr lang="en-US" sz="1200" b="0" i="0" kern="0" dirty="0" spc="-2">
              <a:solidFill>
                <a:srgbClr val="4F5560"/>
              </a:solidFill>
              <a:latin typeface="Geist" pitchFamily="2" charset="0"/>
              <a:ea typeface="Geist" pitchFamily="2" charset="0"/>
              <a:cs typeface="Geist" pitchFamily="2" charset="0"/>
            </a:endParaRPr>
          </a:p>
        </p:txBody>
      </p:sp>
      <p:sp>
        <p:nvSpPr>
          <p:cNvPr id="23" name="Text: How we tested"/>
          <p:cNvSpPr txBox="1"/>
          <p:nvPr/>
        </p:nvSpPr>
        <p:spPr>
          <a:xfrm>
            <a:off x="7924800" y="1491234"/>
            <a:ext cx="3581400" cy="266700"/>
          </a:xfrm>
          <a:prstGeom prst="rect">
            <a:avLst/>
          </a:prstGeom>
          <a:noFill/>
        </p:spPr>
        <p:txBody>
          <a:bodyPr wrap="square" lIns="0" tIns="0" rIns="0" bIns="0" anchor="t" rtlCol="0" vert="horz">
            <a:noAutofit/>
          </a:bodyPr>
          <a:lstStyle/>
          <a:p>
            <a:pPr algn="l" marL="0" indent="0">
              <a:lnSpc>
                <a:spcPts val="2100"/>
              </a:lnSpc>
              <a:spcBef>
                <a:spcPts val="0"/>
              </a:spcBef>
              <a:spcAft>
                <a:spcPts val="0"/>
              </a:spcAft>
              <a:buNone/>
            </a:pPr>
            <a:r>
              <a:rPr lang="en-US" sz="1650" b="0" i="0" kern="0" dirty="0" spc="-9">
                <a:solidFill>
                  <a:srgbClr val="1F6F8B"/>
                </a:solidFill>
                <a:latin typeface="Outfit SemiBold" pitchFamily="2" charset="0"/>
                <a:ea typeface="Outfit SemiBold" pitchFamily="2" charset="0"/>
                <a:cs typeface="Outfit SemiBold" pitchFamily="2" charset="0"/>
              </a:rPr>
              <a:t>How we tested</a:t>
            </a:r>
            <a:endParaRPr lang="en-US" sz="1650" b="0" i="0" kern="0" dirty="0" spc="-9">
              <a:solidFill>
                <a:srgbClr val="1F6F8B"/>
              </a:solidFill>
              <a:latin typeface="Outfit SemiBold" pitchFamily="2" charset="0"/>
              <a:ea typeface="Outfit SemiBold" pitchFamily="2" charset="0"/>
              <a:cs typeface="Outfit SemiBold" pitchFamily="2" charset="0"/>
            </a:endParaRPr>
          </a:p>
        </p:txBody>
      </p:sp>
      <p:sp>
        <p:nvSpPr>
          <p:cNvPr id="24" name="Rule"/>
          <p:cNvSpPr/>
          <p:nvPr/>
        </p:nvSpPr>
        <p:spPr>
          <a:xfrm>
            <a:off x="7924800" y="1847850"/>
            <a:ext cx="3581400" cy="19050"/>
          </a:xfrm>
          <a:prstGeom prst="rect">
            <a:avLst/>
          </a:prstGeom>
          <a:solidFill>
            <a:srgbClr val="16213E"/>
          </a:solidFill>
          <a:ln>
            <a:noFill/>
          </a:ln>
        </p:spPr>
        <p:txBody>
          <a:bodyPr rtlCol="0" anchor="ctr"/>
          <a:lstStyle/>
          <a:p>
            <a:pPr algn="ctr"/>
          </a:p>
        </p:txBody>
      </p:sp>
      <p:sp>
        <p:nvSpPr>
          <p:cNvPr id="25" name="Text: 1. Rolling-origin test (main)"/>
          <p:cNvSpPr txBox="1"/>
          <p:nvPr/>
        </p:nvSpPr>
        <p:spPr>
          <a:xfrm>
            <a:off x="7924800" y="2042541"/>
            <a:ext cx="35814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7">
                <a:solidFill>
                  <a:srgbClr val="16213E"/>
                </a:solidFill>
                <a:latin typeface="Geist SemiBold" pitchFamily="2" charset="0"/>
                <a:ea typeface="Geist SemiBold" pitchFamily="2" charset="0"/>
                <a:cs typeface="Geist SemiBold" pitchFamily="2" charset="0"/>
              </a:rPr>
              <a:t>1. Rolling-origin test (main)</a:t>
            </a:r>
            <a:endParaRPr lang="en-US" sz="1350" b="0" i="0" kern="0" dirty="0" spc="-7">
              <a:solidFill>
                <a:srgbClr val="16213E"/>
              </a:solidFill>
              <a:latin typeface="Geist SemiBold" pitchFamily="2" charset="0"/>
              <a:ea typeface="Geist SemiBold" pitchFamily="2" charset="0"/>
              <a:cs typeface="Geist SemiBold" pitchFamily="2" charset="0"/>
            </a:endParaRPr>
          </a:p>
        </p:txBody>
      </p:sp>
      <p:sp>
        <p:nvSpPr>
          <p:cNvPr id="26" name="Text: Repeated 12-month forecasts: update ever"/>
          <p:cNvSpPr txBox="1"/>
          <p:nvPr/>
        </p:nvSpPr>
        <p:spPr>
          <a:xfrm>
            <a:off x="7924800" y="2273427"/>
            <a:ext cx="3581400" cy="438150"/>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17">
                <a:solidFill>
                  <a:srgbClr val="4F5560"/>
                </a:solidFill>
                <a:latin typeface="Geist" pitchFamily="2" charset="0"/>
                <a:ea typeface="Geist" pitchFamily="2" charset="0"/>
                <a:cs typeface="Geist" pitchFamily="2" charset="0"/>
              </a:rPr>
              <a:t>Repeated 12-month forecasts: update every </a:t>
            </a:r>
            <a:r>
              <a:rPr lang="en-US" sz="1200" b="0" i="0" kern="0" dirty="0" spc="-17">
                <a:solidFill>
                  <a:srgbClr val="4F5560"/>
                </a:solidFill>
                <a:latin typeface="Geist" pitchFamily="2" charset="0"/>
                <a:ea typeface="Geist" pitchFamily="2" charset="0"/>
                <a:cs typeface="Geist" pitchFamily="2" charset="0"/>
              </a:rPr>
              <a:t>3 months, 18 start dates</a:t>
            </a:r>
            <a:endParaRPr lang="en-US" sz="1200" b="0" i="0" kern="0" dirty="0" spc="-17">
              <a:solidFill>
                <a:srgbClr val="4F5560"/>
              </a:solidFill>
              <a:latin typeface="Geist" pitchFamily="2" charset="0"/>
              <a:ea typeface="Geist" pitchFamily="2" charset="0"/>
              <a:cs typeface="Geist" pitchFamily="2" charset="0"/>
            </a:endParaRPr>
          </a:p>
        </p:txBody>
      </p:sp>
      <p:sp>
        <p:nvSpPr>
          <p:cNvPr id="27" name="Text: 2. One long forecast"/>
          <p:cNvSpPr txBox="1"/>
          <p:nvPr/>
        </p:nvSpPr>
        <p:spPr>
          <a:xfrm>
            <a:off x="7924800" y="2888361"/>
            <a:ext cx="3581400" cy="238125"/>
          </a:xfrm>
          <a:prstGeom prst="rect">
            <a:avLst/>
          </a:prstGeom>
          <a:noFill/>
        </p:spPr>
        <p:txBody>
          <a:bodyPr wrap="square" lIns="0" tIns="0" rIns="0" bIns="0" anchor="t" rtlCol="0" vert="horz">
            <a:noAutofit/>
          </a:bodyPr>
          <a:lstStyle/>
          <a:p>
            <a:pPr algn="l" marL="0" indent="0">
              <a:lnSpc>
                <a:spcPts val="1875"/>
              </a:lnSpc>
              <a:spcBef>
                <a:spcPts val="0"/>
              </a:spcBef>
              <a:spcAft>
                <a:spcPts val="0"/>
              </a:spcAft>
              <a:buNone/>
            </a:pPr>
            <a:r>
              <a:rPr lang="en-US" sz="1350" b="0" i="0" kern="0" dirty="0" spc="-12">
                <a:solidFill>
                  <a:srgbClr val="16213E"/>
                </a:solidFill>
                <a:latin typeface="Geist SemiBold" pitchFamily="2" charset="0"/>
                <a:ea typeface="Geist SemiBold" pitchFamily="2" charset="0"/>
                <a:cs typeface="Geist SemiBold" pitchFamily="2" charset="0"/>
              </a:rPr>
              <a:t>2. One long forecast</a:t>
            </a:r>
            <a:endParaRPr lang="en-US" sz="1350" b="0" i="0" kern="0" dirty="0" spc="-12">
              <a:solidFill>
                <a:srgbClr val="16213E"/>
              </a:solidFill>
              <a:latin typeface="Geist SemiBold" pitchFamily="2" charset="0"/>
              <a:ea typeface="Geist SemiBold" pitchFamily="2" charset="0"/>
              <a:cs typeface="Geist SemiBold" pitchFamily="2" charset="0"/>
            </a:endParaRPr>
          </a:p>
        </p:txBody>
      </p:sp>
      <p:sp>
        <p:nvSpPr>
          <p:cNvPr id="28" name="Text: Train on the first 80% (to April 2021), "/>
          <p:cNvSpPr txBox="1"/>
          <p:nvPr/>
        </p:nvSpPr>
        <p:spPr>
          <a:xfrm>
            <a:off x="7924800" y="3122295"/>
            <a:ext cx="3581400" cy="438150"/>
          </a:xfrm>
          <a:prstGeom prst="rect">
            <a:avLst/>
          </a:prstGeom>
          <a:noFill/>
        </p:spPr>
        <p:txBody>
          <a:bodyPr wrap="square" lIns="0" tIns="0" rIns="0" bIns="0" anchor="t" rtlCol="0" vert="horz">
            <a:noAutofit/>
          </a:bodyPr>
          <a:lstStyle/>
          <a:p>
            <a:pPr algn="l" marL="0" indent="0">
              <a:lnSpc>
                <a:spcPts val="1725"/>
              </a:lnSpc>
              <a:spcBef>
                <a:spcPts val="0"/>
              </a:spcBef>
              <a:spcAft>
                <a:spcPts val="0"/>
              </a:spcAft>
              <a:buNone/>
            </a:pPr>
            <a:r>
              <a:rPr lang="en-US" sz="1200" b="0" i="0" kern="0" dirty="0" spc="-12">
                <a:solidFill>
                  <a:srgbClr val="4F5560"/>
                </a:solidFill>
                <a:latin typeface="Geist" pitchFamily="2" charset="0"/>
                <a:ea typeface="Geist" pitchFamily="2" charset="0"/>
                <a:cs typeface="Geist" pitchFamily="2" charset="0"/>
              </a:rPr>
              <a:t>Train on the first 80% (to April 2021), then forecast </a:t>
            </a:r>
            <a:r>
              <a:rPr lang="en-US" sz="1200" b="0" i="0" kern="0" dirty="0" spc="-12">
                <a:solidFill>
                  <a:srgbClr val="4F5560"/>
                </a:solidFill>
                <a:latin typeface="Geist" pitchFamily="2" charset="0"/>
                <a:ea typeface="Geist" pitchFamily="2" charset="0"/>
                <a:cs typeface="Geist" pitchFamily="2" charset="0"/>
              </a:rPr>
              <a:t>the next 64 months in one shot</a:t>
            </a:r>
            <a:endParaRPr lang="en-US" sz="1200" b="0" i="0" kern="0" dirty="0" spc="-12">
              <a:solidFill>
                <a:srgbClr val="4F5560"/>
              </a:solidFill>
              <a:latin typeface="Geist" pitchFamily="2" charset="0"/>
              <a:ea typeface="Geist" pitchFamily="2" charset="0"/>
              <a:cs typeface="Geist" pitchFamily="2" charset="0"/>
            </a:endParaRPr>
          </a:p>
        </p:txBody>
      </p:sp>
      <p:sp>
        <p:nvSpPr>
          <p:cNvPr id="29" name="Panel"/>
          <p:cNvSpPr/>
          <p:nvPr/>
        </p:nvSpPr>
        <p:spPr>
          <a:xfrm>
            <a:off x="609600" y="5029200"/>
            <a:ext cx="10972800" cy="838200"/>
          </a:xfrm>
          <a:prstGeom prst="roundRect">
            <a:avLst>
              <a:gd name="adj" fmla="val 13636"/>
            </a:avLst>
          </a:prstGeom>
          <a:solidFill>
            <a:srgbClr val="F3ECE3"/>
          </a:solidFill>
          <a:ln>
            <a:noFill/>
          </a:ln>
        </p:spPr>
        <p:txBody>
          <a:bodyPr rtlCol="0" anchor="ctr"/>
          <a:lstStyle/>
          <a:p>
            <a:pPr algn="ctr"/>
          </a:p>
        </p:txBody>
      </p:sp>
      <p:sp>
        <p:nvSpPr>
          <p:cNvPr id="30" name="Text: How we score  MAPE measures how far fore"/>
          <p:cNvSpPr txBox="1"/>
          <p:nvPr/>
        </p:nvSpPr>
        <p:spPr>
          <a:xfrm>
            <a:off x="876300" y="5191125"/>
            <a:ext cx="10439400" cy="495300"/>
          </a:xfrm>
          <a:prstGeom prst="rect">
            <a:avLst/>
          </a:prstGeom>
          <a:noFill/>
        </p:spPr>
        <p:txBody>
          <a:bodyPr wrap="square" lIns="0" tIns="0" rIns="0" bIns="0" anchor="t" rtlCol="0" vert="horz">
            <a:noAutofit/>
          </a:bodyPr>
          <a:lstStyle/>
          <a:p>
            <a:pPr algn="l" marL="0" indent="0">
              <a:lnSpc>
                <a:spcPts val="1950"/>
              </a:lnSpc>
              <a:spcBef>
                <a:spcPts val="0"/>
              </a:spcBef>
              <a:spcAft>
                <a:spcPts val="0"/>
              </a:spcAft>
              <a:buNone/>
            </a:pPr>
            <a:r>
              <a:rPr lang="en-US" sz="1350" b="0" i="0" kern="0" dirty="0" spc="-16">
                <a:solidFill>
                  <a:srgbClr val="B4400B"/>
                </a:solidFill>
                <a:latin typeface="Geist SemiBold" pitchFamily="2" charset="0"/>
                <a:ea typeface="Geist SemiBold" pitchFamily="2" charset="0"/>
                <a:cs typeface="Geist SemiBold" pitchFamily="2" charset="0"/>
              </a:rPr>
              <a:t>How we score</a:t>
            </a:r>
            <a:r>
              <a:rPr lang="en-US" sz="1350" b="0" i="0" kern="0" dirty="0" spc="-16">
                <a:solidFill>
                  <a:srgbClr val="16213E"/>
                </a:solidFill>
                <a:latin typeface="Geist" pitchFamily="2" charset="0"/>
                <a:ea typeface="Geist" pitchFamily="2" charset="0"/>
                <a:cs typeface="Geist" pitchFamily="2" charset="0"/>
              </a:rPr>
              <a:t>  MAPE measures how far forecasts are from actual values, in percent. We average the absolute errors across </a:t>
            </a:r>
            <a:r>
              <a:rPr lang="en-US" sz="1350" b="0" i="0" kern="0" dirty="0" spc="-16">
                <a:solidFill>
                  <a:srgbClr val="16213E"/>
                </a:solidFill>
                <a:latin typeface="Geist" pitchFamily="2" charset="0"/>
                <a:ea typeface="Geist" pitchFamily="2" charset="0"/>
                <a:cs typeface="Geist" pitchFamily="2" charset="0"/>
              </a:rPr>
              <a:t>months 1 to 12 and all 18 start dates. Lower is better.</a:t>
            </a:r>
            <a:endParaRPr lang="en-US" sz="1350" b="0" i="0" kern="0" dirty="0" spc="-16">
              <a:solidFill>
                <a:srgbClr val="16213E"/>
              </a:solidFill>
              <a:latin typeface="Geist" pitchFamily="2" charset="0"/>
              <a:ea typeface="Geist" pitchFamily="2" charset="0"/>
              <a:cs typeface="Geist" pitchFamily="2" charset="0"/>
            </a:endParaRPr>
          </a:p>
        </p:txBody>
      </p:sp>
      <p:sp>
        <p:nvSpPr>
          <p:cNvPr id="31"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32" name="Text: 3"/>
          <p:cNvSpPr txBox="1"/>
          <p:nvPr/>
        </p:nvSpPr>
        <p:spPr>
          <a:xfrm>
            <a:off x="10553700"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3</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ARIMAX had the lowest average forecast e"/>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83">
                <a:solidFill>
                  <a:srgbClr val="16213E"/>
                </a:solidFill>
                <a:latin typeface="Outfit SemiBold" pitchFamily="2" charset="0"/>
                <a:ea typeface="Outfit SemiBold" pitchFamily="2" charset="0"/>
                <a:cs typeface="Outfit SemiBold" pitchFamily="2" charset="0"/>
              </a:rPr>
              <a:t>ARIMAX had the lowest average forecast error</a:t>
            </a:r>
            <a:endParaRPr lang="en-US" sz="2700" b="0" i="0" kern="0" dirty="0" spc="-83">
              <a:solidFill>
                <a:srgbClr val="16213E"/>
              </a:solidFill>
              <a:latin typeface="Outfit SemiBold" pitchFamily="2" charset="0"/>
              <a:ea typeface="Outfit SemiBold" pitchFamily="2" charset="0"/>
              <a:cs typeface="Outfit SemiBold" pitchFamily="2" charset="0"/>
            </a:endParaRPr>
          </a:p>
        </p:txBody>
      </p:sp>
      <p:sp>
        <p:nvSpPr>
          <p:cNvPr id="3" name="Text: Result 1 · Rolling-origin test"/>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8">
                <a:solidFill>
                  <a:srgbClr val="1F6F8B"/>
                </a:solidFill>
                <a:latin typeface="Geist SemiBold" pitchFamily="2" charset="0"/>
                <a:ea typeface="Geist SemiBold" pitchFamily="2" charset="0"/>
                <a:cs typeface="Geist SemiBold" pitchFamily="2" charset="0"/>
              </a:rPr>
              <a:t>Result 1 · Rolling-origin test</a:t>
            </a:r>
            <a:endParaRPr lang="en-US" sz="1125" b="0" i="0" kern="0" dirty="0" spc="-8">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Plate"/>
          <p:cNvSpPr/>
          <p:nvPr/>
        </p:nvSpPr>
        <p:spPr>
          <a:xfrm>
            <a:off x="609600" y="1485900"/>
            <a:ext cx="7239000" cy="4762500"/>
          </a:xfrm>
          <a:prstGeom prst="roundRect">
            <a:avLst>
              <a:gd name="adj" fmla="val 2400"/>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graphicFrame>
        <p:nvGraphicFramePr>
          <p:cNvPr id="6" name="Chart: average error by model" descr="Average error (MAPE), months 1 to 12, by model, lowest first: ARIMAX 2.67, ARIMA 2.77, ARIMAX + jobs 2.81, VAR (growth + rate) 2.93, LSTM 3.02, GRU 3.18, Naive drift 3.27, Holt (damped) 3.39, Chronos (foundation model) 3.56, LightGBM 3.60, Factor VAR (neighborhoods) 3.64, XGBoost 3.65, Prophet + COVID &amp; rates 5.12, Prophet 6.89"/>
          <p:cNvGraphicFramePr>
            <a:graphicFrameLocks noGrp="1"/>
          </p:cNvGraphicFramePr>
          <p:nvPr/>
        </p:nvGraphicFramePr>
        <p:xfrm>
          <a:off x="838200" y="1657350"/>
          <a:ext cx="6781800" cy="4152900"/>
        </p:xfrm>
        <a:graphic>
          <a:graphicData uri="http://schemas.openxmlformats.org/drawingml/2006/chart">
            <c:chart xmlns:c="http://schemas.openxmlformats.org/drawingml/2006/chart" r:id="rId2"/>
          </a:graphicData>
        </a:graphic>
      </p:graphicFrame>
      <p:sp>
        <p:nvSpPr>
          <p:cNvPr id="7" name="Text: ARIMAX"/>
          <p:cNvSpPr txBox="1"/>
          <p:nvPr/>
        </p:nvSpPr>
        <p:spPr>
          <a:xfrm>
            <a:off x="839972" y="1716810"/>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6">
                <a:solidFill>
                  <a:srgbClr val="3D4A5C"/>
                </a:solidFill>
                <a:latin typeface="Geist" pitchFamily="2" charset="0"/>
                <a:ea typeface="Geist" pitchFamily="2" charset="0"/>
                <a:cs typeface="Geist" pitchFamily="2" charset="0"/>
              </a:rPr>
              <a:t>ARIMAX</a:t>
            </a:r>
            <a:endParaRPr lang="en-US" sz="1125" b="0" i="0" kern="0" dirty="0" spc="-6">
              <a:solidFill>
                <a:srgbClr val="3D4A5C"/>
              </a:solidFill>
              <a:latin typeface="Geist" pitchFamily="2" charset="0"/>
              <a:ea typeface="Geist" pitchFamily="2" charset="0"/>
              <a:cs typeface="Geist" pitchFamily="2" charset="0"/>
            </a:endParaRPr>
          </a:p>
        </p:txBody>
      </p:sp>
      <p:sp>
        <p:nvSpPr>
          <p:cNvPr id="8" name="Text: ARIMA"/>
          <p:cNvSpPr txBox="1"/>
          <p:nvPr/>
        </p:nvSpPr>
        <p:spPr>
          <a:xfrm>
            <a:off x="839086" y="2012281"/>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7">
                <a:solidFill>
                  <a:srgbClr val="3D4A5C"/>
                </a:solidFill>
                <a:latin typeface="Geist" pitchFamily="2" charset="0"/>
                <a:ea typeface="Geist" pitchFamily="2" charset="0"/>
                <a:cs typeface="Geist" pitchFamily="2" charset="0"/>
              </a:rPr>
              <a:t>ARIMA</a:t>
            </a:r>
            <a:endParaRPr lang="en-US" sz="1125" b="0" i="0" kern="0" dirty="0" spc="-7">
              <a:solidFill>
                <a:srgbClr val="3D4A5C"/>
              </a:solidFill>
              <a:latin typeface="Geist" pitchFamily="2" charset="0"/>
              <a:ea typeface="Geist" pitchFamily="2" charset="0"/>
              <a:cs typeface="Geist" pitchFamily="2" charset="0"/>
            </a:endParaRPr>
          </a:p>
        </p:txBody>
      </p:sp>
      <p:sp>
        <p:nvSpPr>
          <p:cNvPr id="9" name="Text: ARIMAX + jobs"/>
          <p:cNvSpPr txBox="1"/>
          <p:nvPr/>
        </p:nvSpPr>
        <p:spPr>
          <a:xfrm>
            <a:off x="839400" y="2307753"/>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7">
                <a:solidFill>
                  <a:srgbClr val="3D4A5C"/>
                </a:solidFill>
                <a:latin typeface="Geist" pitchFamily="2" charset="0"/>
                <a:ea typeface="Geist" pitchFamily="2" charset="0"/>
                <a:cs typeface="Geist" pitchFamily="2" charset="0"/>
              </a:rPr>
              <a:t>ARIMAX + jobs</a:t>
            </a:r>
            <a:endParaRPr lang="en-US" sz="1125" b="0" i="0" kern="0" dirty="0" spc="-7">
              <a:solidFill>
                <a:srgbClr val="3D4A5C"/>
              </a:solidFill>
              <a:latin typeface="Geist" pitchFamily="2" charset="0"/>
              <a:ea typeface="Geist" pitchFamily="2" charset="0"/>
              <a:cs typeface="Geist" pitchFamily="2" charset="0"/>
            </a:endParaRPr>
          </a:p>
        </p:txBody>
      </p:sp>
      <p:sp>
        <p:nvSpPr>
          <p:cNvPr id="10" name="Text: VAR (growth + rate)"/>
          <p:cNvSpPr txBox="1"/>
          <p:nvPr/>
        </p:nvSpPr>
        <p:spPr>
          <a:xfrm>
            <a:off x="836981" y="2603224"/>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21">
                <a:solidFill>
                  <a:srgbClr val="3D4A5C"/>
                </a:solidFill>
                <a:latin typeface="Geist" pitchFamily="2" charset="0"/>
                <a:ea typeface="Geist" pitchFamily="2" charset="0"/>
                <a:cs typeface="Geist" pitchFamily="2" charset="0"/>
              </a:rPr>
              <a:t>VAR (growth + rate)</a:t>
            </a:r>
            <a:endParaRPr lang="en-US" sz="1125" b="0" i="0" kern="0" dirty="0" spc="-21">
              <a:solidFill>
                <a:srgbClr val="3D4A5C"/>
              </a:solidFill>
              <a:latin typeface="Geist" pitchFamily="2" charset="0"/>
              <a:ea typeface="Geist" pitchFamily="2" charset="0"/>
              <a:cs typeface="Geist" pitchFamily="2" charset="0"/>
            </a:endParaRPr>
          </a:p>
        </p:txBody>
      </p:sp>
      <p:sp>
        <p:nvSpPr>
          <p:cNvPr id="11" name="Text: LSTM"/>
          <p:cNvSpPr txBox="1"/>
          <p:nvPr/>
        </p:nvSpPr>
        <p:spPr>
          <a:xfrm>
            <a:off x="836162" y="2898696"/>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40">
                <a:solidFill>
                  <a:srgbClr val="3D4A5C"/>
                </a:solidFill>
                <a:latin typeface="Geist" pitchFamily="2" charset="0"/>
                <a:ea typeface="Geist" pitchFamily="2" charset="0"/>
                <a:cs typeface="Geist" pitchFamily="2" charset="0"/>
              </a:rPr>
              <a:t>LSTM</a:t>
            </a:r>
            <a:endParaRPr lang="en-US" sz="1125" b="0" i="0" kern="0" dirty="0" spc="-40">
              <a:solidFill>
                <a:srgbClr val="3D4A5C"/>
              </a:solidFill>
              <a:latin typeface="Geist" pitchFamily="2" charset="0"/>
              <a:ea typeface="Geist" pitchFamily="2" charset="0"/>
              <a:cs typeface="Geist" pitchFamily="2" charset="0"/>
            </a:endParaRPr>
          </a:p>
        </p:txBody>
      </p:sp>
      <p:sp>
        <p:nvSpPr>
          <p:cNvPr id="12" name="Text: GRU"/>
          <p:cNvSpPr txBox="1"/>
          <p:nvPr/>
        </p:nvSpPr>
        <p:spPr>
          <a:xfrm>
            <a:off x="841696" y="3194167"/>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12">
                <a:solidFill>
                  <a:srgbClr val="3D4A5C"/>
                </a:solidFill>
                <a:latin typeface="Geist" pitchFamily="2" charset="0"/>
                <a:ea typeface="Geist" pitchFamily="2" charset="0"/>
                <a:cs typeface="Geist" pitchFamily="2" charset="0"/>
              </a:rPr>
              <a:t>GRU</a:t>
            </a:r>
            <a:endParaRPr lang="en-US" sz="1125" b="0" i="0" kern="0" dirty="0" spc="12">
              <a:solidFill>
                <a:srgbClr val="3D4A5C"/>
              </a:solidFill>
              <a:latin typeface="Geist" pitchFamily="2" charset="0"/>
              <a:ea typeface="Geist" pitchFamily="2" charset="0"/>
              <a:cs typeface="Geist" pitchFamily="2" charset="0"/>
            </a:endParaRPr>
          </a:p>
        </p:txBody>
      </p:sp>
      <p:sp>
        <p:nvSpPr>
          <p:cNvPr id="13" name="Text: Naive drift"/>
          <p:cNvSpPr txBox="1"/>
          <p:nvPr/>
        </p:nvSpPr>
        <p:spPr>
          <a:xfrm>
            <a:off x="836438" y="3489639"/>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20">
                <a:solidFill>
                  <a:srgbClr val="3D4A5C"/>
                </a:solidFill>
                <a:latin typeface="Geist" pitchFamily="2" charset="0"/>
                <a:ea typeface="Geist" pitchFamily="2" charset="0"/>
                <a:cs typeface="Geist" pitchFamily="2" charset="0"/>
              </a:rPr>
              <a:t>Naive drift</a:t>
            </a:r>
            <a:endParaRPr lang="en-US" sz="1125" b="0" i="0" kern="0" dirty="0" spc="-20">
              <a:solidFill>
                <a:srgbClr val="3D4A5C"/>
              </a:solidFill>
              <a:latin typeface="Geist" pitchFamily="2" charset="0"/>
              <a:ea typeface="Geist" pitchFamily="2" charset="0"/>
              <a:cs typeface="Geist" pitchFamily="2" charset="0"/>
            </a:endParaRPr>
          </a:p>
        </p:txBody>
      </p:sp>
      <p:sp>
        <p:nvSpPr>
          <p:cNvPr id="14" name="Text: Holt (damped)"/>
          <p:cNvSpPr txBox="1"/>
          <p:nvPr/>
        </p:nvSpPr>
        <p:spPr>
          <a:xfrm>
            <a:off x="838143" y="3795546"/>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13">
                <a:solidFill>
                  <a:srgbClr val="3D4A5C"/>
                </a:solidFill>
                <a:latin typeface="Geist" pitchFamily="2" charset="0"/>
                <a:ea typeface="Geist" pitchFamily="2" charset="0"/>
                <a:cs typeface="Geist" pitchFamily="2" charset="0"/>
              </a:rPr>
              <a:t>Holt (damped)</a:t>
            </a:r>
            <a:endParaRPr lang="en-US" sz="1125" b="0" i="0" kern="0" dirty="0" spc="-13">
              <a:solidFill>
                <a:srgbClr val="3D4A5C"/>
              </a:solidFill>
              <a:latin typeface="Geist" pitchFamily="2" charset="0"/>
              <a:ea typeface="Geist" pitchFamily="2" charset="0"/>
              <a:cs typeface="Geist" pitchFamily="2" charset="0"/>
            </a:endParaRPr>
          </a:p>
        </p:txBody>
      </p:sp>
      <p:sp>
        <p:nvSpPr>
          <p:cNvPr id="15" name="Text: Chronos (foundation model)"/>
          <p:cNvSpPr txBox="1"/>
          <p:nvPr/>
        </p:nvSpPr>
        <p:spPr>
          <a:xfrm>
            <a:off x="837800" y="4087969"/>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14">
                <a:solidFill>
                  <a:srgbClr val="3D4A5C"/>
                </a:solidFill>
                <a:latin typeface="Geist" pitchFamily="2" charset="0"/>
                <a:ea typeface="Geist" pitchFamily="2" charset="0"/>
                <a:cs typeface="Geist" pitchFamily="2" charset="0"/>
              </a:rPr>
              <a:t>Chronos (foundation model)</a:t>
            </a:r>
            <a:endParaRPr lang="en-US" sz="1125" b="0" i="0" kern="0" dirty="0" spc="-14">
              <a:solidFill>
                <a:srgbClr val="3D4A5C"/>
              </a:solidFill>
              <a:latin typeface="Geist" pitchFamily="2" charset="0"/>
              <a:ea typeface="Geist" pitchFamily="2" charset="0"/>
              <a:cs typeface="Geist" pitchFamily="2" charset="0"/>
            </a:endParaRPr>
          </a:p>
        </p:txBody>
      </p:sp>
      <p:sp>
        <p:nvSpPr>
          <p:cNvPr id="16" name="Text: LightGBM"/>
          <p:cNvSpPr txBox="1"/>
          <p:nvPr/>
        </p:nvSpPr>
        <p:spPr>
          <a:xfrm>
            <a:off x="839372" y="4383441"/>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14">
                <a:solidFill>
                  <a:srgbClr val="3D4A5C"/>
                </a:solidFill>
                <a:latin typeface="Geist" pitchFamily="2" charset="0"/>
                <a:ea typeface="Geist" pitchFamily="2" charset="0"/>
                <a:cs typeface="Geist" pitchFamily="2" charset="0"/>
              </a:rPr>
              <a:t>LightGBM</a:t>
            </a:r>
            <a:endParaRPr lang="en-US" sz="1125" b="0" i="0" kern="0" dirty="0" spc="-14">
              <a:solidFill>
                <a:srgbClr val="3D4A5C"/>
              </a:solidFill>
              <a:latin typeface="Geist" pitchFamily="2" charset="0"/>
              <a:ea typeface="Geist" pitchFamily="2" charset="0"/>
              <a:cs typeface="Geist" pitchFamily="2" charset="0"/>
            </a:endParaRPr>
          </a:p>
        </p:txBody>
      </p:sp>
      <p:sp>
        <p:nvSpPr>
          <p:cNvPr id="17" name="Text: Factor VAR (neighborhoods)"/>
          <p:cNvSpPr txBox="1"/>
          <p:nvPr/>
        </p:nvSpPr>
        <p:spPr>
          <a:xfrm>
            <a:off x="836819" y="4678912"/>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16">
                <a:solidFill>
                  <a:srgbClr val="3D4A5C"/>
                </a:solidFill>
                <a:latin typeface="Geist" pitchFamily="2" charset="0"/>
                <a:ea typeface="Geist" pitchFamily="2" charset="0"/>
                <a:cs typeface="Geist" pitchFamily="2" charset="0"/>
              </a:rPr>
              <a:t>Factor VAR (neighborhoods)</a:t>
            </a:r>
            <a:endParaRPr lang="en-US" sz="1125" b="0" i="0" kern="0" dirty="0" spc="-16">
              <a:solidFill>
                <a:srgbClr val="3D4A5C"/>
              </a:solidFill>
              <a:latin typeface="Geist" pitchFamily="2" charset="0"/>
              <a:ea typeface="Geist" pitchFamily="2" charset="0"/>
              <a:cs typeface="Geist" pitchFamily="2" charset="0"/>
            </a:endParaRPr>
          </a:p>
        </p:txBody>
      </p:sp>
      <p:sp>
        <p:nvSpPr>
          <p:cNvPr id="18" name="Text: XGBoost"/>
          <p:cNvSpPr txBox="1"/>
          <p:nvPr/>
        </p:nvSpPr>
        <p:spPr>
          <a:xfrm>
            <a:off x="836600" y="4974384"/>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18">
                <a:solidFill>
                  <a:srgbClr val="3D4A5C"/>
                </a:solidFill>
                <a:latin typeface="Geist" pitchFamily="2" charset="0"/>
                <a:ea typeface="Geist" pitchFamily="2" charset="0"/>
                <a:cs typeface="Geist" pitchFamily="2" charset="0"/>
              </a:rPr>
              <a:t>XGBoost</a:t>
            </a:r>
            <a:endParaRPr lang="en-US" sz="1125" b="0" i="0" kern="0" dirty="0" spc="-18">
              <a:solidFill>
                <a:srgbClr val="3D4A5C"/>
              </a:solidFill>
              <a:latin typeface="Geist" pitchFamily="2" charset="0"/>
              <a:ea typeface="Geist" pitchFamily="2" charset="0"/>
              <a:cs typeface="Geist" pitchFamily="2" charset="0"/>
            </a:endParaRPr>
          </a:p>
        </p:txBody>
      </p:sp>
      <p:sp>
        <p:nvSpPr>
          <p:cNvPr id="19" name="Text: Prophet + COVID &amp; rates"/>
          <p:cNvSpPr txBox="1"/>
          <p:nvPr/>
        </p:nvSpPr>
        <p:spPr>
          <a:xfrm>
            <a:off x="838248" y="5269855"/>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15">
                <a:solidFill>
                  <a:srgbClr val="3D4A5C"/>
                </a:solidFill>
                <a:latin typeface="Geist" pitchFamily="2" charset="0"/>
                <a:ea typeface="Geist" pitchFamily="2" charset="0"/>
                <a:cs typeface="Geist" pitchFamily="2" charset="0"/>
              </a:rPr>
              <a:t>Prophet + COVID &amp; rates</a:t>
            </a:r>
            <a:endParaRPr lang="en-US" sz="1125" b="0" i="0" kern="0" dirty="0" spc="-15">
              <a:solidFill>
                <a:srgbClr val="3D4A5C"/>
              </a:solidFill>
              <a:latin typeface="Geist" pitchFamily="2" charset="0"/>
              <a:ea typeface="Geist" pitchFamily="2" charset="0"/>
              <a:cs typeface="Geist" pitchFamily="2" charset="0"/>
            </a:endParaRPr>
          </a:p>
        </p:txBody>
      </p:sp>
      <p:sp>
        <p:nvSpPr>
          <p:cNvPr id="20" name="Text: Prophet"/>
          <p:cNvSpPr txBox="1"/>
          <p:nvPr/>
        </p:nvSpPr>
        <p:spPr>
          <a:xfrm>
            <a:off x="836295" y="5565327"/>
            <a:ext cx="2019300" cy="190500"/>
          </a:xfrm>
          <a:prstGeom prst="rect">
            <a:avLst/>
          </a:prstGeom>
          <a:noFill/>
        </p:spPr>
        <p:txBody>
          <a:bodyPr wrap="square" lIns="0" tIns="0" rIns="0" bIns="0" anchor="t" rtlCol="0" vert="horz">
            <a:noAutofit/>
          </a:bodyPr>
          <a:lstStyle/>
          <a:p>
            <a:pPr algn="r" marL="0" indent="0">
              <a:lnSpc>
                <a:spcPts val="1500"/>
              </a:lnSpc>
              <a:spcBef>
                <a:spcPts val="0"/>
              </a:spcBef>
              <a:spcAft>
                <a:spcPts val="0"/>
              </a:spcAft>
              <a:buNone/>
            </a:pPr>
            <a:r>
              <a:rPr lang="en-US" sz="1125" b="0" i="0" kern="0" dirty="0" spc="-20">
                <a:solidFill>
                  <a:srgbClr val="3D4A5C"/>
                </a:solidFill>
                <a:latin typeface="Geist" pitchFamily="2" charset="0"/>
                <a:ea typeface="Geist" pitchFamily="2" charset="0"/>
                <a:cs typeface="Geist" pitchFamily="2" charset="0"/>
              </a:rPr>
              <a:t>Prophet</a:t>
            </a:r>
            <a:endParaRPr lang="en-US" sz="1125" b="0" i="0" kern="0" dirty="0" spc="-20">
              <a:solidFill>
                <a:srgbClr val="3D4A5C"/>
              </a:solidFill>
              <a:latin typeface="Geist" pitchFamily="2" charset="0"/>
              <a:ea typeface="Geist" pitchFamily="2" charset="0"/>
              <a:cs typeface="Geist" pitchFamily="2" charset="0"/>
            </a:endParaRPr>
          </a:p>
        </p:txBody>
      </p:sp>
      <p:sp>
        <p:nvSpPr>
          <p:cNvPr id="21" name="Text: Avg % error, 1-12 months"/>
          <p:cNvSpPr txBox="1"/>
          <p:nvPr/>
        </p:nvSpPr>
        <p:spPr>
          <a:xfrm>
            <a:off x="838200" y="5946267"/>
            <a:ext cx="3810000" cy="171450"/>
          </a:xfrm>
          <a:prstGeom prst="rect">
            <a:avLst/>
          </a:prstGeom>
          <a:noFill/>
        </p:spPr>
        <p:txBody>
          <a:bodyPr wrap="square" lIns="0" tIns="0" rIns="0" bIns="0" anchor="t" rtlCol="0" vert="horz">
            <a:noAutofit/>
          </a:bodyPr>
          <a:lstStyle/>
          <a:p>
            <a:pPr algn="l" marL="0" indent="0">
              <a:lnSpc>
                <a:spcPts val="1350"/>
              </a:lnSpc>
              <a:spcBef>
                <a:spcPts val="0"/>
              </a:spcBef>
              <a:spcAft>
                <a:spcPts val="0"/>
              </a:spcAft>
              <a:buNone/>
            </a:pPr>
            <a:r>
              <a:rPr lang="en-US" sz="975" b="0" i="0" kern="0" dirty="0" spc="-18">
                <a:solidFill>
                  <a:srgbClr val="4F5560"/>
                </a:solidFill>
                <a:latin typeface="Geist" pitchFamily="2" charset="0"/>
                <a:ea typeface="Geist" pitchFamily="2" charset="0"/>
                <a:cs typeface="Geist" pitchFamily="2" charset="0"/>
              </a:rPr>
              <a:t>Avg % error, 1-12 months</a:t>
            </a:r>
            <a:endParaRPr lang="en-US" sz="975" b="0" i="0" kern="0" dirty="0" spc="-18">
              <a:solidFill>
                <a:srgbClr val="4F5560"/>
              </a:solidFill>
              <a:latin typeface="Geist" pitchFamily="2" charset="0"/>
              <a:ea typeface="Geist" pitchFamily="2" charset="0"/>
              <a:cs typeface="Geist" pitchFamily="2" charset="0"/>
            </a:endParaRPr>
          </a:p>
        </p:txBody>
      </p:sp>
      <p:sp>
        <p:nvSpPr>
          <p:cNvPr id="22" name="Text: Lowest error (MAPE)"/>
          <p:cNvSpPr txBox="1"/>
          <p:nvPr/>
        </p:nvSpPr>
        <p:spPr>
          <a:xfrm>
            <a:off x="8305800" y="1565529"/>
            <a:ext cx="32004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7">
                <a:solidFill>
                  <a:srgbClr val="1F6F8B"/>
                </a:solidFill>
                <a:latin typeface="Geist SemiBold" pitchFamily="2" charset="0"/>
                <a:ea typeface="Geist SemiBold" pitchFamily="2" charset="0"/>
                <a:cs typeface="Geist SemiBold" pitchFamily="2" charset="0"/>
              </a:rPr>
              <a:t>Lowest error (MAPE)</a:t>
            </a:r>
            <a:endParaRPr lang="en-US" sz="1125" b="0" i="0" kern="0" dirty="0" spc="-17">
              <a:solidFill>
                <a:srgbClr val="1F6F8B"/>
              </a:solidFill>
              <a:latin typeface="Geist SemiBold" pitchFamily="2" charset="0"/>
              <a:ea typeface="Geist SemiBold" pitchFamily="2" charset="0"/>
              <a:cs typeface="Geist SemiBold" pitchFamily="2" charset="0"/>
            </a:endParaRPr>
          </a:p>
        </p:txBody>
      </p:sp>
      <p:sp>
        <p:nvSpPr>
          <p:cNvPr id="23" name="Text: 2.67%"/>
          <p:cNvSpPr txBox="1"/>
          <p:nvPr/>
        </p:nvSpPr>
        <p:spPr>
          <a:xfrm>
            <a:off x="8305800" y="1899666"/>
            <a:ext cx="3392424" cy="876300"/>
          </a:xfrm>
          <a:prstGeom prst="rect">
            <a:avLst/>
          </a:prstGeom>
          <a:noFill/>
        </p:spPr>
        <p:txBody>
          <a:bodyPr wrap="square" lIns="0" tIns="0" rIns="0" bIns="0" anchor="t" rtlCol="0" vert="horz">
            <a:noAutofit/>
          </a:bodyPr>
          <a:lstStyle/>
          <a:p>
            <a:pPr algn="l" marL="0" indent="0">
              <a:lnSpc>
                <a:spcPts val="6900"/>
              </a:lnSpc>
              <a:spcBef>
                <a:spcPts val="0"/>
              </a:spcBef>
              <a:spcAft>
                <a:spcPts val="0"/>
              </a:spcAft>
              <a:buNone/>
            </a:pPr>
            <a:r>
              <a:rPr lang="en-US" sz="6600" b="0" i="0" kern="0" dirty="0" spc="-307">
                <a:solidFill>
                  <a:srgbClr val="16213E"/>
                </a:solidFill>
                <a:latin typeface="Outfit SemiBold" pitchFamily="2" charset="0"/>
                <a:ea typeface="Outfit SemiBold" pitchFamily="2" charset="0"/>
                <a:cs typeface="Outfit SemiBold" pitchFamily="2" charset="0"/>
              </a:rPr>
              <a:t>2.67%</a:t>
            </a:r>
            <a:endParaRPr lang="en-US" sz="6600" b="0" i="0" kern="0" dirty="0" spc="-307">
              <a:solidFill>
                <a:srgbClr val="16213E"/>
              </a:solidFill>
              <a:latin typeface="Outfit SemiBold" pitchFamily="2" charset="0"/>
              <a:ea typeface="Outfit SemiBold" pitchFamily="2" charset="0"/>
              <a:cs typeface="Outfit SemiBold" pitchFamily="2" charset="0"/>
            </a:endParaRPr>
          </a:p>
        </p:txBody>
      </p:sp>
      <p:sp>
        <p:nvSpPr>
          <p:cNvPr id="24" name="Text: average error across months 1 to 12.ARIM"/>
          <p:cNvSpPr txBox="1"/>
          <p:nvPr/>
        </p:nvSpPr>
        <p:spPr>
          <a:xfrm>
            <a:off x="8305800" y="2839974"/>
            <a:ext cx="3392424" cy="1285875"/>
          </a:xfrm>
          <a:prstGeom prst="rect">
            <a:avLst/>
          </a:prstGeom>
          <a:noFill/>
        </p:spPr>
        <p:txBody>
          <a:bodyPr wrap="square" lIns="0" tIns="0" rIns="0" bIns="0" anchor="t" rtlCol="0" vert="horz">
            <a:noAutofit/>
          </a:bodyPr>
          <a:lstStyle/>
          <a:p>
            <a:pPr algn="l" marL="0" indent="0">
              <a:lnSpc>
                <a:spcPts val="2025"/>
              </a:lnSpc>
              <a:spcBef>
                <a:spcPts val="0"/>
              </a:spcBef>
              <a:spcAft>
                <a:spcPts val="0"/>
              </a:spcAft>
              <a:buNone/>
            </a:pPr>
            <a:r>
              <a:rPr lang="en-US" sz="1350" b="0" i="0" kern="0" dirty="0" spc="-20">
                <a:solidFill>
                  <a:srgbClr val="3D4A5C"/>
                </a:solidFill>
                <a:latin typeface="Geist" pitchFamily="2" charset="0"/>
                <a:ea typeface="Geist" pitchFamily="2" charset="0"/>
                <a:cs typeface="Geist" pitchFamily="2" charset="0"/>
              </a:rPr>
              <a:t>average error across months 1 to 12.</a:t>
            </a:r>
            <a:br>
              <a:rPr lang="en-US" sz="1350" b="0" i="0" kern="0" dirty="0" spc="-20">
                <a:solidFill>
                  <a:srgbClr val="3D4A5C"/>
                </a:solidFill>
                <a:latin typeface="Geist" pitchFamily="2" charset="0"/>
                <a:ea typeface="Geist" pitchFamily="2" charset="0"/>
                <a:cs typeface="Geist" pitchFamily="2" charset="0"/>
              </a:rPr>
            </a:br>
            <a:r>
              <a:rPr lang="en-US" sz="1350" b="0" i="0" kern="0" dirty="0" spc="-20">
                <a:solidFill>
                  <a:srgbClr val="3D4A5C"/>
                </a:solidFill>
                <a:latin typeface="Geist" pitchFamily="2" charset="0"/>
                <a:ea typeface="Geist" pitchFamily="2" charset="0"/>
                <a:cs typeface="Geist" pitchFamily="2" charset="0"/>
              </a:rPr>
              <a:t>ARIMAX adds mortgage-rate information</a:t>
            </a:r>
            <a:br>
              <a:rPr lang="en-US" sz="1350" b="0" i="0" kern="0" dirty="0" spc="-20">
                <a:solidFill>
                  <a:srgbClr val="3D4A5C"/>
                </a:solidFill>
                <a:latin typeface="Geist" pitchFamily="2" charset="0"/>
                <a:ea typeface="Geist" pitchFamily="2" charset="0"/>
                <a:cs typeface="Geist" pitchFamily="2" charset="0"/>
              </a:rPr>
            </a:br>
            <a:r>
              <a:rPr lang="en-US" sz="1350" b="0" i="0" kern="0" dirty="0" spc="-20">
                <a:solidFill>
                  <a:srgbClr val="3D4A5C"/>
                </a:solidFill>
                <a:latin typeface="Geist" pitchFamily="2" charset="0"/>
                <a:ea typeface="Geist" pitchFamily="2" charset="0"/>
                <a:cs typeface="Geist" pitchFamily="2" charset="0"/>
              </a:rPr>
              <a:t>to ARIMA; plain ARIMA was close, at</a:t>
            </a:r>
            <a:br>
              <a:rPr lang="en-US" sz="1350" b="0" i="0" kern="0" dirty="0" spc="-20">
                <a:solidFill>
                  <a:srgbClr val="3D4A5C"/>
                </a:solidFill>
                <a:latin typeface="Geist" pitchFamily="2" charset="0"/>
                <a:ea typeface="Geist" pitchFamily="2" charset="0"/>
                <a:cs typeface="Geist" pitchFamily="2" charset="0"/>
              </a:rPr>
            </a:br>
            <a:r>
              <a:rPr lang="en-US" sz="1350" b="0" i="0" kern="0" dirty="0" spc="-20">
                <a:solidFill>
                  <a:srgbClr val="3D4A5C"/>
                </a:solidFill>
                <a:latin typeface="Geist" pitchFamily="2" charset="0"/>
                <a:ea typeface="Geist" pitchFamily="2" charset="0"/>
                <a:cs typeface="Geist" pitchFamily="2" charset="0"/>
              </a:rPr>
              <a:t>2.77%. At month 12 alone: ARIMAX 5.0%,</a:t>
            </a:r>
            <a:br>
              <a:rPr lang="en-US" sz="1350" b="0" i="0" kern="0" dirty="0" spc="-20">
                <a:solidFill>
                  <a:srgbClr val="3D4A5C"/>
                </a:solidFill>
                <a:latin typeface="Geist" pitchFamily="2" charset="0"/>
                <a:ea typeface="Geist" pitchFamily="2" charset="0"/>
                <a:cs typeface="Geist" pitchFamily="2" charset="0"/>
              </a:rPr>
            </a:br>
            <a:r>
              <a:rPr lang="en-US" sz="1350" b="0" i="0" kern="0" dirty="0" spc="-20">
                <a:solidFill>
                  <a:srgbClr val="3D4A5C"/>
                </a:solidFill>
                <a:latin typeface="Geist" pitchFamily="2" charset="0"/>
                <a:ea typeface="Geist" pitchFamily="2" charset="0"/>
                <a:cs typeface="Geist" pitchFamily="2" charset="0"/>
              </a:rPr>
              <a:t>naive drift 4.9%.</a:t>
            </a:r>
            <a:endParaRPr lang="en-US" sz="1350" b="0" i="0" kern="0" dirty="0" spc="-20">
              <a:solidFill>
                <a:srgbClr val="3D4A5C"/>
              </a:solidFill>
              <a:latin typeface="Geist" pitchFamily="2" charset="0"/>
              <a:ea typeface="Geist" pitchFamily="2" charset="0"/>
              <a:cs typeface="Geist" pitchFamily="2" charset="0"/>
            </a:endParaRPr>
          </a:p>
        </p:txBody>
      </p:sp>
      <p:sp>
        <p:nvSpPr>
          <p:cNvPr id="25"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26" name="Text: 4"/>
          <p:cNvSpPr txBox="1"/>
          <p:nvPr/>
        </p:nvSpPr>
        <p:spPr>
          <a:xfrm>
            <a:off x="10553109"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4</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LightGBM ranked first in one long test,b"/>
          <p:cNvSpPr>
            <a:spLocks noGrp="1"/>
          </p:cNvSpPr>
          <p:nvPr>
            <p:ph type="title"/>
          </p:nvPr>
        </p:nvSpPr>
        <p:spPr>
          <a:xfrm>
            <a:off x="685800" y="614934"/>
            <a:ext cx="10904220" cy="80010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7">
                <a:solidFill>
                  <a:srgbClr val="16213E"/>
                </a:solidFill>
                <a:latin typeface="Outfit SemiBold" pitchFamily="2" charset="0"/>
                <a:ea typeface="Outfit SemiBold" pitchFamily="2" charset="0"/>
                <a:cs typeface="Outfit SemiBold" pitchFamily="2" charset="0"/>
              </a:rPr>
              <a:t>LightGBM ranked first in one long test,</a:t>
            </a:r>
            <a:br>
              <a:rPr lang="en-US" sz="2700" b="0" i="0" kern="0" dirty="0" spc="-77">
                <a:solidFill>
                  <a:srgbClr val="16213E"/>
                </a:solidFill>
                <a:latin typeface="Outfit SemiBold" pitchFamily="2" charset="0"/>
                <a:ea typeface="Outfit SemiBold" pitchFamily="2" charset="0"/>
                <a:cs typeface="Outfit SemiBold" pitchFamily="2" charset="0"/>
              </a:rPr>
            </a:br>
            <a:r>
              <a:rPr lang="en-US" sz="2700" b="0" i="0" kern="0" dirty="0" spc="-77">
                <a:solidFill>
                  <a:srgbClr val="16213E"/>
                </a:solidFill>
                <a:latin typeface="Outfit SemiBold" pitchFamily="2" charset="0"/>
                <a:ea typeface="Outfit SemiBold" pitchFamily="2" charset="0"/>
                <a:cs typeface="Outfit SemiBold" pitchFamily="2" charset="0"/>
              </a:rPr>
              <a:t>but tenth in repeated 12-month tests</a:t>
            </a:r>
            <a:endParaRPr lang="en-US" sz="2700" b="0" i="0" kern="0" dirty="0" spc="-77">
              <a:solidFill>
                <a:srgbClr val="16213E"/>
              </a:solidFill>
              <a:latin typeface="Outfit SemiBold" pitchFamily="2" charset="0"/>
              <a:ea typeface="Outfit SemiBold" pitchFamily="2" charset="0"/>
              <a:cs typeface="Outfit SemiBold" pitchFamily="2" charset="0"/>
            </a:endParaRPr>
          </a:p>
        </p:txBody>
      </p:sp>
      <p:sp>
        <p:nvSpPr>
          <p:cNvPr id="3" name="Text: Result 2 · One long forecast"/>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Result 2 · One long forecast</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543050"/>
            <a:ext cx="685800" cy="47625"/>
          </a:xfrm>
          <a:prstGeom prst="roundRect">
            <a:avLst>
              <a:gd name="adj" fmla="val 20000"/>
            </a:avLst>
          </a:prstGeom>
          <a:solidFill>
            <a:srgbClr val="B4400B"/>
          </a:solidFill>
          <a:ln>
            <a:noFill/>
          </a:ln>
        </p:spPr>
        <p:txBody>
          <a:bodyPr rtlCol="0" anchor="ctr"/>
          <a:lstStyle/>
          <a:p>
            <a:pPr algn="ctr"/>
          </a:p>
        </p:txBody>
      </p:sp>
      <p:sp>
        <p:nvSpPr>
          <p:cNvPr id="5" name="Plate"/>
          <p:cNvSpPr/>
          <p:nvPr/>
        </p:nvSpPr>
        <p:spPr>
          <a:xfrm>
            <a:off x="609600" y="1885950"/>
            <a:ext cx="6858000" cy="4029075"/>
          </a:xfrm>
          <a:prstGeom prst="roundRect">
            <a:avLst>
              <a:gd name="adj" fmla="val 2836"/>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6" name="Chart image" descr="Small multiples: each model's forecast from May 2021 (blue) against actual values (gray), with MAPE; LightGBM 2.2% circled in red, ARIMAX 3.8% in green"/>
          <p:cNvPicPr>
            <a:picLocks noChangeAspect="1"/>
          </p:cNvPicPr>
          <p:nvPr/>
        </p:nvPicPr>
        <p:blipFill>
          <a:blip r:embed="rId2"/>
          <a:stretch>
            <a:fillRect/>
          </a:stretch>
        </p:blipFill>
        <p:spPr>
          <a:xfrm>
            <a:off x="723900" y="2001975"/>
            <a:ext cx="6629400" cy="3797025"/>
          </a:xfrm>
          <a:prstGeom prst="rect">
            <a:avLst/>
          </a:prstGeom>
        </p:spPr>
      </p:pic>
      <p:sp>
        <p:nvSpPr>
          <p:cNvPr id="7" name="Text: Same model, two tests"/>
          <p:cNvSpPr txBox="1"/>
          <p:nvPr/>
        </p:nvSpPr>
        <p:spPr>
          <a:xfrm>
            <a:off x="7962900" y="1964817"/>
            <a:ext cx="35433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4">
                <a:solidFill>
                  <a:srgbClr val="B4400B"/>
                </a:solidFill>
                <a:latin typeface="Geist SemiBold" pitchFamily="2" charset="0"/>
                <a:ea typeface="Geist SemiBold" pitchFamily="2" charset="0"/>
                <a:cs typeface="Geist SemiBold" pitchFamily="2" charset="0"/>
              </a:rPr>
              <a:t>Same model, two tests</a:t>
            </a:r>
            <a:endParaRPr lang="en-US" sz="1125" b="0" i="0" kern="0" dirty="0" spc="-4">
              <a:solidFill>
                <a:srgbClr val="B4400B"/>
              </a:solidFill>
              <a:latin typeface="Geist SemiBold" pitchFamily="2" charset="0"/>
              <a:ea typeface="Geist SemiBold" pitchFamily="2" charset="0"/>
              <a:cs typeface="Geist SemiBold" pitchFamily="2" charset="0"/>
            </a:endParaRPr>
          </a:p>
        </p:txBody>
      </p:sp>
      <p:sp>
        <p:nvSpPr>
          <p:cNvPr id="8" name="Text: 1st → 10th"/>
          <p:cNvSpPr txBox="1"/>
          <p:nvPr/>
        </p:nvSpPr>
        <p:spPr>
          <a:xfrm>
            <a:off x="7962900" y="2262759"/>
            <a:ext cx="3755898" cy="742950"/>
          </a:xfrm>
          <a:prstGeom prst="rect">
            <a:avLst/>
          </a:prstGeom>
          <a:noFill/>
        </p:spPr>
        <p:txBody>
          <a:bodyPr wrap="square" lIns="0" tIns="0" rIns="0" bIns="0" anchor="t" rtlCol="0" vert="horz">
            <a:noAutofit/>
          </a:bodyPr>
          <a:lstStyle/>
          <a:p>
            <a:pPr algn="l" marL="0" indent="0">
              <a:lnSpc>
                <a:spcPts val="5850"/>
              </a:lnSpc>
              <a:spcBef>
                <a:spcPts val="0"/>
              </a:spcBef>
              <a:spcAft>
                <a:spcPts val="0"/>
              </a:spcAft>
              <a:buNone/>
            </a:pPr>
            <a:r>
              <a:rPr lang="en-US" sz="5400" b="0" i="0" kern="0" dirty="0" spc="-189">
                <a:solidFill>
                  <a:srgbClr val="16213E"/>
                </a:solidFill>
                <a:latin typeface="Outfit SemiBold" pitchFamily="2" charset="0"/>
                <a:ea typeface="Outfit SemiBold" pitchFamily="2" charset="0"/>
                <a:cs typeface="Outfit SemiBold" pitchFamily="2" charset="0"/>
              </a:rPr>
              <a:t>1st → 10th</a:t>
            </a:r>
            <a:endParaRPr lang="en-US" sz="5400" b="0" i="0" kern="0" dirty="0" spc="-189">
              <a:solidFill>
                <a:srgbClr val="16213E"/>
              </a:solidFill>
              <a:latin typeface="Outfit SemiBold" pitchFamily="2" charset="0"/>
              <a:ea typeface="Outfit SemiBold" pitchFamily="2" charset="0"/>
              <a:cs typeface="Outfit SemiBold" pitchFamily="2" charset="0"/>
            </a:endParaRPr>
          </a:p>
        </p:txBody>
      </p:sp>
      <p:sp>
        <p:nvSpPr>
          <p:cNvPr id="9" name="Text: 1st in the 64-month test (2.2% error), 1"/>
          <p:cNvSpPr txBox="1"/>
          <p:nvPr/>
        </p:nvSpPr>
        <p:spPr>
          <a:xfrm>
            <a:off x="7962900" y="3104388"/>
            <a:ext cx="3543300" cy="771525"/>
          </a:xfrm>
          <a:prstGeom prst="rect">
            <a:avLst/>
          </a:prstGeom>
          <a:noFill/>
        </p:spPr>
        <p:txBody>
          <a:bodyPr wrap="square" lIns="0" tIns="0" rIns="0" bIns="0" anchor="t" rtlCol="0" vert="horz">
            <a:noAutofit/>
          </a:bodyPr>
          <a:lstStyle/>
          <a:p>
            <a:pPr algn="l" marL="0" indent="0">
              <a:lnSpc>
                <a:spcPts val="2025"/>
              </a:lnSpc>
              <a:spcBef>
                <a:spcPts val="0"/>
              </a:spcBef>
              <a:spcAft>
                <a:spcPts val="0"/>
              </a:spcAft>
              <a:buNone/>
            </a:pPr>
            <a:r>
              <a:rPr lang="en-US" sz="1350" b="0" i="0" kern="0" dirty="0" spc="-11">
                <a:solidFill>
                  <a:srgbClr val="3D4A5C"/>
                </a:solidFill>
                <a:latin typeface="Geist" pitchFamily="2" charset="0"/>
                <a:ea typeface="Geist" pitchFamily="2" charset="0"/>
                <a:cs typeface="Geist" pitchFamily="2" charset="0"/>
              </a:rPr>
              <a:t>1st in the 64-month test (2.2% error), 10th in </a:t>
            </a:r>
            <a:r>
              <a:rPr lang="en-US" sz="1350" b="0" i="0" kern="0" dirty="0" spc="-11">
                <a:solidFill>
                  <a:srgbClr val="3D4A5C"/>
                </a:solidFill>
                <a:latin typeface="Geist" pitchFamily="2" charset="0"/>
                <a:ea typeface="Geist" pitchFamily="2" charset="0"/>
                <a:cs typeface="Geist" pitchFamily="2" charset="0"/>
              </a:rPr>
              <a:t>repeated 12-month tests. LightGBM's lead </a:t>
            </a:r>
            <a:r>
              <a:rPr lang="en-US" sz="1350" b="0" i="0" kern="0" dirty="0" spc="-11">
                <a:solidFill>
                  <a:srgbClr val="3D4A5C"/>
                </a:solidFill>
                <a:latin typeface="Geist" pitchFamily="2" charset="0"/>
                <a:ea typeface="Geist" pitchFamily="2" charset="0"/>
                <a:cs typeface="Geist" pitchFamily="2" charset="0"/>
              </a:rPr>
              <a:t>did not hold under our main evaluation.</a:t>
            </a:r>
            <a:endParaRPr lang="en-US" sz="1350" b="0" i="0" kern="0" dirty="0" spc="-11">
              <a:solidFill>
                <a:srgbClr val="3D4A5C"/>
              </a:solidFill>
              <a:latin typeface="Geist" pitchFamily="2" charset="0"/>
              <a:ea typeface="Geist" pitchFamily="2" charset="0"/>
              <a:cs typeface="Geist" pitchFamily="2" charset="0"/>
            </a:endParaRPr>
          </a:p>
        </p:txBody>
      </p:sp>
      <p:sp>
        <p:nvSpPr>
          <p:cNvPr id="10"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11" name="Text: 5"/>
          <p:cNvSpPr txBox="1"/>
          <p:nvPr/>
        </p:nvSpPr>
        <p:spPr>
          <a:xfrm>
            <a:off x="10553357"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5</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An alternative tool: AI's edge faded onc"/>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8">
                <a:solidFill>
                  <a:srgbClr val="16213E"/>
                </a:solidFill>
                <a:latin typeface="Outfit SemiBold" pitchFamily="2" charset="0"/>
                <a:ea typeface="Outfit SemiBold" pitchFamily="2" charset="0"/>
                <a:cs typeface="Outfit SemiBold" pitchFamily="2" charset="0"/>
              </a:rPr>
              <a:t>An alternative tool: AI's edge faded once we removed the clues</a:t>
            </a:r>
            <a:endParaRPr lang="en-US" sz="2700" b="0" i="0" kern="0" dirty="0" spc="-78">
              <a:solidFill>
                <a:srgbClr val="16213E"/>
              </a:solidFill>
              <a:latin typeface="Outfit SemiBold" pitchFamily="2" charset="0"/>
              <a:ea typeface="Outfit SemiBold" pitchFamily="2" charset="0"/>
              <a:cs typeface="Outfit SemiBold" pitchFamily="2" charset="0"/>
            </a:endParaRPr>
          </a:p>
        </p:txBody>
      </p:sp>
      <p:sp>
        <p:nvSpPr>
          <p:cNvPr id="3" name="Text: Result 3 · AI as an alternative"/>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1">
                <a:solidFill>
                  <a:srgbClr val="1F6F8B"/>
                </a:solidFill>
                <a:latin typeface="Geist SemiBold" pitchFamily="2" charset="0"/>
                <a:ea typeface="Geist SemiBold" pitchFamily="2" charset="0"/>
                <a:cs typeface="Geist SemiBold" pitchFamily="2" charset="0"/>
              </a:rPr>
              <a:t>Result 3 · AI as an alternative</a:t>
            </a:r>
            <a:endParaRPr lang="en-US" sz="1125" b="0" i="0" kern="0" dirty="0" spc="-11">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Plate"/>
          <p:cNvSpPr/>
          <p:nvPr/>
        </p:nvSpPr>
        <p:spPr>
          <a:xfrm>
            <a:off x="609600" y="1485900"/>
            <a:ext cx="7010400" cy="3600450"/>
          </a:xfrm>
          <a:prstGeom prst="roundRect">
            <a:avLst>
              <a:gd name="adj" fmla="val 3174"/>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6" name="Chart image" descr="AI forecast error for Claude Opus 5.5, GPT-5.5 and Gemini 3.1 Pro with named, blind and masked prompts: average over months 1 to 12 and at month 12, against ARIMAX and naive drift"/>
          <p:cNvPicPr>
            <a:picLocks noChangeAspect="1"/>
          </p:cNvPicPr>
          <p:nvPr/>
        </p:nvPicPr>
        <p:blipFill>
          <a:blip r:embed="rId2"/>
          <a:stretch>
            <a:fillRect/>
          </a:stretch>
        </p:blipFill>
        <p:spPr>
          <a:xfrm>
            <a:off x="723900" y="1648842"/>
            <a:ext cx="6781800" cy="3274567"/>
          </a:xfrm>
          <a:prstGeom prst="rect">
            <a:avLst/>
          </a:prstGeom>
        </p:spPr>
      </p:pic>
      <p:sp>
        <p:nvSpPr>
          <p:cNvPr id="7" name="Text: Claude: named → masked"/>
          <p:cNvSpPr txBox="1"/>
          <p:nvPr/>
        </p:nvSpPr>
        <p:spPr>
          <a:xfrm>
            <a:off x="7962900" y="1565529"/>
            <a:ext cx="35433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9">
                <a:solidFill>
                  <a:srgbClr val="B4400B"/>
                </a:solidFill>
                <a:latin typeface="Geist SemiBold" pitchFamily="2" charset="0"/>
                <a:ea typeface="Geist SemiBold" pitchFamily="2" charset="0"/>
                <a:cs typeface="Geist SemiBold" pitchFamily="2" charset="0"/>
              </a:rPr>
              <a:t>Claude: named → masked</a:t>
            </a:r>
            <a:endParaRPr lang="en-US" sz="1125" b="0" i="0" kern="0" dirty="0" spc="-9">
              <a:solidFill>
                <a:srgbClr val="B4400B"/>
              </a:solidFill>
              <a:latin typeface="Geist SemiBold" pitchFamily="2" charset="0"/>
              <a:ea typeface="Geist SemiBold" pitchFamily="2" charset="0"/>
              <a:cs typeface="Geist SemiBold" pitchFamily="2" charset="0"/>
            </a:endParaRPr>
          </a:p>
        </p:txBody>
      </p:sp>
      <p:sp>
        <p:nvSpPr>
          <p:cNvPr id="8" name="Text: 1.3 → 2.8%"/>
          <p:cNvSpPr txBox="1"/>
          <p:nvPr/>
        </p:nvSpPr>
        <p:spPr>
          <a:xfrm>
            <a:off x="7962900" y="1863471"/>
            <a:ext cx="3755898" cy="742950"/>
          </a:xfrm>
          <a:prstGeom prst="rect">
            <a:avLst/>
          </a:prstGeom>
          <a:noFill/>
        </p:spPr>
        <p:txBody>
          <a:bodyPr wrap="square" lIns="0" tIns="0" rIns="0" bIns="0" anchor="t" rtlCol="0" vert="horz">
            <a:noAutofit/>
          </a:bodyPr>
          <a:lstStyle/>
          <a:p>
            <a:pPr algn="l" marL="0" indent="0">
              <a:lnSpc>
                <a:spcPts val="5850"/>
              </a:lnSpc>
              <a:spcBef>
                <a:spcPts val="0"/>
              </a:spcBef>
              <a:spcAft>
                <a:spcPts val="0"/>
              </a:spcAft>
              <a:buNone/>
            </a:pPr>
            <a:r>
              <a:rPr lang="en-US" sz="5400" b="0" i="0" kern="0" dirty="0" spc="-189">
                <a:solidFill>
                  <a:srgbClr val="16213E"/>
                </a:solidFill>
                <a:latin typeface="Outfit SemiBold" pitchFamily="2" charset="0"/>
                <a:ea typeface="Outfit SemiBold" pitchFamily="2" charset="0"/>
                <a:cs typeface="Outfit SemiBold" pitchFamily="2" charset="0"/>
              </a:rPr>
              <a:t>1.3 → 2.8%</a:t>
            </a:r>
            <a:endParaRPr lang="en-US" sz="5400" b="0" i="0" kern="0" dirty="0" spc="-189">
              <a:solidFill>
                <a:srgbClr val="16213E"/>
              </a:solidFill>
              <a:latin typeface="Outfit SemiBold" pitchFamily="2" charset="0"/>
              <a:ea typeface="Outfit SemiBold" pitchFamily="2" charset="0"/>
              <a:cs typeface="Outfit SemiBold" pitchFamily="2" charset="0"/>
            </a:endParaRPr>
          </a:p>
        </p:txBody>
      </p:sp>
      <p:sp>
        <p:nvSpPr>
          <p:cNvPr id="9" name="Text: Claude's average error rose from 1.3% to"/>
          <p:cNvSpPr txBox="1"/>
          <p:nvPr/>
        </p:nvSpPr>
        <p:spPr>
          <a:xfrm>
            <a:off x="7962900" y="2705100"/>
            <a:ext cx="3543300" cy="1028700"/>
          </a:xfrm>
          <a:prstGeom prst="rect">
            <a:avLst/>
          </a:prstGeom>
          <a:noFill/>
        </p:spPr>
        <p:txBody>
          <a:bodyPr wrap="square" lIns="0" tIns="0" rIns="0" bIns="0" anchor="t" rtlCol="0" vert="horz">
            <a:noAutofit/>
          </a:bodyPr>
          <a:lstStyle/>
          <a:p>
            <a:pPr algn="l" marL="0" indent="0">
              <a:lnSpc>
                <a:spcPts val="2025"/>
              </a:lnSpc>
              <a:spcBef>
                <a:spcPts val="0"/>
              </a:spcBef>
              <a:spcAft>
                <a:spcPts val="0"/>
              </a:spcAft>
              <a:buNone/>
            </a:pPr>
            <a:r>
              <a:rPr lang="en-US" sz="1350" b="0" i="0" kern="0" dirty="0" spc="-14">
                <a:solidFill>
                  <a:srgbClr val="3D4A5C"/>
                </a:solidFill>
                <a:latin typeface="Geist" pitchFamily="2" charset="0"/>
                <a:ea typeface="Geist" pitchFamily="2" charset="0"/>
                <a:cs typeface="Geist" pitchFamily="2" charset="0"/>
              </a:rPr>
              <a:t>Claude's average error rose from 1.3% to </a:t>
            </a:r>
            <a:r>
              <a:rPr lang="en-US" sz="1350" b="0" i="0" kern="0" dirty="0" spc="-14">
                <a:solidFill>
                  <a:srgbClr val="3D4A5C"/>
                </a:solidFill>
                <a:latin typeface="Geist" pitchFamily="2" charset="0"/>
                <a:ea typeface="Geist" pitchFamily="2" charset="0"/>
                <a:cs typeface="Geist" pitchFamily="2" charset="0"/>
              </a:rPr>
              <a:t>2.8%, close to ARIMAX's 2.67%. These </a:t>
            </a:r>
            <a:r>
              <a:rPr lang="en-US" sz="1350" b="0" i="0" kern="0" dirty="0" spc="-14">
                <a:solidFill>
                  <a:srgbClr val="3D4A5C"/>
                </a:solidFill>
                <a:latin typeface="Geist" pitchFamily="2" charset="0"/>
                <a:ea typeface="Geist" pitchFamily="2" charset="0"/>
                <a:cs typeface="Geist" pitchFamily="2" charset="0"/>
              </a:rPr>
              <a:t>historical periods may already be familiar to </a:t>
            </a:r>
            <a:r>
              <a:rPr lang="en-US" sz="1350" b="0" i="0" kern="0" dirty="0" spc="-14">
                <a:solidFill>
                  <a:srgbClr val="3D4A5C"/>
                </a:solidFill>
                <a:latin typeface="Geist" pitchFamily="2" charset="0"/>
                <a:ea typeface="Geist" pitchFamily="2" charset="0"/>
                <a:cs typeface="Geist" pitchFamily="2" charset="0"/>
              </a:rPr>
              <a:t>the AI.</a:t>
            </a:r>
            <a:endParaRPr lang="en-US" sz="1350" b="0" i="0" kern="0" dirty="0" spc="-14">
              <a:solidFill>
                <a:srgbClr val="3D4A5C"/>
              </a:solidFill>
              <a:latin typeface="Geist" pitchFamily="2" charset="0"/>
              <a:ea typeface="Geist" pitchFamily="2" charset="0"/>
              <a:cs typeface="Geist" pitchFamily="2" charset="0"/>
            </a:endParaRPr>
          </a:p>
        </p:txBody>
      </p:sp>
      <p:sp>
        <p:nvSpPr>
          <p:cNvPr id="10"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11" name="Text: 6"/>
          <p:cNvSpPr txBox="1"/>
          <p:nvPr/>
        </p:nvSpPr>
        <p:spPr>
          <a:xfrm>
            <a:off x="10552909"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6</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Masking cut recognition, but didn't remo"/>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6">
                <a:solidFill>
                  <a:srgbClr val="16213E"/>
                </a:solidFill>
                <a:latin typeface="Outfit SemiBold" pitchFamily="2" charset="0"/>
                <a:ea typeface="Outfit SemiBold" pitchFamily="2" charset="0"/>
                <a:cs typeface="Outfit SemiBold" pitchFamily="2" charset="0"/>
              </a:rPr>
              <a:t>Masking cut recognition, but didn't remove it</a:t>
            </a:r>
            <a:endParaRPr lang="en-US" sz="2700" b="0" i="0" kern="0" dirty="0" spc="-76">
              <a:solidFill>
                <a:srgbClr val="16213E"/>
              </a:solidFill>
              <a:latin typeface="Outfit SemiBold" pitchFamily="2" charset="0"/>
              <a:ea typeface="Outfit SemiBold" pitchFamily="2" charset="0"/>
              <a:cs typeface="Outfit SemiBold" pitchFamily="2" charset="0"/>
            </a:endParaRPr>
          </a:p>
        </p:txBody>
      </p:sp>
      <p:sp>
        <p:nvSpPr>
          <p:cNvPr id="3" name="Text: Result 3 · AI as an alternative, how we "/>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Result 3 · AI as an alternative, how we tested</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Plate"/>
          <p:cNvSpPr/>
          <p:nvPr/>
        </p:nvSpPr>
        <p:spPr>
          <a:xfrm>
            <a:off x="609600" y="1485900"/>
            <a:ext cx="4762500" cy="1028700"/>
          </a:xfrm>
          <a:prstGeom prst="roundRect">
            <a:avLst>
              <a:gd name="adj" fmla="val 11111"/>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sp>
        <p:nvSpPr>
          <p:cNvPr id="6" name="Text: Named"/>
          <p:cNvSpPr txBox="1"/>
          <p:nvPr/>
        </p:nvSpPr>
        <p:spPr>
          <a:xfrm>
            <a:off x="819150" y="1640205"/>
            <a:ext cx="43434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425" b="0" i="0" kern="0" dirty="0" spc="2">
                <a:solidFill>
                  <a:srgbClr val="B4400B"/>
                </a:solidFill>
                <a:latin typeface="Outfit SemiBold" pitchFamily="2" charset="0"/>
                <a:ea typeface="Outfit SemiBold" pitchFamily="2" charset="0"/>
                <a:cs typeface="Outfit SemiBold" pitchFamily="2" charset="0"/>
              </a:rPr>
              <a:t>Named</a:t>
            </a:r>
            <a:endParaRPr lang="en-US" sz="1425" b="0" i="0" kern="0" dirty="0" spc="2">
              <a:solidFill>
                <a:srgbClr val="B4400B"/>
              </a:solidFill>
              <a:latin typeface="Outfit SemiBold" pitchFamily="2" charset="0"/>
              <a:ea typeface="Outfit SemiBold" pitchFamily="2" charset="0"/>
              <a:cs typeface="Outfit SemiBold" pitchFamily="2" charset="0"/>
            </a:endParaRPr>
          </a:p>
        </p:txBody>
      </p:sp>
      <p:sp>
        <p:nvSpPr>
          <p:cNvPr id="7" name="Text: LA, real dates, dollars, rates"/>
          <p:cNvSpPr txBox="1"/>
          <p:nvPr/>
        </p:nvSpPr>
        <p:spPr>
          <a:xfrm>
            <a:off x="819150" y="1892808"/>
            <a:ext cx="43434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4">
                <a:solidFill>
                  <a:srgbClr val="16213E"/>
                </a:solidFill>
                <a:latin typeface="Geist" pitchFamily="2" charset="0"/>
                <a:ea typeface="Geist" pitchFamily="2" charset="0"/>
                <a:cs typeface="Geist" pitchFamily="2" charset="0"/>
              </a:rPr>
              <a:t>LA, real dates, dollars, rates</a:t>
            </a:r>
            <a:endParaRPr lang="en-US" sz="1200" b="0" i="0" kern="0" dirty="0" spc="-14">
              <a:solidFill>
                <a:srgbClr val="16213E"/>
              </a:solidFill>
              <a:latin typeface="Geist" pitchFamily="2" charset="0"/>
              <a:ea typeface="Geist" pitchFamily="2" charset="0"/>
              <a:cs typeface="Geist" pitchFamily="2" charset="0"/>
            </a:endParaRPr>
          </a:p>
        </p:txBody>
      </p:sp>
      <p:sp>
        <p:nvSpPr>
          <p:cNvPr id="8" name="Text: Most clues"/>
          <p:cNvSpPr txBox="1"/>
          <p:nvPr/>
        </p:nvSpPr>
        <p:spPr>
          <a:xfrm>
            <a:off x="819150" y="2156841"/>
            <a:ext cx="43434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050" b="0" i="0" kern="0" dirty="0" spc="-14">
                <a:solidFill>
                  <a:srgbClr val="B4400B"/>
                </a:solidFill>
                <a:latin typeface="Geist SemiBold" pitchFamily="2" charset="0"/>
                <a:ea typeface="Geist SemiBold" pitchFamily="2" charset="0"/>
                <a:cs typeface="Geist SemiBold" pitchFamily="2" charset="0"/>
              </a:rPr>
              <a:t>Most clues</a:t>
            </a:r>
            <a:endParaRPr lang="en-US" sz="1050" b="0" i="0" kern="0" dirty="0" spc="-14">
              <a:solidFill>
                <a:srgbClr val="B4400B"/>
              </a:solidFill>
              <a:latin typeface="Geist SemiBold" pitchFamily="2" charset="0"/>
              <a:ea typeface="Geist SemiBold" pitchFamily="2" charset="0"/>
              <a:cs typeface="Geist SemiBold" pitchFamily="2" charset="0"/>
            </a:endParaRPr>
          </a:p>
        </p:txBody>
      </p:sp>
      <p:sp>
        <p:nvSpPr>
          <p:cNvPr id="9" name="Plate"/>
          <p:cNvSpPr/>
          <p:nvPr/>
        </p:nvSpPr>
        <p:spPr>
          <a:xfrm>
            <a:off x="609600" y="2667000"/>
            <a:ext cx="4762500" cy="1028700"/>
          </a:xfrm>
          <a:prstGeom prst="roundRect">
            <a:avLst>
              <a:gd name="adj" fmla="val 11111"/>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sp>
        <p:nvSpPr>
          <p:cNvPr id="10" name="Text: Blind"/>
          <p:cNvSpPr txBox="1"/>
          <p:nvPr/>
        </p:nvSpPr>
        <p:spPr>
          <a:xfrm>
            <a:off x="819150" y="2822829"/>
            <a:ext cx="43434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425" b="0" i="0" kern="0" dirty="0" spc="5">
                <a:solidFill>
                  <a:srgbClr val="B4400B"/>
                </a:solidFill>
                <a:latin typeface="Outfit SemiBold" pitchFamily="2" charset="0"/>
                <a:ea typeface="Outfit SemiBold" pitchFamily="2" charset="0"/>
                <a:cs typeface="Outfit SemiBold" pitchFamily="2" charset="0"/>
              </a:rPr>
              <a:t>Blind</a:t>
            </a:r>
            <a:endParaRPr lang="en-US" sz="1425" b="0" i="0" kern="0" dirty="0" spc="5">
              <a:solidFill>
                <a:srgbClr val="B4400B"/>
              </a:solidFill>
              <a:latin typeface="Outfit SemiBold" pitchFamily="2" charset="0"/>
              <a:ea typeface="Outfit SemiBold" pitchFamily="2" charset="0"/>
              <a:cs typeface="Outfit SemiBold" pitchFamily="2" charset="0"/>
            </a:endParaRPr>
          </a:p>
        </p:txBody>
      </p:sp>
      <p:sp>
        <p:nvSpPr>
          <p:cNvPr id="11" name="Text: Place, dates hidden; rates kept"/>
          <p:cNvSpPr txBox="1"/>
          <p:nvPr/>
        </p:nvSpPr>
        <p:spPr>
          <a:xfrm>
            <a:off x="819150" y="3072384"/>
            <a:ext cx="43434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5">
                <a:solidFill>
                  <a:srgbClr val="16213E"/>
                </a:solidFill>
                <a:latin typeface="Geist" pitchFamily="2" charset="0"/>
                <a:ea typeface="Geist" pitchFamily="2" charset="0"/>
                <a:cs typeface="Geist" pitchFamily="2" charset="0"/>
              </a:rPr>
              <a:t>Place, dates hidden; rates kept</a:t>
            </a:r>
            <a:endParaRPr lang="en-US" sz="1200" b="0" i="0" kern="0" dirty="0" spc="-15">
              <a:solidFill>
                <a:srgbClr val="16213E"/>
              </a:solidFill>
              <a:latin typeface="Geist" pitchFamily="2" charset="0"/>
              <a:ea typeface="Geist" pitchFamily="2" charset="0"/>
              <a:cs typeface="Geist" pitchFamily="2" charset="0"/>
            </a:endParaRPr>
          </a:p>
        </p:txBody>
      </p:sp>
      <p:sp>
        <p:nvSpPr>
          <p:cNvPr id="12" name="Text: Rates can reveal dates"/>
          <p:cNvSpPr txBox="1"/>
          <p:nvPr/>
        </p:nvSpPr>
        <p:spPr>
          <a:xfrm>
            <a:off x="819150" y="3336417"/>
            <a:ext cx="43434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050" b="0" i="0" kern="0" dirty="0" spc="-16">
                <a:solidFill>
                  <a:srgbClr val="B4400B"/>
                </a:solidFill>
                <a:latin typeface="Geist SemiBold" pitchFamily="2" charset="0"/>
                <a:ea typeface="Geist SemiBold" pitchFamily="2" charset="0"/>
                <a:cs typeface="Geist SemiBold" pitchFamily="2" charset="0"/>
              </a:rPr>
              <a:t>Rates can reveal dates</a:t>
            </a:r>
            <a:endParaRPr lang="en-US" sz="1050" b="0" i="0" kern="0" dirty="0" spc="-16">
              <a:solidFill>
                <a:srgbClr val="B4400B"/>
              </a:solidFill>
              <a:latin typeface="Geist SemiBold" pitchFamily="2" charset="0"/>
              <a:ea typeface="Geist SemiBold" pitchFamily="2" charset="0"/>
              <a:cs typeface="Geist SemiBold" pitchFamily="2" charset="0"/>
            </a:endParaRPr>
          </a:p>
        </p:txBody>
      </p:sp>
      <p:sp>
        <p:nvSpPr>
          <p:cNvPr id="13" name="Plate"/>
          <p:cNvSpPr/>
          <p:nvPr/>
        </p:nvSpPr>
        <p:spPr>
          <a:xfrm>
            <a:off x="609600" y="3848100"/>
            <a:ext cx="4762500" cy="1028700"/>
          </a:xfrm>
          <a:prstGeom prst="roundRect">
            <a:avLst>
              <a:gd name="adj" fmla="val 11111"/>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sp>
        <p:nvSpPr>
          <p:cNvPr id="14" name="Text: Masked"/>
          <p:cNvSpPr txBox="1"/>
          <p:nvPr/>
        </p:nvSpPr>
        <p:spPr>
          <a:xfrm>
            <a:off x="819150" y="4002405"/>
            <a:ext cx="43434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425" b="0" i="0" kern="0" dirty="0" spc="-5">
                <a:solidFill>
                  <a:srgbClr val="1F6F8B"/>
                </a:solidFill>
                <a:latin typeface="Outfit SemiBold" pitchFamily="2" charset="0"/>
                <a:ea typeface="Outfit SemiBold" pitchFamily="2" charset="0"/>
                <a:cs typeface="Outfit SemiBold" pitchFamily="2" charset="0"/>
              </a:rPr>
              <a:t>Masked</a:t>
            </a:r>
            <a:endParaRPr lang="en-US" sz="1425" b="0" i="0" kern="0" dirty="0" spc="-5">
              <a:solidFill>
                <a:srgbClr val="1F6F8B"/>
              </a:solidFill>
              <a:latin typeface="Outfit SemiBold" pitchFamily="2" charset="0"/>
              <a:ea typeface="Outfit SemiBold" pitchFamily="2" charset="0"/>
              <a:cs typeface="Outfit SemiBold" pitchFamily="2" charset="0"/>
            </a:endParaRPr>
          </a:p>
        </p:txBody>
      </p:sp>
      <p:sp>
        <p:nvSpPr>
          <p:cNvPr id="15" name="Text: 10 years, rescaled; no place, dates, rat"/>
          <p:cNvSpPr txBox="1"/>
          <p:nvPr/>
        </p:nvSpPr>
        <p:spPr>
          <a:xfrm>
            <a:off x="819150" y="4255008"/>
            <a:ext cx="43434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2">
                <a:solidFill>
                  <a:srgbClr val="16213E"/>
                </a:solidFill>
                <a:latin typeface="Geist" pitchFamily="2" charset="0"/>
                <a:ea typeface="Geist" pitchFamily="2" charset="0"/>
                <a:cs typeface="Geist" pitchFamily="2" charset="0"/>
              </a:rPr>
              <a:t>10 years, rescaled; no place, dates, rates</a:t>
            </a:r>
            <a:endParaRPr lang="en-US" sz="1200" b="0" i="0" kern="0" dirty="0" spc="-12">
              <a:solidFill>
                <a:srgbClr val="16213E"/>
              </a:solidFill>
              <a:latin typeface="Geist" pitchFamily="2" charset="0"/>
              <a:ea typeface="Geist" pitchFamily="2" charset="0"/>
              <a:cs typeface="Geist" pitchFamily="2" charset="0"/>
            </a:endParaRPr>
          </a:p>
        </p:txBody>
      </p:sp>
      <p:sp>
        <p:nvSpPr>
          <p:cNvPr id="16" name="Text: Fewest clues"/>
          <p:cNvSpPr txBox="1"/>
          <p:nvPr/>
        </p:nvSpPr>
        <p:spPr>
          <a:xfrm>
            <a:off x="819150" y="4519041"/>
            <a:ext cx="43434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050" b="0" i="0" kern="0" dirty="0" spc="-17">
                <a:solidFill>
                  <a:srgbClr val="1F6F8B"/>
                </a:solidFill>
                <a:latin typeface="Geist SemiBold" pitchFamily="2" charset="0"/>
                <a:ea typeface="Geist SemiBold" pitchFamily="2" charset="0"/>
                <a:cs typeface="Geist SemiBold" pitchFamily="2" charset="0"/>
              </a:rPr>
              <a:t>Fewest clues</a:t>
            </a:r>
            <a:endParaRPr lang="en-US" sz="1050" b="0" i="0" kern="0" dirty="0" spc="-17">
              <a:solidFill>
                <a:srgbClr val="1F6F8B"/>
              </a:solidFill>
              <a:latin typeface="Geist SemiBold" pitchFamily="2" charset="0"/>
              <a:ea typeface="Geist SemiBold" pitchFamily="2" charset="0"/>
              <a:cs typeface="Geist SemiBold" pitchFamily="2" charset="0"/>
            </a:endParaRPr>
          </a:p>
        </p:txBody>
      </p:sp>
      <p:sp>
        <p:nvSpPr>
          <p:cNvPr id="17" name="Plate"/>
          <p:cNvSpPr/>
          <p:nvPr/>
        </p:nvSpPr>
        <p:spPr>
          <a:xfrm>
            <a:off x="5753100" y="1485900"/>
            <a:ext cx="5753100" cy="3390900"/>
          </a:xfrm>
          <a:prstGeom prst="roundRect">
            <a:avLst>
              <a:gd name="adj" fmla="val 3370"/>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18" name="Chart image" descr="At the 2022 peak, the AI only saw the drop when it could tell the dates: actual LA home value against Claude's named, blind and masked forecasts and ARIMAX, forecast made April 2022"/>
          <p:cNvPicPr>
            <a:picLocks noChangeAspect="1"/>
          </p:cNvPicPr>
          <p:nvPr/>
        </p:nvPicPr>
        <p:blipFill>
          <a:blip r:embed="rId2"/>
          <a:stretch>
            <a:fillRect/>
          </a:stretch>
        </p:blipFill>
        <p:spPr>
          <a:xfrm>
            <a:off x="5959750" y="1600200"/>
            <a:ext cx="5339801" cy="3162300"/>
          </a:xfrm>
          <a:prstGeom prst="rect">
            <a:avLst/>
          </a:prstGeom>
        </p:spPr>
      </p:pic>
      <p:sp>
        <p:nvSpPr>
          <p:cNvPr id="19" name="Panel"/>
          <p:cNvSpPr/>
          <p:nvPr/>
        </p:nvSpPr>
        <p:spPr>
          <a:xfrm>
            <a:off x="609600" y="5219700"/>
            <a:ext cx="10972800" cy="838200"/>
          </a:xfrm>
          <a:prstGeom prst="roundRect">
            <a:avLst>
              <a:gd name="adj" fmla="val 13636"/>
            </a:avLst>
          </a:prstGeom>
          <a:solidFill>
            <a:srgbClr val="F3ECE3"/>
          </a:solidFill>
          <a:ln>
            <a:noFill/>
          </a:ln>
        </p:spPr>
        <p:txBody>
          <a:bodyPr rtlCol="0" anchor="ctr"/>
          <a:lstStyle/>
          <a:p>
            <a:pPr algn="ctr"/>
          </a:p>
        </p:txBody>
      </p:sp>
      <p:sp>
        <p:nvSpPr>
          <p:cNvPr id="20" name="Text: Name this series  Claude named LA in 16/"/>
          <p:cNvSpPr txBox="1"/>
          <p:nvPr/>
        </p:nvSpPr>
        <p:spPr>
          <a:xfrm>
            <a:off x="876300" y="5383149"/>
            <a:ext cx="10439400" cy="495300"/>
          </a:xfrm>
          <a:prstGeom prst="rect">
            <a:avLst/>
          </a:prstGeom>
          <a:noFill/>
        </p:spPr>
        <p:txBody>
          <a:bodyPr wrap="square" lIns="0" tIns="0" rIns="0" bIns="0" anchor="t" rtlCol="0" vert="horz">
            <a:noAutofit/>
          </a:bodyPr>
          <a:lstStyle/>
          <a:p>
            <a:pPr algn="l" marL="0" indent="0">
              <a:lnSpc>
                <a:spcPts val="1950"/>
              </a:lnSpc>
              <a:spcBef>
                <a:spcPts val="0"/>
              </a:spcBef>
              <a:spcAft>
                <a:spcPts val="0"/>
              </a:spcAft>
              <a:buNone/>
            </a:pPr>
            <a:r>
              <a:rPr lang="en-US" sz="1350" b="0" i="0" kern="0" dirty="0" spc="-13">
                <a:solidFill>
                  <a:srgbClr val="B4400B"/>
                </a:solidFill>
                <a:latin typeface="Geist SemiBold" pitchFamily="2" charset="0"/>
                <a:ea typeface="Geist SemiBold" pitchFamily="2" charset="0"/>
                <a:cs typeface="Geist SemiBold" pitchFamily="2" charset="0"/>
              </a:rPr>
              <a:t>Name this series</a:t>
            </a:r>
            <a:r>
              <a:rPr lang="en-US" sz="1350" b="0" i="0" kern="0" dirty="0" spc="-13">
                <a:solidFill>
                  <a:srgbClr val="16213E"/>
                </a:solidFill>
                <a:latin typeface="Geist" pitchFamily="2" charset="0"/>
                <a:ea typeface="Geist" pitchFamily="2" charset="0"/>
                <a:cs typeface="Geist" pitchFamily="2" charset="0"/>
              </a:rPr>
              <a:t>  Claude named LA in 16/18 blind and 0/18 masked prompts, yet dated masked data to about a month. Given </a:t>
            </a:r>
            <a:r>
              <a:rPr lang="en-US" sz="1350" b="0" i="0" kern="0" dirty="0" spc="-13">
                <a:solidFill>
                  <a:srgbClr val="16213E"/>
                </a:solidFill>
                <a:latin typeface="Geist" pitchFamily="2" charset="0"/>
                <a:ea typeface="Geist" pitchFamily="2" charset="0"/>
                <a:cs typeface="Geist" pitchFamily="2" charset="0"/>
              </a:rPr>
              <a:t>26 years, not 10, it called the 2022 fall (2.47% error).</a:t>
            </a:r>
            <a:endParaRPr lang="en-US" sz="1350" b="0" i="0" kern="0" dirty="0" spc="-13">
              <a:solidFill>
                <a:srgbClr val="16213E"/>
              </a:solidFill>
              <a:latin typeface="Geist" pitchFamily="2" charset="0"/>
              <a:ea typeface="Geist" pitchFamily="2" charset="0"/>
              <a:cs typeface="Geist" pitchFamily="2" charset="0"/>
            </a:endParaRPr>
          </a:p>
        </p:txBody>
      </p:sp>
      <p:sp>
        <p:nvSpPr>
          <p:cNvPr id="21"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22" name="Text: 7"/>
          <p:cNvSpPr txBox="1"/>
          <p:nvPr/>
        </p:nvSpPr>
        <p:spPr>
          <a:xfrm>
            <a:off x="10553300"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7</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Rates act with a delay; we forecast +4.8"/>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80">
                <a:solidFill>
                  <a:srgbClr val="16213E"/>
                </a:solidFill>
                <a:latin typeface="Outfit SemiBold" pitchFamily="2" charset="0"/>
                <a:ea typeface="Outfit SemiBold" pitchFamily="2" charset="0"/>
                <a:cs typeface="Outfit SemiBold" pitchFamily="2" charset="0"/>
              </a:rPr>
              <a:t>Rates act with a delay; we forecast +4.8%</a:t>
            </a:r>
            <a:endParaRPr lang="en-US" sz="2700" b="0" i="0" kern="0" dirty="0" spc="-80">
              <a:solidFill>
                <a:srgbClr val="16213E"/>
              </a:solidFill>
              <a:latin typeface="Outfit SemiBold" pitchFamily="2" charset="0"/>
              <a:ea typeface="Outfit SemiBold" pitchFamily="2" charset="0"/>
              <a:cs typeface="Outfit SemiBold" pitchFamily="2" charset="0"/>
            </a:endParaRPr>
          </a:p>
        </p:txBody>
      </p:sp>
      <p:sp>
        <p:nvSpPr>
          <p:cNvPr id="3" name="Text: Result 4 · Mortgage rates and outlook"/>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9">
                <a:solidFill>
                  <a:srgbClr val="1F6F8B"/>
                </a:solidFill>
                <a:latin typeface="Geist SemiBold" pitchFamily="2" charset="0"/>
                <a:ea typeface="Geist SemiBold" pitchFamily="2" charset="0"/>
                <a:cs typeface="Geist SemiBold" pitchFamily="2" charset="0"/>
              </a:rPr>
              <a:t>Result 4 · Mortgage rates and outlook</a:t>
            </a:r>
            <a:endParaRPr lang="en-US" sz="1125" b="0" i="0" kern="0" dirty="0" spc="-9">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Text: Estimated home-value response to a 1-poi"/>
          <p:cNvSpPr txBox="1"/>
          <p:nvPr/>
        </p:nvSpPr>
        <p:spPr>
          <a:xfrm>
            <a:off x="685800" y="1471041"/>
            <a:ext cx="66675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Estimated home-value response to a 1-point mortgage-rate shock</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6" name="Plate"/>
          <p:cNvSpPr/>
          <p:nvPr/>
        </p:nvSpPr>
        <p:spPr>
          <a:xfrm>
            <a:off x="609600" y="1733550"/>
            <a:ext cx="6096000" cy="2019300"/>
          </a:xfrm>
          <a:prstGeom prst="roundRect">
            <a:avLst>
              <a:gd name="adj" fmla="val 5660"/>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7" name="Chart image" descr="Estimated cumulative response of LA home values to a 1-point rise in the 30-year mortgage rate over 36 months, with 90% band"/>
          <p:cNvPicPr>
            <a:picLocks noChangeAspect="1"/>
          </p:cNvPicPr>
          <p:nvPr/>
        </p:nvPicPr>
        <p:blipFill>
          <a:blip r:embed="rId2"/>
          <a:stretch>
            <a:fillRect/>
          </a:stretch>
        </p:blipFill>
        <p:spPr>
          <a:xfrm>
            <a:off x="685800" y="1839803"/>
            <a:ext cx="5943600" cy="1806794"/>
          </a:xfrm>
          <a:prstGeom prst="rect">
            <a:avLst/>
          </a:prstGeom>
        </p:spPr>
      </p:pic>
      <p:sp>
        <p:nvSpPr>
          <p:cNvPr id="8" name="Text: −9.2%"/>
          <p:cNvSpPr txBox="1"/>
          <p:nvPr/>
        </p:nvSpPr>
        <p:spPr>
          <a:xfrm>
            <a:off x="7162800" y="1792224"/>
            <a:ext cx="2160651" cy="381000"/>
          </a:xfrm>
          <a:prstGeom prst="rect">
            <a:avLst/>
          </a:prstGeom>
          <a:noFill/>
        </p:spPr>
        <p:txBody>
          <a:bodyPr wrap="square" lIns="0" tIns="0" rIns="0" bIns="0" anchor="t" rtlCol="0" vert="horz">
            <a:noAutofit/>
          </a:bodyPr>
          <a:lstStyle/>
          <a:p>
            <a:pPr algn="l" marL="0" indent="0">
              <a:lnSpc>
                <a:spcPts val="3000"/>
              </a:lnSpc>
              <a:spcBef>
                <a:spcPts val="0"/>
              </a:spcBef>
              <a:spcAft>
                <a:spcPts val="0"/>
              </a:spcAft>
              <a:buNone/>
            </a:pPr>
            <a:r>
              <a:rPr lang="en-US" sz="2550" b="0" i="0" kern="0" dirty="0" spc="-112">
                <a:solidFill>
                  <a:srgbClr val="B4400B"/>
                </a:solidFill>
                <a:latin typeface="Outfit SemiBold" pitchFamily="2" charset="0"/>
                <a:ea typeface="Outfit SemiBold" pitchFamily="2" charset="0"/>
                <a:cs typeface="Outfit SemiBold" pitchFamily="2" charset="0"/>
              </a:rPr>
              <a:t>−9.2%</a:t>
            </a:r>
            <a:endParaRPr lang="en-US" sz="2550" b="0" i="0" kern="0" dirty="0" spc="-112">
              <a:solidFill>
                <a:srgbClr val="B4400B"/>
              </a:solidFill>
              <a:latin typeface="Outfit SemiBold" pitchFamily="2" charset="0"/>
              <a:ea typeface="Outfit SemiBold" pitchFamily="2" charset="0"/>
              <a:cs typeface="Outfit SemiBold" pitchFamily="2" charset="0"/>
            </a:endParaRPr>
          </a:p>
        </p:txBody>
      </p:sp>
      <p:sp>
        <p:nvSpPr>
          <p:cNvPr id="9" name="Text: VAR-estimated response after two years ("/>
          <p:cNvSpPr txBox="1"/>
          <p:nvPr/>
        </p:nvSpPr>
        <p:spPr>
          <a:xfrm>
            <a:off x="7162800" y="2228088"/>
            <a:ext cx="2038350" cy="400050"/>
          </a:xfrm>
          <a:prstGeom prst="rect">
            <a:avLst/>
          </a:prstGeom>
          <a:noFill/>
        </p:spPr>
        <p:txBody>
          <a:bodyPr wrap="square" lIns="0" tIns="0" rIns="0" bIns="0" anchor="t" rtlCol="0" vert="horz">
            <a:noAutofit/>
          </a:bodyPr>
          <a:lstStyle/>
          <a:p>
            <a:pPr algn="l" marL="0" indent="0">
              <a:lnSpc>
                <a:spcPts val="1575"/>
              </a:lnSpc>
              <a:spcBef>
                <a:spcPts val="0"/>
              </a:spcBef>
              <a:spcAft>
                <a:spcPts val="0"/>
              </a:spcAft>
              <a:buNone/>
            </a:pPr>
            <a:r>
              <a:rPr lang="en-US" sz="1125" b="0" i="0" kern="0" dirty="0" spc="-18">
                <a:solidFill>
                  <a:srgbClr val="4F5560"/>
                </a:solidFill>
                <a:latin typeface="Geist" pitchFamily="2" charset="0"/>
                <a:ea typeface="Geist" pitchFamily="2" charset="0"/>
                <a:cs typeface="Geist" pitchFamily="2" charset="0"/>
              </a:rPr>
              <a:t>VAR-estimated response after </a:t>
            </a:r>
            <a:r>
              <a:rPr lang="en-US" sz="1125" b="0" i="0" kern="0" dirty="0" spc="-18">
                <a:solidFill>
                  <a:srgbClr val="4F5560"/>
                </a:solidFill>
                <a:latin typeface="Geist" pitchFamily="2" charset="0"/>
                <a:ea typeface="Geist" pitchFamily="2" charset="0"/>
                <a:cs typeface="Geist" pitchFamily="2" charset="0"/>
              </a:rPr>
              <a:t>two years (−4.5% after one)</a:t>
            </a:r>
            <a:endParaRPr lang="en-US" sz="1125" b="0" i="0" kern="0" dirty="0" spc="-18">
              <a:solidFill>
                <a:srgbClr val="4F5560"/>
              </a:solidFill>
              <a:latin typeface="Geist" pitchFamily="2" charset="0"/>
              <a:ea typeface="Geist" pitchFamily="2" charset="0"/>
              <a:cs typeface="Geist" pitchFamily="2" charset="0"/>
            </a:endParaRPr>
          </a:p>
        </p:txBody>
      </p:sp>
      <p:sp>
        <p:nvSpPr>
          <p:cNvPr id="10" name="Text: p = 0.052"/>
          <p:cNvSpPr txBox="1"/>
          <p:nvPr/>
        </p:nvSpPr>
        <p:spPr>
          <a:xfrm>
            <a:off x="9467850" y="1792224"/>
            <a:ext cx="2160651" cy="381000"/>
          </a:xfrm>
          <a:prstGeom prst="rect">
            <a:avLst/>
          </a:prstGeom>
          <a:noFill/>
        </p:spPr>
        <p:txBody>
          <a:bodyPr wrap="square" lIns="0" tIns="0" rIns="0" bIns="0" anchor="t" rtlCol="0" vert="horz">
            <a:noAutofit/>
          </a:bodyPr>
          <a:lstStyle/>
          <a:p>
            <a:pPr algn="l" marL="0" indent="0">
              <a:lnSpc>
                <a:spcPts val="3000"/>
              </a:lnSpc>
              <a:spcBef>
                <a:spcPts val="0"/>
              </a:spcBef>
              <a:spcAft>
                <a:spcPts val="0"/>
              </a:spcAft>
              <a:buNone/>
            </a:pPr>
            <a:r>
              <a:rPr lang="en-US" sz="2550" b="0" i="0" kern="0" dirty="0" spc="-82">
                <a:solidFill>
                  <a:srgbClr val="16213E"/>
                </a:solidFill>
                <a:latin typeface="Outfit SemiBold" pitchFamily="2" charset="0"/>
                <a:ea typeface="Outfit SemiBold" pitchFamily="2" charset="0"/>
                <a:cs typeface="Outfit SemiBold" pitchFamily="2" charset="0"/>
              </a:rPr>
              <a:t>p = 0.052</a:t>
            </a:r>
            <a:endParaRPr lang="en-US" sz="2550" b="0" i="0" kern="0" dirty="0" spc="-82">
              <a:solidFill>
                <a:srgbClr val="16213E"/>
              </a:solidFill>
              <a:latin typeface="Outfit SemiBold" pitchFamily="2" charset="0"/>
              <a:ea typeface="Outfit SemiBold" pitchFamily="2" charset="0"/>
              <a:cs typeface="Outfit SemiBold" pitchFamily="2" charset="0"/>
            </a:endParaRPr>
          </a:p>
        </p:txBody>
      </p:sp>
      <p:sp>
        <p:nvSpPr>
          <p:cNvPr id="11" name="Text: Granger: borderline. ARIMAX: rate p = 0."/>
          <p:cNvSpPr txBox="1"/>
          <p:nvPr/>
        </p:nvSpPr>
        <p:spPr>
          <a:xfrm>
            <a:off x="9467850" y="2228088"/>
            <a:ext cx="2038350" cy="400050"/>
          </a:xfrm>
          <a:prstGeom prst="rect">
            <a:avLst/>
          </a:prstGeom>
          <a:noFill/>
        </p:spPr>
        <p:txBody>
          <a:bodyPr wrap="square" lIns="0" tIns="0" rIns="0" bIns="0" anchor="t" rtlCol="0" vert="horz">
            <a:noAutofit/>
          </a:bodyPr>
          <a:lstStyle/>
          <a:p>
            <a:pPr algn="l" marL="0" indent="0">
              <a:lnSpc>
                <a:spcPts val="1575"/>
              </a:lnSpc>
              <a:spcBef>
                <a:spcPts val="0"/>
              </a:spcBef>
              <a:spcAft>
                <a:spcPts val="0"/>
              </a:spcAft>
              <a:buNone/>
            </a:pPr>
            <a:r>
              <a:rPr lang="en-US" sz="1125" b="0" i="0" kern="0" dirty="0" spc="-13">
                <a:solidFill>
                  <a:srgbClr val="4F5560"/>
                </a:solidFill>
                <a:latin typeface="Geist" pitchFamily="2" charset="0"/>
                <a:ea typeface="Geist" pitchFamily="2" charset="0"/>
                <a:cs typeface="Geist" pitchFamily="2" charset="0"/>
              </a:rPr>
              <a:t>Granger: borderline. ARIMAX: </a:t>
            </a:r>
            <a:r>
              <a:rPr lang="en-US" sz="1125" b="0" i="0" kern="0" dirty="0" spc="-13">
                <a:solidFill>
                  <a:srgbClr val="4F5560"/>
                </a:solidFill>
                <a:latin typeface="Geist" pitchFamily="2" charset="0"/>
                <a:ea typeface="Geist" pitchFamily="2" charset="0"/>
                <a:cs typeface="Geist" pitchFamily="2" charset="0"/>
              </a:rPr>
              <a:t>rate p = 0.16, jobs p = 0.29</a:t>
            </a:r>
            <a:endParaRPr lang="en-US" sz="1125" b="0" i="0" kern="0" dirty="0" spc="-13">
              <a:solidFill>
                <a:srgbClr val="4F5560"/>
              </a:solidFill>
              <a:latin typeface="Geist" pitchFamily="2" charset="0"/>
              <a:ea typeface="Geist" pitchFamily="2" charset="0"/>
              <a:cs typeface="Geist" pitchFamily="2" charset="0"/>
            </a:endParaRPr>
          </a:p>
        </p:txBody>
      </p:sp>
      <p:sp>
        <p:nvSpPr>
          <p:cNvPr id="12" name="Panel"/>
          <p:cNvSpPr/>
          <p:nvPr/>
        </p:nvSpPr>
        <p:spPr>
          <a:xfrm>
            <a:off x="685800" y="3886200"/>
            <a:ext cx="10820400" cy="9525"/>
          </a:xfrm>
          <a:prstGeom prst="rect">
            <a:avLst/>
          </a:prstGeom>
          <a:solidFill>
            <a:srgbClr val="D9D4CA"/>
          </a:solidFill>
          <a:ln>
            <a:noFill/>
          </a:ln>
        </p:spPr>
        <p:txBody>
          <a:bodyPr rtlCol="0" anchor="ctr"/>
          <a:lstStyle/>
          <a:p>
            <a:pPr algn="ctr"/>
          </a:p>
        </p:txBody>
      </p:sp>
      <p:sp>
        <p:nvSpPr>
          <p:cNvPr id="13" name="Text: Our forecast: about 5% higher by August "/>
          <p:cNvSpPr txBox="1"/>
          <p:nvPr/>
        </p:nvSpPr>
        <p:spPr>
          <a:xfrm>
            <a:off x="685800" y="4040505"/>
            <a:ext cx="66675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Our forecast: about 5% higher by August 2027, with a wide range</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14" name="Plate"/>
          <p:cNvSpPr/>
          <p:nvPr/>
        </p:nvSpPr>
        <p:spPr>
          <a:xfrm>
            <a:off x="609600" y="4305300"/>
            <a:ext cx="6096000" cy="2019300"/>
          </a:xfrm>
          <a:prstGeom prst="roundRect">
            <a:avLst>
              <a:gd name="adj" fmla="val 5660"/>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15" name="Chart image" descr="LA home values 12-month outlook to 2028: actual, ARIMAX (mortgage rates), ARIMA with 80% interval, and naive drift"/>
          <p:cNvPicPr>
            <a:picLocks noChangeAspect="1"/>
          </p:cNvPicPr>
          <p:nvPr/>
        </p:nvPicPr>
        <p:blipFill>
          <a:blip r:embed="rId3"/>
          <a:stretch>
            <a:fillRect/>
          </a:stretch>
        </p:blipFill>
        <p:spPr>
          <a:xfrm>
            <a:off x="685800" y="4410407"/>
            <a:ext cx="5943600" cy="1809086"/>
          </a:xfrm>
          <a:prstGeom prst="rect">
            <a:avLst/>
          </a:prstGeom>
        </p:spPr>
      </p:pic>
      <p:sp>
        <p:nvSpPr>
          <p:cNvPr id="16" name="Text: $998K (+4.8%)"/>
          <p:cNvSpPr txBox="1"/>
          <p:nvPr/>
        </p:nvSpPr>
        <p:spPr>
          <a:xfrm>
            <a:off x="7162800" y="4361688"/>
            <a:ext cx="2160651" cy="381000"/>
          </a:xfrm>
          <a:prstGeom prst="rect">
            <a:avLst/>
          </a:prstGeom>
          <a:noFill/>
        </p:spPr>
        <p:txBody>
          <a:bodyPr wrap="square" lIns="0" tIns="0" rIns="0" bIns="0" anchor="t" rtlCol="0" vert="horz">
            <a:noAutofit/>
          </a:bodyPr>
          <a:lstStyle/>
          <a:p>
            <a:pPr algn="l" marL="0" indent="0">
              <a:lnSpc>
                <a:spcPts val="3000"/>
              </a:lnSpc>
              <a:spcBef>
                <a:spcPts val="0"/>
              </a:spcBef>
              <a:spcAft>
                <a:spcPts val="0"/>
              </a:spcAft>
              <a:buNone/>
            </a:pPr>
            <a:r>
              <a:rPr lang="en-US" sz="2550" b="0" i="0" kern="0" dirty="0" spc="-79">
                <a:solidFill>
                  <a:srgbClr val="1F6F8B"/>
                </a:solidFill>
                <a:latin typeface="Outfit SemiBold" pitchFamily="2" charset="0"/>
                <a:ea typeface="Outfit SemiBold" pitchFamily="2" charset="0"/>
                <a:cs typeface="Outfit SemiBold" pitchFamily="2" charset="0"/>
              </a:rPr>
              <a:t>$998K (+4.8%)</a:t>
            </a:r>
            <a:endParaRPr lang="en-US" sz="2550" b="0" i="0" kern="0" dirty="0" spc="-79">
              <a:solidFill>
                <a:srgbClr val="1F6F8B"/>
              </a:solidFill>
              <a:latin typeface="Outfit SemiBold" pitchFamily="2" charset="0"/>
              <a:ea typeface="Outfit SemiBold" pitchFamily="2" charset="0"/>
              <a:cs typeface="Outfit SemiBold" pitchFamily="2" charset="0"/>
            </a:endParaRPr>
          </a:p>
        </p:txBody>
      </p:sp>
      <p:sp>
        <p:nvSpPr>
          <p:cNvPr id="17" name="Text: ARIMAX forecast, August 2027"/>
          <p:cNvSpPr txBox="1"/>
          <p:nvPr/>
        </p:nvSpPr>
        <p:spPr>
          <a:xfrm>
            <a:off x="7162800" y="4800600"/>
            <a:ext cx="2160651" cy="200025"/>
          </a:xfrm>
          <a:prstGeom prst="rect">
            <a:avLst/>
          </a:prstGeom>
          <a:noFill/>
        </p:spPr>
        <p:txBody>
          <a:bodyPr wrap="square" lIns="0" tIns="0" rIns="0" bIns="0" anchor="t" rtlCol="0" vert="horz">
            <a:noAutofit/>
          </a:bodyPr>
          <a:lstStyle/>
          <a:p>
            <a:pPr algn="l" marL="0" indent="0">
              <a:lnSpc>
                <a:spcPts val="1575"/>
              </a:lnSpc>
              <a:spcBef>
                <a:spcPts val="0"/>
              </a:spcBef>
              <a:spcAft>
                <a:spcPts val="0"/>
              </a:spcAft>
              <a:buNone/>
            </a:pPr>
            <a:r>
              <a:rPr lang="en-US" sz="1125" b="0" i="0" kern="0" dirty="0" spc="-12">
                <a:solidFill>
                  <a:srgbClr val="4F5560"/>
                </a:solidFill>
                <a:latin typeface="Geist" pitchFamily="2" charset="0"/>
                <a:ea typeface="Geist" pitchFamily="2" charset="0"/>
                <a:cs typeface="Geist" pitchFamily="2" charset="0"/>
              </a:rPr>
              <a:t>ARIMAX forecast, August 2027</a:t>
            </a:r>
            <a:endParaRPr lang="en-US" sz="1125" b="0" i="0" kern="0" dirty="0" spc="-12">
              <a:solidFill>
                <a:srgbClr val="4F5560"/>
              </a:solidFill>
              <a:latin typeface="Geist" pitchFamily="2" charset="0"/>
              <a:ea typeface="Geist" pitchFamily="2" charset="0"/>
              <a:cs typeface="Geist" pitchFamily="2" charset="0"/>
            </a:endParaRPr>
          </a:p>
        </p:txBody>
      </p:sp>
      <p:sp>
        <p:nvSpPr>
          <p:cNvPr id="18" name="Text: -6% to +17%"/>
          <p:cNvSpPr txBox="1"/>
          <p:nvPr/>
        </p:nvSpPr>
        <p:spPr>
          <a:xfrm>
            <a:off x="9467850" y="4361688"/>
            <a:ext cx="2160651" cy="381000"/>
          </a:xfrm>
          <a:prstGeom prst="rect">
            <a:avLst/>
          </a:prstGeom>
          <a:noFill/>
        </p:spPr>
        <p:txBody>
          <a:bodyPr wrap="square" lIns="0" tIns="0" rIns="0" bIns="0" anchor="t" rtlCol="0" vert="horz">
            <a:noAutofit/>
          </a:bodyPr>
          <a:lstStyle/>
          <a:p>
            <a:pPr algn="l" marL="0" indent="0">
              <a:lnSpc>
                <a:spcPts val="3000"/>
              </a:lnSpc>
              <a:spcBef>
                <a:spcPts val="0"/>
              </a:spcBef>
              <a:spcAft>
                <a:spcPts val="0"/>
              </a:spcAft>
              <a:buNone/>
            </a:pPr>
            <a:r>
              <a:rPr lang="en-US" sz="2550" b="0" i="0" kern="0" dirty="0" spc="-70">
                <a:solidFill>
                  <a:srgbClr val="16213E"/>
                </a:solidFill>
                <a:latin typeface="Outfit SemiBold" pitchFamily="2" charset="0"/>
                <a:ea typeface="Outfit SemiBold" pitchFamily="2" charset="0"/>
                <a:cs typeface="Outfit SemiBold" pitchFamily="2" charset="0"/>
              </a:rPr>
              <a:t>-6% to +17%</a:t>
            </a:r>
            <a:endParaRPr lang="en-US" sz="2550" b="0" i="0" kern="0" dirty="0" spc="-70">
              <a:solidFill>
                <a:srgbClr val="16213E"/>
              </a:solidFill>
              <a:latin typeface="Outfit SemiBold" pitchFamily="2" charset="0"/>
              <a:ea typeface="Outfit SemiBold" pitchFamily="2" charset="0"/>
              <a:cs typeface="Outfit SemiBold" pitchFamily="2" charset="0"/>
            </a:endParaRPr>
          </a:p>
        </p:txBody>
      </p:sp>
      <p:sp>
        <p:nvSpPr>
          <p:cNvPr id="19" name="Text: for context: ARIMA's 80% interval by Aug"/>
          <p:cNvSpPr txBox="1"/>
          <p:nvPr/>
        </p:nvSpPr>
        <p:spPr>
          <a:xfrm>
            <a:off x="9467850" y="4800600"/>
            <a:ext cx="2038350" cy="400050"/>
          </a:xfrm>
          <a:prstGeom prst="rect">
            <a:avLst/>
          </a:prstGeom>
          <a:noFill/>
        </p:spPr>
        <p:txBody>
          <a:bodyPr wrap="square" lIns="0" tIns="0" rIns="0" bIns="0" anchor="t" rtlCol="0" vert="horz">
            <a:noAutofit/>
          </a:bodyPr>
          <a:lstStyle/>
          <a:p>
            <a:pPr algn="l" marL="0" indent="0">
              <a:lnSpc>
                <a:spcPts val="1575"/>
              </a:lnSpc>
              <a:spcBef>
                <a:spcPts val="0"/>
              </a:spcBef>
              <a:spcAft>
                <a:spcPts val="0"/>
              </a:spcAft>
              <a:buNone/>
            </a:pPr>
            <a:r>
              <a:rPr lang="en-US" sz="1125" b="0" i="0" kern="0" dirty="0" spc="-17">
                <a:solidFill>
                  <a:srgbClr val="4F5560"/>
                </a:solidFill>
                <a:latin typeface="Geist" pitchFamily="2" charset="0"/>
                <a:ea typeface="Geist" pitchFamily="2" charset="0"/>
                <a:cs typeface="Geist" pitchFamily="2" charset="0"/>
              </a:rPr>
              <a:t>for context: ARIMA's 80% </a:t>
            </a:r>
            <a:r>
              <a:rPr lang="en-US" sz="1125" b="0" i="0" kern="0" dirty="0" spc="-17">
                <a:solidFill>
                  <a:srgbClr val="4F5560"/>
                </a:solidFill>
                <a:latin typeface="Geist" pitchFamily="2" charset="0"/>
                <a:ea typeface="Geist" pitchFamily="2" charset="0"/>
                <a:cs typeface="Geist" pitchFamily="2" charset="0"/>
              </a:rPr>
              <a:t>interval by August 2027</a:t>
            </a:r>
            <a:endParaRPr lang="en-US" sz="1125" b="0" i="0" kern="0" dirty="0" spc="-17">
              <a:solidFill>
                <a:srgbClr val="4F5560"/>
              </a:solidFill>
              <a:latin typeface="Geist" pitchFamily="2" charset="0"/>
              <a:ea typeface="Geist" pitchFamily="2" charset="0"/>
              <a:cs typeface="Geist" pitchFamily="2" charset="0"/>
            </a:endParaRPr>
          </a:p>
        </p:txBody>
      </p:sp>
      <p:sp>
        <p:nvSpPr>
          <p:cNvPr id="20"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21" name="Text: 8"/>
          <p:cNvSpPr txBox="1"/>
          <p:nvPr/>
        </p:nvSpPr>
        <p:spPr>
          <a:xfrm>
            <a:off x="10553700"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8</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Some neighborhoods are rising while othe"/>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6">
                <a:solidFill>
                  <a:srgbClr val="16213E"/>
                </a:solidFill>
                <a:latin typeface="Outfit SemiBold" pitchFamily="2" charset="0"/>
                <a:ea typeface="Outfit SemiBold" pitchFamily="2" charset="0"/>
                <a:cs typeface="Outfit SemiBold" pitchFamily="2" charset="0"/>
              </a:rPr>
              <a:t>Some neighborhoods are rising while others are falling</a:t>
            </a:r>
            <a:endParaRPr lang="en-US" sz="2700" b="0" i="0" kern="0" dirty="0" spc="-76">
              <a:solidFill>
                <a:srgbClr val="16213E"/>
              </a:solidFill>
              <a:latin typeface="Outfit SemiBold" pitchFamily="2" charset="0"/>
              <a:ea typeface="Outfit SemiBold" pitchFamily="2" charset="0"/>
              <a:cs typeface="Outfit SemiBold" pitchFamily="2" charset="0"/>
            </a:endParaRPr>
          </a:p>
        </p:txBody>
      </p:sp>
      <p:sp>
        <p:nvSpPr>
          <p:cNvPr id="3" name="Text: Neighborhoods · Live map"/>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Neighborhoods · Live map</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Plate"/>
          <p:cNvSpPr/>
          <p:nvPr/>
        </p:nvSpPr>
        <p:spPr>
          <a:xfrm>
            <a:off x="609600" y="1485900"/>
            <a:ext cx="4686300" cy="4610100"/>
          </a:xfrm>
          <a:prstGeom prst="roundRect">
            <a:avLst>
              <a:gd name="adj" fmla="val 2479"/>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6" name="Chart image" descr="Map of LA-metro neighborhoods colored by 12-month change, Aug 2025 to Aug 2026: 220 rising, 216 flat, 60 falling"/>
          <p:cNvPicPr>
            <a:picLocks noChangeAspect="1"/>
          </p:cNvPicPr>
          <p:nvPr/>
        </p:nvPicPr>
        <p:blipFill>
          <a:blip r:embed="rId2"/>
          <a:stretch>
            <a:fillRect/>
          </a:stretch>
        </p:blipFill>
        <p:spPr>
          <a:xfrm>
            <a:off x="726792" y="1600200"/>
            <a:ext cx="4451917" cy="4381500"/>
          </a:xfrm>
          <a:prstGeom prst="rect">
            <a:avLst/>
          </a:prstGeom>
        </p:spPr>
      </p:pic>
      <p:sp>
        <p:nvSpPr>
          <p:cNvPr id="7" name="Text: 220 / 216 / 60"/>
          <p:cNvSpPr txBox="1"/>
          <p:nvPr/>
        </p:nvSpPr>
        <p:spPr>
          <a:xfrm>
            <a:off x="5905500" y="1600962"/>
            <a:ext cx="5452110" cy="438150"/>
          </a:xfrm>
          <a:prstGeom prst="rect">
            <a:avLst/>
          </a:prstGeom>
          <a:noFill/>
        </p:spPr>
        <p:txBody>
          <a:bodyPr wrap="square" lIns="0" tIns="0" rIns="0" bIns="0" anchor="t" rtlCol="0" vert="horz">
            <a:noAutofit/>
          </a:bodyPr>
          <a:lstStyle/>
          <a:p>
            <a:pPr algn="l" marL="0" indent="0">
              <a:lnSpc>
                <a:spcPts val="3450"/>
              </a:lnSpc>
              <a:spcBef>
                <a:spcPts val="0"/>
              </a:spcBef>
              <a:spcAft>
                <a:spcPts val="0"/>
              </a:spcAft>
              <a:buNone/>
            </a:pPr>
            <a:r>
              <a:rPr lang="en-US" sz="3150" b="0" i="0" kern="0" dirty="0" spc="-74">
                <a:solidFill>
                  <a:srgbClr val="16213E"/>
                </a:solidFill>
                <a:latin typeface="Outfit SemiBold" pitchFamily="2" charset="0"/>
                <a:ea typeface="Outfit SemiBold" pitchFamily="2" charset="0"/>
                <a:cs typeface="Outfit SemiBold" pitchFamily="2" charset="0"/>
              </a:rPr>
              <a:t>220 / 216 / 60</a:t>
            </a:r>
            <a:endParaRPr lang="en-US" sz="3150" b="0" i="0" kern="0" dirty="0" spc="-74">
              <a:solidFill>
                <a:srgbClr val="16213E"/>
              </a:solidFill>
              <a:latin typeface="Outfit SemiBold" pitchFamily="2" charset="0"/>
              <a:ea typeface="Outfit SemiBold" pitchFamily="2" charset="0"/>
              <a:cs typeface="Outfit SemiBold" pitchFamily="2" charset="0"/>
            </a:endParaRPr>
          </a:p>
        </p:txBody>
      </p:sp>
      <p:sp>
        <p:nvSpPr>
          <p:cNvPr id="8" name="Text: rising &gt;2% · within ±2% · falling &gt;2%, l"/>
          <p:cNvSpPr txBox="1"/>
          <p:nvPr/>
        </p:nvSpPr>
        <p:spPr>
          <a:xfrm>
            <a:off x="5905500" y="2063496"/>
            <a:ext cx="5143500" cy="41910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9">
                <a:solidFill>
                  <a:srgbClr val="4F5560"/>
                </a:solidFill>
                <a:latin typeface="Geist" pitchFamily="2" charset="0"/>
                <a:ea typeface="Geist" pitchFamily="2" charset="0"/>
                <a:cs typeface="Geist" pitchFamily="2" charset="0"/>
              </a:rPr>
              <a:t>rising &gt;2% · within ±2% · falling &gt;2%, last 12 months (496 neighborhoods </a:t>
            </a:r>
            <a:r>
              <a:rPr lang="en-US" sz="1200" b="0" i="0" kern="0" dirty="0" spc="-9">
                <a:solidFill>
                  <a:srgbClr val="4F5560"/>
                </a:solidFill>
                <a:latin typeface="Geist" pitchFamily="2" charset="0"/>
                <a:ea typeface="Geist" pitchFamily="2" charset="0"/>
                <a:cs typeface="Geist" pitchFamily="2" charset="0"/>
              </a:rPr>
              <a:t>with recent data)</a:t>
            </a:r>
            <a:endParaRPr lang="en-US" sz="1200" b="0" i="0" kern="0" dirty="0" spc="-9">
              <a:solidFill>
                <a:srgbClr val="4F5560"/>
              </a:solidFill>
              <a:latin typeface="Geist" pitchFamily="2" charset="0"/>
              <a:ea typeface="Geist" pitchFamily="2" charset="0"/>
              <a:cs typeface="Geist" pitchFamily="2" charset="0"/>
            </a:endParaRPr>
          </a:p>
        </p:txBody>
      </p:sp>
      <p:sp>
        <p:nvSpPr>
          <p:cNvPr id="9" name="Text: 152 of 496"/>
          <p:cNvSpPr txBox="1"/>
          <p:nvPr/>
        </p:nvSpPr>
        <p:spPr>
          <a:xfrm>
            <a:off x="5905500" y="2743962"/>
            <a:ext cx="5452110" cy="438150"/>
          </a:xfrm>
          <a:prstGeom prst="rect">
            <a:avLst/>
          </a:prstGeom>
          <a:noFill/>
        </p:spPr>
        <p:txBody>
          <a:bodyPr wrap="square" lIns="0" tIns="0" rIns="0" bIns="0" anchor="t" rtlCol="0" vert="horz">
            <a:noAutofit/>
          </a:bodyPr>
          <a:lstStyle/>
          <a:p>
            <a:pPr algn="l" marL="0" indent="0">
              <a:lnSpc>
                <a:spcPts val="3450"/>
              </a:lnSpc>
              <a:spcBef>
                <a:spcPts val="0"/>
              </a:spcBef>
              <a:spcAft>
                <a:spcPts val="0"/>
              </a:spcAft>
              <a:buNone/>
            </a:pPr>
            <a:r>
              <a:rPr lang="en-US" sz="3150" b="0" i="0" kern="0" dirty="0" spc="-93">
                <a:solidFill>
                  <a:srgbClr val="B4400B"/>
                </a:solidFill>
                <a:latin typeface="Outfit SemiBold" pitchFamily="2" charset="0"/>
                <a:ea typeface="Outfit SemiBold" pitchFamily="2" charset="0"/>
                <a:cs typeface="Outfit SemiBold" pitchFamily="2" charset="0"/>
              </a:rPr>
              <a:t>152 of 496</a:t>
            </a:r>
            <a:endParaRPr lang="en-US" sz="3150" b="0" i="0" kern="0" dirty="0" spc="-93">
              <a:solidFill>
                <a:srgbClr val="B4400B"/>
              </a:solidFill>
              <a:latin typeface="Outfit SemiBold" pitchFamily="2" charset="0"/>
              <a:ea typeface="Outfit SemiBold" pitchFamily="2" charset="0"/>
              <a:cs typeface="Outfit SemiBold" pitchFamily="2" charset="0"/>
            </a:endParaRPr>
          </a:p>
        </p:txBody>
      </p:sp>
      <p:sp>
        <p:nvSpPr>
          <p:cNvPr id="10" name="Text: still below their 2022 peak, mostly in L"/>
          <p:cNvSpPr txBox="1"/>
          <p:nvPr/>
        </p:nvSpPr>
        <p:spPr>
          <a:xfrm>
            <a:off x="5905500" y="3206496"/>
            <a:ext cx="5143500" cy="20955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9">
                <a:solidFill>
                  <a:srgbClr val="4F5560"/>
                </a:solidFill>
                <a:latin typeface="Geist" pitchFamily="2" charset="0"/>
                <a:ea typeface="Geist" pitchFamily="2" charset="0"/>
                <a:cs typeface="Geist" pitchFamily="2" charset="0"/>
              </a:rPr>
              <a:t>still below their 2022 peak, mostly in LA County</a:t>
            </a:r>
            <a:endParaRPr lang="en-US" sz="1200" b="0" i="0" kern="0" dirty="0" spc="-9">
              <a:solidFill>
                <a:srgbClr val="4F5560"/>
              </a:solidFill>
              <a:latin typeface="Geist" pitchFamily="2" charset="0"/>
              <a:ea typeface="Geist" pitchFamily="2" charset="0"/>
              <a:cs typeface="Geist" pitchFamily="2" charset="0"/>
            </a:endParaRPr>
          </a:p>
        </p:txBody>
      </p:sp>
      <p:sp>
        <p:nvSpPr>
          <p:cNvPr id="11" name="Text: −1.2 pts"/>
          <p:cNvSpPr txBox="1"/>
          <p:nvPr/>
        </p:nvSpPr>
        <p:spPr>
          <a:xfrm>
            <a:off x="5905500" y="3676650"/>
            <a:ext cx="5452110" cy="438150"/>
          </a:xfrm>
          <a:prstGeom prst="rect">
            <a:avLst/>
          </a:prstGeom>
          <a:noFill/>
        </p:spPr>
        <p:txBody>
          <a:bodyPr wrap="square" lIns="0" tIns="0" rIns="0" bIns="0" anchor="t" rtlCol="0" vert="horz">
            <a:noAutofit/>
          </a:bodyPr>
          <a:lstStyle/>
          <a:p>
            <a:pPr algn="l" marL="0" indent="0">
              <a:lnSpc>
                <a:spcPts val="3450"/>
              </a:lnSpc>
              <a:spcBef>
                <a:spcPts val="0"/>
              </a:spcBef>
              <a:spcAft>
                <a:spcPts val="0"/>
              </a:spcAft>
              <a:buNone/>
            </a:pPr>
            <a:r>
              <a:rPr lang="en-US" sz="3150" b="0" i="0" kern="0" dirty="0" spc="-83">
                <a:solidFill>
                  <a:srgbClr val="B4400B"/>
                </a:solidFill>
                <a:latin typeface="Outfit SemiBold" pitchFamily="2" charset="0"/>
                <a:ea typeface="Outfit SemiBold" pitchFamily="2" charset="0"/>
                <a:cs typeface="Outfit SemiBold" pitchFamily="2" charset="0"/>
              </a:rPr>
              <a:t>−1.2 pts</a:t>
            </a:r>
            <a:endParaRPr lang="en-US" sz="3150" b="0" i="0" kern="0" dirty="0" spc="-83">
              <a:solidFill>
                <a:srgbClr val="B4400B"/>
              </a:solidFill>
              <a:latin typeface="Outfit SemiBold" pitchFamily="2" charset="0"/>
              <a:ea typeface="Outfit SemiBold" pitchFamily="2" charset="0"/>
              <a:cs typeface="Outfit SemiBold" pitchFamily="2" charset="0"/>
            </a:endParaRPr>
          </a:p>
        </p:txBody>
      </p:sp>
      <p:sp>
        <p:nvSpPr>
          <p:cNvPr id="12" name="Text: in LA County, doubling the starting home"/>
          <p:cNvSpPr txBox="1"/>
          <p:nvPr/>
        </p:nvSpPr>
        <p:spPr>
          <a:xfrm>
            <a:off x="5905500" y="4139184"/>
            <a:ext cx="5143500" cy="419100"/>
          </a:xfrm>
          <a:prstGeom prst="rect">
            <a:avLst/>
          </a:prstGeom>
          <a:noFill/>
        </p:spPr>
        <p:txBody>
          <a:bodyPr wrap="square" lIns="0" tIns="0" rIns="0" bIns="0" anchor="t" rtlCol="0" vert="horz">
            <a:noAutofit/>
          </a:bodyPr>
          <a:lstStyle/>
          <a:p>
            <a:pPr algn="l" marL="0" indent="0">
              <a:lnSpc>
                <a:spcPts val="1650"/>
              </a:lnSpc>
              <a:spcBef>
                <a:spcPts val="0"/>
              </a:spcBef>
              <a:spcAft>
                <a:spcPts val="0"/>
              </a:spcAft>
              <a:buNone/>
            </a:pPr>
            <a:r>
              <a:rPr lang="en-US" sz="1200" b="0" i="0" kern="0" dirty="0" spc="-12">
                <a:solidFill>
                  <a:srgbClr val="4F5560"/>
                </a:solidFill>
                <a:latin typeface="Geist" pitchFamily="2" charset="0"/>
                <a:ea typeface="Geist" pitchFamily="2" charset="0"/>
                <a:cs typeface="Geist" pitchFamily="2" charset="0"/>
              </a:rPr>
              <a:t>in LA County, doubling the starting home value went with a 1.2-point </a:t>
            </a:r>
            <a:r>
              <a:rPr lang="en-US" sz="1200" b="0" i="0" kern="0" dirty="0" spc="-12">
                <a:solidFill>
                  <a:srgbClr val="4F5560"/>
                </a:solidFill>
                <a:latin typeface="Geist" pitchFamily="2" charset="0"/>
                <a:ea typeface="Geist" pitchFamily="2" charset="0"/>
                <a:cs typeface="Geist" pitchFamily="2" charset="0"/>
              </a:rPr>
              <a:t>larger decline after the 2022 peak</a:t>
            </a:r>
            <a:endParaRPr lang="en-US" sz="1200" b="0" i="0" kern="0" dirty="0" spc="-12">
              <a:solidFill>
                <a:srgbClr val="4F5560"/>
              </a:solidFill>
              <a:latin typeface="Geist" pitchFamily="2" charset="0"/>
              <a:ea typeface="Geist" pitchFamily="2" charset="0"/>
              <a:cs typeface="Geist" pitchFamily="2" charset="0"/>
            </a:endParaRPr>
          </a:p>
        </p:txBody>
      </p:sp>
      <p:sp>
        <p:nvSpPr>
          <p:cNvPr id="13" name="Text: Live map: neiltd.github.io/la-housing-fo"/>
          <p:cNvSpPr txBox="1"/>
          <p:nvPr/>
        </p:nvSpPr>
        <p:spPr>
          <a:xfrm>
            <a:off x="5905500" y="5327142"/>
            <a:ext cx="49530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275" b="0" i="0" kern="0" dirty="0" spc="-14" u="sng">
                <a:solidFill>
                  <a:srgbClr val="1F6F8B"/>
                </a:solidFill>
                <a:latin typeface="Geist SemiBold" pitchFamily="2" charset="0"/>
                <a:ea typeface="Geist SemiBold" pitchFamily="2" charset="0"/>
                <a:cs typeface="Geist SemiBold" pitchFamily="2" charset="0"/>
                <a:hlinkClick r:id="rId3"/>
              </a:rPr>
              <a:t>Live map: neiltd.github.io/la-housing-forecast</a:t>
            </a:r>
            <a:endParaRPr lang="en-US" sz="1275" b="0" i="0" kern="0" dirty="0" spc="-14" u="sng">
              <a:solidFill>
                <a:srgbClr val="1F6F8B"/>
              </a:solidFill>
              <a:latin typeface="Geist SemiBold" pitchFamily="2" charset="0"/>
              <a:ea typeface="Geist SemiBold" pitchFamily="2" charset="0"/>
              <a:cs typeface="Geist SemiBold" pitchFamily="2" charset="0"/>
            </a:endParaRPr>
          </a:p>
        </p:txBody>
      </p:sp>
      <p:sp>
        <p:nvSpPr>
          <p:cNvPr id="14"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15" name="Text: 9"/>
          <p:cNvSpPr txBox="1"/>
          <p:nvPr/>
        </p:nvSpPr>
        <p:spPr>
          <a:xfrm>
            <a:off x="10554195"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a:solidFill>
                  <a:srgbClr val="4F5560"/>
                </a:solidFill>
                <a:latin typeface="Geist Medium" pitchFamily="2" charset="0"/>
                <a:ea typeface="Geist Medium" pitchFamily="2" charset="0"/>
                <a:cs typeface="Geist Medium" pitchFamily="2" charset="0"/>
              </a:rPr>
              <a:t>9</a:t>
            </a:r>
            <a:endParaRPr lang="en-US" sz="900" b="0" i="0" kern="0" dirty="0">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Our answer: simple models held up best"/>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69">
                <a:solidFill>
                  <a:srgbClr val="16213E"/>
                </a:solidFill>
                <a:latin typeface="Outfit SemiBold" pitchFamily="2" charset="0"/>
                <a:ea typeface="Outfit SemiBold" pitchFamily="2" charset="0"/>
                <a:cs typeface="Outfit SemiBold" pitchFamily="2" charset="0"/>
              </a:rPr>
              <a:t>Our answer: simple models held up best</a:t>
            </a:r>
            <a:endParaRPr lang="en-US" sz="2700" b="0" i="0" kern="0" dirty="0" spc="-69">
              <a:solidFill>
                <a:srgbClr val="16213E"/>
              </a:solidFill>
              <a:latin typeface="Outfit SemiBold" pitchFamily="2" charset="0"/>
              <a:ea typeface="Outfit SemiBold" pitchFamily="2" charset="0"/>
              <a:cs typeface="Outfit SemiBold" pitchFamily="2" charset="0"/>
            </a:endParaRPr>
          </a:p>
        </p:txBody>
      </p:sp>
      <p:sp>
        <p:nvSpPr>
          <p:cNvPr id="3" name="Text: Takeaways"/>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36">
                <a:solidFill>
                  <a:srgbClr val="1F6F8B"/>
                </a:solidFill>
                <a:latin typeface="Geist SemiBold" pitchFamily="2" charset="0"/>
                <a:ea typeface="Geist SemiBold" pitchFamily="2" charset="0"/>
                <a:cs typeface="Geist SemiBold" pitchFamily="2" charset="0"/>
              </a:rPr>
              <a:t>Takeaways</a:t>
            </a:r>
            <a:endParaRPr lang="en-US" sz="1125" b="0" i="0" kern="0" dirty="0" spc="-36">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sp>
        <p:nvSpPr>
          <p:cNvPr id="5" name="Panel"/>
          <p:cNvSpPr/>
          <p:nvPr/>
        </p:nvSpPr>
        <p:spPr>
          <a:xfrm>
            <a:off x="685800" y="1543050"/>
            <a:ext cx="495300" cy="495300"/>
          </a:xfrm>
          <a:prstGeom prst="roundRect">
            <a:avLst>
              <a:gd name="adj" fmla="val 23076"/>
            </a:avLst>
          </a:prstGeom>
          <a:solidFill>
            <a:srgbClr val="16213E"/>
          </a:solidFill>
          <a:ln>
            <a:noFill/>
          </a:ln>
        </p:spPr>
        <p:txBody>
          <a:bodyPr rtlCol="0" anchor="ctr"/>
          <a:lstStyle/>
          <a:p>
            <a:pPr algn="ctr"/>
          </a:p>
        </p:txBody>
      </p:sp>
      <p:sp>
        <p:nvSpPr>
          <p:cNvPr id="6" name="Text: 01"/>
          <p:cNvSpPr txBox="1"/>
          <p:nvPr/>
        </p:nvSpPr>
        <p:spPr>
          <a:xfrm>
            <a:off x="687191" y="1488567"/>
            <a:ext cx="495300" cy="495300"/>
          </a:xfrm>
          <a:prstGeom prst="rect">
            <a:avLst/>
          </a:prstGeom>
          <a:noFill/>
        </p:spPr>
        <p:txBody>
          <a:bodyPr wrap="square" lIns="0" tIns="0" rIns="0" bIns="0" anchor="t" rtlCol="0" vert="horz">
            <a:noAutofit/>
          </a:bodyPr>
          <a:lstStyle/>
          <a:p>
            <a:pPr algn="ctr" marL="0" indent="0">
              <a:lnSpc>
                <a:spcPts val="3900"/>
              </a:lnSpc>
              <a:spcBef>
                <a:spcPts val="0"/>
              </a:spcBef>
              <a:spcAft>
                <a:spcPts val="0"/>
              </a:spcAft>
              <a:buNone/>
            </a:pPr>
            <a:r>
              <a:rPr lang="en-US" sz="1425" b="0" i="0" kern="0" dirty="0" spc="13">
                <a:solidFill>
                  <a:srgbClr val="FFFFFF"/>
                </a:solidFill>
                <a:latin typeface="Outfit SemiBold" pitchFamily="2" charset="0"/>
                <a:ea typeface="Outfit SemiBold" pitchFamily="2" charset="0"/>
                <a:cs typeface="Outfit SemiBold" pitchFamily="2" charset="0"/>
              </a:rPr>
              <a:t>01</a:t>
            </a:r>
            <a:endParaRPr lang="en-US" sz="1425" b="0" i="0" kern="0" dirty="0" spc="13">
              <a:solidFill>
                <a:srgbClr val="FFFFFF"/>
              </a:solidFill>
              <a:latin typeface="Outfit SemiBold" pitchFamily="2" charset="0"/>
              <a:ea typeface="Outfit SemiBold" pitchFamily="2" charset="0"/>
              <a:cs typeface="Outfit SemiBold" pitchFamily="2" charset="0"/>
            </a:endParaRPr>
          </a:p>
        </p:txBody>
      </p:sp>
      <p:sp>
        <p:nvSpPr>
          <p:cNvPr id="7" name="Text: Simple models were competitive"/>
          <p:cNvSpPr txBox="1"/>
          <p:nvPr/>
        </p:nvSpPr>
        <p:spPr>
          <a:xfrm>
            <a:off x="1409700" y="1530858"/>
            <a:ext cx="9525000" cy="266700"/>
          </a:xfrm>
          <a:prstGeom prst="rect">
            <a:avLst/>
          </a:prstGeom>
          <a:noFill/>
        </p:spPr>
        <p:txBody>
          <a:bodyPr wrap="square" lIns="0" tIns="0" rIns="0" bIns="0" anchor="t" rtlCol="0" vert="horz">
            <a:noAutofit/>
          </a:bodyPr>
          <a:lstStyle/>
          <a:p>
            <a:pPr algn="l" marL="0" indent="0">
              <a:lnSpc>
                <a:spcPts val="2100"/>
              </a:lnSpc>
              <a:spcBef>
                <a:spcPts val="0"/>
              </a:spcBef>
              <a:spcAft>
                <a:spcPts val="0"/>
              </a:spcAft>
              <a:buNone/>
            </a:pPr>
            <a:r>
              <a:rPr lang="en-US" sz="1650" b="0" i="0" kern="0" dirty="0" spc="-30">
                <a:solidFill>
                  <a:srgbClr val="16213E"/>
                </a:solidFill>
                <a:latin typeface="Outfit SemiBold" pitchFamily="2" charset="0"/>
                <a:ea typeface="Outfit SemiBold" pitchFamily="2" charset="0"/>
                <a:cs typeface="Outfit SemiBold" pitchFamily="2" charset="0"/>
              </a:rPr>
              <a:t>Simple models were competitive</a:t>
            </a:r>
            <a:endParaRPr lang="en-US" sz="1650" b="0" i="0" kern="0" dirty="0" spc="-30">
              <a:solidFill>
                <a:srgbClr val="16213E"/>
              </a:solidFill>
              <a:latin typeface="Outfit SemiBold" pitchFamily="2" charset="0"/>
              <a:ea typeface="Outfit SemiBold" pitchFamily="2" charset="0"/>
              <a:cs typeface="Outfit SemiBold" pitchFamily="2" charset="0"/>
            </a:endParaRPr>
          </a:p>
        </p:txBody>
      </p:sp>
      <p:sp>
        <p:nvSpPr>
          <p:cNvPr id="8" name="Text: ARIMAX had the lowest average error; nai"/>
          <p:cNvSpPr txBox="1"/>
          <p:nvPr/>
        </p:nvSpPr>
        <p:spPr>
          <a:xfrm>
            <a:off x="1409700" y="1814322"/>
            <a:ext cx="95250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275" b="0" i="0" kern="0" dirty="0" spc="-16">
                <a:solidFill>
                  <a:srgbClr val="3D4A5C"/>
                </a:solidFill>
                <a:latin typeface="Geist" pitchFamily="2" charset="0"/>
                <a:ea typeface="Geist" pitchFamily="2" charset="0"/>
                <a:cs typeface="Geist" pitchFamily="2" charset="0"/>
              </a:rPr>
              <a:t>ARIMAX had the lowest average error; naive drift was equally competitive at month 12.</a:t>
            </a:r>
            <a:endParaRPr lang="en-US" sz="1275" b="0" i="0" kern="0" dirty="0" spc="-16">
              <a:solidFill>
                <a:srgbClr val="3D4A5C"/>
              </a:solidFill>
              <a:latin typeface="Geist" pitchFamily="2" charset="0"/>
              <a:ea typeface="Geist" pitchFamily="2" charset="0"/>
              <a:cs typeface="Geist" pitchFamily="2" charset="0"/>
            </a:endParaRPr>
          </a:p>
        </p:txBody>
      </p:sp>
      <p:sp>
        <p:nvSpPr>
          <p:cNvPr id="9" name="Panel"/>
          <p:cNvSpPr/>
          <p:nvPr/>
        </p:nvSpPr>
        <p:spPr>
          <a:xfrm>
            <a:off x="685800" y="2419350"/>
            <a:ext cx="495300" cy="495300"/>
          </a:xfrm>
          <a:prstGeom prst="roundRect">
            <a:avLst>
              <a:gd name="adj" fmla="val 23076"/>
            </a:avLst>
          </a:prstGeom>
          <a:solidFill>
            <a:srgbClr val="16213E"/>
          </a:solidFill>
          <a:ln>
            <a:noFill/>
          </a:ln>
        </p:spPr>
        <p:txBody>
          <a:bodyPr rtlCol="0" anchor="ctr"/>
          <a:lstStyle/>
          <a:p>
            <a:pPr algn="ctr"/>
          </a:p>
        </p:txBody>
      </p:sp>
      <p:sp>
        <p:nvSpPr>
          <p:cNvPr id="10" name="Text: 02"/>
          <p:cNvSpPr txBox="1"/>
          <p:nvPr/>
        </p:nvSpPr>
        <p:spPr>
          <a:xfrm>
            <a:off x="687648" y="2366391"/>
            <a:ext cx="495300" cy="495300"/>
          </a:xfrm>
          <a:prstGeom prst="rect">
            <a:avLst/>
          </a:prstGeom>
          <a:noFill/>
        </p:spPr>
        <p:txBody>
          <a:bodyPr wrap="square" lIns="0" tIns="0" rIns="0" bIns="0" anchor="t" rtlCol="0" vert="horz">
            <a:noAutofit/>
          </a:bodyPr>
          <a:lstStyle/>
          <a:p>
            <a:pPr algn="ctr" marL="0" indent="0">
              <a:lnSpc>
                <a:spcPts val="3900"/>
              </a:lnSpc>
              <a:spcBef>
                <a:spcPts val="0"/>
              </a:spcBef>
              <a:spcAft>
                <a:spcPts val="0"/>
              </a:spcAft>
              <a:buNone/>
            </a:pPr>
            <a:r>
              <a:rPr lang="en-US" sz="1425" b="0" i="0" kern="0" dirty="0" spc="16">
                <a:solidFill>
                  <a:srgbClr val="FFFFFF"/>
                </a:solidFill>
                <a:latin typeface="Outfit SemiBold" pitchFamily="2" charset="0"/>
                <a:ea typeface="Outfit SemiBold" pitchFamily="2" charset="0"/>
                <a:cs typeface="Outfit SemiBold" pitchFamily="2" charset="0"/>
              </a:rPr>
              <a:t>02</a:t>
            </a:r>
            <a:endParaRPr lang="en-US" sz="1425" b="0" i="0" kern="0" dirty="0" spc="16">
              <a:solidFill>
                <a:srgbClr val="FFFFFF"/>
              </a:solidFill>
              <a:latin typeface="Outfit SemiBold" pitchFamily="2" charset="0"/>
              <a:ea typeface="Outfit SemiBold" pitchFamily="2" charset="0"/>
              <a:cs typeface="Outfit SemiBold" pitchFamily="2" charset="0"/>
            </a:endParaRPr>
          </a:p>
        </p:txBody>
      </p:sp>
      <p:sp>
        <p:nvSpPr>
          <p:cNvPr id="11" name="Text: Test AI on outcomes it cannot know"/>
          <p:cNvSpPr txBox="1"/>
          <p:nvPr/>
        </p:nvSpPr>
        <p:spPr>
          <a:xfrm>
            <a:off x="1409700" y="2405634"/>
            <a:ext cx="9525000" cy="266700"/>
          </a:xfrm>
          <a:prstGeom prst="rect">
            <a:avLst/>
          </a:prstGeom>
          <a:noFill/>
        </p:spPr>
        <p:txBody>
          <a:bodyPr wrap="square" lIns="0" tIns="0" rIns="0" bIns="0" anchor="t" rtlCol="0" vert="horz">
            <a:noAutofit/>
          </a:bodyPr>
          <a:lstStyle/>
          <a:p>
            <a:pPr algn="l" marL="0" indent="0">
              <a:lnSpc>
                <a:spcPts val="2100"/>
              </a:lnSpc>
              <a:spcBef>
                <a:spcPts val="0"/>
              </a:spcBef>
              <a:spcAft>
                <a:spcPts val="0"/>
              </a:spcAft>
              <a:buNone/>
            </a:pPr>
            <a:r>
              <a:rPr lang="en-US" sz="1650" b="0" i="0" kern="0" dirty="0" spc="-38">
                <a:solidFill>
                  <a:srgbClr val="16213E"/>
                </a:solidFill>
                <a:latin typeface="Outfit SemiBold" pitchFamily="2" charset="0"/>
                <a:ea typeface="Outfit SemiBold" pitchFamily="2" charset="0"/>
                <a:cs typeface="Outfit SemiBold" pitchFamily="2" charset="0"/>
              </a:rPr>
              <a:t>Test AI on outcomes it cannot know</a:t>
            </a:r>
            <a:endParaRPr lang="en-US" sz="1650" b="0" i="0" kern="0" dirty="0" spc="-38">
              <a:solidFill>
                <a:srgbClr val="16213E"/>
              </a:solidFill>
              <a:latin typeface="Outfit SemiBold" pitchFamily="2" charset="0"/>
              <a:ea typeface="Outfit SemiBold" pitchFamily="2" charset="0"/>
              <a:cs typeface="Outfit SemiBold" pitchFamily="2" charset="0"/>
            </a:endParaRPr>
          </a:p>
        </p:txBody>
      </p:sp>
      <p:sp>
        <p:nvSpPr>
          <p:cNvPr id="12" name="Text: Historical AI tests can be affected by r"/>
          <p:cNvSpPr txBox="1"/>
          <p:nvPr/>
        </p:nvSpPr>
        <p:spPr>
          <a:xfrm>
            <a:off x="1409700" y="2689098"/>
            <a:ext cx="95250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275" b="0" i="0" kern="0" dirty="0" spc="-17">
                <a:solidFill>
                  <a:srgbClr val="3D4A5C"/>
                </a:solidFill>
                <a:latin typeface="Geist" pitchFamily="2" charset="0"/>
                <a:ea typeface="Geist" pitchFamily="2" charset="0"/>
                <a:cs typeface="Geist" pitchFamily="2" charset="0"/>
              </a:rPr>
              <a:t>Historical AI tests can be affected by recognition of past events.</a:t>
            </a:r>
            <a:endParaRPr lang="en-US" sz="1275" b="0" i="0" kern="0" dirty="0" spc="-17">
              <a:solidFill>
                <a:srgbClr val="3D4A5C"/>
              </a:solidFill>
              <a:latin typeface="Geist" pitchFamily="2" charset="0"/>
              <a:ea typeface="Geist" pitchFamily="2" charset="0"/>
              <a:cs typeface="Geist" pitchFamily="2" charset="0"/>
            </a:endParaRPr>
          </a:p>
        </p:txBody>
      </p:sp>
      <p:sp>
        <p:nvSpPr>
          <p:cNvPr id="13" name="Panel"/>
          <p:cNvSpPr/>
          <p:nvPr/>
        </p:nvSpPr>
        <p:spPr>
          <a:xfrm>
            <a:off x="685800" y="3295650"/>
            <a:ext cx="495300" cy="495300"/>
          </a:xfrm>
          <a:prstGeom prst="roundRect">
            <a:avLst>
              <a:gd name="adj" fmla="val 23076"/>
            </a:avLst>
          </a:prstGeom>
          <a:solidFill>
            <a:srgbClr val="16213E"/>
          </a:solidFill>
          <a:ln>
            <a:noFill/>
          </a:ln>
        </p:spPr>
        <p:txBody>
          <a:bodyPr rtlCol="0" anchor="ctr"/>
          <a:lstStyle/>
          <a:p>
            <a:pPr algn="ctr"/>
          </a:p>
        </p:txBody>
      </p:sp>
      <p:sp>
        <p:nvSpPr>
          <p:cNvPr id="14" name="Text: 03"/>
          <p:cNvSpPr txBox="1"/>
          <p:nvPr/>
        </p:nvSpPr>
        <p:spPr>
          <a:xfrm>
            <a:off x="687943" y="3241167"/>
            <a:ext cx="495300" cy="495300"/>
          </a:xfrm>
          <a:prstGeom prst="rect">
            <a:avLst/>
          </a:prstGeom>
          <a:noFill/>
        </p:spPr>
        <p:txBody>
          <a:bodyPr wrap="square" lIns="0" tIns="0" rIns="0" bIns="0" anchor="t" rtlCol="0" vert="horz">
            <a:noAutofit/>
          </a:bodyPr>
          <a:lstStyle/>
          <a:p>
            <a:pPr algn="ctr" marL="0" indent="0">
              <a:lnSpc>
                <a:spcPts val="3900"/>
              </a:lnSpc>
              <a:spcBef>
                <a:spcPts val="0"/>
              </a:spcBef>
              <a:spcAft>
                <a:spcPts val="0"/>
              </a:spcAft>
              <a:buNone/>
            </a:pPr>
            <a:r>
              <a:rPr lang="en-US" sz="1425" b="0" i="0" kern="0" dirty="0" spc="16">
                <a:solidFill>
                  <a:srgbClr val="FFFFFF"/>
                </a:solidFill>
                <a:latin typeface="Outfit SemiBold" pitchFamily="2" charset="0"/>
                <a:ea typeface="Outfit SemiBold" pitchFamily="2" charset="0"/>
                <a:cs typeface="Outfit SemiBold" pitchFamily="2" charset="0"/>
              </a:rPr>
              <a:t>03</a:t>
            </a:r>
            <a:endParaRPr lang="en-US" sz="1425" b="0" i="0" kern="0" dirty="0" spc="16">
              <a:solidFill>
                <a:srgbClr val="FFFFFF"/>
              </a:solidFill>
              <a:latin typeface="Outfit SemiBold" pitchFamily="2" charset="0"/>
              <a:ea typeface="Outfit SemiBold" pitchFamily="2" charset="0"/>
              <a:cs typeface="Outfit SemiBold" pitchFamily="2" charset="0"/>
            </a:endParaRPr>
          </a:p>
        </p:txBody>
      </p:sp>
      <p:sp>
        <p:nvSpPr>
          <p:cNvPr id="15" name="Text: Mortgage rates matter, slowly"/>
          <p:cNvSpPr txBox="1"/>
          <p:nvPr/>
        </p:nvSpPr>
        <p:spPr>
          <a:xfrm>
            <a:off x="1409700" y="3283458"/>
            <a:ext cx="9525000" cy="266700"/>
          </a:xfrm>
          <a:prstGeom prst="rect">
            <a:avLst/>
          </a:prstGeom>
          <a:noFill/>
        </p:spPr>
        <p:txBody>
          <a:bodyPr wrap="square" lIns="0" tIns="0" rIns="0" bIns="0" anchor="t" rtlCol="0" vert="horz">
            <a:noAutofit/>
          </a:bodyPr>
          <a:lstStyle/>
          <a:p>
            <a:pPr algn="l" marL="0" indent="0">
              <a:lnSpc>
                <a:spcPts val="2100"/>
              </a:lnSpc>
              <a:spcBef>
                <a:spcPts val="0"/>
              </a:spcBef>
              <a:spcAft>
                <a:spcPts val="0"/>
              </a:spcAft>
              <a:buNone/>
            </a:pPr>
            <a:r>
              <a:rPr lang="en-US" sz="1650" b="0" i="0" kern="0" dirty="0" spc="-36">
                <a:solidFill>
                  <a:srgbClr val="16213E"/>
                </a:solidFill>
                <a:latin typeface="Outfit SemiBold" pitchFamily="2" charset="0"/>
                <a:ea typeface="Outfit SemiBold" pitchFamily="2" charset="0"/>
                <a:cs typeface="Outfit SemiBold" pitchFamily="2" charset="0"/>
              </a:rPr>
              <a:t>Mortgage rates matter, slowly</a:t>
            </a:r>
            <a:endParaRPr lang="en-US" sz="1650" b="0" i="0" kern="0" dirty="0" spc="-36">
              <a:solidFill>
                <a:srgbClr val="16213E"/>
              </a:solidFill>
              <a:latin typeface="Outfit SemiBold" pitchFamily="2" charset="0"/>
              <a:ea typeface="Outfit SemiBold" pitchFamily="2" charset="0"/>
              <a:cs typeface="Outfit SemiBold" pitchFamily="2" charset="0"/>
            </a:endParaRPr>
          </a:p>
        </p:txBody>
      </p:sp>
      <p:sp>
        <p:nvSpPr>
          <p:cNvPr id="16" name="Text: Jobs, income and crime didn't improve th"/>
          <p:cNvSpPr txBox="1"/>
          <p:nvPr/>
        </p:nvSpPr>
        <p:spPr>
          <a:xfrm>
            <a:off x="1409700" y="3566922"/>
            <a:ext cx="95250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275" b="0" i="0" kern="0" dirty="0" spc="-11">
                <a:solidFill>
                  <a:srgbClr val="3D4A5C"/>
                </a:solidFill>
                <a:latin typeface="Geist" pitchFamily="2" charset="0"/>
                <a:ea typeface="Geist" pitchFamily="2" charset="0"/>
                <a:cs typeface="Geist" pitchFamily="2" charset="0"/>
              </a:rPr>
              <a:t>Jobs, income and crime didn't improve the forecast; turning points stayed hard to call.</a:t>
            </a:r>
            <a:endParaRPr lang="en-US" sz="1275" b="0" i="0" kern="0" dirty="0" spc="-11">
              <a:solidFill>
                <a:srgbClr val="3D4A5C"/>
              </a:solidFill>
              <a:latin typeface="Geist" pitchFamily="2" charset="0"/>
              <a:ea typeface="Geist" pitchFamily="2" charset="0"/>
              <a:cs typeface="Geist" pitchFamily="2" charset="0"/>
            </a:endParaRPr>
          </a:p>
        </p:txBody>
      </p:sp>
      <p:sp>
        <p:nvSpPr>
          <p:cNvPr id="17" name="Panel"/>
          <p:cNvSpPr/>
          <p:nvPr/>
        </p:nvSpPr>
        <p:spPr>
          <a:xfrm>
            <a:off x="685800" y="4171950"/>
            <a:ext cx="495300" cy="495300"/>
          </a:xfrm>
          <a:prstGeom prst="roundRect">
            <a:avLst>
              <a:gd name="adj" fmla="val 23076"/>
            </a:avLst>
          </a:prstGeom>
          <a:solidFill>
            <a:srgbClr val="16213E"/>
          </a:solidFill>
          <a:ln>
            <a:noFill/>
          </a:ln>
        </p:spPr>
        <p:txBody>
          <a:bodyPr rtlCol="0" anchor="ctr"/>
          <a:lstStyle/>
          <a:p>
            <a:pPr algn="ctr"/>
          </a:p>
        </p:txBody>
      </p:sp>
      <p:sp>
        <p:nvSpPr>
          <p:cNvPr id="18" name="Text: 04"/>
          <p:cNvSpPr txBox="1"/>
          <p:nvPr/>
        </p:nvSpPr>
        <p:spPr>
          <a:xfrm>
            <a:off x="687943" y="4118991"/>
            <a:ext cx="495300" cy="495300"/>
          </a:xfrm>
          <a:prstGeom prst="rect">
            <a:avLst/>
          </a:prstGeom>
          <a:noFill/>
        </p:spPr>
        <p:txBody>
          <a:bodyPr wrap="square" lIns="0" tIns="0" rIns="0" bIns="0" anchor="t" rtlCol="0" vert="horz">
            <a:noAutofit/>
          </a:bodyPr>
          <a:lstStyle/>
          <a:p>
            <a:pPr algn="ctr" marL="0" indent="0">
              <a:lnSpc>
                <a:spcPts val="3900"/>
              </a:lnSpc>
              <a:spcBef>
                <a:spcPts val="0"/>
              </a:spcBef>
              <a:spcAft>
                <a:spcPts val="0"/>
              </a:spcAft>
              <a:buNone/>
            </a:pPr>
            <a:r>
              <a:rPr lang="en-US" sz="1425" b="0" i="0" kern="0" dirty="0" spc="18">
                <a:solidFill>
                  <a:srgbClr val="FFFFFF"/>
                </a:solidFill>
                <a:latin typeface="Outfit SemiBold" pitchFamily="2" charset="0"/>
                <a:ea typeface="Outfit SemiBold" pitchFamily="2" charset="0"/>
                <a:cs typeface="Outfit SemiBold" pitchFamily="2" charset="0"/>
              </a:rPr>
              <a:t>04</a:t>
            </a:r>
            <a:endParaRPr lang="en-US" sz="1425" b="0" i="0" kern="0" dirty="0" spc="18">
              <a:solidFill>
                <a:srgbClr val="FFFFFF"/>
              </a:solidFill>
              <a:latin typeface="Outfit SemiBold" pitchFamily="2" charset="0"/>
              <a:ea typeface="Outfit SemiBold" pitchFamily="2" charset="0"/>
              <a:cs typeface="Outfit SemiBold" pitchFamily="2" charset="0"/>
            </a:endParaRPr>
          </a:p>
        </p:txBody>
      </p:sp>
      <p:sp>
        <p:nvSpPr>
          <p:cNvPr id="19" name="Text: The metro average is only part of the pi"/>
          <p:cNvSpPr txBox="1"/>
          <p:nvPr/>
        </p:nvSpPr>
        <p:spPr>
          <a:xfrm>
            <a:off x="1409700" y="4158234"/>
            <a:ext cx="9525000" cy="266700"/>
          </a:xfrm>
          <a:prstGeom prst="rect">
            <a:avLst/>
          </a:prstGeom>
          <a:noFill/>
        </p:spPr>
        <p:txBody>
          <a:bodyPr wrap="square" lIns="0" tIns="0" rIns="0" bIns="0" anchor="t" rtlCol="0" vert="horz">
            <a:noAutofit/>
          </a:bodyPr>
          <a:lstStyle/>
          <a:p>
            <a:pPr algn="l" marL="0" indent="0">
              <a:lnSpc>
                <a:spcPts val="2100"/>
              </a:lnSpc>
              <a:spcBef>
                <a:spcPts val="0"/>
              </a:spcBef>
              <a:spcAft>
                <a:spcPts val="0"/>
              </a:spcAft>
              <a:buNone/>
            </a:pPr>
            <a:r>
              <a:rPr lang="en-US" sz="1650" b="0" i="0" kern="0" dirty="0" spc="-31">
                <a:solidFill>
                  <a:srgbClr val="16213E"/>
                </a:solidFill>
                <a:latin typeface="Outfit SemiBold" pitchFamily="2" charset="0"/>
                <a:ea typeface="Outfit SemiBold" pitchFamily="2" charset="0"/>
                <a:cs typeface="Outfit SemiBold" pitchFamily="2" charset="0"/>
              </a:rPr>
              <a:t>The metro average is only part of the picture</a:t>
            </a:r>
            <a:endParaRPr lang="en-US" sz="1650" b="0" i="0" kern="0" dirty="0" spc="-31">
              <a:solidFill>
                <a:srgbClr val="16213E"/>
              </a:solidFill>
              <a:latin typeface="Outfit SemiBold" pitchFamily="2" charset="0"/>
              <a:ea typeface="Outfit SemiBold" pitchFamily="2" charset="0"/>
              <a:cs typeface="Outfit SemiBold" pitchFamily="2" charset="0"/>
            </a:endParaRPr>
          </a:p>
        </p:txBody>
      </p:sp>
      <p:sp>
        <p:nvSpPr>
          <p:cNvPr id="20" name="Text: Results varied; per-neighborhood ARIMA b"/>
          <p:cNvSpPr txBox="1"/>
          <p:nvPr/>
        </p:nvSpPr>
        <p:spPr>
          <a:xfrm>
            <a:off x="1409700" y="4441698"/>
            <a:ext cx="9525000" cy="228600"/>
          </a:xfrm>
          <a:prstGeom prst="rect">
            <a:avLst/>
          </a:prstGeom>
          <a:noFill/>
        </p:spPr>
        <p:txBody>
          <a:bodyPr wrap="square" lIns="0" tIns="0" rIns="0" bIns="0" anchor="t" rtlCol="0" vert="horz">
            <a:noAutofit/>
          </a:bodyPr>
          <a:lstStyle/>
          <a:p>
            <a:pPr algn="l" marL="0" indent="0">
              <a:lnSpc>
                <a:spcPts val="1800"/>
              </a:lnSpc>
              <a:spcBef>
                <a:spcPts val="0"/>
              </a:spcBef>
              <a:spcAft>
                <a:spcPts val="0"/>
              </a:spcAft>
              <a:buNone/>
            </a:pPr>
            <a:r>
              <a:rPr lang="en-US" sz="1275" b="0" i="0" kern="0" dirty="0" spc="-13">
                <a:solidFill>
                  <a:srgbClr val="3D4A5C"/>
                </a:solidFill>
                <a:latin typeface="Geist" pitchFamily="2" charset="0"/>
                <a:ea typeface="Geist" pitchFamily="2" charset="0"/>
                <a:cs typeface="Geist" pitchFamily="2" charset="0"/>
              </a:rPr>
              <a:t>Results varied; per-neighborhood ARIMA beat naive drift (2.8% vs 3.5%).</a:t>
            </a:r>
            <a:endParaRPr lang="en-US" sz="1275" b="0" i="0" kern="0" dirty="0" spc="-13">
              <a:solidFill>
                <a:srgbClr val="3D4A5C"/>
              </a:solidFill>
              <a:latin typeface="Geist" pitchFamily="2" charset="0"/>
              <a:ea typeface="Geist" pitchFamily="2" charset="0"/>
              <a:cs typeface="Geist" pitchFamily="2" charset="0"/>
            </a:endParaRPr>
          </a:p>
        </p:txBody>
      </p:sp>
      <p:sp>
        <p:nvSpPr>
          <p:cNvPr id="21" name="Panel"/>
          <p:cNvSpPr/>
          <p:nvPr/>
        </p:nvSpPr>
        <p:spPr>
          <a:xfrm>
            <a:off x="609600" y="5219700"/>
            <a:ext cx="10972800" cy="590550"/>
          </a:xfrm>
          <a:prstGeom prst="roundRect">
            <a:avLst>
              <a:gd name="adj" fmla="val 19354"/>
            </a:avLst>
          </a:prstGeom>
          <a:solidFill>
            <a:srgbClr val="E8EFF2"/>
          </a:solidFill>
          <a:ln>
            <a:noFill/>
          </a:ln>
        </p:spPr>
        <p:txBody>
          <a:bodyPr rtlCol="0" anchor="ctr"/>
          <a:lstStyle/>
          <a:p>
            <a:pPr algn="ctr"/>
          </a:p>
        </p:txBody>
      </p:sp>
      <p:sp>
        <p:nvSpPr>
          <p:cNvPr id="22" name="Text: Next steps  Test more cities; score the "/>
          <p:cNvSpPr txBox="1"/>
          <p:nvPr/>
        </p:nvSpPr>
        <p:spPr>
          <a:xfrm>
            <a:off x="876300" y="5383149"/>
            <a:ext cx="10439400" cy="247650"/>
          </a:xfrm>
          <a:prstGeom prst="rect">
            <a:avLst/>
          </a:prstGeom>
          <a:noFill/>
        </p:spPr>
        <p:txBody>
          <a:bodyPr wrap="square" lIns="0" tIns="0" rIns="0" bIns="0" anchor="t" rtlCol="0" vert="horz">
            <a:noAutofit/>
          </a:bodyPr>
          <a:lstStyle/>
          <a:p>
            <a:pPr algn="l" marL="0" indent="0">
              <a:lnSpc>
                <a:spcPts val="1950"/>
              </a:lnSpc>
              <a:spcBef>
                <a:spcPts val="0"/>
              </a:spcBef>
              <a:spcAft>
                <a:spcPts val="0"/>
              </a:spcAft>
              <a:buNone/>
            </a:pPr>
            <a:r>
              <a:rPr lang="en-US" sz="1350" b="0" i="0" kern="0" dirty="0" spc="-19">
                <a:solidFill>
                  <a:srgbClr val="1F6F8B"/>
                </a:solidFill>
                <a:latin typeface="Geist SemiBold" pitchFamily="2" charset="0"/>
                <a:ea typeface="Geist SemiBold" pitchFamily="2" charset="0"/>
                <a:cs typeface="Geist SemiBold" pitchFamily="2" charset="0"/>
              </a:rPr>
              <a:t>Next steps</a:t>
            </a:r>
            <a:r>
              <a:rPr lang="en-US" sz="1350" b="0" i="0" kern="0" dirty="0" spc="-19">
                <a:solidFill>
                  <a:srgbClr val="16213E"/>
                </a:solidFill>
                <a:latin typeface="Geist" pitchFamily="2" charset="0"/>
                <a:ea typeface="Geist" pitchFamily="2" charset="0"/>
                <a:cs typeface="Geist" pitchFamily="2" charset="0"/>
              </a:rPr>
              <a:t>  Test more cities; score the AI live on months after its training cutoff.</a:t>
            </a:r>
            <a:endParaRPr lang="en-US" sz="1350" b="0" i="0" kern="0" dirty="0" spc="-19">
              <a:solidFill>
                <a:srgbClr val="16213E"/>
              </a:solidFill>
              <a:latin typeface="Geist" pitchFamily="2" charset="0"/>
              <a:ea typeface="Geist" pitchFamily="2" charset="0"/>
              <a:cs typeface="Geist" pitchFamily="2" charset="0"/>
            </a:endParaRPr>
          </a:p>
        </p:txBody>
      </p:sp>
      <p:sp>
        <p:nvSpPr>
          <p:cNvPr id="23"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24" name="Text: 10"/>
          <p:cNvSpPr txBox="1"/>
          <p:nvPr/>
        </p:nvSpPr>
        <p:spPr>
          <a:xfrm>
            <a:off x="10551881"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spc="-8">
                <a:solidFill>
                  <a:srgbClr val="4F5560"/>
                </a:solidFill>
                <a:latin typeface="Geist Medium" pitchFamily="2" charset="0"/>
                <a:ea typeface="Geist Medium" pitchFamily="2" charset="0"/>
                <a:cs typeface="Geist Medium" pitchFamily="2" charset="0"/>
              </a:rPr>
              <a:t>10</a:t>
            </a:r>
            <a:endParaRPr lang="en-US" sz="900" b="0" i="0" kern="0" dirty="0" spc="-8">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What each method knew at each forecast d"/>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3">
                <a:solidFill>
                  <a:srgbClr val="16213E"/>
                </a:solidFill>
                <a:latin typeface="Outfit SemiBold" pitchFamily="2" charset="0"/>
                <a:ea typeface="Outfit SemiBold" pitchFamily="2" charset="0"/>
                <a:cs typeface="Outfit SemiBold" pitchFamily="2" charset="0"/>
              </a:rPr>
              <a:t>What each method knew at each forecast date</a:t>
            </a:r>
            <a:endParaRPr lang="en-US" sz="2700" b="0" i="0" kern="0" dirty="0" spc="-73">
              <a:solidFill>
                <a:srgbClr val="16213E"/>
              </a:solidFill>
              <a:latin typeface="Outfit SemiBold" pitchFamily="2" charset="0"/>
              <a:ea typeface="Outfit SemiBold" pitchFamily="2" charset="0"/>
              <a:cs typeface="Outfit SemiBold" pitchFamily="2" charset="0"/>
            </a:endParaRPr>
          </a:p>
        </p:txBody>
      </p:sp>
      <p:sp>
        <p:nvSpPr>
          <p:cNvPr id="3" name="Text: Appendix A1 · Information sets"/>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3">
                <a:solidFill>
                  <a:srgbClr val="1F6F8B"/>
                </a:solidFill>
                <a:latin typeface="Geist SemiBold" pitchFamily="2" charset="0"/>
                <a:ea typeface="Geist SemiBold" pitchFamily="2" charset="0"/>
                <a:cs typeface="Geist SemiBold" pitchFamily="2" charset="0"/>
              </a:rPr>
              <a:t>Appendix A1 · Information sets</a:t>
            </a:r>
            <a:endParaRPr lang="en-US" sz="1125" b="0" i="0" kern="0" dirty="0" spc="-13">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graphicFrame>
        <p:nvGraphicFramePr>
          <p:cNvPr id="5" name="Table"/>
          <p:cNvGraphicFramePr>
            <a:graphicFrameLocks noGrp="1"/>
          </p:cNvGraphicFramePr>
          <p:nvPr/>
        </p:nvGraphicFramePr>
        <p:xfrm>
          <a:off x="609600" y="1485900"/>
          <a:ext cx="10896600" cy="3962400"/>
        </p:xfrm>
        <a:graphic>
          <a:graphicData uri="http://schemas.openxmlformats.org/drawingml/2006/table">
            <a:tbl>
              <a:tblPr firstRow="0" bandRow="0" firstCol="0" lastRow="0" lastCol="0" bandCol="0">
                <a:tableStyleId>{2D5ABB26-0587-4C30-8999-92F81FD0307C}</a:tableStyleId>
              </a:tblPr>
              <a:tblGrid>
                <a:gridCol w="3276600"/>
                <a:gridCol w="2019300"/>
                <a:gridCol w="1257300"/>
                <a:gridCol w="1066800"/>
                <a:gridCol w="1752600"/>
                <a:gridCol w="1524000"/>
              </a:tblGrid>
              <a:tr h="495300">
                <a:tc>
                  <a:txBody>
                    <a:bodyPr/>
                    <a:lstStyle/>
                    <a:p>
                      <a:pPr algn="l" marL="0" indent="0">
                        <a:lnSpc>
                          <a:spcPts val="1650"/>
                        </a:lnSpc>
                        <a:spcBef>
                          <a:spcPts val="0"/>
                        </a:spcBef>
                        <a:spcAft>
                          <a:spcPts val="0"/>
                        </a:spcAft>
                        <a:buNone/>
                      </a:pPr>
                      <a:r>
                        <a:rPr lang="en-US" sz="1200" b="0" i="0" kern="0" dirty="0" spc="-21">
                          <a:solidFill>
                            <a:srgbClr val="16213E"/>
                          </a:solidFill>
                          <a:latin typeface="Geist SemiBold" pitchFamily="2" charset="0"/>
                          <a:ea typeface="Geist SemiBold" pitchFamily="2" charset="0"/>
                          <a:cs typeface="Geist SemiBold" pitchFamily="2" charset="0"/>
                        </a:rPr>
                        <a:t>Method</a:t>
                      </a:r>
                      <a:endParaRPr lang="en-US" sz="1200" b="0" i="0" kern="0" dirty="0" spc="-21">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6">
                          <a:solidFill>
                            <a:srgbClr val="16213E"/>
                          </a:solidFill>
                          <a:latin typeface="Geist SemiBold" pitchFamily="2" charset="0"/>
                          <a:ea typeface="Geist SemiBold" pitchFamily="2" charset="0"/>
                          <a:cs typeface="Geist SemiBold" pitchFamily="2" charset="0"/>
                        </a:rPr>
                        <a:t>Price history</a:t>
                      </a:r>
                      <a:endParaRPr lang="en-US" sz="1200" b="0" i="0" kern="0" dirty="0" spc="-16">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16213E"/>
                          </a:solidFill>
                          <a:latin typeface="Geist SemiBold" pitchFamily="2" charset="0"/>
                          <a:ea typeface="Geist SemiBold" pitchFamily="2" charset="0"/>
                          <a:cs typeface="Geist SemiBold" pitchFamily="2" charset="0"/>
                        </a:rPr>
                        <a:t>Real dates</a:t>
                      </a:r>
                      <a:endParaRPr lang="en-US" sz="1200" b="0" i="0" kern="0" dirty="0" spc="-18">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1">
                          <a:solidFill>
                            <a:srgbClr val="16213E"/>
                          </a:solidFill>
                          <a:latin typeface="Geist SemiBold" pitchFamily="2" charset="0"/>
                          <a:ea typeface="Geist SemiBold" pitchFamily="2" charset="0"/>
                          <a:cs typeface="Geist SemiBold" pitchFamily="2" charset="0"/>
                        </a:rPr>
                        <a:t>Place</a:t>
                      </a:r>
                      <a:endParaRPr lang="en-US" sz="1200" b="0" i="0" kern="0" dirty="0" spc="-11">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21">
                          <a:solidFill>
                            <a:srgbClr val="16213E"/>
                          </a:solidFill>
                          <a:latin typeface="Geist SemiBold" pitchFamily="2" charset="0"/>
                          <a:ea typeface="Geist SemiBold" pitchFamily="2" charset="0"/>
                          <a:cs typeface="Geist SemiBold" pitchFamily="2" charset="0"/>
                        </a:rPr>
                        <a:t>Mortgage rate</a:t>
                      </a:r>
                      <a:endParaRPr lang="en-US" sz="1200" b="0" i="0" kern="0" dirty="0" spc="-21">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2">
                          <a:solidFill>
                            <a:srgbClr val="16213E"/>
                          </a:solidFill>
                          <a:latin typeface="Geist SemiBold" pitchFamily="2" charset="0"/>
                          <a:ea typeface="Geist SemiBold" pitchFamily="2" charset="0"/>
                          <a:cs typeface="Geist SemiBold" pitchFamily="2" charset="0"/>
                        </a:rPr>
                        <a:t>Jobs</a:t>
                      </a:r>
                      <a:endParaRPr lang="en-US" sz="1200" b="0" i="0" kern="0" dirty="0" spc="-12">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19050" cap="flat" cmpd="sng" algn="ctr">
                      <a:solidFill>
                        <a:srgbClr val="16213E"/>
                      </a:solidFill>
                      <a:prstDash val="solid"/>
                    </a:lnT>
                    <a:lnB w="9525" cap="flat" cmpd="sng" algn="ctr">
                      <a:solidFill>
                        <a:srgbClr val="16213E"/>
                      </a:solidFill>
                      <a:prstDash val="solid"/>
                    </a:lnB>
                    <a:noFill/>
                  </a:tcPr>
                </a:tc>
              </a:tr>
              <a:tr h="495300">
                <a:tc>
                  <a:txBody>
                    <a:bodyPr/>
                    <a:lstStyle/>
                    <a:p>
                      <a:pPr algn="l" marL="0" indent="0">
                        <a:lnSpc>
                          <a:spcPts val="1650"/>
                        </a:lnSpc>
                        <a:spcBef>
                          <a:spcPts val="0"/>
                        </a:spcBef>
                        <a:spcAft>
                          <a:spcPts val="0"/>
                        </a:spcAft>
                        <a:buNone/>
                      </a:pPr>
                      <a:r>
                        <a:rPr lang="en-US" sz="1200" b="0" i="0" kern="0" dirty="0" spc="-9">
                          <a:solidFill>
                            <a:srgbClr val="3D4A5C"/>
                          </a:solidFill>
                          <a:latin typeface="Geist" pitchFamily="2" charset="0"/>
                          <a:ea typeface="Geist" pitchFamily="2" charset="0"/>
                          <a:cs typeface="Geist" pitchFamily="2" charset="0"/>
                        </a:rPr>
                        <a:t>ARIMA, naive drift, ML models</a:t>
                      </a:r>
                      <a:endParaRPr lang="en-US" sz="1200" b="0" i="0" kern="0" dirty="0" spc="-9">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3">
                          <a:solidFill>
                            <a:srgbClr val="3D4A5C"/>
                          </a:solidFill>
                          <a:latin typeface="Geist" pitchFamily="2" charset="0"/>
                          <a:ea typeface="Geist" pitchFamily="2" charset="0"/>
                          <a:cs typeface="Geist" pitchFamily="2" charset="0"/>
                        </a:rPr>
                        <a:t>2000 to forecast date</a:t>
                      </a:r>
                      <a:endParaRPr lang="en-US" sz="1200" b="0" i="0" kern="0" dirty="0" spc="-13">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r>
              <a:tr h="495300">
                <a:tc>
                  <a:txBody>
                    <a:bodyPr/>
                    <a:lstStyle/>
                    <a:p>
                      <a:pPr algn="l" marL="0" indent="0">
                        <a:lnSpc>
                          <a:spcPts val="1650"/>
                        </a:lnSpc>
                        <a:spcBef>
                          <a:spcPts val="0"/>
                        </a:spcBef>
                        <a:spcAft>
                          <a:spcPts val="0"/>
                        </a:spcAft>
                        <a:buNone/>
                      </a:pPr>
                      <a:r>
                        <a:rPr lang="en-US" sz="1200" b="0" i="0" kern="0" dirty="0" spc="-12">
                          <a:solidFill>
                            <a:srgbClr val="3D4A5C"/>
                          </a:solidFill>
                          <a:latin typeface="Geist" pitchFamily="2" charset="0"/>
                          <a:ea typeface="Geist" pitchFamily="2" charset="0"/>
                          <a:cs typeface="Geist" pitchFamily="2" charset="0"/>
                        </a:rPr>
                        <a:t>ARIMAX</a:t>
                      </a:r>
                      <a:endParaRPr lang="en-US" sz="1200" b="0" i="0" kern="0" dirty="0" spc="-12">
                        <a:solidFill>
                          <a:srgbClr val="3D4A5C"/>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3">
                          <a:solidFill>
                            <a:srgbClr val="3D4A5C"/>
                          </a:solidFill>
                          <a:latin typeface="Geist" pitchFamily="2" charset="0"/>
                          <a:ea typeface="Geist" pitchFamily="2" charset="0"/>
                          <a:cs typeface="Geist" pitchFamily="2" charset="0"/>
                        </a:rPr>
                        <a:t>2000 to forecast date</a:t>
                      </a:r>
                      <a:endParaRPr lang="en-US" sz="1200" b="0" i="0" kern="0" dirty="0" spc="-13">
                        <a:solidFill>
                          <a:srgbClr val="3D4A5C"/>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4">
                          <a:solidFill>
                            <a:srgbClr val="16213E"/>
                          </a:solidFill>
                          <a:latin typeface="Geist SemiBold" pitchFamily="2" charset="0"/>
                          <a:ea typeface="Geist SemiBold" pitchFamily="2" charset="0"/>
                          <a:cs typeface="Geist SemiBold" pitchFamily="2" charset="0"/>
                        </a:rPr>
                        <a:t>yes, lag 24</a:t>
                      </a:r>
                      <a:endParaRPr lang="en-US" sz="1200" b="0" i="0" kern="0" dirty="0" spc="-14">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r>
              <a:tr h="495300">
                <a:tc>
                  <a:txBody>
                    <a:bodyPr/>
                    <a:lstStyle/>
                    <a:p>
                      <a:pPr algn="l" marL="0" indent="0">
                        <a:lnSpc>
                          <a:spcPts val="1650"/>
                        </a:lnSpc>
                        <a:spcBef>
                          <a:spcPts val="0"/>
                        </a:spcBef>
                        <a:spcAft>
                          <a:spcPts val="0"/>
                        </a:spcAft>
                        <a:buNone/>
                      </a:pPr>
                      <a:r>
                        <a:rPr lang="en-US" sz="1200" b="0" i="0" kern="0" dirty="0" spc="-8">
                          <a:solidFill>
                            <a:srgbClr val="3D4A5C"/>
                          </a:solidFill>
                          <a:latin typeface="Geist" pitchFamily="2" charset="0"/>
                          <a:ea typeface="Geist" pitchFamily="2" charset="0"/>
                          <a:cs typeface="Geist" pitchFamily="2" charset="0"/>
                        </a:rPr>
                        <a:t>ARIMAX + jobs</a:t>
                      </a:r>
                      <a:endParaRPr lang="en-US" sz="1200" b="0" i="0" kern="0" dirty="0" spc="-8">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3">
                          <a:solidFill>
                            <a:srgbClr val="3D4A5C"/>
                          </a:solidFill>
                          <a:latin typeface="Geist" pitchFamily="2" charset="0"/>
                          <a:ea typeface="Geist" pitchFamily="2" charset="0"/>
                          <a:cs typeface="Geist" pitchFamily="2" charset="0"/>
                        </a:rPr>
                        <a:t>2000 to forecast date</a:t>
                      </a:r>
                      <a:endParaRPr lang="en-US" sz="1200" b="0" i="0" kern="0" dirty="0" spc="-13">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4">
                          <a:solidFill>
                            <a:srgbClr val="16213E"/>
                          </a:solidFill>
                          <a:latin typeface="Geist SemiBold" pitchFamily="2" charset="0"/>
                          <a:ea typeface="Geist SemiBold" pitchFamily="2" charset="0"/>
                          <a:cs typeface="Geist SemiBold" pitchFamily="2" charset="0"/>
                        </a:rPr>
                        <a:t>yes, lag 24</a:t>
                      </a:r>
                      <a:endParaRPr lang="en-US" sz="1200" b="0" i="0" kern="0" dirty="0" spc="-14">
                        <a:solidFill>
                          <a:srgbClr val="16213E"/>
                        </a:solidFill>
                        <a:latin typeface="Geist SemiBold" pitchFamily="2" charset="0"/>
                        <a:ea typeface="Geist SemiBold" pitchFamily="2" charset="0"/>
                        <a:cs typeface="Geist SemiBold"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0">
                          <a:solidFill>
                            <a:srgbClr val="16213E"/>
                          </a:solidFill>
                          <a:latin typeface="Geist SemiBold" pitchFamily="2" charset="0"/>
                          <a:ea typeface="Geist SemiBold" pitchFamily="2" charset="0"/>
                          <a:cs typeface="Geist SemiBold" pitchFamily="2" charset="0"/>
                        </a:rPr>
                        <a:t>yes, lag 12</a:t>
                      </a:r>
                      <a:endParaRPr lang="en-US" sz="1200" b="0" i="0" kern="0" dirty="0" spc="-10">
                        <a:solidFill>
                          <a:srgbClr val="16213E"/>
                        </a:solidFill>
                        <a:latin typeface="Geist SemiBold" pitchFamily="2" charset="0"/>
                        <a:ea typeface="Geist SemiBold" pitchFamily="2" charset="0"/>
                        <a:cs typeface="Geist SemiBold"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r>
              <a:tr h="495300">
                <a:tc>
                  <a:txBody>
                    <a:bodyPr/>
                    <a:lstStyle/>
                    <a:p>
                      <a:pPr algn="l" marL="0" indent="0">
                        <a:lnSpc>
                          <a:spcPts val="1650"/>
                        </a:lnSpc>
                        <a:spcBef>
                          <a:spcPts val="0"/>
                        </a:spcBef>
                        <a:spcAft>
                          <a:spcPts val="0"/>
                        </a:spcAft>
                        <a:buNone/>
                      </a:pPr>
                      <a:r>
                        <a:rPr lang="en-US" sz="1200" b="0" i="0" kern="0" dirty="0" spc="-12">
                          <a:solidFill>
                            <a:srgbClr val="3D4A5C"/>
                          </a:solidFill>
                          <a:latin typeface="Geist" pitchFamily="2" charset="0"/>
                          <a:ea typeface="Geist" pitchFamily="2" charset="0"/>
                          <a:cs typeface="Geist" pitchFamily="2" charset="0"/>
                        </a:rPr>
                        <a:t>AI, named prompt</a:t>
                      </a:r>
                      <a:endParaRPr lang="en-US" sz="1200" b="0" i="0" kern="0" dirty="0" spc="-12">
                        <a:solidFill>
                          <a:srgbClr val="3D4A5C"/>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3">
                          <a:solidFill>
                            <a:srgbClr val="3D4A5C"/>
                          </a:solidFill>
                          <a:latin typeface="Geist" pitchFamily="2" charset="0"/>
                          <a:ea typeface="Geist" pitchFamily="2" charset="0"/>
                          <a:cs typeface="Geist" pitchFamily="2" charset="0"/>
                        </a:rPr>
                        <a:t>2000 to forecast date</a:t>
                      </a:r>
                      <a:endParaRPr lang="en-US" sz="1200" b="0" i="0" kern="0" dirty="0" spc="-13">
                        <a:solidFill>
                          <a:srgbClr val="3D4A5C"/>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26">
                          <a:solidFill>
                            <a:srgbClr val="16213E"/>
                          </a:solidFill>
                          <a:latin typeface="Geist SemiBold" pitchFamily="2" charset="0"/>
                          <a:ea typeface="Geist SemiBold" pitchFamily="2" charset="0"/>
                          <a:cs typeface="Geist SemiBold" pitchFamily="2" charset="0"/>
                        </a:rPr>
                        <a:t>yes</a:t>
                      </a:r>
                      <a:endParaRPr lang="en-US" sz="1200" b="0" i="0" kern="0" dirty="0" spc="-26">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26">
                          <a:solidFill>
                            <a:srgbClr val="16213E"/>
                          </a:solidFill>
                          <a:latin typeface="Geist SemiBold" pitchFamily="2" charset="0"/>
                          <a:ea typeface="Geist SemiBold" pitchFamily="2" charset="0"/>
                          <a:cs typeface="Geist SemiBold" pitchFamily="2" charset="0"/>
                        </a:rPr>
                        <a:t>yes</a:t>
                      </a:r>
                      <a:endParaRPr lang="en-US" sz="1200" b="0" i="0" kern="0" dirty="0" spc="-26">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26">
                          <a:solidFill>
                            <a:srgbClr val="16213E"/>
                          </a:solidFill>
                          <a:latin typeface="Geist SemiBold" pitchFamily="2" charset="0"/>
                          <a:ea typeface="Geist SemiBold" pitchFamily="2" charset="0"/>
                          <a:cs typeface="Geist SemiBold" pitchFamily="2" charset="0"/>
                        </a:rPr>
                        <a:t>yes</a:t>
                      </a:r>
                      <a:endParaRPr lang="en-US" sz="1200" b="0" i="0" kern="0" dirty="0" spc="-26">
                        <a:solidFill>
                          <a:srgbClr val="16213E"/>
                        </a:solidFill>
                        <a:latin typeface="Geist SemiBold" pitchFamily="2" charset="0"/>
                        <a:ea typeface="Geist SemiBold" pitchFamily="2" charset="0"/>
                        <a:cs typeface="Geist SemiBold"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r>
              <a:tr h="495300">
                <a:tc>
                  <a:txBody>
                    <a:bodyPr/>
                    <a:lstStyle/>
                    <a:p>
                      <a:pPr algn="l" marL="0" indent="0">
                        <a:lnSpc>
                          <a:spcPts val="1650"/>
                        </a:lnSpc>
                        <a:spcBef>
                          <a:spcPts val="0"/>
                        </a:spcBef>
                        <a:spcAft>
                          <a:spcPts val="0"/>
                        </a:spcAft>
                        <a:buNone/>
                      </a:pPr>
                      <a:r>
                        <a:rPr lang="en-US" sz="1200" b="0" i="0" kern="0" dirty="0" spc="-10">
                          <a:solidFill>
                            <a:srgbClr val="3D4A5C"/>
                          </a:solidFill>
                          <a:latin typeface="Geist" pitchFamily="2" charset="0"/>
                          <a:ea typeface="Geist" pitchFamily="2" charset="0"/>
                          <a:cs typeface="Geist" pitchFamily="2" charset="0"/>
                        </a:rPr>
                        <a:t>AI, blind prompt</a:t>
                      </a:r>
                      <a:endParaRPr lang="en-US" sz="1200" b="0" i="0" kern="0" dirty="0" spc="-10">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3">
                          <a:solidFill>
                            <a:srgbClr val="3D4A5C"/>
                          </a:solidFill>
                          <a:latin typeface="Geist" pitchFamily="2" charset="0"/>
                          <a:ea typeface="Geist" pitchFamily="2" charset="0"/>
                          <a:cs typeface="Geist" pitchFamily="2" charset="0"/>
                        </a:rPr>
                        <a:t>2000 to forecast date</a:t>
                      </a:r>
                      <a:endParaRPr lang="en-US" sz="1200" b="0" i="0" kern="0" dirty="0" spc="-13">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26">
                          <a:solidFill>
                            <a:srgbClr val="16213E"/>
                          </a:solidFill>
                          <a:latin typeface="Geist SemiBold" pitchFamily="2" charset="0"/>
                          <a:ea typeface="Geist SemiBold" pitchFamily="2" charset="0"/>
                          <a:cs typeface="Geist SemiBold" pitchFamily="2" charset="0"/>
                        </a:rPr>
                        <a:t>yes</a:t>
                      </a:r>
                      <a:endParaRPr lang="en-US" sz="1200" b="0" i="0" kern="0" dirty="0" spc="-26">
                        <a:solidFill>
                          <a:srgbClr val="16213E"/>
                        </a:solidFill>
                        <a:latin typeface="Geist SemiBold" pitchFamily="2" charset="0"/>
                        <a:ea typeface="Geist SemiBold" pitchFamily="2" charset="0"/>
                        <a:cs typeface="Geist SemiBold"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9525" cap="flat" cmpd="sng" algn="ctr">
                      <a:solidFill>
                        <a:srgbClr val="D9D4CA"/>
                      </a:solidFill>
                      <a:prstDash val="solid"/>
                    </a:lnB>
                    <a:noFill/>
                  </a:tcPr>
                </a:tc>
              </a:tr>
              <a:tr h="495300">
                <a:tc>
                  <a:txBody>
                    <a:bodyPr/>
                    <a:lstStyle/>
                    <a:p>
                      <a:pPr algn="l" marL="0" indent="0">
                        <a:lnSpc>
                          <a:spcPts val="1650"/>
                        </a:lnSpc>
                        <a:spcBef>
                          <a:spcPts val="0"/>
                        </a:spcBef>
                        <a:spcAft>
                          <a:spcPts val="0"/>
                        </a:spcAft>
                        <a:buNone/>
                      </a:pPr>
                      <a:r>
                        <a:rPr lang="en-US" sz="1200" b="0" i="0" kern="0" dirty="0" spc="-15">
                          <a:solidFill>
                            <a:srgbClr val="3D4A5C"/>
                          </a:solidFill>
                          <a:latin typeface="Geist" pitchFamily="2" charset="0"/>
                          <a:ea typeface="Geist" pitchFamily="2" charset="0"/>
                          <a:cs typeface="Geist" pitchFamily="2" charset="0"/>
                        </a:rPr>
                        <a:t>AI, masked prompt</a:t>
                      </a:r>
                      <a:endParaRPr lang="en-US" sz="1200" b="0" i="0" kern="0" dirty="0" spc="-15">
                        <a:solidFill>
                          <a:srgbClr val="3D4A5C"/>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3">
                          <a:solidFill>
                            <a:srgbClr val="3D4A5C"/>
                          </a:solidFill>
                          <a:latin typeface="Geist" pitchFamily="2" charset="0"/>
                          <a:ea typeface="Geist" pitchFamily="2" charset="0"/>
                          <a:cs typeface="Geist" pitchFamily="2" charset="0"/>
                        </a:rPr>
                        <a:t>last 10 years</a:t>
                      </a:r>
                      <a:endParaRPr lang="en-US" sz="1200" b="0" i="0" kern="0" dirty="0" spc="-13">
                        <a:solidFill>
                          <a:srgbClr val="3D4A5C"/>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5240" anchor="ctr">
                    <a:lnL w="0">
                      <a:noFill/>
                    </a:lnL>
                    <a:lnR w="0">
                      <a:noFill/>
                    </a:lnR>
                    <a:lnT w="0">
                      <a:noFill/>
                    </a:lnT>
                    <a:lnB w="9525" cap="flat" cmpd="sng" algn="ctr">
                      <a:solidFill>
                        <a:srgbClr val="D9D4CA"/>
                      </a:solidFill>
                      <a:prstDash val="solid"/>
                    </a:lnB>
                    <a:noFill/>
                  </a:tcPr>
                </a:tc>
              </a:tr>
              <a:tr h="495300">
                <a:tc>
                  <a:txBody>
                    <a:bodyPr/>
                    <a:lstStyle/>
                    <a:p>
                      <a:pPr algn="l" marL="0" indent="0">
                        <a:lnSpc>
                          <a:spcPts val="1650"/>
                        </a:lnSpc>
                        <a:spcBef>
                          <a:spcPts val="0"/>
                        </a:spcBef>
                        <a:spcAft>
                          <a:spcPts val="0"/>
                        </a:spcAft>
                        <a:buNone/>
                      </a:pPr>
                      <a:r>
                        <a:rPr lang="en-US" sz="1200" b="0" i="0" kern="0" dirty="0" spc="-11">
                          <a:solidFill>
                            <a:srgbClr val="3D4A5C"/>
                          </a:solidFill>
                          <a:latin typeface="Geist" pitchFamily="2" charset="0"/>
                          <a:ea typeface="Geist" pitchFamily="2" charset="0"/>
                          <a:cs typeface="Geist" pitchFamily="2" charset="0"/>
                        </a:rPr>
                        <a:t>AI, masked, all history (Claude only)</a:t>
                      </a:r>
                      <a:endParaRPr lang="en-US" sz="1200" b="0" i="0" kern="0" dirty="0" spc="-11">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19050"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3">
                          <a:solidFill>
                            <a:srgbClr val="3D4A5C"/>
                          </a:solidFill>
                          <a:latin typeface="Geist" pitchFamily="2" charset="0"/>
                          <a:ea typeface="Geist" pitchFamily="2" charset="0"/>
                          <a:cs typeface="Geist" pitchFamily="2" charset="0"/>
                        </a:rPr>
                        <a:t>2000 to forecast date</a:t>
                      </a:r>
                      <a:endParaRPr lang="en-US" sz="1200" b="0" i="0" kern="0" dirty="0" spc="-13">
                        <a:solidFill>
                          <a:srgbClr val="3D4A5C"/>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19050"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19050"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19050"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19050" cap="flat" cmpd="sng" algn="ctr">
                      <a:solidFill>
                        <a:srgbClr val="16213E"/>
                      </a:solidFill>
                      <a:prstDash val="solid"/>
                    </a:lnB>
                    <a:noFill/>
                  </a:tcPr>
                </a:tc>
                <a:tc>
                  <a:txBody>
                    <a:bodyPr/>
                    <a:lstStyle/>
                    <a:p>
                      <a:pPr algn="l" marL="0" indent="0">
                        <a:lnSpc>
                          <a:spcPts val="1650"/>
                        </a:lnSpc>
                        <a:spcBef>
                          <a:spcPts val="0"/>
                        </a:spcBef>
                        <a:spcAft>
                          <a:spcPts val="0"/>
                        </a:spcAft>
                        <a:buNone/>
                      </a:pPr>
                      <a:r>
                        <a:rPr lang="en-US" sz="1200" b="0" i="0" kern="0" dirty="0" spc="-18">
                          <a:solidFill>
                            <a:srgbClr val="4F5560"/>
                          </a:solidFill>
                          <a:latin typeface="Geist" pitchFamily="2" charset="0"/>
                          <a:ea typeface="Geist" pitchFamily="2" charset="0"/>
                          <a:cs typeface="Geist" pitchFamily="2" charset="0"/>
                        </a:rPr>
                        <a:t>no</a:t>
                      </a:r>
                      <a:endParaRPr lang="en-US" sz="1200" b="0" i="0" kern="0" dirty="0" spc="-18">
                        <a:solidFill>
                          <a:srgbClr val="4F5560"/>
                        </a:solidFill>
                        <a:latin typeface="Geist" pitchFamily="2" charset="0"/>
                        <a:ea typeface="Geist" pitchFamily="2" charset="0"/>
                        <a:cs typeface="Geist" pitchFamily="2" charset="0"/>
                      </a:endParaRPr>
                    </a:p>
                  </a:txBody>
                  <a:tcPr marL="114300" marR="114300" marT="0" marB="12192" anchor="ctr">
                    <a:lnL w="0">
                      <a:noFill/>
                    </a:lnL>
                    <a:lnR w="0">
                      <a:noFill/>
                    </a:lnR>
                    <a:lnT w="0">
                      <a:noFill/>
                    </a:lnT>
                    <a:lnB w="19050" cap="flat" cmpd="sng" algn="ctr">
                      <a:solidFill>
                        <a:srgbClr val="16213E"/>
                      </a:solidFill>
                      <a:prstDash val="solid"/>
                    </a:lnB>
                    <a:noFill/>
                  </a:tcPr>
                </a:tc>
              </a:tr>
            </a:tbl>
          </a:graphicData>
        </a:graphic>
      </p:graphicFrame>
      <p:sp>
        <p:nvSpPr>
          <p:cNvPr id="6"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7" name="Text: 11"/>
          <p:cNvSpPr txBox="1"/>
          <p:nvPr/>
        </p:nvSpPr>
        <p:spPr>
          <a:xfrm>
            <a:off x="10549128"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spc="-33">
                <a:solidFill>
                  <a:srgbClr val="4F5560"/>
                </a:solidFill>
                <a:latin typeface="Geist Medium" pitchFamily="2" charset="0"/>
                <a:ea typeface="Geist Medium" pitchFamily="2" charset="0"/>
                <a:cs typeface="Geist Medium" pitchFamily="2" charset="0"/>
              </a:rPr>
              <a:t>11</a:t>
            </a:r>
            <a:endParaRPr lang="en-US" sz="900" b="0" i="0" kern="0" dirty="0" spc="-33">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The 14 models in one line each"/>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66">
                <a:solidFill>
                  <a:srgbClr val="16213E"/>
                </a:solidFill>
                <a:latin typeface="Outfit SemiBold" pitchFamily="2" charset="0"/>
                <a:ea typeface="Outfit SemiBold" pitchFamily="2" charset="0"/>
                <a:cs typeface="Outfit SemiBold" pitchFamily="2" charset="0"/>
              </a:rPr>
              <a:t>The 14 models in one line each</a:t>
            </a:r>
            <a:endParaRPr lang="en-US" sz="2700" b="0" i="0" kern="0" dirty="0" spc="-66">
              <a:solidFill>
                <a:srgbClr val="16213E"/>
              </a:solidFill>
              <a:latin typeface="Outfit SemiBold" pitchFamily="2" charset="0"/>
              <a:ea typeface="Outfit SemiBold" pitchFamily="2" charset="0"/>
              <a:cs typeface="Outfit SemiBold" pitchFamily="2" charset="0"/>
            </a:endParaRPr>
          </a:p>
        </p:txBody>
      </p:sp>
      <p:sp>
        <p:nvSpPr>
          <p:cNvPr id="3" name="Text: Appendix A2 · Models"/>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Appendix A2 · Models</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graphicFrame>
        <p:nvGraphicFramePr>
          <p:cNvPr id="5" name="Table"/>
          <p:cNvGraphicFramePr>
            <a:graphicFrameLocks noGrp="1"/>
          </p:cNvGraphicFramePr>
          <p:nvPr/>
        </p:nvGraphicFramePr>
        <p:xfrm>
          <a:off x="609600" y="1447800"/>
          <a:ext cx="10896600" cy="4714875"/>
        </p:xfrm>
        <a:graphic>
          <a:graphicData uri="http://schemas.openxmlformats.org/drawingml/2006/table">
            <a:tbl>
              <a:tblPr firstRow="0" bandRow="0" firstCol="0" lastRow="0" lastCol="0" bandCol="0">
                <a:tableStyleId>{2D5ABB26-0587-4C30-8999-92F81FD0307C}</a:tableStyleId>
              </a:tblPr>
              <a:tblGrid>
                <a:gridCol w="2152650"/>
                <a:gridCol w="1257300"/>
                <a:gridCol w="7486650"/>
              </a:tblGrid>
              <a:tr h="314325">
                <a:tc>
                  <a:txBody>
                    <a:bodyPr/>
                    <a:lstStyle/>
                    <a:p>
                      <a:pPr algn="l" marL="0" indent="0">
                        <a:lnSpc>
                          <a:spcPts val="1350"/>
                        </a:lnSpc>
                        <a:spcBef>
                          <a:spcPts val="0"/>
                        </a:spcBef>
                        <a:spcAft>
                          <a:spcPts val="0"/>
                        </a:spcAft>
                        <a:buNone/>
                      </a:pPr>
                      <a:r>
                        <a:rPr lang="en-US" sz="1012" b="0" i="0" kern="0" dirty="0" spc="-7">
                          <a:solidFill>
                            <a:srgbClr val="16213E"/>
                          </a:solidFill>
                          <a:latin typeface="Geist SemiBold" pitchFamily="2" charset="0"/>
                          <a:ea typeface="Geist SemiBold" pitchFamily="2" charset="0"/>
                          <a:cs typeface="Geist SemiBold" pitchFamily="2" charset="0"/>
                        </a:rPr>
                        <a:t>Model</a:t>
                      </a:r>
                      <a:endParaRPr lang="en-US" sz="1012" b="0" i="0" kern="0" dirty="0" spc="-7">
                        <a:solidFill>
                          <a:srgbClr val="16213E"/>
                        </a:solidFill>
                        <a:latin typeface="Geist SemiBold" pitchFamily="2" charset="0"/>
                        <a:ea typeface="Geist SemiBold" pitchFamily="2" charset="0"/>
                        <a:cs typeface="Geist SemiBold" pitchFamily="2" charset="0"/>
                      </a:endParaRPr>
                    </a:p>
                  </a:txBody>
                  <a:tcPr marL="114300" marR="114300" marT="990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350"/>
                        </a:lnSpc>
                        <a:spcBef>
                          <a:spcPts val="0"/>
                        </a:spcBef>
                        <a:spcAft>
                          <a:spcPts val="0"/>
                        </a:spcAft>
                        <a:buNone/>
                      </a:pPr>
                      <a:r>
                        <a:rPr lang="en-US" sz="1012" b="0" i="0" kern="0" dirty="0" spc="-13">
                          <a:solidFill>
                            <a:srgbClr val="16213E"/>
                          </a:solidFill>
                          <a:latin typeface="Geist SemiBold" pitchFamily="2" charset="0"/>
                          <a:ea typeface="Geist SemiBold" pitchFamily="2" charset="0"/>
                          <a:cs typeface="Geist SemiBold" pitchFamily="2" charset="0"/>
                        </a:rPr>
                        <a:t>Family</a:t>
                      </a:r>
                      <a:endParaRPr lang="en-US" sz="1012" b="0" i="0" kern="0" dirty="0" spc="-13">
                        <a:solidFill>
                          <a:srgbClr val="16213E"/>
                        </a:solidFill>
                        <a:latin typeface="Geist SemiBold" pitchFamily="2" charset="0"/>
                        <a:ea typeface="Geist SemiBold" pitchFamily="2" charset="0"/>
                        <a:cs typeface="Geist SemiBold" pitchFamily="2" charset="0"/>
                      </a:endParaRPr>
                    </a:p>
                  </a:txBody>
                  <a:tcPr marL="114300" marR="114300" marT="990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350"/>
                        </a:lnSpc>
                        <a:spcBef>
                          <a:spcPts val="0"/>
                        </a:spcBef>
                        <a:spcAft>
                          <a:spcPts val="0"/>
                        </a:spcAft>
                        <a:buNone/>
                      </a:pPr>
                      <a:r>
                        <a:rPr lang="en-US" sz="1012" b="0" i="0" kern="0" dirty="0" spc="-3">
                          <a:solidFill>
                            <a:srgbClr val="16213E"/>
                          </a:solidFill>
                          <a:latin typeface="Geist SemiBold" pitchFamily="2" charset="0"/>
                          <a:ea typeface="Geist SemiBold" pitchFamily="2" charset="0"/>
                          <a:cs typeface="Geist SemiBold" pitchFamily="2" charset="0"/>
                        </a:rPr>
                        <a:t>In one line</a:t>
                      </a:r>
                      <a:endParaRPr lang="en-US" sz="1012" b="0" i="0" kern="0" dirty="0" spc="-3">
                        <a:solidFill>
                          <a:srgbClr val="16213E"/>
                        </a:solidFill>
                        <a:latin typeface="Geist SemiBold" pitchFamily="2" charset="0"/>
                        <a:ea typeface="Geist SemiBold" pitchFamily="2" charset="0"/>
                        <a:cs typeface="Geist SemiBold" pitchFamily="2" charset="0"/>
                      </a:endParaRPr>
                    </a:p>
                  </a:txBody>
                  <a:tcPr marL="114300" marR="114300" marT="990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r>
              <a:tr h="314325">
                <a:tc>
                  <a:txBody>
                    <a:bodyPr/>
                    <a:lstStyle/>
                    <a:p>
                      <a:pPr algn="l" marL="0" indent="0">
                        <a:lnSpc>
                          <a:spcPts val="1350"/>
                        </a:lnSpc>
                        <a:spcBef>
                          <a:spcPts val="0"/>
                        </a:spcBef>
                        <a:spcAft>
                          <a:spcPts val="0"/>
                        </a:spcAft>
                        <a:buNone/>
                      </a:pPr>
                      <a:r>
                        <a:rPr lang="en-US" sz="1012" b="0" i="0" kern="0" dirty="0" spc="-15">
                          <a:solidFill>
                            <a:srgbClr val="3D4A5C"/>
                          </a:solidFill>
                          <a:latin typeface="Geist" pitchFamily="2" charset="0"/>
                          <a:ea typeface="Geist" pitchFamily="2" charset="0"/>
                          <a:cs typeface="Geist" pitchFamily="2" charset="0"/>
                        </a:rPr>
                        <a:t>Naive drift</a:t>
                      </a:r>
                      <a:endParaRPr lang="en-US" sz="1012" b="0" i="0" kern="0" dirty="0" spc="-15">
                        <a:solidFill>
                          <a:srgbClr val="3D4A5C"/>
                        </a:solidFill>
                        <a:latin typeface="Geist" pitchFamily="2" charset="0"/>
                        <a:ea typeface="Geist" pitchFamily="2" charset="0"/>
                        <a:cs typeface="Geist" pitchFamily="2" charset="0"/>
                      </a:endParaRPr>
                    </a:p>
                  </a:txBody>
                  <a:tcPr marL="114300" marR="114300" marT="12192"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6">
                          <a:solidFill>
                            <a:srgbClr val="3D4A5C"/>
                          </a:solidFill>
                          <a:latin typeface="Geist" pitchFamily="2" charset="0"/>
                          <a:ea typeface="Geist" pitchFamily="2" charset="0"/>
                          <a:cs typeface="Geist" pitchFamily="2" charset="0"/>
                        </a:rPr>
                        <a:t>Baseline</a:t>
                      </a:r>
                      <a:endParaRPr lang="en-US" sz="1012" b="0" i="0" kern="0" dirty="0" spc="-6">
                        <a:solidFill>
                          <a:srgbClr val="3D4A5C"/>
                        </a:solidFill>
                        <a:latin typeface="Geist" pitchFamily="2" charset="0"/>
                        <a:ea typeface="Geist" pitchFamily="2" charset="0"/>
                        <a:cs typeface="Geist" pitchFamily="2" charset="0"/>
                      </a:endParaRPr>
                    </a:p>
                  </a:txBody>
                  <a:tcPr marL="114300" marR="114300" marT="12192"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0">
                          <a:solidFill>
                            <a:srgbClr val="3D4A5C"/>
                          </a:solidFill>
                          <a:latin typeface="Geist" pitchFamily="2" charset="0"/>
                          <a:ea typeface="Geist" pitchFamily="2" charset="0"/>
                          <a:cs typeface="Geist" pitchFamily="2" charset="0"/>
                        </a:rPr>
                        <a:t>Last value, grown at the average monthly growth since 2000 (a random walk with drift).</a:t>
                      </a:r>
                      <a:endParaRPr lang="en-US" sz="1012" b="0" i="0" kern="0" dirty="0" spc="-10">
                        <a:solidFill>
                          <a:srgbClr val="3D4A5C"/>
                        </a:solidFill>
                        <a:latin typeface="Geist" pitchFamily="2" charset="0"/>
                        <a:ea typeface="Geist" pitchFamily="2" charset="0"/>
                        <a:cs typeface="Geist" pitchFamily="2" charset="0"/>
                      </a:endParaRPr>
                    </a:p>
                  </a:txBody>
                  <a:tcPr marL="114300" marR="114300" marT="12192"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9">
                          <a:solidFill>
                            <a:srgbClr val="3D4A5C"/>
                          </a:solidFill>
                          <a:latin typeface="Geist" pitchFamily="2" charset="0"/>
                          <a:ea typeface="Geist" pitchFamily="2" charset="0"/>
                          <a:cs typeface="Geist" pitchFamily="2" charset="0"/>
                        </a:rPr>
                        <a:t>ARIMA</a:t>
                      </a:r>
                      <a:endParaRPr lang="en-US" sz="1012" b="0" i="0" kern="0" dirty="0" spc="-9">
                        <a:solidFill>
                          <a:srgbClr val="3D4A5C"/>
                        </a:solidFill>
                        <a:latin typeface="Geist" pitchFamily="2" charset="0"/>
                        <a:ea typeface="Geist" pitchFamily="2" charset="0"/>
                        <a:cs typeface="Geist" pitchFamily="2" charset="0"/>
                      </a:endParaRPr>
                    </a:p>
                  </a:txBody>
                  <a:tcPr marL="114300" marR="114300" marT="1447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7">
                          <a:solidFill>
                            <a:srgbClr val="3D4A5C"/>
                          </a:solidFill>
                          <a:latin typeface="Geist" pitchFamily="2" charset="0"/>
                          <a:ea typeface="Geist" pitchFamily="2" charset="0"/>
                          <a:cs typeface="Geist" pitchFamily="2" charset="0"/>
                        </a:rPr>
                        <a:t>Classical</a:t>
                      </a:r>
                      <a:endParaRPr lang="en-US" sz="1012" b="0" i="0" kern="0" dirty="0" spc="-7">
                        <a:solidFill>
                          <a:srgbClr val="3D4A5C"/>
                        </a:solidFill>
                        <a:latin typeface="Geist" pitchFamily="2" charset="0"/>
                        <a:ea typeface="Geist" pitchFamily="2" charset="0"/>
                        <a:cs typeface="Geist" pitchFamily="2" charset="0"/>
                      </a:endParaRPr>
                    </a:p>
                  </a:txBody>
                  <a:tcPr marL="114300" marR="114300" marT="1447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1">
                          <a:solidFill>
                            <a:srgbClr val="3D4A5C"/>
                          </a:solidFill>
                          <a:latin typeface="Geist" pitchFamily="2" charset="0"/>
                          <a:ea typeface="Geist" pitchFamily="2" charset="0"/>
                          <a:cs typeface="Geist" pitchFamily="2" charset="0"/>
                        </a:rPr>
                        <a:t>Forecasts from the series' own recent values and recent surprises, after differencing once; ARIMA(1,1,2) on log price.</a:t>
                      </a:r>
                      <a:endParaRPr lang="en-US" sz="1012" b="0" i="0" kern="0" dirty="0" spc="-11">
                        <a:solidFill>
                          <a:srgbClr val="3D4A5C"/>
                        </a:solidFill>
                        <a:latin typeface="Geist" pitchFamily="2" charset="0"/>
                        <a:ea typeface="Geist" pitchFamily="2" charset="0"/>
                        <a:cs typeface="Geist" pitchFamily="2" charset="0"/>
                      </a:endParaRPr>
                    </a:p>
                  </a:txBody>
                  <a:tcPr marL="114300" marR="114300" marT="14478"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9">
                          <a:solidFill>
                            <a:srgbClr val="3D4A5C"/>
                          </a:solidFill>
                          <a:latin typeface="Geist" pitchFamily="2" charset="0"/>
                          <a:ea typeface="Geist" pitchFamily="2" charset="0"/>
                          <a:cs typeface="Geist" pitchFamily="2" charset="0"/>
                        </a:rPr>
                        <a:t>Holt (damped)</a:t>
                      </a:r>
                      <a:endParaRPr lang="en-US" sz="1012" b="0" i="0" kern="0" dirty="0" spc="-9">
                        <a:solidFill>
                          <a:srgbClr val="3D4A5C"/>
                        </a:solidFill>
                        <a:latin typeface="Geist" pitchFamily="2" charset="0"/>
                        <a:ea typeface="Geist" pitchFamily="2" charset="0"/>
                        <a:cs typeface="Geist" pitchFamily="2" charset="0"/>
                      </a:endParaRPr>
                    </a:p>
                  </a:txBody>
                  <a:tcPr marL="114300" marR="114300" marT="1066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7">
                          <a:solidFill>
                            <a:srgbClr val="3D4A5C"/>
                          </a:solidFill>
                          <a:latin typeface="Geist" pitchFamily="2" charset="0"/>
                          <a:ea typeface="Geist" pitchFamily="2" charset="0"/>
                          <a:cs typeface="Geist" pitchFamily="2" charset="0"/>
                        </a:rPr>
                        <a:t>Classical</a:t>
                      </a:r>
                      <a:endParaRPr lang="en-US" sz="1012" b="0" i="0" kern="0" dirty="0" spc="-7">
                        <a:solidFill>
                          <a:srgbClr val="3D4A5C"/>
                        </a:solidFill>
                        <a:latin typeface="Geist" pitchFamily="2" charset="0"/>
                        <a:ea typeface="Geist" pitchFamily="2" charset="0"/>
                        <a:cs typeface="Geist" pitchFamily="2" charset="0"/>
                      </a:endParaRPr>
                    </a:p>
                  </a:txBody>
                  <a:tcPr marL="114300" marR="114300" marT="1066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0">
                          <a:solidFill>
                            <a:srgbClr val="3D4A5C"/>
                          </a:solidFill>
                          <a:latin typeface="Geist" pitchFamily="2" charset="0"/>
                          <a:ea typeface="Geist" pitchFamily="2" charset="0"/>
                          <a:cs typeface="Geist" pitchFamily="2" charset="0"/>
                        </a:rPr>
                        <a:t>Exponential smoothing of the level and trend, with the trend slowly flattening out.</a:t>
                      </a:r>
                      <a:endParaRPr lang="en-US" sz="1012" b="0" i="0" kern="0" dirty="0" spc="-10">
                        <a:solidFill>
                          <a:srgbClr val="3D4A5C"/>
                        </a:solidFill>
                        <a:latin typeface="Geist" pitchFamily="2" charset="0"/>
                        <a:ea typeface="Geist" pitchFamily="2" charset="0"/>
                        <a:cs typeface="Geist" pitchFamily="2" charset="0"/>
                      </a:endParaRPr>
                    </a:p>
                  </a:txBody>
                  <a:tcPr marL="114300" marR="114300" marT="10668"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17">
                          <a:solidFill>
                            <a:srgbClr val="3D4A5C"/>
                          </a:solidFill>
                          <a:latin typeface="Geist" pitchFamily="2" charset="0"/>
                          <a:ea typeface="Geist" pitchFamily="2" charset="0"/>
                          <a:cs typeface="Geist" pitchFamily="2" charset="0"/>
                        </a:rPr>
                        <a:t>Prophet</a:t>
                      </a:r>
                      <a:endParaRPr lang="en-US" sz="1012" b="0" i="0" kern="0" dirty="0" spc="-17">
                        <a:solidFill>
                          <a:srgbClr val="3D4A5C"/>
                        </a:solidFill>
                        <a:latin typeface="Geist" pitchFamily="2" charset="0"/>
                        <a:ea typeface="Geist" pitchFamily="2" charset="0"/>
                        <a:cs typeface="Geist" pitchFamily="2" charset="0"/>
                      </a:endParaRPr>
                    </a:p>
                  </a:txBody>
                  <a:tcPr marL="114300" marR="114300" marT="12954"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7">
                          <a:solidFill>
                            <a:srgbClr val="3D4A5C"/>
                          </a:solidFill>
                          <a:latin typeface="Geist" pitchFamily="2" charset="0"/>
                          <a:ea typeface="Geist" pitchFamily="2" charset="0"/>
                          <a:cs typeface="Geist" pitchFamily="2" charset="0"/>
                        </a:rPr>
                        <a:t>Classical</a:t>
                      </a:r>
                      <a:endParaRPr lang="en-US" sz="1012" b="0" i="0" kern="0" dirty="0" spc="-7">
                        <a:solidFill>
                          <a:srgbClr val="3D4A5C"/>
                        </a:solidFill>
                        <a:latin typeface="Geist" pitchFamily="2" charset="0"/>
                        <a:ea typeface="Geist" pitchFamily="2" charset="0"/>
                        <a:cs typeface="Geist" pitchFamily="2" charset="0"/>
                      </a:endParaRPr>
                    </a:p>
                  </a:txBody>
                  <a:tcPr marL="114300" marR="114300" marT="12954"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0">
                          <a:solidFill>
                            <a:srgbClr val="3D4A5C"/>
                          </a:solidFill>
                          <a:latin typeface="Geist" pitchFamily="2" charset="0"/>
                          <a:ea typeface="Geist" pitchFamily="2" charset="0"/>
                          <a:cs typeface="Geist" pitchFamily="2" charset="0"/>
                        </a:rPr>
                        <a:t>Meta's curve-fitting model: one smooth trend line plus changepoints; does not start from the latest value.</a:t>
                      </a:r>
                      <a:endParaRPr lang="en-US" sz="1012" b="0" i="0" kern="0" dirty="0" spc="-10">
                        <a:solidFill>
                          <a:srgbClr val="3D4A5C"/>
                        </a:solidFill>
                        <a:latin typeface="Geist" pitchFamily="2" charset="0"/>
                        <a:ea typeface="Geist" pitchFamily="2" charset="0"/>
                        <a:cs typeface="Geist" pitchFamily="2" charset="0"/>
                      </a:endParaRPr>
                    </a:p>
                  </a:txBody>
                  <a:tcPr marL="114300" marR="114300" marT="12954"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12">
                          <a:solidFill>
                            <a:srgbClr val="3D4A5C"/>
                          </a:solidFill>
                          <a:latin typeface="Geist" pitchFamily="2" charset="0"/>
                          <a:ea typeface="Geist" pitchFamily="2" charset="0"/>
                          <a:cs typeface="Geist" pitchFamily="2" charset="0"/>
                        </a:rPr>
                        <a:t>Prophet + COVID &amp; rates</a:t>
                      </a:r>
                      <a:endParaRPr lang="en-US" sz="1012" b="0" i="0" kern="0" dirty="0" spc="-12">
                        <a:solidFill>
                          <a:srgbClr val="3D4A5C"/>
                        </a:solidFill>
                        <a:latin typeface="Geist" pitchFamily="2" charset="0"/>
                        <a:ea typeface="Geist" pitchFamily="2" charset="0"/>
                        <a:cs typeface="Geist" pitchFamily="2" charset="0"/>
                      </a:endParaRPr>
                    </a:p>
                  </a:txBody>
                  <a:tcPr marL="114300" marR="114300" marT="15240"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7">
                          <a:solidFill>
                            <a:srgbClr val="3D4A5C"/>
                          </a:solidFill>
                          <a:latin typeface="Geist" pitchFamily="2" charset="0"/>
                          <a:ea typeface="Geist" pitchFamily="2" charset="0"/>
                          <a:cs typeface="Geist" pitchFamily="2" charset="0"/>
                        </a:rPr>
                        <a:t>Classical</a:t>
                      </a:r>
                      <a:endParaRPr lang="en-US" sz="1012" b="0" i="0" kern="0" dirty="0" spc="-7">
                        <a:solidFill>
                          <a:srgbClr val="3D4A5C"/>
                        </a:solidFill>
                        <a:latin typeface="Geist" pitchFamily="2" charset="0"/>
                        <a:ea typeface="Geist" pitchFamily="2" charset="0"/>
                        <a:cs typeface="Geist" pitchFamily="2" charset="0"/>
                      </a:endParaRPr>
                    </a:p>
                  </a:txBody>
                  <a:tcPr marL="114300" marR="114300" marT="15240"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9">
                          <a:solidFill>
                            <a:srgbClr val="3D4A5C"/>
                          </a:solidFill>
                          <a:latin typeface="Geist" pitchFamily="2" charset="0"/>
                          <a:ea typeface="Geist" pitchFamily="2" charset="0"/>
                          <a:cs typeface="Geist" pitchFamily="2" charset="0"/>
                        </a:rPr>
                        <a:t>Prophet with the 2020-22 boom marked as a one-off and the mortgage rate (lagged 24 months) added.</a:t>
                      </a:r>
                      <a:endParaRPr lang="en-US" sz="1012" b="0" i="0" kern="0" dirty="0" spc="-9">
                        <a:solidFill>
                          <a:srgbClr val="3D4A5C"/>
                        </a:solidFill>
                        <a:latin typeface="Geist" pitchFamily="2" charset="0"/>
                        <a:ea typeface="Geist" pitchFamily="2" charset="0"/>
                        <a:cs typeface="Geist" pitchFamily="2" charset="0"/>
                      </a:endParaRPr>
                    </a:p>
                  </a:txBody>
                  <a:tcPr marL="114300" marR="114300" marT="15240"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12">
                          <a:solidFill>
                            <a:srgbClr val="3D4A5C"/>
                          </a:solidFill>
                          <a:latin typeface="Geist" pitchFamily="2" charset="0"/>
                          <a:ea typeface="Geist" pitchFamily="2" charset="0"/>
                          <a:cs typeface="Geist" pitchFamily="2" charset="0"/>
                        </a:rPr>
                        <a:t>XGBoost</a:t>
                      </a:r>
                      <a:endParaRPr lang="en-US" sz="1012" b="0" i="0" kern="0" dirty="0" spc="-12">
                        <a:solidFill>
                          <a:srgbClr val="3D4A5C"/>
                        </a:solidFill>
                        <a:latin typeface="Geist" pitchFamily="2" charset="0"/>
                        <a:ea typeface="Geist" pitchFamily="2" charset="0"/>
                        <a:cs typeface="Geist" pitchFamily="2" charset="0"/>
                      </a:endParaRPr>
                    </a:p>
                  </a:txBody>
                  <a:tcPr marL="114300" marR="114300" marT="11430"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8">
                          <a:solidFill>
                            <a:srgbClr val="3D4A5C"/>
                          </a:solidFill>
                          <a:latin typeface="Geist" pitchFamily="2" charset="0"/>
                          <a:ea typeface="Geist" pitchFamily="2" charset="0"/>
                          <a:cs typeface="Geist" pitchFamily="2" charset="0"/>
                        </a:rPr>
                        <a:t>ML</a:t>
                      </a:r>
                      <a:endParaRPr lang="en-US" sz="1012" b="0" i="0" kern="0" dirty="0" spc="8">
                        <a:solidFill>
                          <a:srgbClr val="3D4A5C"/>
                        </a:solidFill>
                        <a:latin typeface="Geist" pitchFamily="2" charset="0"/>
                        <a:ea typeface="Geist" pitchFamily="2" charset="0"/>
                        <a:cs typeface="Geist" pitchFamily="2" charset="0"/>
                      </a:endParaRPr>
                    </a:p>
                  </a:txBody>
                  <a:tcPr marL="114300" marR="114300" marT="11430"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1">
                          <a:solidFill>
                            <a:srgbClr val="3D4A5C"/>
                          </a:solidFill>
                          <a:latin typeface="Geist" pitchFamily="2" charset="0"/>
                          <a:ea typeface="Geist" pitchFamily="2" charset="0"/>
                          <a:cs typeface="Geist" pitchFamily="2" charset="0"/>
                        </a:rPr>
                        <a:t>Boosted decision trees predicting next month's growth from the last 12 months of growth.</a:t>
                      </a:r>
                      <a:endParaRPr lang="en-US" sz="1012" b="0" i="0" kern="0" dirty="0" spc="-11">
                        <a:solidFill>
                          <a:srgbClr val="3D4A5C"/>
                        </a:solidFill>
                        <a:latin typeface="Geist" pitchFamily="2" charset="0"/>
                        <a:ea typeface="Geist" pitchFamily="2" charset="0"/>
                        <a:cs typeface="Geist" pitchFamily="2" charset="0"/>
                      </a:endParaRPr>
                    </a:p>
                  </a:txBody>
                  <a:tcPr marL="114300" marR="114300" marT="11430"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17">
                          <a:solidFill>
                            <a:srgbClr val="3D4A5C"/>
                          </a:solidFill>
                          <a:latin typeface="Geist" pitchFamily="2" charset="0"/>
                          <a:ea typeface="Geist" pitchFamily="2" charset="0"/>
                          <a:cs typeface="Geist" pitchFamily="2" charset="0"/>
                        </a:rPr>
                        <a:t>LightGBM</a:t>
                      </a:r>
                      <a:endParaRPr lang="en-US" sz="1012" b="0" i="0" kern="0" dirty="0" spc="-17">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8">
                          <a:solidFill>
                            <a:srgbClr val="3D4A5C"/>
                          </a:solidFill>
                          <a:latin typeface="Geist" pitchFamily="2" charset="0"/>
                          <a:ea typeface="Geist" pitchFamily="2" charset="0"/>
                          <a:cs typeface="Geist" pitchFamily="2" charset="0"/>
                        </a:rPr>
                        <a:t>ML</a:t>
                      </a:r>
                      <a:endParaRPr lang="en-US" sz="1012" b="0" i="0" kern="0" dirty="0" spc="8">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7">
                          <a:solidFill>
                            <a:srgbClr val="3D4A5C"/>
                          </a:solidFill>
                          <a:latin typeface="Geist" pitchFamily="2" charset="0"/>
                          <a:ea typeface="Geist" pitchFamily="2" charset="0"/>
                          <a:cs typeface="Geist" pitchFamily="2" charset="0"/>
                        </a:rPr>
                        <a:t>A faster boosted-tree method, same inputs as XGBoost.</a:t>
                      </a:r>
                      <a:endParaRPr lang="en-US" sz="1012" b="0" i="0" kern="0" dirty="0" spc="-7">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39">
                          <a:solidFill>
                            <a:srgbClr val="3D4A5C"/>
                          </a:solidFill>
                          <a:latin typeface="Geist" pitchFamily="2" charset="0"/>
                          <a:ea typeface="Geist" pitchFamily="2" charset="0"/>
                          <a:cs typeface="Geist" pitchFamily="2" charset="0"/>
                        </a:rPr>
                        <a:t>LSTM</a:t>
                      </a:r>
                      <a:endParaRPr lang="en-US" sz="1012" b="0" i="0" kern="0" dirty="0" spc="-39">
                        <a:solidFill>
                          <a:srgbClr val="3D4A5C"/>
                        </a:solidFill>
                        <a:latin typeface="Geist" pitchFamily="2" charset="0"/>
                        <a:ea typeface="Geist" pitchFamily="2" charset="0"/>
                        <a:cs typeface="Geist" pitchFamily="2" charset="0"/>
                      </a:endParaRPr>
                    </a:p>
                  </a:txBody>
                  <a:tcPr marL="114300" marR="114300" marT="9906"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4">
                          <a:solidFill>
                            <a:srgbClr val="3D4A5C"/>
                          </a:solidFill>
                          <a:latin typeface="Geist" pitchFamily="2" charset="0"/>
                          <a:ea typeface="Geist" pitchFamily="2" charset="0"/>
                          <a:cs typeface="Geist" pitchFamily="2" charset="0"/>
                        </a:rPr>
                        <a:t>Deep learning</a:t>
                      </a:r>
                      <a:endParaRPr lang="en-US" sz="1012" b="0" i="0" kern="0" dirty="0" spc="-4">
                        <a:solidFill>
                          <a:srgbClr val="3D4A5C"/>
                        </a:solidFill>
                        <a:latin typeface="Geist" pitchFamily="2" charset="0"/>
                        <a:ea typeface="Geist" pitchFamily="2" charset="0"/>
                        <a:cs typeface="Geist" pitchFamily="2" charset="0"/>
                      </a:endParaRPr>
                    </a:p>
                  </a:txBody>
                  <a:tcPr marL="114300" marR="114300" marT="9906"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2">
                          <a:solidFill>
                            <a:srgbClr val="3D4A5C"/>
                          </a:solidFill>
                          <a:latin typeface="Geist" pitchFamily="2" charset="0"/>
                          <a:ea typeface="Geist" pitchFamily="2" charset="0"/>
                          <a:cs typeface="Geist" pitchFamily="2" charset="0"/>
                        </a:rPr>
                        <a:t>A recurrent neural network that reads the last 24 months of growth and predicts the next.</a:t>
                      </a:r>
                      <a:endParaRPr lang="en-US" sz="1012" b="0" i="0" kern="0" dirty="0" spc="-12">
                        <a:solidFill>
                          <a:srgbClr val="3D4A5C"/>
                        </a:solidFill>
                        <a:latin typeface="Geist" pitchFamily="2" charset="0"/>
                        <a:ea typeface="Geist" pitchFamily="2" charset="0"/>
                        <a:cs typeface="Geist" pitchFamily="2" charset="0"/>
                      </a:endParaRPr>
                    </a:p>
                  </a:txBody>
                  <a:tcPr marL="114300" marR="114300" marT="9906"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5">
                          <a:solidFill>
                            <a:srgbClr val="3D4A5C"/>
                          </a:solidFill>
                          <a:latin typeface="Geist" pitchFamily="2" charset="0"/>
                          <a:ea typeface="Geist" pitchFamily="2" charset="0"/>
                          <a:cs typeface="Geist" pitchFamily="2" charset="0"/>
                        </a:rPr>
                        <a:t>GRU</a:t>
                      </a:r>
                      <a:endParaRPr lang="en-US" sz="1012" b="0" i="0" kern="0" dirty="0" spc="5">
                        <a:solidFill>
                          <a:srgbClr val="3D4A5C"/>
                        </a:solidFill>
                        <a:latin typeface="Geist" pitchFamily="2" charset="0"/>
                        <a:ea typeface="Geist" pitchFamily="2" charset="0"/>
                        <a:cs typeface="Geist" pitchFamily="2" charset="0"/>
                      </a:endParaRPr>
                    </a:p>
                  </a:txBody>
                  <a:tcPr marL="114300" marR="114300" marT="12192"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4">
                          <a:solidFill>
                            <a:srgbClr val="3D4A5C"/>
                          </a:solidFill>
                          <a:latin typeface="Geist" pitchFamily="2" charset="0"/>
                          <a:ea typeface="Geist" pitchFamily="2" charset="0"/>
                          <a:cs typeface="Geist" pitchFamily="2" charset="0"/>
                        </a:rPr>
                        <a:t>Deep learning</a:t>
                      </a:r>
                      <a:endParaRPr lang="en-US" sz="1012" b="0" i="0" kern="0" dirty="0" spc="-4">
                        <a:solidFill>
                          <a:srgbClr val="3D4A5C"/>
                        </a:solidFill>
                        <a:latin typeface="Geist" pitchFamily="2" charset="0"/>
                        <a:ea typeface="Geist" pitchFamily="2" charset="0"/>
                        <a:cs typeface="Geist" pitchFamily="2" charset="0"/>
                      </a:endParaRPr>
                    </a:p>
                  </a:txBody>
                  <a:tcPr marL="114300" marR="114300" marT="12192"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1">
                          <a:solidFill>
                            <a:srgbClr val="3D4A5C"/>
                          </a:solidFill>
                          <a:latin typeface="Geist" pitchFamily="2" charset="0"/>
                          <a:ea typeface="Geist" pitchFamily="2" charset="0"/>
                          <a:cs typeface="Geist" pitchFamily="2" charset="0"/>
                        </a:rPr>
                        <a:t>A simpler recurrent network, same setup as the LSTM.</a:t>
                      </a:r>
                      <a:endParaRPr lang="en-US" sz="1012" b="0" i="0" kern="0" dirty="0" spc="-11">
                        <a:solidFill>
                          <a:srgbClr val="3D4A5C"/>
                        </a:solidFill>
                        <a:latin typeface="Geist" pitchFamily="2" charset="0"/>
                        <a:ea typeface="Geist" pitchFamily="2" charset="0"/>
                        <a:cs typeface="Geist" pitchFamily="2" charset="0"/>
                      </a:endParaRPr>
                    </a:p>
                  </a:txBody>
                  <a:tcPr marL="114300" marR="114300" marT="12192"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10">
                          <a:solidFill>
                            <a:srgbClr val="3D4A5C"/>
                          </a:solidFill>
                          <a:latin typeface="Geist" pitchFamily="2" charset="0"/>
                          <a:ea typeface="Geist" pitchFamily="2" charset="0"/>
                          <a:cs typeface="Geist" pitchFamily="2" charset="0"/>
                        </a:rPr>
                        <a:t>Chronos (foundation model)</a:t>
                      </a:r>
                      <a:endParaRPr lang="en-US" sz="1012" b="0" i="0" kern="0" dirty="0" spc="-10">
                        <a:solidFill>
                          <a:srgbClr val="3D4A5C"/>
                        </a:solidFill>
                        <a:latin typeface="Geist" pitchFamily="2" charset="0"/>
                        <a:ea typeface="Geist" pitchFamily="2" charset="0"/>
                        <a:cs typeface="Geist" pitchFamily="2" charset="0"/>
                      </a:endParaRPr>
                    </a:p>
                  </a:txBody>
                  <a:tcPr marL="114300" marR="114300" marT="1447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2">
                          <a:solidFill>
                            <a:srgbClr val="3D4A5C"/>
                          </a:solidFill>
                          <a:latin typeface="Geist" pitchFamily="2" charset="0"/>
                          <a:ea typeface="Geist" pitchFamily="2" charset="0"/>
                          <a:cs typeface="Geist" pitchFamily="2" charset="0"/>
                        </a:rPr>
                        <a:t>AI, pretrained</a:t>
                      </a:r>
                      <a:endParaRPr lang="en-US" sz="1012" b="0" i="0" kern="0" dirty="0" spc="-12">
                        <a:solidFill>
                          <a:srgbClr val="3D4A5C"/>
                        </a:solidFill>
                        <a:latin typeface="Geist" pitchFamily="2" charset="0"/>
                        <a:ea typeface="Geist" pitchFamily="2" charset="0"/>
                        <a:cs typeface="Geist" pitchFamily="2" charset="0"/>
                      </a:endParaRPr>
                    </a:p>
                  </a:txBody>
                  <a:tcPr marL="114300" marR="114300" marT="1447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8">
                          <a:solidFill>
                            <a:srgbClr val="3D4A5C"/>
                          </a:solidFill>
                          <a:latin typeface="Geist" pitchFamily="2" charset="0"/>
                          <a:ea typeface="Geist" pitchFamily="2" charset="0"/>
                          <a:cs typeface="Geist" pitchFamily="2" charset="0"/>
                        </a:rPr>
                        <a:t>Amazon's pretrained time-series model, used as is: it reads the price history and forecasts, never trained on our data.</a:t>
                      </a:r>
                      <a:endParaRPr lang="en-US" sz="1012" b="0" i="0" kern="0" dirty="0" spc="-8">
                        <a:solidFill>
                          <a:srgbClr val="3D4A5C"/>
                        </a:solidFill>
                        <a:latin typeface="Geist" pitchFamily="2" charset="0"/>
                        <a:ea typeface="Geist" pitchFamily="2" charset="0"/>
                        <a:cs typeface="Geist" pitchFamily="2" charset="0"/>
                      </a:endParaRPr>
                    </a:p>
                  </a:txBody>
                  <a:tcPr marL="114300" marR="114300" marT="14478"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7">
                          <a:solidFill>
                            <a:srgbClr val="3D4A5C"/>
                          </a:solidFill>
                          <a:latin typeface="Geist" pitchFamily="2" charset="0"/>
                          <a:ea typeface="Geist" pitchFamily="2" charset="0"/>
                          <a:cs typeface="Geist" pitchFamily="2" charset="0"/>
                        </a:rPr>
                        <a:t>ARIMAX</a:t>
                      </a:r>
                      <a:endParaRPr lang="en-US" sz="1012" b="0" i="0" kern="0" dirty="0" spc="-7">
                        <a:solidFill>
                          <a:srgbClr val="3D4A5C"/>
                        </a:solidFill>
                        <a:latin typeface="Geist" pitchFamily="2" charset="0"/>
                        <a:ea typeface="Geist" pitchFamily="2" charset="0"/>
                        <a:cs typeface="Geist" pitchFamily="2" charset="0"/>
                      </a:endParaRPr>
                    </a:p>
                  </a:txBody>
                  <a:tcPr marL="114300" marR="114300" marT="1066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3">
                          <a:solidFill>
                            <a:srgbClr val="3D4A5C"/>
                          </a:solidFill>
                          <a:latin typeface="Geist" pitchFamily="2" charset="0"/>
                          <a:ea typeface="Geist" pitchFamily="2" charset="0"/>
                          <a:cs typeface="Geist" pitchFamily="2" charset="0"/>
                        </a:rPr>
                        <a:t>Outside info</a:t>
                      </a:r>
                      <a:endParaRPr lang="en-US" sz="1012" b="0" i="0" kern="0" dirty="0" spc="-13">
                        <a:solidFill>
                          <a:srgbClr val="3D4A5C"/>
                        </a:solidFill>
                        <a:latin typeface="Geist" pitchFamily="2" charset="0"/>
                        <a:ea typeface="Geist" pitchFamily="2" charset="0"/>
                        <a:cs typeface="Geist" pitchFamily="2" charset="0"/>
                      </a:endParaRPr>
                    </a:p>
                  </a:txBody>
                  <a:tcPr marL="114300" marR="114300" marT="10668"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9">
                          <a:solidFill>
                            <a:srgbClr val="3D4A5C"/>
                          </a:solidFill>
                          <a:latin typeface="Geist" pitchFamily="2" charset="0"/>
                          <a:ea typeface="Geist" pitchFamily="2" charset="0"/>
                          <a:cs typeface="Geist" pitchFamily="2" charset="0"/>
                        </a:rPr>
                        <a:t>ARIMA on monthly growth plus the 12-month change in the mortgage rate, lagged 24 months.</a:t>
                      </a:r>
                      <a:endParaRPr lang="en-US" sz="1012" b="0" i="0" kern="0" dirty="0" spc="-9">
                        <a:solidFill>
                          <a:srgbClr val="3D4A5C"/>
                        </a:solidFill>
                        <a:latin typeface="Geist" pitchFamily="2" charset="0"/>
                        <a:ea typeface="Geist" pitchFamily="2" charset="0"/>
                        <a:cs typeface="Geist" pitchFamily="2" charset="0"/>
                      </a:endParaRPr>
                    </a:p>
                  </a:txBody>
                  <a:tcPr marL="114300" marR="114300" marT="10668"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4">
                          <a:solidFill>
                            <a:srgbClr val="3D4A5C"/>
                          </a:solidFill>
                          <a:latin typeface="Geist" pitchFamily="2" charset="0"/>
                          <a:ea typeface="Geist" pitchFamily="2" charset="0"/>
                          <a:cs typeface="Geist" pitchFamily="2" charset="0"/>
                        </a:rPr>
                        <a:t>ARIMAX + jobs</a:t>
                      </a:r>
                      <a:endParaRPr lang="en-US" sz="1012" b="0" i="0" kern="0" dirty="0" spc="-4">
                        <a:solidFill>
                          <a:srgbClr val="3D4A5C"/>
                        </a:solidFill>
                        <a:latin typeface="Geist" pitchFamily="2" charset="0"/>
                        <a:ea typeface="Geist" pitchFamily="2" charset="0"/>
                        <a:cs typeface="Geist" pitchFamily="2" charset="0"/>
                      </a:endParaRPr>
                    </a:p>
                  </a:txBody>
                  <a:tcPr marL="114300" marR="114300" marT="12954"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3">
                          <a:solidFill>
                            <a:srgbClr val="3D4A5C"/>
                          </a:solidFill>
                          <a:latin typeface="Geist" pitchFamily="2" charset="0"/>
                          <a:ea typeface="Geist" pitchFamily="2" charset="0"/>
                          <a:cs typeface="Geist" pitchFamily="2" charset="0"/>
                        </a:rPr>
                        <a:t>Outside info</a:t>
                      </a:r>
                      <a:endParaRPr lang="en-US" sz="1012" b="0" i="0" kern="0" dirty="0" spc="-13">
                        <a:solidFill>
                          <a:srgbClr val="3D4A5C"/>
                        </a:solidFill>
                        <a:latin typeface="Geist" pitchFamily="2" charset="0"/>
                        <a:ea typeface="Geist" pitchFamily="2" charset="0"/>
                        <a:cs typeface="Geist" pitchFamily="2" charset="0"/>
                      </a:endParaRPr>
                    </a:p>
                  </a:txBody>
                  <a:tcPr marL="114300" marR="114300" marT="12954"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8">
                          <a:solidFill>
                            <a:srgbClr val="3D4A5C"/>
                          </a:solidFill>
                          <a:latin typeface="Geist" pitchFamily="2" charset="0"/>
                          <a:ea typeface="Geist" pitchFamily="2" charset="0"/>
                          <a:cs typeface="Geist" pitchFamily="2" charset="0"/>
                        </a:rPr>
                        <a:t>ARIMAX plus 12-month payroll job growth in LA and Orange County, lagged 12 months.</a:t>
                      </a:r>
                      <a:endParaRPr lang="en-US" sz="1012" b="0" i="0" kern="0" dirty="0" spc="-8">
                        <a:solidFill>
                          <a:srgbClr val="3D4A5C"/>
                        </a:solidFill>
                        <a:latin typeface="Geist" pitchFamily="2" charset="0"/>
                        <a:ea typeface="Geist" pitchFamily="2" charset="0"/>
                        <a:cs typeface="Geist" pitchFamily="2" charset="0"/>
                      </a:endParaRPr>
                    </a:p>
                  </a:txBody>
                  <a:tcPr marL="114300" marR="114300" marT="12954"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18">
                          <a:solidFill>
                            <a:srgbClr val="3D4A5C"/>
                          </a:solidFill>
                          <a:latin typeface="Geist" pitchFamily="2" charset="0"/>
                          <a:ea typeface="Geist" pitchFamily="2" charset="0"/>
                          <a:cs typeface="Geist" pitchFamily="2" charset="0"/>
                        </a:rPr>
                        <a:t>VAR (growth + rate)</a:t>
                      </a:r>
                      <a:endParaRPr lang="en-US" sz="1012" b="0" i="0" kern="0" dirty="0" spc="-18">
                        <a:solidFill>
                          <a:srgbClr val="3D4A5C"/>
                        </a:solidFill>
                        <a:latin typeface="Geist" pitchFamily="2" charset="0"/>
                        <a:ea typeface="Geist" pitchFamily="2" charset="0"/>
                        <a:cs typeface="Geist" pitchFamily="2" charset="0"/>
                      </a:endParaRPr>
                    </a:p>
                  </a:txBody>
                  <a:tcPr marL="114300" marR="114300" marT="15240"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13">
                          <a:solidFill>
                            <a:srgbClr val="3D4A5C"/>
                          </a:solidFill>
                          <a:latin typeface="Geist" pitchFamily="2" charset="0"/>
                          <a:ea typeface="Geist" pitchFamily="2" charset="0"/>
                          <a:cs typeface="Geist" pitchFamily="2" charset="0"/>
                        </a:rPr>
                        <a:t>Outside info</a:t>
                      </a:r>
                      <a:endParaRPr lang="en-US" sz="1012" b="0" i="0" kern="0" dirty="0" spc="-13">
                        <a:solidFill>
                          <a:srgbClr val="3D4A5C"/>
                        </a:solidFill>
                        <a:latin typeface="Geist" pitchFamily="2" charset="0"/>
                        <a:ea typeface="Geist" pitchFamily="2" charset="0"/>
                        <a:cs typeface="Geist" pitchFamily="2" charset="0"/>
                      </a:endParaRPr>
                    </a:p>
                  </a:txBody>
                  <a:tcPr marL="114300" marR="114300" marT="15240" marB="0" anchor="ctr">
                    <a:lnL w="0">
                      <a:noFill/>
                    </a:lnL>
                    <a:lnR w="0">
                      <a:noFill/>
                    </a:lnR>
                    <a:lnT w="0">
                      <a:noFill/>
                    </a:lnT>
                    <a:lnB w="9525" cap="flat" cmpd="sng" algn="ctr">
                      <a:solidFill>
                        <a:srgbClr val="D9D4CA"/>
                      </a:solidFill>
                      <a:prstDash val="solid"/>
                    </a:lnB>
                    <a:noFill/>
                  </a:tcPr>
                </a:tc>
                <a:tc>
                  <a:txBody>
                    <a:bodyPr/>
                    <a:lstStyle/>
                    <a:p>
                      <a:pPr algn="l" marL="0" indent="0">
                        <a:lnSpc>
                          <a:spcPts val="1350"/>
                        </a:lnSpc>
                        <a:spcBef>
                          <a:spcPts val="0"/>
                        </a:spcBef>
                        <a:spcAft>
                          <a:spcPts val="0"/>
                        </a:spcAft>
                        <a:buNone/>
                      </a:pPr>
                      <a:r>
                        <a:rPr lang="en-US" sz="1012" b="0" i="0" kern="0" dirty="0" spc="-9">
                          <a:solidFill>
                            <a:srgbClr val="3D4A5C"/>
                          </a:solidFill>
                          <a:latin typeface="Geist" pitchFamily="2" charset="0"/>
                          <a:ea typeface="Geist" pitchFamily="2" charset="0"/>
                          <a:cs typeface="Geist" pitchFamily="2" charset="0"/>
                        </a:rPr>
                        <a:t>Home growth and rate changes forecast each other (11 monthly lags).</a:t>
                      </a:r>
                      <a:endParaRPr lang="en-US" sz="1012" b="0" i="0" kern="0" dirty="0" spc="-9">
                        <a:solidFill>
                          <a:srgbClr val="3D4A5C"/>
                        </a:solidFill>
                        <a:latin typeface="Geist" pitchFamily="2" charset="0"/>
                        <a:ea typeface="Geist" pitchFamily="2" charset="0"/>
                        <a:cs typeface="Geist" pitchFamily="2" charset="0"/>
                      </a:endParaRPr>
                    </a:p>
                  </a:txBody>
                  <a:tcPr marL="114300" marR="114300" marT="15240" marB="0" anchor="ctr">
                    <a:lnL w="0">
                      <a:noFill/>
                    </a:lnL>
                    <a:lnR w="0">
                      <a:noFill/>
                    </a:lnR>
                    <a:lnT w="0">
                      <a:noFill/>
                    </a:lnT>
                    <a:lnB w="9525" cap="flat" cmpd="sng" algn="ctr">
                      <a:solidFill>
                        <a:srgbClr val="D9D4CA"/>
                      </a:solidFill>
                      <a:prstDash val="solid"/>
                    </a:lnB>
                    <a:noFill/>
                  </a:tcPr>
                </a:tc>
              </a:tr>
              <a:tr h="314325">
                <a:tc>
                  <a:txBody>
                    <a:bodyPr/>
                    <a:lstStyle/>
                    <a:p>
                      <a:pPr algn="l" marL="0" indent="0">
                        <a:lnSpc>
                          <a:spcPts val="1350"/>
                        </a:lnSpc>
                        <a:spcBef>
                          <a:spcPts val="0"/>
                        </a:spcBef>
                        <a:spcAft>
                          <a:spcPts val="0"/>
                        </a:spcAft>
                        <a:buNone/>
                      </a:pPr>
                      <a:r>
                        <a:rPr lang="en-US" sz="1012" b="0" i="0" kern="0" dirty="0" spc="-12">
                          <a:solidFill>
                            <a:srgbClr val="3D4A5C"/>
                          </a:solidFill>
                          <a:latin typeface="Geist" pitchFamily="2" charset="0"/>
                          <a:ea typeface="Geist" pitchFamily="2" charset="0"/>
                          <a:cs typeface="Geist" pitchFamily="2" charset="0"/>
                        </a:rPr>
                        <a:t>Factor VAR (neighborhoods)</a:t>
                      </a:r>
                      <a:endParaRPr lang="en-US" sz="1012" b="0" i="0" kern="0" dirty="0" spc="-12">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19050" cap="flat" cmpd="sng" algn="ctr">
                      <a:solidFill>
                        <a:srgbClr val="16213E"/>
                      </a:solidFill>
                      <a:prstDash val="solid"/>
                    </a:lnB>
                    <a:noFill/>
                  </a:tcPr>
                </a:tc>
                <a:tc>
                  <a:txBody>
                    <a:bodyPr/>
                    <a:lstStyle/>
                    <a:p>
                      <a:pPr algn="l" marL="0" indent="0">
                        <a:lnSpc>
                          <a:spcPts val="1350"/>
                        </a:lnSpc>
                        <a:spcBef>
                          <a:spcPts val="0"/>
                        </a:spcBef>
                        <a:spcAft>
                          <a:spcPts val="0"/>
                        </a:spcAft>
                        <a:buNone/>
                      </a:pPr>
                      <a:r>
                        <a:rPr lang="en-US" sz="1012" b="0" i="0" kern="0" dirty="0" spc="-13">
                          <a:solidFill>
                            <a:srgbClr val="3D4A5C"/>
                          </a:solidFill>
                          <a:latin typeface="Geist" pitchFamily="2" charset="0"/>
                          <a:ea typeface="Geist" pitchFamily="2" charset="0"/>
                          <a:cs typeface="Geist" pitchFamily="2" charset="0"/>
                        </a:rPr>
                        <a:t>Outside info</a:t>
                      </a:r>
                      <a:endParaRPr lang="en-US" sz="1012" b="0" i="0" kern="0" dirty="0" spc="-13">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19050" cap="flat" cmpd="sng" algn="ctr">
                      <a:solidFill>
                        <a:srgbClr val="16213E"/>
                      </a:solidFill>
                      <a:prstDash val="solid"/>
                    </a:lnB>
                    <a:noFill/>
                  </a:tcPr>
                </a:tc>
                <a:tc>
                  <a:txBody>
                    <a:bodyPr/>
                    <a:lstStyle/>
                    <a:p>
                      <a:pPr algn="l" marL="0" indent="0">
                        <a:lnSpc>
                          <a:spcPts val="1350"/>
                        </a:lnSpc>
                        <a:spcBef>
                          <a:spcPts val="0"/>
                        </a:spcBef>
                        <a:spcAft>
                          <a:spcPts val="0"/>
                        </a:spcAft>
                        <a:buNone/>
                      </a:pPr>
                      <a:r>
                        <a:rPr lang="en-US" sz="1012" b="0" i="0" kern="0" dirty="0" spc="-10">
                          <a:solidFill>
                            <a:srgbClr val="3D4A5C"/>
                          </a:solidFill>
                          <a:latin typeface="Geist" pitchFamily="2" charset="0"/>
                          <a:ea typeface="Geist" pitchFamily="2" charset="0"/>
                          <a:cs typeface="Geist" pitchFamily="2" charset="0"/>
                        </a:rPr>
                        <a:t>Summarizes ~400 neighborhoods into 2 common factors and forecasts them together with metro growth.</a:t>
                      </a:r>
                      <a:endParaRPr lang="en-US" sz="1012" b="0" i="0" kern="0" dirty="0" spc="-10">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19050" cap="flat" cmpd="sng" algn="ctr">
                      <a:solidFill>
                        <a:srgbClr val="16213E"/>
                      </a:solidFill>
                      <a:prstDash val="solid"/>
                    </a:lnB>
                    <a:noFill/>
                  </a:tcPr>
                </a:tc>
              </a:tr>
            </a:tbl>
          </a:graphicData>
        </a:graphic>
      </p:graphicFrame>
      <p:sp>
        <p:nvSpPr>
          <p:cNvPr id="6"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7" name="Text: 12"/>
          <p:cNvSpPr txBox="1"/>
          <p:nvPr/>
        </p:nvSpPr>
        <p:spPr>
          <a:xfrm>
            <a:off x="10552366"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spc="-6">
                <a:solidFill>
                  <a:srgbClr val="4F5560"/>
                </a:solidFill>
                <a:latin typeface="Geist Medium" pitchFamily="2" charset="0"/>
                <a:ea typeface="Geist Medium" pitchFamily="2" charset="0"/>
                <a:cs typeface="Geist Medium" pitchFamily="2" charset="0"/>
              </a:rPr>
              <a:t>12</a:t>
            </a:r>
            <a:endParaRPr lang="en-US" sz="900" b="0" i="0" kern="0" dirty="0" spc="-6">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Full rolling-origin results, 14 models"/>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2">
                <a:solidFill>
                  <a:srgbClr val="16213E"/>
                </a:solidFill>
                <a:latin typeface="Outfit SemiBold" pitchFamily="2" charset="0"/>
                <a:ea typeface="Outfit SemiBold" pitchFamily="2" charset="0"/>
                <a:cs typeface="Outfit SemiBold" pitchFamily="2" charset="0"/>
              </a:rPr>
              <a:t>Full rolling-origin results, 14 models</a:t>
            </a:r>
            <a:endParaRPr lang="en-US" sz="2700" b="0" i="0" kern="0" dirty="0" spc="-72">
              <a:solidFill>
                <a:srgbClr val="16213E"/>
              </a:solidFill>
              <a:latin typeface="Outfit SemiBold" pitchFamily="2" charset="0"/>
              <a:ea typeface="Outfit SemiBold" pitchFamily="2" charset="0"/>
              <a:cs typeface="Outfit SemiBold" pitchFamily="2" charset="0"/>
            </a:endParaRPr>
          </a:p>
        </p:txBody>
      </p:sp>
      <p:sp>
        <p:nvSpPr>
          <p:cNvPr id="3" name="Text: Appendix A3 · Rolling-origin test"/>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0">
                <a:solidFill>
                  <a:srgbClr val="1F6F8B"/>
                </a:solidFill>
                <a:latin typeface="Geist SemiBold" pitchFamily="2" charset="0"/>
                <a:ea typeface="Geist SemiBold" pitchFamily="2" charset="0"/>
                <a:cs typeface="Geist SemiBold" pitchFamily="2" charset="0"/>
              </a:rPr>
              <a:t>Appendix A3 · Rolling-origin test</a:t>
            </a:r>
            <a:endParaRPr lang="en-US" sz="1125" b="0" i="0" kern="0" dirty="0" spc="-10">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graphicFrame>
        <p:nvGraphicFramePr>
          <p:cNvPr id="5" name="Table"/>
          <p:cNvGraphicFramePr>
            <a:graphicFrameLocks noGrp="1"/>
          </p:cNvGraphicFramePr>
          <p:nvPr/>
        </p:nvGraphicFramePr>
        <p:xfrm>
          <a:off x="609600" y="1447800"/>
          <a:ext cx="10896600" cy="4572000"/>
        </p:xfrm>
        <a:graphic>
          <a:graphicData uri="http://schemas.openxmlformats.org/drawingml/2006/table">
            <a:tbl>
              <a:tblPr firstRow="0" bandRow="0" firstCol="0" lastRow="0" lastCol="0" bandCol="0">
                <a:tableStyleId>{2D5ABB26-0587-4C30-8999-92F81FD0307C}</a:tableStyleId>
              </a:tblPr>
              <a:tblGrid>
                <a:gridCol w="2857500"/>
                <a:gridCol w="907405"/>
                <a:gridCol w="941784"/>
                <a:gridCol w="936724"/>
                <a:gridCol w="1041053"/>
                <a:gridCol w="1311771"/>
                <a:gridCol w="1271588"/>
                <a:gridCol w="1628775"/>
              </a:tblGrid>
              <a:tr h="304800">
                <a:tc>
                  <a:txBody>
                    <a:bodyPr/>
                    <a:lstStyle/>
                    <a:p>
                      <a:pPr algn="l" marL="0" indent="0">
                        <a:lnSpc>
                          <a:spcPts val="1500"/>
                        </a:lnSpc>
                        <a:spcBef>
                          <a:spcPts val="0"/>
                        </a:spcBef>
                        <a:spcAft>
                          <a:spcPts val="0"/>
                        </a:spcAft>
                        <a:buNone/>
                      </a:pPr>
                      <a:r>
                        <a:rPr lang="en-US" sz="1088" b="0" i="0" kern="0" dirty="0" spc="-10">
                          <a:solidFill>
                            <a:srgbClr val="16213E"/>
                          </a:solidFill>
                          <a:latin typeface="Geist SemiBold" pitchFamily="2" charset="0"/>
                          <a:ea typeface="Geist SemiBold" pitchFamily="2" charset="0"/>
                          <a:cs typeface="Geist SemiBold" pitchFamily="2" charset="0"/>
                        </a:rPr>
                        <a:t>Model</a:t>
                      </a:r>
                      <a:endParaRPr lang="en-US" sz="1088" b="0" i="0" kern="0" dirty="0" spc="-10">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11">
                          <a:solidFill>
                            <a:srgbClr val="16213E"/>
                          </a:solidFill>
                          <a:latin typeface="Geist SemiBold" pitchFamily="2" charset="0"/>
                          <a:ea typeface="Geist SemiBold" pitchFamily="2" charset="0"/>
                          <a:cs typeface="Geist SemiBold" pitchFamily="2" charset="0"/>
                        </a:rPr>
                        <a:t>1 mo</a:t>
                      </a:r>
                      <a:endParaRPr lang="en-US" sz="1088" b="0" i="0" kern="0" dirty="0" spc="-11">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9">
                          <a:solidFill>
                            <a:srgbClr val="16213E"/>
                          </a:solidFill>
                          <a:latin typeface="Geist SemiBold" pitchFamily="2" charset="0"/>
                          <a:ea typeface="Geist SemiBold" pitchFamily="2" charset="0"/>
                          <a:cs typeface="Geist SemiBold" pitchFamily="2" charset="0"/>
                        </a:rPr>
                        <a:t>3 mo</a:t>
                      </a:r>
                      <a:endParaRPr lang="en-US" sz="1088" b="0" i="0" kern="0" dirty="0" spc="-9">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13">
                          <a:solidFill>
                            <a:srgbClr val="16213E"/>
                          </a:solidFill>
                          <a:latin typeface="Geist SemiBold" pitchFamily="2" charset="0"/>
                          <a:ea typeface="Geist SemiBold" pitchFamily="2" charset="0"/>
                          <a:cs typeface="Geist SemiBold" pitchFamily="2" charset="0"/>
                        </a:rPr>
                        <a:t>6 mo</a:t>
                      </a:r>
                      <a:endParaRPr lang="en-US" sz="1088" b="0" i="0" kern="0" dirty="0" spc="-13">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11">
                          <a:solidFill>
                            <a:srgbClr val="16213E"/>
                          </a:solidFill>
                          <a:latin typeface="Geist SemiBold" pitchFamily="2" charset="0"/>
                          <a:ea typeface="Geist SemiBold" pitchFamily="2" charset="0"/>
                          <a:cs typeface="Geist SemiBold" pitchFamily="2" charset="0"/>
                        </a:rPr>
                        <a:t>12 mo</a:t>
                      </a:r>
                      <a:endParaRPr lang="en-US" sz="1088" b="0" i="0" kern="0" dirty="0" spc="-11">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22">
                          <a:solidFill>
                            <a:srgbClr val="16213E"/>
                          </a:solidFill>
                          <a:latin typeface="Geist SemiBold" pitchFamily="2" charset="0"/>
                          <a:ea typeface="Geist SemiBold" pitchFamily="2" charset="0"/>
                          <a:cs typeface="Geist SemiBold" pitchFamily="2" charset="0"/>
                        </a:rPr>
                        <a:t>Avg 1-12</a:t>
                      </a:r>
                      <a:endParaRPr lang="en-US" sz="1088" b="0" i="0" kern="0" dirty="0" spc="-22">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6">
                          <a:solidFill>
                            <a:srgbClr val="16213E"/>
                          </a:solidFill>
                          <a:latin typeface="Geist SemiBold" pitchFamily="2" charset="0"/>
                          <a:ea typeface="Geist SemiBold" pitchFamily="2" charset="0"/>
                          <a:cs typeface="Geist SemiBold" pitchFamily="2" charset="0"/>
                        </a:rPr>
                        <a:t>RMSE $</a:t>
                      </a:r>
                      <a:endParaRPr lang="en-US" sz="1088" b="0" i="0" kern="0" dirty="0" spc="-6">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10">
                          <a:solidFill>
                            <a:srgbClr val="16213E"/>
                          </a:solidFill>
                          <a:latin typeface="Geist SemiBold" pitchFamily="2" charset="0"/>
                          <a:ea typeface="Geist SemiBold" pitchFamily="2" charset="0"/>
                          <a:cs typeface="Geist SemiBold" pitchFamily="2" charset="0"/>
                        </a:rPr>
                        <a:t>RMSE rank</a:t>
                      </a:r>
                      <a:endParaRPr lang="en-US" sz="1088" b="0" i="0" kern="0" dirty="0" spc="-10">
                        <a:solidFill>
                          <a:srgbClr val="16213E"/>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19050" cap="flat" cmpd="sng" algn="ctr">
                      <a:solidFill>
                        <a:srgbClr val="16213E"/>
                      </a:solidFill>
                      <a:prstDash val="solid"/>
                    </a:lnT>
                    <a:lnB w="9525" cap="flat" cmpd="sng" algn="ctr">
                      <a:solidFill>
                        <a:srgbClr val="16213E"/>
                      </a:solidFill>
                      <a:prstDash val="solid"/>
                    </a:lnB>
                    <a:noFill/>
                  </a:tcPr>
                </a:tc>
              </a:tr>
              <a:tr h="304800">
                <a:tc>
                  <a:txBody>
                    <a:bodyPr/>
                    <a:lstStyle/>
                    <a:p>
                      <a:pPr algn="l" marL="0" indent="0">
                        <a:lnSpc>
                          <a:spcPts val="1500"/>
                        </a:lnSpc>
                        <a:spcBef>
                          <a:spcPts val="0"/>
                        </a:spcBef>
                        <a:spcAft>
                          <a:spcPts val="0"/>
                        </a:spcAft>
                        <a:buNone/>
                      </a:pPr>
                      <a:r>
                        <a:rPr lang="en-US" sz="1088" b="0" i="0" kern="0" dirty="0" spc="-15">
                          <a:solidFill>
                            <a:srgbClr val="B4400B"/>
                          </a:solidFill>
                          <a:latin typeface="Geist SemiBold" pitchFamily="2" charset="0"/>
                          <a:ea typeface="Geist SemiBold" pitchFamily="2" charset="0"/>
                          <a:cs typeface="Geist SemiBold" pitchFamily="2" charset="0"/>
                        </a:rPr>
                        <a:t>ARIMAX</a:t>
                      </a:r>
                      <a:endParaRPr lang="en-US" sz="1088" b="0" i="0" kern="0" dirty="0" spc="-15">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c>
                  <a:txBody>
                    <a:bodyPr/>
                    <a:lstStyle/>
                    <a:p>
                      <a:pPr algn="r" marL="0" indent="0">
                        <a:lnSpc>
                          <a:spcPts val="1500"/>
                        </a:lnSpc>
                        <a:spcBef>
                          <a:spcPts val="0"/>
                        </a:spcBef>
                        <a:spcAft>
                          <a:spcPts val="0"/>
                        </a:spcAft>
                        <a:buNone/>
                      </a:pPr>
                      <a:r>
                        <a:rPr lang="en-US" sz="1088" b="0" i="0" kern="0" dirty="0" spc="-1">
                          <a:solidFill>
                            <a:srgbClr val="B4400B"/>
                          </a:solidFill>
                          <a:latin typeface="Geist SemiBold" pitchFamily="2" charset="0"/>
                          <a:ea typeface="Geist SemiBold" pitchFamily="2" charset="0"/>
                          <a:cs typeface="Geist SemiBold" pitchFamily="2" charset="0"/>
                        </a:rPr>
                        <a:t>0.09</a:t>
                      </a:r>
                      <a:endParaRPr lang="en-US" sz="1088" b="0" i="0" kern="0" dirty="0" spc="-1">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c>
                  <a:txBody>
                    <a:bodyPr/>
                    <a:lstStyle/>
                    <a:p>
                      <a:pPr algn="r" marL="0" indent="0">
                        <a:lnSpc>
                          <a:spcPts val="1500"/>
                        </a:lnSpc>
                        <a:spcBef>
                          <a:spcPts val="0"/>
                        </a:spcBef>
                        <a:spcAft>
                          <a:spcPts val="0"/>
                        </a:spcAft>
                        <a:buNone/>
                      </a:pPr>
                      <a:r>
                        <a:rPr lang="en-US" sz="1088" b="0" i="0" kern="0" dirty="0" spc="-8">
                          <a:solidFill>
                            <a:srgbClr val="B4400B"/>
                          </a:solidFill>
                          <a:latin typeface="Geist SemiBold" pitchFamily="2" charset="0"/>
                          <a:ea typeface="Geist SemiBold" pitchFamily="2" charset="0"/>
                          <a:cs typeface="Geist SemiBold" pitchFamily="2" charset="0"/>
                        </a:rPr>
                        <a:t>0.81</a:t>
                      </a:r>
                      <a:endParaRPr lang="en-US" sz="1088" b="0" i="0" kern="0" dirty="0" spc="-8">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c>
                  <a:txBody>
                    <a:bodyPr/>
                    <a:lstStyle/>
                    <a:p>
                      <a:pPr algn="r" marL="0" indent="0">
                        <a:lnSpc>
                          <a:spcPts val="1500"/>
                        </a:lnSpc>
                        <a:spcBef>
                          <a:spcPts val="0"/>
                        </a:spcBef>
                        <a:spcAft>
                          <a:spcPts val="0"/>
                        </a:spcAft>
                        <a:buNone/>
                      </a:pPr>
                      <a:r>
                        <a:rPr lang="en-US" sz="1088" b="0" i="0" kern="0" dirty="0" spc="-5">
                          <a:solidFill>
                            <a:srgbClr val="B4400B"/>
                          </a:solidFill>
                          <a:latin typeface="Geist SemiBold" pitchFamily="2" charset="0"/>
                          <a:ea typeface="Geist SemiBold" pitchFamily="2" charset="0"/>
                          <a:cs typeface="Geist SemiBold" pitchFamily="2" charset="0"/>
                        </a:rPr>
                        <a:t>2.45</a:t>
                      </a:r>
                      <a:endParaRPr lang="en-US" sz="1088" b="0" i="0" kern="0" dirty="0" spc="-5">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c>
                  <a:txBody>
                    <a:bodyPr/>
                    <a:lstStyle/>
                    <a:p>
                      <a:pPr algn="r" marL="0" indent="0">
                        <a:lnSpc>
                          <a:spcPts val="1500"/>
                        </a:lnSpc>
                        <a:spcBef>
                          <a:spcPts val="0"/>
                        </a:spcBef>
                        <a:spcAft>
                          <a:spcPts val="0"/>
                        </a:spcAft>
                        <a:buNone/>
                      </a:pPr>
                      <a:r>
                        <a:rPr lang="en-US" sz="1088" b="0" i="0" kern="0" dirty="0" spc="-6">
                          <a:solidFill>
                            <a:srgbClr val="B4400B"/>
                          </a:solidFill>
                          <a:latin typeface="Geist SemiBold" pitchFamily="2" charset="0"/>
                          <a:ea typeface="Geist SemiBold" pitchFamily="2" charset="0"/>
                          <a:cs typeface="Geist SemiBold" pitchFamily="2" charset="0"/>
                        </a:rPr>
                        <a:t>4.98</a:t>
                      </a:r>
                      <a:endParaRPr lang="en-US" sz="1088" b="0" i="0" kern="0" dirty="0" spc="-6">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c>
                  <a:txBody>
                    <a:bodyPr/>
                    <a:lstStyle/>
                    <a:p>
                      <a:pPr algn="r" marL="0" indent="0">
                        <a:lnSpc>
                          <a:spcPts val="1500"/>
                        </a:lnSpc>
                        <a:spcBef>
                          <a:spcPts val="0"/>
                        </a:spcBef>
                        <a:spcAft>
                          <a:spcPts val="0"/>
                        </a:spcAft>
                        <a:buNone/>
                      </a:pPr>
                      <a:r>
                        <a:rPr lang="en-US" sz="1088" b="0" i="0" kern="0" dirty="0" spc="-20">
                          <a:solidFill>
                            <a:srgbClr val="B4400B"/>
                          </a:solidFill>
                          <a:latin typeface="Geist SemiBold" pitchFamily="2" charset="0"/>
                          <a:ea typeface="Geist SemiBold" pitchFamily="2" charset="0"/>
                          <a:cs typeface="Geist SemiBold" pitchFamily="2" charset="0"/>
                        </a:rPr>
                        <a:t>2.67</a:t>
                      </a:r>
                      <a:endParaRPr lang="en-US" sz="1088" b="0" i="0" kern="0" dirty="0" spc="-20">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c>
                  <a:txBody>
                    <a:bodyPr/>
                    <a:lstStyle/>
                    <a:p>
                      <a:pPr algn="r" marL="0" indent="0">
                        <a:lnSpc>
                          <a:spcPts val="1500"/>
                        </a:lnSpc>
                        <a:spcBef>
                          <a:spcPts val="0"/>
                        </a:spcBef>
                        <a:spcAft>
                          <a:spcPts val="0"/>
                        </a:spcAft>
                        <a:buNone/>
                      </a:pPr>
                      <a:r>
                        <a:rPr lang="en-US" sz="1088" b="0" i="0" kern="0" dirty="0" spc="-2">
                          <a:solidFill>
                            <a:srgbClr val="B4400B"/>
                          </a:solidFill>
                          <a:latin typeface="Geist SemiBold" pitchFamily="2" charset="0"/>
                          <a:ea typeface="Geist SemiBold" pitchFamily="2" charset="0"/>
                          <a:cs typeface="Geist SemiBold" pitchFamily="2" charset="0"/>
                        </a:rPr>
                        <a:t>35.8K</a:t>
                      </a:r>
                      <a:endParaRPr lang="en-US" sz="1088" b="0" i="0" kern="0" dirty="0" spc="-2">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c>
                  <a:txBody>
                    <a:bodyPr/>
                    <a:lstStyle/>
                    <a:p>
                      <a:pPr algn="r" marL="0" indent="0">
                        <a:lnSpc>
                          <a:spcPts val="1500"/>
                        </a:lnSpc>
                        <a:spcBef>
                          <a:spcPts val="0"/>
                        </a:spcBef>
                        <a:spcAft>
                          <a:spcPts val="0"/>
                        </a:spcAft>
                        <a:buNone/>
                      </a:pPr>
                      <a:r>
                        <a:rPr lang="en-US" sz="1088" b="0" i="0" kern="0" dirty="0" spc="-16">
                          <a:solidFill>
                            <a:srgbClr val="B4400B"/>
                          </a:solidFill>
                          <a:latin typeface="Geist SemiBold" pitchFamily="2" charset="0"/>
                          <a:ea typeface="Geist SemiBold" pitchFamily="2" charset="0"/>
                          <a:cs typeface="Geist SemiBold" pitchFamily="2" charset="0"/>
                        </a:rPr>
                        <a:t>1</a:t>
                      </a:r>
                      <a:endParaRPr lang="en-US" sz="1088" b="0" i="0" kern="0" dirty="0" spc="-16">
                        <a:solidFill>
                          <a:srgbClr val="B4400B"/>
                        </a:solidFill>
                        <a:latin typeface="Geist SemiBold" pitchFamily="2" charset="0"/>
                        <a:ea typeface="Geist SemiBold" pitchFamily="2" charset="0"/>
                        <a:cs typeface="Geist SemiBold" pitchFamily="2" charset="0"/>
                      </a:endParaRPr>
                    </a:p>
                  </a:txBody>
                  <a:tcPr marL="114300" marR="114300" marT="13716" marB="0" anchor="ctr">
                    <a:lnL w="0">
                      <a:noFill/>
                    </a:lnL>
                    <a:lnR w="0">
                      <a:noFill/>
                    </a:lnR>
                    <a:lnT w="0">
                      <a:noFill/>
                    </a:lnT>
                    <a:lnB w="9525" cap="flat" cmpd="sng" algn="ctr">
                      <a:solidFill>
                        <a:srgbClr val="D9D4CA"/>
                      </a:solidFill>
                      <a:prstDash val="solid"/>
                    </a:lnB>
                    <a:solidFill>
                      <a:srgbClr val="F3ECE3"/>
                    </a:solidFill>
                  </a:tcPr>
                </a:tc>
              </a:tr>
              <a:tr h="304800">
                <a:tc>
                  <a:txBody>
                    <a:bodyPr/>
                    <a:lstStyle/>
                    <a:p>
                      <a:pPr algn="l" marL="0" indent="0">
                        <a:lnSpc>
                          <a:spcPts val="1500"/>
                        </a:lnSpc>
                        <a:spcBef>
                          <a:spcPts val="0"/>
                        </a:spcBef>
                        <a:spcAft>
                          <a:spcPts val="0"/>
                        </a:spcAft>
                        <a:buNone/>
                      </a:pPr>
                      <a:r>
                        <a:rPr lang="en-US" sz="1088" b="0" i="0" kern="0" dirty="0" spc="-15">
                          <a:solidFill>
                            <a:srgbClr val="3D4A5C"/>
                          </a:solidFill>
                          <a:latin typeface="Geist" pitchFamily="2" charset="0"/>
                          <a:ea typeface="Geist" pitchFamily="2" charset="0"/>
                          <a:cs typeface="Geist" pitchFamily="2" charset="0"/>
                        </a:rPr>
                        <a:t>ARIMA</a:t>
                      </a:r>
                      <a:endParaRPr lang="en-US" sz="1088" b="0" i="0" kern="0" dirty="0" spc="-15">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0.09</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9">
                          <a:solidFill>
                            <a:srgbClr val="3D4A5C"/>
                          </a:solidFill>
                          <a:latin typeface="Geist" pitchFamily="2" charset="0"/>
                          <a:ea typeface="Geist" pitchFamily="2" charset="0"/>
                          <a:cs typeface="Geist" pitchFamily="2" charset="0"/>
                        </a:rPr>
                        <a:t>0.78</a:t>
                      </a:r>
                      <a:endParaRPr lang="en-US" sz="1088" b="0" i="0" kern="0" dirty="0" spc="-29">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2.53</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5.37</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7">
                          <a:solidFill>
                            <a:srgbClr val="3D4A5C"/>
                          </a:solidFill>
                          <a:latin typeface="Geist" pitchFamily="2" charset="0"/>
                          <a:ea typeface="Geist" pitchFamily="2" charset="0"/>
                          <a:cs typeface="Geist" pitchFamily="2" charset="0"/>
                        </a:rPr>
                        <a:t>2.77</a:t>
                      </a:r>
                      <a:endParaRPr lang="en-US" sz="1088" b="0" i="0" kern="0" dirty="0" spc="-17">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5">
                          <a:solidFill>
                            <a:srgbClr val="3D4A5C"/>
                          </a:solidFill>
                          <a:latin typeface="Geist" pitchFamily="2" charset="0"/>
                          <a:ea typeface="Geist" pitchFamily="2" charset="0"/>
                          <a:cs typeface="Geist" pitchFamily="2" charset="0"/>
                        </a:rPr>
                        <a:t>38.1K</a:t>
                      </a:r>
                      <a:endParaRPr lang="en-US" sz="1088" b="0" i="0" kern="0" dirty="0" spc="-25">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3">
                          <a:solidFill>
                            <a:srgbClr val="3D4A5C"/>
                          </a:solidFill>
                          <a:latin typeface="Geist" pitchFamily="2" charset="0"/>
                          <a:ea typeface="Geist" pitchFamily="2" charset="0"/>
                          <a:cs typeface="Geist" pitchFamily="2" charset="0"/>
                        </a:rPr>
                        <a:t>4</a:t>
                      </a:r>
                      <a:endParaRPr lang="en-US" sz="1088" b="0" i="0" kern="0" dirty="0" spc="-2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9">
                          <a:solidFill>
                            <a:srgbClr val="3D4A5C"/>
                          </a:solidFill>
                          <a:latin typeface="Geist" pitchFamily="2" charset="0"/>
                          <a:ea typeface="Geist" pitchFamily="2" charset="0"/>
                          <a:cs typeface="Geist" pitchFamily="2" charset="0"/>
                        </a:rPr>
                        <a:t>ARIMAX + jobs</a:t>
                      </a:r>
                      <a:endParaRPr lang="en-US" sz="1088" b="0" i="0" kern="0" dirty="0" spc="-9">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2">
                          <a:solidFill>
                            <a:srgbClr val="3D4A5C"/>
                          </a:solidFill>
                          <a:latin typeface="Geist" pitchFamily="2" charset="0"/>
                          <a:ea typeface="Geist" pitchFamily="2" charset="0"/>
                          <a:cs typeface="Geist" pitchFamily="2" charset="0"/>
                        </a:rPr>
                        <a:t>0.12</a:t>
                      </a:r>
                      <a:endParaRPr lang="en-US" sz="1088" b="0" i="0" kern="0" dirty="0" spc="-3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8">
                          <a:solidFill>
                            <a:srgbClr val="3D4A5C"/>
                          </a:solidFill>
                          <a:latin typeface="Geist" pitchFamily="2" charset="0"/>
                          <a:ea typeface="Geist" pitchFamily="2" charset="0"/>
                          <a:cs typeface="Geist" pitchFamily="2" charset="0"/>
                        </a:rPr>
                        <a:t>0.94</a:t>
                      </a:r>
                      <a:endParaRPr lang="en-US" sz="1088" b="0" i="0" kern="0" dirty="0" spc="-8">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2.63</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0">
                          <a:solidFill>
                            <a:srgbClr val="3D4A5C"/>
                          </a:solidFill>
                          <a:latin typeface="Geist" pitchFamily="2" charset="0"/>
                          <a:ea typeface="Geist" pitchFamily="2" charset="0"/>
                          <a:cs typeface="Geist" pitchFamily="2" charset="0"/>
                        </a:rPr>
                        <a:t>5.12</a:t>
                      </a:r>
                      <a:endParaRPr lang="en-US" sz="1088" b="0" i="0" kern="0" dirty="0" spc="-3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9">
                          <a:solidFill>
                            <a:srgbClr val="3D4A5C"/>
                          </a:solidFill>
                          <a:latin typeface="Geist" pitchFamily="2" charset="0"/>
                          <a:ea typeface="Geist" pitchFamily="2" charset="0"/>
                          <a:cs typeface="Geist" pitchFamily="2" charset="0"/>
                        </a:rPr>
                        <a:t>2.81</a:t>
                      </a:r>
                      <a:endParaRPr lang="en-US" sz="1088" b="0" i="0" kern="0" dirty="0" spc="-9">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36.2K</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3">
                          <a:solidFill>
                            <a:srgbClr val="3D4A5C"/>
                          </a:solidFill>
                          <a:latin typeface="Geist" pitchFamily="2" charset="0"/>
                          <a:ea typeface="Geist" pitchFamily="2" charset="0"/>
                          <a:cs typeface="Geist" pitchFamily="2" charset="0"/>
                        </a:rPr>
                        <a:t>2</a:t>
                      </a:r>
                      <a:endParaRPr lang="en-US" sz="1088" b="0" i="0" kern="0" dirty="0" spc="-2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22">
                          <a:solidFill>
                            <a:srgbClr val="3D4A5C"/>
                          </a:solidFill>
                          <a:latin typeface="Geist" pitchFamily="2" charset="0"/>
                          <a:ea typeface="Geist" pitchFamily="2" charset="0"/>
                          <a:cs typeface="Geist" pitchFamily="2" charset="0"/>
                        </a:rPr>
                        <a:t>VAR (growth + rate)</a:t>
                      </a:r>
                      <a:endParaRPr lang="en-US" sz="1088" b="0" i="0" kern="0" dirty="0" spc="-2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6">
                          <a:solidFill>
                            <a:srgbClr val="3D4A5C"/>
                          </a:solidFill>
                          <a:latin typeface="Geist" pitchFamily="2" charset="0"/>
                          <a:ea typeface="Geist" pitchFamily="2" charset="0"/>
                          <a:cs typeface="Geist" pitchFamily="2" charset="0"/>
                        </a:rPr>
                        <a:t>0.14</a:t>
                      </a:r>
                      <a:endParaRPr lang="en-US" sz="1088" b="0" i="0" kern="0" dirty="0" spc="-3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8">
                          <a:solidFill>
                            <a:srgbClr val="3D4A5C"/>
                          </a:solidFill>
                          <a:latin typeface="Geist" pitchFamily="2" charset="0"/>
                          <a:ea typeface="Geist" pitchFamily="2" charset="0"/>
                          <a:cs typeface="Geist" pitchFamily="2" charset="0"/>
                        </a:rPr>
                        <a:t>0.94</a:t>
                      </a:r>
                      <a:endParaRPr lang="en-US" sz="1088" b="0" i="0" kern="0" dirty="0" spc="-8">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6">
                          <a:solidFill>
                            <a:srgbClr val="3D4A5C"/>
                          </a:solidFill>
                          <a:latin typeface="Geist" pitchFamily="2" charset="0"/>
                          <a:ea typeface="Geist" pitchFamily="2" charset="0"/>
                          <a:cs typeface="Geist" pitchFamily="2" charset="0"/>
                        </a:rPr>
                        <a:t>2.56</a:t>
                      </a:r>
                      <a:endParaRPr lang="en-US" sz="1088" b="0" i="0" kern="0" dirty="0" spc="-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4">
                          <a:solidFill>
                            <a:srgbClr val="3D4A5C"/>
                          </a:solidFill>
                          <a:latin typeface="Geist" pitchFamily="2" charset="0"/>
                          <a:ea typeface="Geist" pitchFamily="2" charset="0"/>
                          <a:cs typeface="Geist" pitchFamily="2" charset="0"/>
                        </a:rPr>
                        <a:t>5.74</a:t>
                      </a:r>
                      <a:endParaRPr lang="en-US" sz="1088" b="0" i="0" kern="0" dirty="0" spc="-4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2.93</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9">
                          <a:solidFill>
                            <a:srgbClr val="3D4A5C"/>
                          </a:solidFill>
                          <a:latin typeface="Geist" pitchFamily="2" charset="0"/>
                          <a:ea typeface="Geist" pitchFamily="2" charset="0"/>
                          <a:cs typeface="Geist" pitchFamily="2" charset="0"/>
                        </a:rPr>
                        <a:t>47.6K</a:t>
                      </a:r>
                      <a:endParaRPr lang="en-US" sz="1088" b="0" i="0" kern="0" dirty="0" spc="-39">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4">
                          <a:solidFill>
                            <a:srgbClr val="3D4A5C"/>
                          </a:solidFill>
                          <a:latin typeface="Geist" pitchFamily="2" charset="0"/>
                          <a:ea typeface="Geist" pitchFamily="2" charset="0"/>
                          <a:cs typeface="Geist" pitchFamily="2" charset="0"/>
                        </a:rPr>
                        <a:t>10</a:t>
                      </a:r>
                      <a:endParaRPr lang="en-US" sz="1088" b="0" i="0" kern="0" dirty="0" spc="-1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46">
                          <a:solidFill>
                            <a:srgbClr val="3D4A5C"/>
                          </a:solidFill>
                          <a:latin typeface="Geist" pitchFamily="2" charset="0"/>
                          <a:ea typeface="Geist" pitchFamily="2" charset="0"/>
                          <a:cs typeface="Geist" pitchFamily="2" charset="0"/>
                        </a:rPr>
                        <a:t>LSTM</a:t>
                      </a:r>
                      <a:endParaRPr lang="en-US" sz="1088" b="0" i="0" kern="0" dirty="0" spc="-4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2">
                          <a:solidFill>
                            <a:srgbClr val="3D4A5C"/>
                          </a:solidFill>
                          <a:latin typeface="Geist" pitchFamily="2" charset="0"/>
                          <a:ea typeface="Geist" pitchFamily="2" charset="0"/>
                          <a:cs typeface="Geist" pitchFamily="2" charset="0"/>
                        </a:rPr>
                        <a:t>0.12</a:t>
                      </a:r>
                      <a:endParaRPr lang="en-US" sz="1088" b="0" i="0" kern="0" dirty="0" spc="-3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0.89</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2.95</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5.58</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3.02</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6">
                          <a:solidFill>
                            <a:srgbClr val="3D4A5C"/>
                          </a:solidFill>
                          <a:latin typeface="Geist" pitchFamily="2" charset="0"/>
                          <a:ea typeface="Geist" pitchFamily="2" charset="0"/>
                          <a:cs typeface="Geist" pitchFamily="2" charset="0"/>
                        </a:rPr>
                        <a:t>43.3K</a:t>
                      </a:r>
                      <a:endParaRPr lang="en-US" sz="1088" b="0" i="0" kern="0" dirty="0" spc="-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2">
                          <a:solidFill>
                            <a:srgbClr val="3D4A5C"/>
                          </a:solidFill>
                          <a:latin typeface="Geist" pitchFamily="2" charset="0"/>
                          <a:ea typeface="Geist" pitchFamily="2" charset="0"/>
                          <a:cs typeface="Geist" pitchFamily="2" charset="0"/>
                        </a:rPr>
                        <a:t>6</a:t>
                      </a:r>
                      <a:endParaRPr lang="en-US" sz="1088" b="0" i="0" kern="0" dirty="0" spc="-2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GRU</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3">
                          <a:solidFill>
                            <a:srgbClr val="3D4A5C"/>
                          </a:solidFill>
                          <a:latin typeface="Geist" pitchFamily="2" charset="0"/>
                          <a:ea typeface="Geist" pitchFamily="2" charset="0"/>
                          <a:cs typeface="Geist" pitchFamily="2" charset="0"/>
                        </a:rPr>
                        <a:t>0.11</a:t>
                      </a:r>
                      <a:endParaRPr lang="en-US" sz="1088" b="0" i="0" kern="0" dirty="0" spc="-4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0.93</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2.99</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5.86</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3">
                          <a:solidFill>
                            <a:srgbClr val="3D4A5C"/>
                          </a:solidFill>
                          <a:latin typeface="Geist" pitchFamily="2" charset="0"/>
                          <a:ea typeface="Geist" pitchFamily="2" charset="0"/>
                          <a:cs typeface="Geist" pitchFamily="2" charset="0"/>
                        </a:rPr>
                        <a:t>3.18</a:t>
                      </a:r>
                      <a:endParaRPr lang="en-US" sz="1088" b="0" i="0" kern="0" dirty="0" spc="-3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5">
                          <a:solidFill>
                            <a:srgbClr val="3D4A5C"/>
                          </a:solidFill>
                          <a:latin typeface="Geist" pitchFamily="2" charset="0"/>
                          <a:ea typeface="Geist" pitchFamily="2" charset="0"/>
                          <a:cs typeface="Geist" pitchFamily="2" charset="0"/>
                        </a:rPr>
                        <a:t>41.5K</a:t>
                      </a:r>
                      <a:endParaRPr lang="en-US" sz="1088" b="0" i="0" kern="0" dirty="0" spc="-5">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3">
                          <a:solidFill>
                            <a:srgbClr val="3D4A5C"/>
                          </a:solidFill>
                          <a:latin typeface="Geist" pitchFamily="2" charset="0"/>
                          <a:ea typeface="Geist" pitchFamily="2" charset="0"/>
                          <a:cs typeface="Geist" pitchFamily="2" charset="0"/>
                        </a:rPr>
                        <a:t>5</a:t>
                      </a:r>
                      <a:endParaRPr lang="en-US" sz="1088" b="0" i="0" kern="0" dirty="0" spc="-2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20">
                          <a:solidFill>
                            <a:srgbClr val="3D4A5C"/>
                          </a:solidFill>
                          <a:latin typeface="Geist" pitchFamily="2" charset="0"/>
                          <a:ea typeface="Geist" pitchFamily="2" charset="0"/>
                          <a:cs typeface="Geist" pitchFamily="2" charset="0"/>
                        </a:rPr>
                        <a:t>Naive drift</a:t>
                      </a:r>
                      <a:endParaRPr lang="en-US" sz="1088" b="0" i="0" kern="0" dirty="0" spc="-2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0.69</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0">
                          <a:solidFill>
                            <a:srgbClr val="3D4A5C"/>
                          </a:solidFill>
                          <a:latin typeface="Geist" pitchFamily="2" charset="0"/>
                          <a:ea typeface="Geist" pitchFamily="2" charset="0"/>
                          <a:cs typeface="Geist" pitchFamily="2" charset="0"/>
                        </a:rPr>
                        <a:t>1.93</a:t>
                      </a:r>
                      <a:endParaRPr lang="en-US" sz="1088" b="0" i="0" kern="0" dirty="0" spc="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3.48</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4.92</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1">
                          <a:solidFill>
                            <a:srgbClr val="3D4A5C"/>
                          </a:solidFill>
                          <a:latin typeface="Geist" pitchFamily="2" charset="0"/>
                          <a:ea typeface="Geist" pitchFamily="2" charset="0"/>
                          <a:cs typeface="Geist" pitchFamily="2" charset="0"/>
                        </a:rPr>
                        <a:t>3.27</a:t>
                      </a:r>
                      <a:endParaRPr lang="en-US" sz="1088" b="0" i="0" kern="0" dirty="0" spc="-1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5">
                          <a:solidFill>
                            <a:srgbClr val="3D4A5C"/>
                          </a:solidFill>
                          <a:latin typeface="Geist" pitchFamily="2" charset="0"/>
                          <a:ea typeface="Geist" pitchFamily="2" charset="0"/>
                          <a:cs typeface="Geist" pitchFamily="2" charset="0"/>
                        </a:rPr>
                        <a:t>37.6K</a:t>
                      </a:r>
                      <a:endParaRPr lang="en-US" sz="1088" b="0" i="0" kern="0" dirty="0" spc="-35">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3">
                          <a:solidFill>
                            <a:srgbClr val="3D4A5C"/>
                          </a:solidFill>
                          <a:latin typeface="Geist" pitchFamily="2" charset="0"/>
                          <a:ea typeface="Geist" pitchFamily="2" charset="0"/>
                          <a:cs typeface="Geist" pitchFamily="2" charset="0"/>
                        </a:rPr>
                        <a:t>3</a:t>
                      </a:r>
                      <a:endParaRPr lang="en-US" sz="1088" b="0" i="0" kern="0" dirty="0" spc="-2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12">
                          <a:solidFill>
                            <a:srgbClr val="3D4A5C"/>
                          </a:solidFill>
                          <a:latin typeface="Geist" pitchFamily="2" charset="0"/>
                          <a:ea typeface="Geist" pitchFamily="2" charset="0"/>
                          <a:cs typeface="Geist" pitchFamily="2" charset="0"/>
                        </a:rPr>
                        <a:t>Holt (damped)</a:t>
                      </a:r>
                      <a:endParaRPr lang="en-US" sz="1088" b="0" i="0" kern="0" dirty="0" spc="-1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0.28</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6">
                          <a:solidFill>
                            <a:srgbClr val="3D4A5C"/>
                          </a:solidFill>
                          <a:latin typeface="Geist" pitchFamily="2" charset="0"/>
                          <a:ea typeface="Geist" pitchFamily="2" charset="0"/>
                          <a:cs typeface="Geist" pitchFamily="2" charset="0"/>
                        </a:rPr>
                        <a:t>1.15</a:t>
                      </a:r>
                      <a:endParaRPr lang="en-US" sz="1088" b="0" i="0" kern="0" dirty="0" spc="-2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5">
                          <a:solidFill>
                            <a:srgbClr val="3D4A5C"/>
                          </a:solidFill>
                          <a:latin typeface="Geist" pitchFamily="2" charset="0"/>
                          <a:ea typeface="Geist" pitchFamily="2" charset="0"/>
                          <a:cs typeface="Geist" pitchFamily="2" charset="0"/>
                        </a:rPr>
                        <a:t>3.04</a:t>
                      </a:r>
                      <a:endParaRPr lang="en-US" sz="1088" b="0" i="0" kern="0" dirty="0" spc="-5">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6.34</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3.39</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44.3K</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0">
                          <a:solidFill>
                            <a:srgbClr val="3D4A5C"/>
                          </a:solidFill>
                          <a:latin typeface="Geist" pitchFamily="2" charset="0"/>
                          <a:ea typeface="Geist" pitchFamily="2" charset="0"/>
                          <a:cs typeface="Geist" pitchFamily="2" charset="0"/>
                        </a:rPr>
                        <a:t>7</a:t>
                      </a:r>
                      <a:endParaRPr lang="en-US" sz="1088" b="0" i="0" kern="0" dirty="0" spc="-2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14">
                          <a:solidFill>
                            <a:srgbClr val="3D4A5C"/>
                          </a:solidFill>
                          <a:latin typeface="Geist" pitchFamily="2" charset="0"/>
                          <a:ea typeface="Geist" pitchFamily="2" charset="0"/>
                          <a:cs typeface="Geist" pitchFamily="2" charset="0"/>
                        </a:rPr>
                        <a:t>Chronos (foundation model)</a:t>
                      </a:r>
                      <a:endParaRPr lang="en-US" sz="1088" b="0" i="0" kern="0" dirty="0" spc="-1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0.69</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6">
                          <a:solidFill>
                            <a:srgbClr val="3D4A5C"/>
                          </a:solidFill>
                          <a:latin typeface="Geist" pitchFamily="2" charset="0"/>
                          <a:ea typeface="Geist" pitchFamily="2" charset="0"/>
                          <a:cs typeface="Geist" pitchFamily="2" charset="0"/>
                        </a:rPr>
                        <a:t>1.61</a:t>
                      </a:r>
                      <a:endParaRPr lang="en-US" sz="1088" b="0" i="0" kern="0" dirty="0" spc="-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3.44</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9">
                          <a:solidFill>
                            <a:srgbClr val="3D4A5C"/>
                          </a:solidFill>
                          <a:latin typeface="Geist" pitchFamily="2" charset="0"/>
                          <a:ea typeface="Geist" pitchFamily="2" charset="0"/>
                          <a:cs typeface="Geist" pitchFamily="2" charset="0"/>
                        </a:rPr>
                        <a:t>6.13</a:t>
                      </a:r>
                      <a:endParaRPr lang="en-US" sz="1088" b="0" i="0" kern="0" dirty="0" spc="-29">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3.56</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0">
                          <a:solidFill>
                            <a:srgbClr val="3D4A5C"/>
                          </a:solidFill>
                          <a:latin typeface="Geist" pitchFamily="2" charset="0"/>
                          <a:ea typeface="Geist" pitchFamily="2" charset="0"/>
                          <a:cs typeface="Geist" pitchFamily="2" charset="0"/>
                        </a:rPr>
                        <a:t>45.3K</a:t>
                      </a:r>
                      <a:endParaRPr lang="en-US" sz="1088" b="0" i="0" kern="0" dirty="0" spc="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3">
                          <a:solidFill>
                            <a:srgbClr val="3D4A5C"/>
                          </a:solidFill>
                          <a:latin typeface="Geist" pitchFamily="2" charset="0"/>
                          <a:ea typeface="Geist" pitchFamily="2" charset="0"/>
                          <a:cs typeface="Geist" pitchFamily="2" charset="0"/>
                        </a:rPr>
                        <a:t>8</a:t>
                      </a:r>
                      <a:endParaRPr lang="en-US" sz="1088" b="0" i="0" kern="0" dirty="0" spc="-2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20">
                          <a:solidFill>
                            <a:srgbClr val="3D4A5C"/>
                          </a:solidFill>
                          <a:latin typeface="Geist" pitchFamily="2" charset="0"/>
                          <a:ea typeface="Geist" pitchFamily="2" charset="0"/>
                          <a:cs typeface="Geist" pitchFamily="2" charset="0"/>
                        </a:rPr>
                        <a:t>LightGBM</a:t>
                      </a:r>
                      <a:endParaRPr lang="en-US" sz="1088" b="0" i="0" kern="0" dirty="0" spc="-2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0.22</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7">
                          <a:solidFill>
                            <a:srgbClr val="3D4A5C"/>
                          </a:solidFill>
                          <a:latin typeface="Geist" pitchFamily="2" charset="0"/>
                          <a:ea typeface="Geist" pitchFamily="2" charset="0"/>
                          <a:cs typeface="Geist" pitchFamily="2" charset="0"/>
                        </a:rPr>
                        <a:t>1.23</a:t>
                      </a:r>
                      <a:endParaRPr lang="en-US" sz="1088" b="0" i="0" kern="0" dirty="0" spc="-7">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3.32</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8">
                          <a:solidFill>
                            <a:srgbClr val="3D4A5C"/>
                          </a:solidFill>
                          <a:latin typeface="Geist" pitchFamily="2" charset="0"/>
                          <a:ea typeface="Geist" pitchFamily="2" charset="0"/>
                          <a:cs typeface="Geist" pitchFamily="2" charset="0"/>
                        </a:rPr>
                        <a:t>6.97</a:t>
                      </a:r>
                      <a:endParaRPr lang="en-US" sz="1088" b="0" i="0" kern="0" dirty="0" spc="-18">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3.60</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46.5K</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2">
                          <a:solidFill>
                            <a:srgbClr val="3D4A5C"/>
                          </a:solidFill>
                          <a:latin typeface="Geist" pitchFamily="2" charset="0"/>
                          <a:ea typeface="Geist" pitchFamily="2" charset="0"/>
                          <a:cs typeface="Geist" pitchFamily="2" charset="0"/>
                        </a:rPr>
                        <a:t>9</a:t>
                      </a:r>
                      <a:endParaRPr lang="en-US" sz="1088" b="0" i="0" kern="0" dirty="0" spc="-2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16">
                          <a:solidFill>
                            <a:srgbClr val="3D4A5C"/>
                          </a:solidFill>
                          <a:latin typeface="Geist" pitchFamily="2" charset="0"/>
                          <a:ea typeface="Geist" pitchFamily="2" charset="0"/>
                          <a:cs typeface="Geist" pitchFamily="2" charset="0"/>
                        </a:rPr>
                        <a:t>Factor VAR (neighborhoods)</a:t>
                      </a:r>
                      <a:endParaRPr lang="en-US" sz="1088" b="0" i="0" kern="0" dirty="0" spc="-1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3">
                          <a:solidFill>
                            <a:srgbClr val="3D4A5C"/>
                          </a:solidFill>
                          <a:latin typeface="Geist" pitchFamily="2" charset="0"/>
                          <a:ea typeface="Geist" pitchFamily="2" charset="0"/>
                          <a:cs typeface="Geist" pitchFamily="2" charset="0"/>
                        </a:rPr>
                        <a:t>0.16</a:t>
                      </a:r>
                      <a:endParaRPr lang="en-US" sz="1088" b="0" i="0" kern="0" dirty="0" spc="-3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6">
                          <a:solidFill>
                            <a:srgbClr val="3D4A5C"/>
                          </a:solidFill>
                          <a:latin typeface="Geist" pitchFamily="2" charset="0"/>
                          <a:ea typeface="Geist" pitchFamily="2" charset="0"/>
                          <a:cs typeface="Geist" pitchFamily="2" charset="0"/>
                        </a:rPr>
                        <a:t>1.15</a:t>
                      </a:r>
                      <a:endParaRPr lang="en-US" sz="1088" b="0" i="0" kern="0" dirty="0" spc="-2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3.56</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6.60</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3.64</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3">
                          <a:solidFill>
                            <a:srgbClr val="3D4A5C"/>
                          </a:solidFill>
                          <a:latin typeface="Geist" pitchFamily="2" charset="0"/>
                          <a:ea typeface="Geist" pitchFamily="2" charset="0"/>
                          <a:cs typeface="Geist" pitchFamily="2" charset="0"/>
                        </a:rPr>
                        <a:t>50.7K</a:t>
                      </a:r>
                      <a:endParaRPr lang="en-US" sz="1088" b="0" i="0" kern="0" dirty="0" spc="-2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4">
                          <a:solidFill>
                            <a:srgbClr val="3D4A5C"/>
                          </a:solidFill>
                          <a:latin typeface="Geist" pitchFamily="2" charset="0"/>
                          <a:ea typeface="Geist" pitchFamily="2" charset="0"/>
                          <a:cs typeface="Geist" pitchFamily="2" charset="0"/>
                        </a:rPr>
                        <a:t>12</a:t>
                      </a:r>
                      <a:endParaRPr lang="en-US" sz="1088" b="0" i="0" kern="0" dirty="0" spc="-1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18">
                          <a:solidFill>
                            <a:srgbClr val="3D4A5C"/>
                          </a:solidFill>
                          <a:latin typeface="Geist" pitchFamily="2" charset="0"/>
                          <a:ea typeface="Geist" pitchFamily="2" charset="0"/>
                          <a:cs typeface="Geist" pitchFamily="2" charset="0"/>
                        </a:rPr>
                        <a:t>XGBoost</a:t>
                      </a:r>
                      <a:endParaRPr lang="en-US" sz="1088" b="0" i="0" kern="0" dirty="0" spc="-18">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0.25</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0">
                          <a:solidFill>
                            <a:srgbClr val="3D4A5C"/>
                          </a:solidFill>
                          <a:latin typeface="Geist" pitchFamily="2" charset="0"/>
                          <a:ea typeface="Geist" pitchFamily="2" charset="0"/>
                          <a:cs typeface="Geist" pitchFamily="2" charset="0"/>
                        </a:rPr>
                        <a:t>1.25</a:t>
                      </a:r>
                      <a:endParaRPr lang="en-US" sz="1088" b="0" i="0" kern="0" dirty="0" spc="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5">
                          <a:solidFill>
                            <a:srgbClr val="3D4A5C"/>
                          </a:solidFill>
                          <a:latin typeface="Geist" pitchFamily="2" charset="0"/>
                          <a:ea typeface="Geist" pitchFamily="2" charset="0"/>
                          <a:cs typeface="Geist" pitchFamily="2" charset="0"/>
                        </a:rPr>
                        <a:t>3.40</a:t>
                      </a:r>
                      <a:endParaRPr lang="en-US" sz="1088" b="0" i="0" kern="0" dirty="0" spc="-5">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6.82</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
                          <a:solidFill>
                            <a:srgbClr val="3D4A5C"/>
                          </a:solidFill>
                          <a:latin typeface="Geist" pitchFamily="2" charset="0"/>
                          <a:ea typeface="Geist" pitchFamily="2" charset="0"/>
                          <a:cs typeface="Geist" pitchFamily="2" charset="0"/>
                        </a:rPr>
                        <a:t>3.65</a:t>
                      </a:r>
                      <a:endParaRPr lang="en-US" sz="1088" b="0" i="0" kern="0" dirty="0" spc="-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0">
                          <a:solidFill>
                            <a:srgbClr val="3D4A5C"/>
                          </a:solidFill>
                          <a:latin typeface="Geist" pitchFamily="2" charset="0"/>
                          <a:ea typeface="Geist" pitchFamily="2" charset="0"/>
                          <a:cs typeface="Geist" pitchFamily="2" charset="0"/>
                        </a:rPr>
                        <a:t>47.8K</a:t>
                      </a:r>
                      <a:endParaRPr lang="en-US" sz="1088" b="0" i="0" kern="0" dirty="0" spc="-4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4">
                          <a:solidFill>
                            <a:srgbClr val="3D4A5C"/>
                          </a:solidFill>
                          <a:latin typeface="Geist" pitchFamily="2" charset="0"/>
                          <a:ea typeface="Geist" pitchFamily="2" charset="0"/>
                          <a:cs typeface="Geist" pitchFamily="2" charset="0"/>
                        </a:rPr>
                        <a:t>11</a:t>
                      </a:r>
                      <a:endParaRPr lang="en-US" sz="1088" b="0" i="0" kern="0" dirty="0" spc="-4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17">
                          <a:solidFill>
                            <a:srgbClr val="3D4A5C"/>
                          </a:solidFill>
                          <a:latin typeface="Geist" pitchFamily="2" charset="0"/>
                          <a:ea typeface="Geist" pitchFamily="2" charset="0"/>
                          <a:cs typeface="Geist" pitchFamily="2" charset="0"/>
                        </a:rPr>
                        <a:t>Prophet + COVID &amp; rates</a:t>
                      </a:r>
                      <a:endParaRPr lang="en-US" sz="1088" b="0" i="0" kern="0" dirty="0" spc="-17">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11">
                          <a:solidFill>
                            <a:srgbClr val="3D4A5C"/>
                          </a:solidFill>
                          <a:latin typeface="Geist" pitchFamily="2" charset="0"/>
                          <a:ea typeface="Geist" pitchFamily="2" charset="0"/>
                          <a:cs typeface="Geist" pitchFamily="2" charset="0"/>
                        </a:rPr>
                        <a:t>3.27</a:t>
                      </a:r>
                      <a:endParaRPr lang="en-US" sz="1088" b="0" i="0" kern="0" dirty="0" spc="-11">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4.08</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2">
                          <a:solidFill>
                            <a:srgbClr val="3D4A5C"/>
                          </a:solidFill>
                          <a:latin typeface="Geist" pitchFamily="2" charset="0"/>
                          <a:ea typeface="Geist" pitchFamily="2" charset="0"/>
                          <a:cs typeface="Geist" pitchFamily="2" charset="0"/>
                        </a:rPr>
                        <a:t>5.32</a:t>
                      </a:r>
                      <a:endParaRPr lang="en-US" sz="1088" b="0" i="0" kern="0" dirty="0" spc="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6.45</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0">
                          <a:solidFill>
                            <a:srgbClr val="3D4A5C"/>
                          </a:solidFill>
                          <a:latin typeface="Geist" pitchFamily="2" charset="0"/>
                          <a:ea typeface="Geist" pitchFamily="2" charset="0"/>
                          <a:cs typeface="Geist" pitchFamily="2" charset="0"/>
                        </a:rPr>
                        <a:t>5.12</a:t>
                      </a:r>
                      <a:endParaRPr lang="en-US" sz="1088" b="0" i="0" kern="0" dirty="0" spc="-30">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4">
                          <a:solidFill>
                            <a:srgbClr val="3D4A5C"/>
                          </a:solidFill>
                          <a:latin typeface="Geist" pitchFamily="2" charset="0"/>
                          <a:ea typeface="Geist" pitchFamily="2" charset="0"/>
                          <a:cs typeface="Geist" pitchFamily="2" charset="0"/>
                        </a:rPr>
                        <a:t>53.5K</a:t>
                      </a:r>
                      <a:endParaRPr lang="en-US" sz="1088" b="0" i="0" kern="0" dirty="0" spc="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13</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9525" cap="flat" cmpd="sng" algn="ctr">
                      <a:solidFill>
                        <a:srgbClr val="D9D4CA"/>
                      </a:solidFill>
                      <a:prstDash val="solid"/>
                    </a:lnB>
                    <a:noFill/>
                  </a:tcPr>
                </a:tc>
              </a:tr>
              <a:tr h="304800">
                <a:tc>
                  <a:txBody>
                    <a:bodyPr/>
                    <a:lstStyle/>
                    <a:p>
                      <a:pPr algn="l" marL="0" indent="0">
                        <a:lnSpc>
                          <a:spcPts val="1500"/>
                        </a:lnSpc>
                        <a:spcBef>
                          <a:spcPts val="0"/>
                        </a:spcBef>
                        <a:spcAft>
                          <a:spcPts val="0"/>
                        </a:spcAft>
                        <a:buNone/>
                      </a:pPr>
                      <a:r>
                        <a:rPr lang="en-US" sz="1088" b="0" i="0" kern="0" dirty="0" spc="-24">
                          <a:solidFill>
                            <a:srgbClr val="3D4A5C"/>
                          </a:solidFill>
                          <a:latin typeface="Geist" pitchFamily="2" charset="0"/>
                          <a:ea typeface="Geist" pitchFamily="2" charset="0"/>
                          <a:cs typeface="Geist" pitchFamily="2" charset="0"/>
                        </a:rPr>
                        <a:t>Prophet</a:t>
                      </a:r>
                      <a:endParaRPr lang="en-US" sz="1088" b="0" i="0" kern="0" dirty="0" spc="-2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5.00</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22">
                          <a:solidFill>
                            <a:srgbClr val="3D4A5C"/>
                          </a:solidFill>
                          <a:latin typeface="Geist" pitchFamily="2" charset="0"/>
                          <a:ea typeface="Geist" pitchFamily="2" charset="0"/>
                          <a:cs typeface="Geist" pitchFamily="2" charset="0"/>
                        </a:rPr>
                        <a:t>5.76</a:t>
                      </a:r>
                      <a:endParaRPr lang="en-US" sz="1088" b="0" i="0" kern="0" dirty="0" spc="-22">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26">
                          <a:solidFill>
                            <a:srgbClr val="3D4A5C"/>
                          </a:solidFill>
                          <a:latin typeface="Geist" pitchFamily="2" charset="0"/>
                          <a:ea typeface="Geist" pitchFamily="2" charset="0"/>
                          <a:cs typeface="Geist" pitchFamily="2" charset="0"/>
                        </a:rPr>
                        <a:t>6.73</a:t>
                      </a:r>
                      <a:endParaRPr lang="en-US" sz="1088" b="0" i="0" kern="0" dirty="0" spc="-26">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8">
                          <a:solidFill>
                            <a:srgbClr val="3D4A5C"/>
                          </a:solidFill>
                          <a:latin typeface="Geist" pitchFamily="2" charset="0"/>
                          <a:ea typeface="Geist" pitchFamily="2" charset="0"/>
                          <a:cs typeface="Geist" pitchFamily="2" charset="0"/>
                        </a:rPr>
                        <a:t>8.62</a:t>
                      </a:r>
                      <a:endParaRPr lang="en-US" sz="1088" b="0" i="0" kern="0" dirty="0" spc="-8">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6.89</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3">
                          <a:solidFill>
                            <a:srgbClr val="3D4A5C"/>
                          </a:solidFill>
                          <a:latin typeface="Geist" pitchFamily="2" charset="0"/>
                          <a:ea typeface="Geist" pitchFamily="2" charset="0"/>
                          <a:cs typeface="Geist" pitchFamily="2" charset="0"/>
                        </a:rPr>
                        <a:t>70.2K</a:t>
                      </a:r>
                      <a:endParaRPr lang="en-US" sz="1088" b="0" i="0" kern="0" dirty="0" spc="-3">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c>
                  <a:txBody>
                    <a:bodyPr/>
                    <a:lstStyle/>
                    <a:p>
                      <a:pPr algn="r" marL="0" indent="0">
                        <a:lnSpc>
                          <a:spcPts val="1500"/>
                        </a:lnSpc>
                        <a:spcBef>
                          <a:spcPts val="0"/>
                        </a:spcBef>
                        <a:spcAft>
                          <a:spcPts val="0"/>
                        </a:spcAft>
                        <a:buNone/>
                      </a:pPr>
                      <a:r>
                        <a:rPr lang="en-US" sz="1088" b="0" i="0" kern="0" dirty="0" spc="-24">
                          <a:solidFill>
                            <a:srgbClr val="3D4A5C"/>
                          </a:solidFill>
                          <a:latin typeface="Geist" pitchFamily="2" charset="0"/>
                          <a:ea typeface="Geist" pitchFamily="2" charset="0"/>
                          <a:cs typeface="Geist" pitchFamily="2" charset="0"/>
                        </a:rPr>
                        <a:t>14</a:t>
                      </a:r>
                      <a:endParaRPr lang="en-US" sz="1088" b="0" i="0" kern="0" dirty="0" spc="-24">
                        <a:solidFill>
                          <a:srgbClr val="3D4A5C"/>
                        </a:solidFill>
                        <a:latin typeface="Geist" pitchFamily="2" charset="0"/>
                        <a:ea typeface="Geist" pitchFamily="2" charset="0"/>
                        <a:cs typeface="Geist" pitchFamily="2" charset="0"/>
                      </a:endParaRPr>
                    </a:p>
                  </a:txBody>
                  <a:tcPr marL="114300" marR="114300" marT="13716" marB="0" anchor="ctr">
                    <a:lnL w="0">
                      <a:noFill/>
                    </a:lnL>
                    <a:lnR w="0">
                      <a:noFill/>
                    </a:lnR>
                    <a:lnT w="0">
                      <a:noFill/>
                    </a:lnT>
                    <a:lnB w="19050" cap="flat" cmpd="sng" algn="ctr">
                      <a:solidFill>
                        <a:srgbClr val="16213E"/>
                      </a:solidFill>
                      <a:prstDash val="solid"/>
                    </a:lnB>
                    <a:noFill/>
                  </a:tcPr>
                </a:tc>
              </a:tr>
            </a:tbl>
          </a:graphicData>
        </a:graphic>
      </p:graphicFrame>
      <p:sp>
        <p:nvSpPr>
          <p:cNvPr id="6"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7" name="Text: 13"/>
          <p:cNvSpPr txBox="1"/>
          <p:nvPr/>
        </p:nvSpPr>
        <p:spPr>
          <a:xfrm>
            <a:off x="10554052"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spc="3">
                <a:solidFill>
                  <a:srgbClr val="4F5560"/>
                </a:solidFill>
                <a:latin typeface="Geist Medium" pitchFamily="2" charset="0"/>
                <a:ea typeface="Geist Medium" pitchFamily="2" charset="0"/>
                <a:cs typeface="Geist Medium" pitchFamily="2" charset="0"/>
              </a:rPr>
              <a:t>13</a:t>
            </a:r>
            <a:endParaRPr lang="en-US" sz="900" b="0" i="0" kern="0" dirty="0" spc="3">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Memory checks on Claude"/>
          <p:cNvSpPr>
            <a:spLocks noGrp="1"/>
          </p:cNvSpPr>
          <p:nvPr>
            <p:ph type="title"/>
          </p:nvPr>
        </p:nvSpPr>
        <p:spPr>
          <a:xfrm>
            <a:off x="685800" y="614934"/>
            <a:ext cx="10904220" cy="40005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3">
                <a:solidFill>
                  <a:srgbClr val="16213E"/>
                </a:solidFill>
                <a:latin typeface="Outfit SemiBold" pitchFamily="2" charset="0"/>
                <a:ea typeface="Outfit SemiBold" pitchFamily="2" charset="0"/>
                <a:cs typeface="Outfit SemiBold" pitchFamily="2" charset="0"/>
              </a:rPr>
              <a:t>Memory checks on Claude</a:t>
            </a:r>
            <a:endParaRPr lang="en-US" sz="2700" b="0" i="0" kern="0" dirty="0" spc="-73">
              <a:solidFill>
                <a:srgbClr val="16213E"/>
              </a:solidFill>
              <a:latin typeface="Outfit SemiBold" pitchFamily="2" charset="0"/>
              <a:ea typeface="Outfit SemiBold" pitchFamily="2" charset="0"/>
              <a:cs typeface="Outfit SemiBold" pitchFamily="2" charset="0"/>
            </a:endParaRPr>
          </a:p>
        </p:txBody>
      </p:sp>
      <p:sp>
        <p:nvSpPr>
          <p:cNvPr id="3" name="Text: Appendix A4 · AI recognition checks"/>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2">
                <a:solidFill>
                  <a:srgbClr val="1F6F8B"/>
                </a:solidFill>
                <a:latin typeface="Geist SemiBold" pitchFamily="2" charset="0"/>
                <a:ea typeface="Geist SemiBold" pitchFamily="2" charset="0"/>
                <a:cs typeface="Geist SemiBold" pitchFamily="2" charset="0"/>
              </a:rPr>
              <a:t>Appendix A4 · AI recognition checks</a:t>
            </a:r>
            <a:endParaRPr lang="en-US" sz="1125" b="0" i="0" kern="0" dirty="0" spc="-12">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143000"/>
            <a:ext cx="685800" cy="47625"/>
          </a:xfrm>
          <a:prstGeom prst="roundRect">
            <a:avLst>
              <a:gd name="adj" fmla="val 20000"/>
            </a:avLst>
          </a:prstGeom>
          <a:solidFill>
            <a:srgbClr val="B4400B"/>
          </a:solidFill>
          <a:ln>
            <a:noFill/>
          </a:ln>
        </p:spPr>
        <p:txBody>
          <a:bodyPr rtlCol="0" anchor="ctr"/>
          <a:lstStyle/>
          <a:p>
            <a:pPr algn="ctr"/>
          </a:p>
        </p:txBody>
      </p:sp>
      <p:graphicFrame>
        <p:nvGraphicFramePr>
          <p:cNvPr id="5" name="Table"/>
          <p:cNvGraphicFramePr>
            <a:graphicFrameLocks noGrp="1"/>
          </p:cNvGraphicFramePr>
          <p:nvPr/>
        </p:nvGraphicFramePr>
        <p:xfrm>
          <a:off x="609600" y="1485900"/>
          <a:ext cx="10896600" cy="3771900"/>
        </p:xfrm>
        <a:graphic>
          <a:graphicData uri="http://schemas.openxmlformats.org/drawingml/2006/table">
            <a:tbl>
              <a:tblPr firstRow="0" bandRow="0" firstCol="0" lastRow="0" lastCol="0" bandCol="0">
                <a:tableStyleId>{2D5ABB26-0587-4C30-8999-92F81FD0307C}</a:tableStyleId>
              </a:tblPr>
              <a:tblGrid>
                <a:gridCol w="3143250"/>
                <a:gridCol w="7753350"/>
              </a:tblGrid>
              <a:tr h="628650">
                <a:tc>
                  <a:txBody>
                    <a:bodyPr/>
                    <a:lstStyle/>
                    <a:p>
                      <a:pPr algn="l" marL="0" indent="0">
                        <a:lnSpc>
                          <a:spcPts val="1800"/>
                        </a:lnSpc>
                        <a:spcBef>
                          <a:spcPts val="0"/>
                        </a:spcBef>
                        <a:spcAft>
                          <a:spcPts val="0"/>
                        </a:spcAft>
                        <a:buNone/>
                      </a:pPr>
                      <a:r>
                        <a:rPr lang="en-US" sz="1275" b="0" i="0" kern="0" dirty="0" spc="-9">
                          <a:solidFill>
                            <a:srgbClr val="16213E"/>
                          </a:solidFill>
                          <a:latin typeface="Geist SemiBold" pitchFamily="2" charset="0"/>
                          <a:ea typeface="Geist SemiBold" pitchFamily="2" charset="0"/>
                          <a:cs typeface="Geist SemiBold" pitchFamily="2" charset="0"/>
                        </a:rPr>
                        <a:t>Check (Claude only)</a:t>
                      </a:r>
                      <a:endParaRPr lang="en-US" sz="1275" b="0" i="0" kern="0" dirty="0" spc="-9">
                        <a:solidFill>
                          <a:srgbClr val="16213E"/>
                        </a:solidFill>
                        <a:latin typeface="Geist SemiBold" pitchFamily="2" charset="0"/>
                        <a:ea typeface="Geist SemiBold" pitchFamily="2" charset="0"/>
                        <a:cs typeface="Geist SemiBold" pitchFamily="2" charset="0"/>
                      </a:endParaRPr>
                    </a:p>
                  </a:txBody>
                  <a:tcPr marL="114300" marR="114300" marT="0" marB="9144"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20">
                          <a:solidFill>
                            <a:srgbClr val="16213E"/>
                          </a:solidFill>
                          <a:latin typeface="Geist SemiBold" pitchFamily="2" charset="0"/>
                          <a:ea typeface="Geist SemiBold" pitchFamily="2" charset="0"/>
                          <a:cs typeface="Geist SemiBold" pitchFamily="2" charset="0"/>
                        </a:rPr>
                        <a:t>Result</a:t>
                      </a:r>
                      <a:endParaRPr lang="en-US" sz="1275" b="0" i="0" kern="0" dirty="0" spc="-20">
                        <a:solidFill>
                          <a:srgbClr val="16213E"/>
                        </a:solidFill>
                        <a:latin typeface="Geist SemiBold" pitchFamily="2" charset="0"/>
                        <a:ea typeface="Geist SemiBold" pitchFamily="2" charset="0"/>
                        <a:cs typeface="Geist SemiBold" pitchFamily="2" charset="0"/>
                      </a:endParaRPr>
                    </a:p>
                  </a:txBody>
                  <a:tcPr marL="114300" marR="114300" marT="0" marB="9144" anchor="ctr">
                    <a:lnL w="0">
                      <a:noFill/>
                    </a:lnL>
                    <a:lnR w="0">
                      <a:noFill/>
                    </a:lnR>
                    <a:lnT w="19050" cap="flat" cmpd="sng" algn="ctr">
                      <a:solidFill>
                        <a:srgbClr val="16213E"/>
                      </a:solidFill>
                      <a:prstDash val="solid"/>
                    </a:lnT>
                    <a:lnB w="9525" cap="flat" cmpd="sng" algn="ctr">
                      <a:solidFill>
                        <a:srgbClr val="16213E"/>
                      </a:solidFill>
                      <a:prstDash val="solid"/>
                    </a:lnB>
                    <a:noFill/>
                  </a:tcPr>
                </a:tc>
              </a:tr>
              <a:tr h="628650">
                <a:tc>
                  <a:txBody>
                    <a:bodyPr/>
                    <a:lstStyle/>
                    <a:p>
                      <a:pPr algn="l" marL="0" indent="0">
                        <a:lnSpc>
                          <a:spcPts val="1800"/>
                        </a:lnSpc>
                        <a:spcBef>
                          <a:spcPts val="0"/>
                        </a:spcBef>
                        <a:spcAft>
                          <a:spcPts val="0"/>
                        </a:spcAft>
                        <a:buNone/>
                      </a:pPr>
                      <a:r>
                        <a:rPr lang="en-US" sz="1275" b="0" i="0" kern="0" dirty="0" spc="-10">
                          <a:solidFill>
                            <a:srgbClr val="3D4A5C"/>
                          </a:solidFill>
                          <a:latin typeface="Geist" pitchFamily="2" charset="0"/>
                          <a:ea typeface="Geist" pitchFamily="2" charset="0"/>
                          <a:cs typeface="Geist" pitchFamily="2" charset="0"/>
                        </a:rPr>
                        <a:t>Name the blind series</a:t>
                      </a:r>
                      <a:endParaRPr lang="en-US" sz="1275" b="0" i="0" kern="0" dirty="0" spc="-10">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5">
                          <a:solidFill>
                            <a:srgbClr val="3D4A5C"/>
                          </a:solidFill>
                          <a:latin typeface="Geist" pitchFamily="2" charset="0"/>
                          <a:ea typeface="Geist" pitchFamily="2" charset="0"/>
                          <a:cs typeface="Geist" pitchFamily="2" charset="0"/>
                        </a:rPr>
                        <a:t>Los Angeles 16 of 18, California 17 of 18; dates exact every time</a:t>
                      </a:r>
                      <a:endParaRPr lang="en-US" sz="1275" b="0" i="0" kern="0" dirty="0" spc="-15">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9525" cap="flat" cmpd="sng" algn="ctr">
                      <a:solidFill>
                        <a:srgbClr val="D9D4CA"/>
                      </a:solidFill>
                      <a:prstDash val="solid"/>
                    </a:lnB>
                    <a:noFill/>
                  </a:tcPr>
                </a:tc>
              </a:tr>
              <a:tr h="628650">
                <a:tc>
                  <a:txBody>
                    <a:bodyPr/>
                    <a:lstStyle/>
                    <a:p>
                      <a:pPr algn="l" marL="0" indent="0">
                        <a:lnSpc>
                          <a:spcPts val="1800"/>
                        </a:lnSpc>
                        <a:spcBef>
                          <a:spcPts val="0"/>
                        </a:spcBef>
                        <a:spcAft>
                          <a:spcPts val="0"/>
                        </a:spcAft>
                        <a:buNone/>
                      </a:pPr>
                      <a:r>
                        <a:rPr lang="en-US" sz="1275" b="0" i="0" kern="0" dirty="0" spc="-13">
                          <a:solidFill>
                            <a:srgbClr val="3D4A5C"/>
                          </a:solidFill>
                          <a:latin typeface="Geist" pitchFamily="2" charset="0"/>
                          <a:ea typeface="Geist" pitchFamily="2" charset="0"/>
                          <a:cs typeface="Geist" pitchFamily="2" charset="0"/>
                        </a:rPr>
                        <a:t>Name the masked series</a:t>
                      </a:r>
                      <a:endParaRPr lang="en-US" sz="1275" b="0" i="0" kern="0" dirty="0" spc="-13">
                        <a:solidFill>
                          <a:srgbClr val="3D4A5C"/>
                        </a:solidFill>
                        <a:latin typeface="Geist" pitchFamily="2" charset="0"/>
                        <a:ea typeface="Geist" pitchFamily="2" charset="0"/>
                        <a:cs typeface="Geist" pitchFamily="2" charset="0"/>
                      </a:endParaRPr>
                    </a:p>
                  </a:txBody>
                  <a:tcPr marL="114300" marR="114300" marT="0" marB="6096"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1">
                          <a:solidFill>
                            <a:srgbClr val="3D4A5C"/>
                          </a:solidFill>
                          <a:latin typeface="Geist" pitchFamily="2" charset="0"/>
                          <a:ea typeface="Geist" pitchFamily="2" charset="0"/>
                          <a:cs typeface="Geist" pitchFamily="2" charset="0"/>
                        </a:rPr>
                        <a:t>Los Angeles 0 of 18; guesses: unknown 7, Seattle 6, Portland 2, San Francisco 1, Dallas 1, Denver 1</a:t>
                      </a:r>
                      <a:endParaRPr lang="en-US" sz="1275" b="0" i="0" kern="0" dirty="0" spc="-11">
                        <a:solidFill>
                          <a:srgbClr val="3D4A5C"/>
                        </a:solidFill>
                        <a:latin typeface="Geist" pitchFamily="2" charset="0"/>
                        <a:ea typeface="Geist" pitchFamily="2" charset="0"/>
                        <a:cs typeface="Geist" pitchFamily="2" charset="0"/>
                      </a:endParaRPr>
                    </a:p>
                  </a:txBody>
                  <a:tcPr marL="114300" marR="114300" marT="0" marB="6096" anchor="ctr">
                    <a:lnL w="0">
                      <a:noFill/>
                    </a:lnL>
                    <a:lnR w="0">
                      <a:noFill/>
                    </a:lnR>
                    <a:lnT w="0">
                      <a:noFill/>
                    </a:lnT>
                    <a:lnB w="9525" cap="flat" cmpd="sng" algn="ctr">
                      <a:solidFill>
                        <a:srgbClr val="D9D4CA"/>
                      </a:solidFill>
                      <a:prstDash val="solid"/>
                    </a:lnB>
                    <a:noFill/>
                  </a:tcPr>
                </a:tc>
              </a:tr>
              <a:tr h="628650">
                <a:tc>
                  <a:txBody>
                    <a:bodyPr/>
                    <a:lstStyle/>
                    <a:p>
                      <a:pPr algn="l" marL="0" indent="0">
                        <a:lnSpc>
                          <a:spcPts val="1800"/>
                        </a:lnSpc>
                        <a:spcBef>
                          <a:spcPts val="0"/>
                        </a:spcBef>
                        <a:spcAft>
                          <a:spcPts val="0"/>
                        </a:spcAft>
                        <a:buNone/>
                      </a:pPr>
                      <a:r>
                        <a:rPr lang="en-US" sz="1275" b="0" i="0" kern="0" dirty="0" spc="-16">
                          <a:solidFill>
                            <a:srgbClr val="3D4A5C"/>
                          </a:solidFill>
                          <a:latin typeface="Geist" pitchFamily="2" charset="0"/>
                          <a:ea typeface="Geist" pitchFamily="2" charset="0"/>
                          <a:cs typeface="Geist" pitchFamily="2" charset="0"/>
                        </a:rPr>
                        <a:t>Date the masked series</a:t>
                      </a:r>
                      <a:endParaRPr lang="en-US" sz="1275" b="0" i="0" kern="0" dirty="0" spc="-16">
                        <a:solidFill>
                          <a:srgbClr val="3D4A5C"/>
                        </a:solidFill>
                        <a:latin typeface="Geist" pitchFamily="2" charset="0"/>
                        <a:ea typeface="Geist" pitchFamily="2" charset="0"/>
                        <a:cs typeface="Geist" pitchFamily="2" charset="0"/>
                      </a:endParaRPr>
                    </a:p>
                  </a:txBody>
                  <a:tcPr marL="114300" marR="114300" marT="0" marB="7620"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20">
                          <a:solidFill>
                            <a:srgbClr val="3D4A5C"/>
                          </a:solidFill>
                          <a:latin typeface="Geist" pitchFamily="2" charset="0"/>
                          <a:ea typeface="Geist" pitchFamily="2" charset="0"/>
                          <a:cs typeface="Geist" pitchFamily="2" charset="0"/>
                        </a:rPr>
                        <a:t>median 1 month off, max 4</a:t>
                      </a:r>
                      <a:endParaRPr lang="en-US" sz="1275" b="0" i="0" kern="0" dirty="0" spc="-20">
                        <a:solidFill>
                          <a:srgbClr val="3D4A5C"/>
                        </a:solidFill>
                        <a:latin typeface="Geist" pitchFamily="2" charset="0"/>
                        <a:ea typeface="Geist" pitchFamily="2" charset="0"/>
                        <a:cs typeface="Geist" pitchFamily="2" charset="0"/>
                      </a:endParaRPr>
                    </a:p>
                  </a:txBody>
                  <a:tcPr marL="114300" marR="114300" marT="0" marB="7620" anchor="ctr">
                    <a:lnL w="0">
                      <a:noFill/>
                    </a:lnL>
                    <a:lnR w="0">
                      <a:noFill/>
                    </a:lnR>
                    <a:lnT w="0">
                      <a:noFill/>
                    </a:lnT>
                    <a:lnB w="9525" cap="flat" cmpd="sng" algn="ctr">
                      <a:solidFill>
                        <a:srgbClr val="D9D4CA"/>
                      </a:solidFill>
                      <a:prstDash val="solid"/>
                    </a:lnB>
                    <a:noFill/>
                  </a:tcPr>
                </a:tc>
              </a:tr>
              <a:tr h="628650">
                <a:tc>
                  <a:txBody>
                    <a:bodyPr/>
                    <a:lstStyle/>
                    <a:p>
                      <a:pPr algn="l" marL="0" indent="0">
                        <a:lnSpc>
                          <a:spcPts val="1800"/>
                        </a:lnSpc>
                        <a:spcBef>
                          <a:spcPts val="0"/>
                        </a:spcBef>
                        <a:spcAft>
                          <a:spcPts val="0"/>
                        </a:spcAft>
                        <a:buNone/>
                      </a:pPr>
                      <a:r>
                        <a:rPr lang="en-US" sz="1275" b="0" i="0" kern="0" dirty="0" spc="-10">
                          <a:solidFill>
                            <a:srgbClr val="3D4A5C"/>
                          </a:solidFill>
                          <a:latin typeface="Geist" pitchFamily="2" charset="0"/>
                          <a:ea typeface="Geist" pitchFamily="2" charset="0"/>
                          <a:cs typeface="Geist" pitchFamily="2" charset="0"/>
                        </a:rPr>
                        <a:t>Masked, all history since 2000</a:t>
                      </a:r>
                      <a:endParaRPr lang="en-US" sz="1275" b="0" i="0" kern="0" dirty="0" spc="-10">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1">
                          <a:solidFill>
                            <a:srgbClr val="3D4A5C"/>
                          </a:solidFill>
                          <a:latin typeface="Geist" pitchFamily="2" charset="0"/>
                          <a:ea typeface="Geist" pitchFamily="2" charset="0"/>
                          <a:cs typeface="Geist" pitchFamily="2" charset="0"/>
                        </a:rPr>
                        <a:t>2.47% avg error (ARIMAX 2.67%), DM p = 0.25; April 2022 forecast -4.7% (actual -3.7%)</a:t>
                      </a:r>
                      <a:endParaRPr lang="en-US" sz="1275" b="0" i="0" kern="0" dirty="0" spc="-11">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9525" cap="flat" cmpd="sng" algn="ctr">
                      <a:solidFill>
                        <a:srgbClr val="D9D4CA"/>
                      </a:solidFill>
                      <a:prstDash val="solid"/>
                    </a:lnB>
                    <a:noFill/>
                  </a:tcPr>
                </a:tc>
              </a:tr>
              <a:tr h="628650">
                <a:tc>
                  <a:txBody>
                    <a:bodyPr/>
                    <a:lstStyle/>
                    <a:p>
                      <a:pPr algn="l" marL="0" indent="0">
                        <a:lnSpc>
                          <a:spcPts val="1800"/>
                        </a:lnSpc>
                        <a:spcBef>
                          <a:spcPts val="0"/>
                        </a:spcBef>
                        <a:spcAft>
                          <a:spcPts val="0"/>
                        </a:spcAft>
                        <a:buNone/>
                      </a:pPr>
                      <a:r>
                        <a:rPr lang="en-US" sz="1275" b="0" i="0" kern="0" dirty="0" spc="-13">
                          <a:solidFill>
                            <a:srgbClr val="3D4A5C"/>
                          </a:solidFill>
                          <a:latin typeface="Geist" pitchFamily="2" charset="0"/>
                          <a:ea typeface="Geist" pitchFamily="2" charset="0"/>
                          <a:cs typeface="Geist" pitchFamily="2" charset="0"/>
                        </a:rPr>
                        <a:t>Earlier run through Claude Code</a:t>
                      </a:r>
                      <a:endParaRPr lang="en-US" sz="1275" b="0" i="0" kern="0" dirty="0" spc="-13">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19050"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12">
                          <a:solidFill>
                            <a:srgbClr val="3D4A5C"/>
                          </a:solidFill>
                          <a:latin typeface="Geist" pitchFamily="2" charset="0"/>
                          <a:ea typeface="Geist" pitchFamily="2" charset="0"/>
                          <a:cs typeface="Geist" pitchFamily="2" charset="0"/>
                        </a:rPr>
                        <a:t>named 1.58%, masked 2.67%; the clean API rerun changed little</a:t>
                      </a:r>
                      <a:endParaRPr lang="en-US" sz="1275" b="0" i="0" kern="0" dirty="0" spc="-12">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19050" cap="flat" cmpd="sng" algn="ctr">
                      <a:solidFill>
                        <a:srgbClr val="16213E"/>
                      </a:solidFill>
                      <a:prstDash val="solid"/>
                    </a:lnB>
                    <a:noFill/>
                  </a:tcPr>
                </a:tc>
              </a:tr>
            </a:tbl>
          </a:graphicData>
        </a:graphic>
      </p:graphicFrame>
      <p:sp>
        <p:nvSpPr>
          <p:cNvPr id="6"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7" name="Text: 14"/>
          <p:cNvSpPr txBox="1"/>
          <p:nvPr/>
        </p:nvSpPr>
        <p:spPr>
          <a:xfrm>
            <a:off x="10551271"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spc="-15">
                <a:solidFill>
                  <a:srgbClr val="4F5560"/>
                </a:solidFill>
                <a:latin typeface="Geist Medium" pitchFamily="2" charset="0"/>
                <a:ea typeface="Geist Medium" pitchFamily="2" charset="0"/>
                <a:cs typeface="Geist Medium" pitchFamily="2" charset="0"/>
              </a:rPr>
              <a:t>14</a:t>
            </a:r>
            <a:endParaRPr lang="en-US" sz="900" b="0" i="0" kern="0" dirty="0" spc="-15">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Named and blind AI tracked whathappened;"/>
          <p:cNvSpPr>
            <a:spLocks noGrp="1"/>
          </p:cNvSpPr>
          <p:nvPr>
            <p:ph type="title"/>
          </p:nvPr>
        </p:nvSpPr>
        <p:spPr>
          <a:xfrm>
            <a:off x="685800" y="614934"/>
            <a:ext cx="10904220" cy="80010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8">
                <a:solidFill>
                  <a:srgbClr val="16213E"/>
                </a:solidFill>
                <a:latin typeface="Outfit SemiBold" pitchFamily="2" charset="0"/>
                <a:ea typeface="Outfit SemiBold" pitchFamily="2" charset="0"/>
                <a:cs typeface="Outfit SemiBold" pitchFamily="2" charset="0"/>
              </a:rPr>
              <a:t>Named and blind AI tracked what</a:t>
            </a:r>
            <a:br>
              <a:rPr lang="en-US" sz="2700" b="0" i="0" kern="0" dirty="0" spc="-78">
                <a:solidFill>
                  <a:srgbClr val="16213E"/>
                </a:solidFill>
                <a:latin typeface="Outfit SemiBold" pitchFamily="2" charset="0"/>
                <a:ea typeface="Outfit SemiBold" pitchFamily="2" charset="0"/>
                <a:cs typeface="Outfit SemiBold" pitchFamily="2" charset="0"/>
              </a:rPr>
            </a:br>
            <a:r>
              <a:rPr lang="en-US" sz="2700" b="0" i="0" kern="0" dirty="0" spc="-78">
                <a:solidFill>
                  <a:srgbClr val="16213E"/>
                </a:solidFill>
                <a:latin typeface="Outfit SemiBold" pitchFamily="2" charset="0"/>
                <a:ea typeface="Outfit SemiBold" pitchFamily="2" charset="0"/>
                <a:cs typeface="Outfit SemiBold" pitchFamily="2" charset="0"/>
              </a:rPr>
              <a:t>happened; masked AI tracked the trend</a:t>
            </a:r>
            <a:endParaRPr lang="en-US" sz="2700" b="0" i="0" kern="0" dirty="0" spc="-78">
              <a:solidFill>
                <a:srgbClr val="16213E"/>
              </a:solidFill>
              <a:latin typeface="Outfit SemiBold" pitchFamily="2" charset="0"/>
              <a:ea typeface="Outfit SemiBold" pitchFamily="2" charset="0"/>
              <a:cs typeface="Outfit SemiBold" pitchFamily="2" charset="0"/>
            </a:endParaRPr>
          </a:p>
        </p:txBody>
      </p:sp>
      <p:sp>
        <p:nvSpPr>
          <p:cNvPr id="3" name="Text: Appendix A5 · Trend check"/>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2">
                <a:solidFill>
                  <a:srgbClr val="1F6F8B"/>
                </a:solidFill>
                <a:latin typeface="Geist SemiBold" pitchFamily="2" charset="0"/>
                <a:ea typeface="Geist SemiBold" pitchFamily="2" charset="0"/>
                <a:cs typeface="Geist SemiBold" pitchFamily="2" charset="0"/>
              </a:rPr>
              <a:t>Appendix A5 · Trend check</a:t>
            </a:r>
            <a:endParaRPr lang="en-US" sz="1125" b="0" i="0" kern="0" dirty="0" spc="-12">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543050"/>
            <a:ext cx="685800" cy="47625"/>
          </a:xfrm>
          <a:prstGeom prst="roundRect">
            <a:avLst>
              <a:gd name="adj" fmla="val 20000"/>
            </a:avLst>
          </a:prstGeom>
          <a:solidFill>
            <a:srgbClr val="B4400B"/>
          </a:solidFill>
          <a:ln>
            <a:noFill/>
          </a:ln>
        </p:spPr>
        <p:txBody>
          <a:bodyPr rtlCol="0" anchor="ctr"/>
          <a:lstStyle/>
          <a:p>
            <a:pPr algn="ctr"/>
          </a:p>
        </p:txBody>
      </p:sp>
      <p:graphicFrame>
        <p:nvGraphicFramePr>
          <p:cNvPr id="5" name="Table"/>
          <p:cNvGraphicFramePr>
            <a:graphicFrameLocks noGrp="1"/>
          </p:cNvGraphicFramePr>
          <p:nvPr/>
        </p:nvGraphicFramePr>
        <p:xfrm>
          <a:off x="609600" y="1885950"/>
          <a:ext cx="10896599" cy="2571750"/>
        </p:xfrm>
        <a:graphic>
          <a:graphicData uri="http://schemas.openxmlformats.org/drawingml/2006/table">
            <a:tbl>
              <a:tblPr firstRow="0" bandRow="0" firstCol="0" lastRow="0" lastCol="0" bandCol="0">
                <a:tableStyleId>{2D5ABB26-0587-4C30-8999-92F81FD0307C}</a:tableStyleId>
              </a:tblPr>
              <a:tblGrid>
                <a:gridCol w="2095500"/>
                <a:gridCol w="2013942"/>
                <a:gridCol w="2047577"/>
                <a:gridCol w="2072580"/>
                <a:gridCol w="2667000"/>
              </a:tblGrid>
              <a:tr h="514350">
                <a:tc>
                  <a:txBody>
                    <a:bodyPr/>
                    <a:lstStyle/>
                    <a:p>
                      <a:pPr algn="l" marL="0" indent="0">
                        <a:lnSpc>
                          <a:spcPts val="1800"/>
                        </a:lnSpc>
                        <a:spcBef>
                          <a:spcPts val="0"/>
                        </a:spcBef>
                        <a:spcAft>
                          <a:spcPts val="0"/>
                        </a:spcAft>
                        <a:buNone/>
                      </a:pPr>
                      <a:r>
                        <a:rPr lang="en-US" sz="1275" b="0" i="0" kern="0" dirty="0" spc="-30">
                          <a:solidFill>
                            <a:srgbClr val="16213E"/>
                          </a:solidFill>
                          <a:latin typeface="Geist SemiBold" pitchFamily="2" charset="0"/>
                          <a:ea typeface="Geist SemiBold" pitchFamily="2" charset="0"/>
                          <a:cs typeface="Geist SemiBold" pitchFamily="2" charset="0"/>
                        </a:rPr>
                        <a:t>Prompt</a:t>
                      </a:r>
                      <a:endParaRPr lang="en-US" sz="1275" b="0" i="0" kern="0" dirty="0" spc="-30">
                        <a:solidFill>
                          <a:srgbClr val="16213E"/>
                        </a:solidFill>
                        <a:latin typeface="Geist SemiBold" pitchFamily="2" charset="0"/>
                        <a:ea typeface="Geist SemiBold" pitchFamily="2" charset="0"/>
                        <a:cs typeface="Geist SemiBold" pitchFamily="2" charset="0"/>
                      </a:endParaRPr>
                    </a:p>
                  </a:txBody>
                  <a:tcPr marL="114300" marR="114300" marT="0" marB="6096"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12">
                          <a:solidFill>
                            <a:srgbClr val="16213E"/>
                          </a:solidFill>
                          <a:latin typeface="Geist SemiBold" pitchFamily="2" charset="0"/>
                          <a:ea typeface="Geist SemiBold" pitchFamily="2" charset="0"/>
                          <a:cs typeface="Geist SemiBold" pitchFamily="2" charset="0"/>
                        </a:rPr>
                        <a:t>Claude</a:t>
                      </a:r>
                      <a:endParaRPr lang="en-US" sz="1275" b="0" i="0" kern="0" dirty="0" spc="-12">
                        <a:solidFill>
                          <a:srgbClr val="16213E"/>
                        </a:solidFill>
                        <a:latin typeface="Geist SemiBold" pitchFamily="2" charset="0"/>
                        <a:ea typeface="Geist SemiBold" pitchFamily="2" charset="0"/>
                        <a:cs typeface="Geist SemiBold" pitchFamily="2" charset="0"/>
                      </a:endParaRPr>
                    </a:p>
                  </a:txBody>
                  <a:tcPr marL="114300" marR="114300" marT="0" marB="6096"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8">
                          <a:solidFill>
                            <a:srgbClr val="16213E"/>
                          </a:solidFill>
                          <a:latin typeface="Geist SemiBold" pitchFamily="2" charset="0"/>
                          <a:ea typeface="Geist SemiBold" pitchFamily="2" charset="0"/>
                          <a:cs typeface="Geist SemiBold" pitchFamily="2" charset="0"/>
                        </a:rPr>
                        <a:t>GPT</a:t>
                      </a:r>
                      <a:endParaRPr lang="en-US" sz="1275" b="0" i="0" kern="0" dirty="0" spc="-8">
                        <a:solidFill>
                          <a:srgbClr val="16213E"/>
                        </a:solidFill>
                        <a:latin typeface="Geist SemiBold" pitchFamily="2" charset="0"/>
                        <a:ea typeface="Geist SemiBold" pitchFamily="2" charset="0"/>
                        <a:cs typeface="Geist SemiBold" pitchFamily="2" charset="0"/>
                      </a:endParaRPr>
                    </a:p>
                  </a:txBody>
                  <a:tcPr marL="114300" marR="114300" marT="0" marB="6096"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0">
                          <a:solidFill>
                            <a:srgbClr val="16213E"/>
                          </a:solidFill>
                          <a:latin typeface="Geist SemiBold" pitchFamily="2" charset="0"/>
                          <a:ea typeface="Geist SemiBold" pitchFamily="2" charset="0"/>
                          <a:cs typeface="Geist SemiBold" pitchFamily="2" charset="0"/>
                        </a:rPr>
                        <a:t>Gemini</a:t>
                      </a:r>
                      <a:endParaRPr lang="en-US" sz="1275" b="0" i="0" kern="0" dirty="0" spc="0">
                        <a:solidFill>
                          <a:srgbClr val="16213E"/>
                        </a:solidFill>
                        <a:latin typeface="Geist SemiBold" pitchFamily="2" charset="0"/>
                        <a:ea typeface="Geist SemiBold" pitchFamily="2" charset="0"/>
                        <a:cs typeface="Geist SemiBold" pitchFamily="2" charset="0"/>
                      </a:endParaRPr>
                    </a:p>
                  </a:txBody>
                  <a:tcPr marL="114300" marR="114300" marT="0" marB="6096" anchor="ctr">
                    <a:lnL w="0">
                      <a:noFill/>
                    </a:lnL>
                    <a:lnR w="0">
                      <a:noFill/>
                    </a:lnR>
                    <a:lnT w="19050" cap="flat" cmpd="sng" algn="ctr">
                      <a:solidFill>
                        <a:srgbClr val="16213E"/>
                      </a:solidFill>
                      <a:prstDash val="solid"/>
                    </a:lnT>
                    <a:lnB w="9525"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26">
                          <a:solidFill>
                            <a:srgbClr val="16213E"/>
                          </a:solidFill>
                          <a:latin typeface="Geist SemiBold" pitchFamily="2" charset="0"/>
                          <a:ea typeface="Geist SemiBold" pitchFamily="2" charset="0"/>
                          <a:cs typeface="Geist SemiBold" pitchFamily="2" charset="0"/>
                        </a:rPr>
                        <a:t>Follows</a:t>
                      </a:r>
                      <a:endParaRPr lang="en-US" sz="1275" b="0" i="0" kern="0" dirty="0" spc="-26">
                        <a:solidFill>
                          <a:srgbClr val="16213E"/>
                        </a:solidFill>
                        <a:latin typeface="Geist SemiBold" pitchFamily="2" charset="0"/>
                        <a:ea typeface="Geist SemiBold" pitchFamily="2" charset="0"/>
                        <a:cs typeface="Geist SemiBold" pitchFamily="2" charset="0"/>
                      </a:endParaRPr>
                    </a:p>
                  </a:txBody>
                  <a:tcPr marL="114300" marR="114300" marT="0" marB="6096" anchor="ctr">
                    <a:lnL w="0">
                      <a:noFill/>
                    </a:lnL>
                    <a:lnR w="0">
                      <a:noFill/>
                    </a:lnR>
                    <a:lnT w="19050" cap="flat" cmpd="sng" algn="ctr">
                      <a:solidFill>
                        <a:srgbClr val="16213E"/>
                      </a:solidFill>
                      <a:prstDash val="solid"/>
                    </a:lnT>
                    <a:lnB w="9525" cap="flat" cmpd="sng" algn="ctr">
                      <a:solidFill>
                        <a:srgbClr val="16213E"/>
                      </a:solidFill>
                      <a:prstDash val="solid"/>
                    </a:lnB>
                    <a:noFill/>
                  </a:tcPr>
                </a:tc>
              </a:tr>
              <a:tr h="514350">
                <a:tc>
                  <a:txBody>
                    <a:bodyPr/>
                    <a:lstStyle/>
                    <a:p>
                      <a:pPr algn="l" marL="0" indent="0">
                        <a:lnSpc>
                          <a:spcPts val="1800"/>
                        </a:lnSpc>
                        <a:spcBef>
                          <a:spcPts val="0"/>
                        </a:spcBef>
                        <a:spcAft>
                          <a:spcPts val="0"/>
                        </a:spcAft>
                        <a:buNone/>
                      </a:pPr>
                      <a:r>
                        <a:rPr lang="en-US" sz="1275" b="0" i="0" kern="0" dirty="0" spc="-13">
                          <a:solidFill>
                            <a:srgbClr val="3D4A5C"/>
                          </a:solidFill>
                          <a:latin typeface="Geist" pitchFamily="2" charset="0"/>
                          <a:ea typeface="Geist" pitchFamily="2" charset="0"/>
                          <a:cs typeface="Geist" pitchFamily="2" charset="0"/>
                        </a:rPr>
                        <a:t>Named</a:t>
                      </a:r>
                      <a:endParaRPr lang="en-US" sz="1275" b="0" i="0" kern="0" dirty="0" spc="-13">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22">
                          <a:solidFill>
                            <a:srgbClr val="3D4A5C"/>
                          </a:solidFill>
                          <a:latin typeface="Geist" pitchFamily="2" charset="0"/>
                          <a:ea typeface="Geist" pitchFamily="2" charset="0"/>
                          <a:cs typeface="Geist" pitchFamily="2" charset="0"/>
                        </a:rPr>
                        <a:t>0.97 / 0.14</a:t>
                      </a:r>
                      <a:endParaRPr lang="en-US" sz="1275" b="0" i="0" kern="0" dirty="0" spc="-22">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7">
                          <a:solidFill>
                            <a:srgbClr val="3D4A5C"/>
                          </a:solidFill>
                          <a:latin typeface="Geist" pitchFamily="2" charset="0"/>
                          <a:ea typeface="Geist" pitchFamily="2" charset="0"/>
                          <a:cs typeface="Geist" pitchFamily="2" charset="0"/>
                        </a:rPr>
                        <a:t>0.91 / 0.16</a:t>
                      </a:r>
                      <a:endParaRPr lang="en-US" sz="1275" b="0" i="0" kern="0" dirty="0" spc="-17">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3">
                          <a:solidFill>
                            <a:srgbClr val="3D4A5C"/>
                          </a:solidFill>
                          <a:latin typeface="Geist" pitchFamily="2" charset="0"/>
                          <a:ea typeface="Geist" pitchFamily="2" charset="0"/>
                          <a:cs typeface="Geist" pitchFamily="2" charset="0"/>
                        </a:rPr>
                        <a:t>0.90 / 0.28</a:t>
                      </a:r>
                      <a:endParaRPr lang="en-US" sz="1275" b="0" i="0" kern="0" dirty="0" spc="-3">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6">
                          <a:solidFill>
                            <a:srgbClr val="3D4A5C"/>
                          </a:solidFill>
                          <a:latin typeface="Geist" pitchFamily="2" charset="0"/>
                          <a:ea typeface="Geist" pitchFamily="2" charset="0"/>
                          <a:cs typeface="Geist" pitchFamily="2" charset="0"/>
                        </a:rPr>
                        <a:t>what happened</a:t>
                      </a:r>
                      <a:endParaRPr lang="en-US" sz="1275" b="0" i="0" kern="0" dirty="0" spc="-16">
                        <a:solidFill>
                          <a:srgbClr val="3D4A5C"/>
                        </a:solidFill>
                        <a:latin typeface="Geist" pitchFamily="2" charset="0"/>
                        <a:ea typeface="Geist" pitchFamily="2" charset="0"/>
                        <a:cs typeface="Geist" pitchFamily="2" charset="0"/>
                      </a:endParaRPr>
                    </a:p>
                  </a:txBody>
                  <a:tcPr marL="114300" marR="114300" marT="0" marB="4572" anchor="ctr">
                    <a:lnL w="0">
                      <a:noFill/>
                    </a:lnL>
                    <a:lnR w="0">
                      <a:noFill/>
                    </a:lnR>
                    <a:lnT w="0">
                      <a:noFill/>
                    </a:lnT>
                    <a:lnB w="9525" cap="flat" cmpd="sng" algn="ctr">
                      <a:solidFill>
                        <a:srgbClr val="D9D4CA"/>
                      </a:solidFill>
                      <a:prstDash val="solid"/>
                    </a:lnB>
                    <a:noFill/>
                  </a:tcPr>
                </a:tc>
              </a:tr>
              <a:tr h="514350">
                <a:tc>
                  <a:txBody>
                    <a:bodyPr/>
                    <a:lstStyle/>
                    <a:p>
                      <a:pPr algn="l" marL="0" indent="0">
                        <a:lnSpc>
                          <a:spcPts val="1800"/>
                        </a:lnSpc>
                        <a:spcBef>
                          <a:spcPts val="0"/>
                        </a:spcBef>
                        <a:spcAft>
                          <a:spcPts val="0"/>
                        </a:spcAft>
                        <a:buNone/>
                      </a:pPr>
                      <a:r>
                        <a:rPr lang="en-US" sz="1275" b="0" i="0" kern="0" dirty="0" spc="-9">
                          <a:solidFill>
                            <a:srgbClr val="3D4A5C"/>
                          </a:solidFill>
                          <a:latin typeface="Geist" pitchFamily="2" charset="0"/>
                          <a:ea typeface="Geist" pitchFamily="2" charset="0"/>
                          <a:cs typeface="Geist" pitchFamily="2" charset="0"/>
                        </a:rPr>
                        <a:t>Blind</a:t>
                      </a:r>
                      <a:endParaRPr lang="en-US" sz="1275" b="0" i="0" kern="0" dirty="0" spc="-9">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5">
                          <a:solidFill>
                            <a:srgbClr val="3D4A5C"/>
                          </a:solidFill>
                          <a:latin typeface="Geist" pitchFamily="2" charset="0"/>
                          <a:ea typeface="Geist" pitchFamily="2" charset="0"/>
                          <a:cs typeface="Geist" pitchFamily="2" charset="0"/>
                        </a:rPr>
                        <a:t>0.89 / 0.19</a:t>
                      </a:r>
                      <a:endParaRPr lang="en-US" sz="1275" b="0" i="0" kern="0" dirty="0" spc="-15">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8">
                          <a:solidFill>
                            <a:srgbClr val="3D4A5C"/>
                          </a:solidFill>
                          <a:latin typeface="Geist" pitchFamily="2" charset="0"/>
                          <a:ea typeface="Geist" pitchFamily="2" charset="0"/>
                          <a:cs typeface="Geist" pitchFamily="2" charset="0"/>
                        </a:rPr>
                        <a:t>0.94 / 0.23</a:t>
                      </a:r>
                      <a:endParaRPr lang="en-US" sz="1275" b="0" i="0" kern="0" dirty="0" spc="-8">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7">
                          <a:solidFill>
                            <a:srgbClr val="3D4A5C"/>
                          </a:solidFill>
                          <a:latin typeface="Geist" pitchFamily="2" charset="0"/>
                          <a:ea typeface="Geist" pitchFamily="2" charset="0"/>
                          <a:cs typeface="Geist" pitchFamily="2" charset="0"/>
                        </a:rPr>
                        <a:t>0.83 / 0.15</a:t>
                      </a:r>
                      <a:endParaRPr lang="en-US" sz="1275" b="0" i="0" kern="0" dirty="0" spc="-17">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6">
                          <a:solidFill>
                            <a:srgbClr val="3D4A5C"/>
                          </a:solidFill>
                          <a:latin typeface="Geist" pitchFamily="2" charset="0"/>
                          <a:ea typeface="Geist" pitchFamily="2" charset="0"/>
                          <a:cs typeface="Geist" pitchFamily="2" charset="0"/>
                        </a:rPr>
                        <a:t>what happened</a:t>
                      </a:r>
                      <a:endParaRPr lang="en-US" sz="1275" b="0" i="0" kern="0" dirty="0" spc="-16">
                        <a:solidFill>
                          <a:srgbClr val="3D4A5C"/>
                        </a:solidFill>
                        <a:latin typeface="Geist" pitchFamily="2" charset="0"/>
                        <a:ea typeface="Geist" pitchFamily="2" charset="0"/>
                        <a:cs typeface="Geist" pitchFamily="2" charset="0"/>
                      </a:endParaRPr>
                    </a:p>
                  </a:txBody>
                  <a:tcPr marL="114300" marR="114300" marT="0" marB="9144" anchor="ctr">
                    <a:lnL w="0">
                      <a:noFill/>
                    </a:lnL>
                    <a:lnR w="0">
                      <a:noFill/>
                    </a:lnR>
                    <a:lnT w="0">
                      <a:noFill/>
                    </a:lnT>
                    <a:lnB w="9525" cap="flat" cmpd="sng" algn="ctr">
                      <a:solidFill>
                        <a:srgbClr val="D9D4CA"/>
                      </a:solidFill>
                      <a:prstDash val="solid"/>
                    </a:lnB>
                    <a:noFill/>
                  </a:tcPr>
                </a:tc>
              </a:tr>
              <a:tr h="514350">
                <a:tc>
                  <a:txBody>
                    <a:bodyPr/>
                    <a:lstStyle/>
                    <a:p>
                      <a:pPr algn="l" marL="0" indent="0">
                        <a:lnSpc>
                          <a:spcPts val="1800"/>
                        </a:lnSpc>
                        <a:spcBef>
                          <a:spcPts val="0"/>
                        </a:spcBef>
                        <a:spcAft>
                          <a:spcPts val="0"/>
                        </a:spcAft>
                        <a:buNone/>
                      </a:pPr>
                      <a:r>
                        <a:rPr lang="en-US" sz="1275" b="0" i="0" kern="0" dirty="0" spc="-22">
                          <a:solidFill>
                            <a:srgbClr val="3D4A5C"/>
                          </a:solidFill>
                          <a:latin typeface="Geist" pitchFamily="2" charset="0"/>
                          <a:ea typeface="Geist" pitchFamily="2" charset="0"/>
                          <a:cs typeface="Geist" pitchFamily="2" charset="0"/>
                        </a:rPr>
                        <a:t>Masked</a:t>
                      </a:r>
                      <a:endParaRPr lang="en-US" sz="1275" b="0" i="0" kern="0" dirty="0" spc="-22">
                        <a:solidFill>
                          <a:srgbClr val="3D4A5C"/>
                        </a:solidFill>
                        <a:latin typeface="Geist" pitchFamily="2" charset="0"/>
                        <a:ea typeface="Geist" pitchFamily="2" charset="0"/>
                        <a:cs typeface="Geist" pitchFamily="2" charset="0"/>
                      </a:endParaRPr>
                    </a:p>
                  </a:txBody>
                  <a:tcPr marL="114300" marR="114300" marT="0" marB="7620"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6">
                          <a:solidFill>
                            <a:srgbClr val="3D4A5C"/>
                          </a:solidFill>
                          <a:latin typeface="Geist" pitchFamily="2" charset="0"/>
                          <a:ea typeface="Geist" pitchFamily="2" charset="0"/>
                          <a:cs typeface="Geist" pitchFamily="2" charset="0"/>
                        </a:rPr>
                        <a:t>0.21 / 0.83</a:t>
                      </a:r>
                      <a:endParaRPr lang="en-US" sz="1275" b="0" i="0" kern="0" dirty="0" spc="-6">
                        <a:solidFill>
                          <a:srgbClr val="3D4A5C"/>
                        </a:solidFill>
                        <a:latin typeface="Geist" pitchFamily="2" charset="0"/>
                        <a:ea typeface="Geist" pitchFamily="2" charset="0"/>
                        <a:cs typeface="Geist" pitchFamily="2" charset="0"/>
                      </a:endParaRPr>
                    </a:p>
                  </a:txBody>
                  <a:tcPr marL="114300" marR="114300" marT="0" marB="7620"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7">
                          <a:solidFill>
                            <a:srgbClr val="3D4A5C"/>
                          </a:solidFill>
                          <a:latin typeface="Geist" pitchFamily="2" charset="0"/>
                          <a:ea typeface="Geist" pitchFamily="2" charset="0"/>
                          <a:cs typeface="Geist" pitchFamily="2" charset="0"/>
                        </a:rPr>
                        <a:t>0.26 / 0.87</a:t>
                      </a:r>
                      <a:endParaRPr lang="en-US" sz="1275" b="0" i="0" kern="0" dirty="0" spc="-7">
                        <a:solidFill>
                          <a:srgbClr val="3D4A5C"/>
                        </a:solidFill>
                        <a:latin typeface="Geist" pitchFamily="2" charset="0"/>
                        <a:ea typeface="Geist" pitchFamily="2" charset="0"/>
                        <a:cs typeface="Geist" pitchFamily="2" charset="0"/>
                      </a:endParaRPr>
                    </a:p>
                  </a:txBody>
                  <a:tcPr marL="114300" marR="114300" marT="0" marB="7620"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16">
                          <a:solidFill>
                            <a:srgbClr val="3D4A5C"/>
                          </a:solidFill>
                          <a:latin typeface="Geist" pitchFamily="2" charset="0"/>
                          <a:ea typeface="Geist" pitchFamily="2" charset="0"/>
                          <a:cs typeface="Geist" pitchFamily="2" charset="0"/>
                        </a:rPr>
                        <a:t>0.15 / 0.49</a:t>
                      </a:r>
                      <a:endParaRPr lang="en-US" sz="1275" b="0" i="0" kern="0" dirty="0" spc="-16">
                        <a:solidFill>
                          <a:srgbClr val="3D4A5C"/>
                        </a:solidFill>
                        <a:latin typeface="Geist" pitchFamily="2" charset="0"/>
                        <a:ea typeface="Geist" pitchFamily="2" charset="0"/>
                        <a:cs typeface="Geist" pitchFamily="2" charset="0"/>
                      </a:endParaRPr>
                    </a:p>
                  </a:txBody>
                  <a:tcPr marL="114300" marR="114300" marT="0" marB="7620" anchor="ctr">
                    <a:lnL w="0">
                      <a:noFill/>
                    </a:lnL>
                    <a:lnR w="0">
                      <a:noFill/>
                    </a:lnR>
                    <a:lnT w="0">
                      <a:noFill/>
                    </a:lnT>
                    <a:lnB w="9525" cap="flat" cmpd="sng" algn="ctr">
                      <a:solidFill>
                        <a:srgbClr val="D9D4CA"/>
                      </a:solidFill>
                      <a:prstDash val="solid"/>
                    </a:lnB>
                    <a:noFill/>
                  </a:tcPr>
                </a:tc>
                <a:tc>
                  <a:txBody>
                    <a:bodyPr/>
                    <a:lstStyle/>
                    <a:p>
                      <a:pPr algn="l" marL="0" indent="0">
                        <a:lnSpc>
                          <a:spcPts val="1800"/>
                        </a:lnSpc>
                        <a:spcBef>
                          <a:spcPts val="0"/>
                        </a:spcBef>
                        <a:spcAft>
                          <a:spcPts val="0"/>
                        </a:spcAft>
                        <a:buNone/>
                      </a:pPr>
                      <a:r>
                        <a:rPr lang="en-US" sz="1275" b="0" i="0" kern="0" dirty="0" spc="-21">
                          <a:solidFill>
                            <a:srgbClr val="3D4A5C"/>
                          </a:solidFill>
                          <a:latin typeface="Geist" pitchFamily="2" charset="0"/>
                          <a:ea typeface="Geist" pitchFamily="2" charset="0"/>
                          <a:cs typeface="Geist" pitchFamily="2" charset="0"/>
                        </a:rPr>
                        <a:t>recent trend</a:t>
                      </a:r>
                      <a:endParaRPr lang="en-US" sz="1275" b="0" i="0" kern="0" dirty="0" spc="-21">
                        <a:solidFill>
                          <a:srgbClr val="3D4A5C"/>
                        </a:solidFill>
                        <a:latin typeface="Geist" pitchFamily="2" charset="0"/>
                        <a:ea typeface="Geist" pitchFamily="2" charset="0"/>
                        <a:cs typeface="Geist" pitchFamily="2" charset="0"/>
                      </a:endParaRPr>
                    </a:p>
                  </a:txBody>
                  <a:tcPr marL="114300" marR="114300" marT="0" marB="7620" anchor="ctr">
                    <a:lnL w="0">
                      <a:noFill/>
                    </a:lnL>
                    <a:lnR w="0">
                      <a:noFill/>
                    </a:lnR>
                    <a:lnT w="0">
                      <a:noFill/>
                    </a:lnT>
                    <a:lnB w="9525" cap="flat" cmpd="sng" algn="ctr">
                      <a:solidFill>
                        <a:srgbClr val="D9D4CA"/>
                      </a:solidFill>
                      <a:prstDash val="solid"/>
                    </a:lnB>
                    <a:noFill/>
                  </a:tcPr>
                </a:tc>
              </a:tr>
              <a:tr h="514350">
                <a:tc>
                  <a:txBody>
                    <a:bodyPr/>
                    <a:lstStyle/>
                    <a:p>
                      <a:pPr algn="l" marL="0" indent="0">
                        <a:lnSpc>
                          <a:spcPts val="1800"/>
                        </a:lnSpc>
                        <a:spcBef>
                          <a:spcPts val="0"/>
                        </a:spcBef>
                        <a:spcAft>
                          <a:spcPts val="0"/>
                        </a:spcAft>
                        <a:buNone/>
                      </a:pPr>
                      <a:r>
                        <a:rPr lang="en-US" sz="1275" b="0" i="0" kern="0" dirty="0" spc="-17">
                          <a:solidFill>
                            <a:srgbClr val="3D4A5C"/>
                          </a:solidFill>
                          <a:latin typeface="Geist" pitchFamily="2" charset="0"/>
                          <a:ea typeface="Geist" pitchFamily="2" charset="0"/>
                          <a:cs typeface="Geist" pitchFamily="2" charset="0"/>
                        </a:rPr>
                        <a:t>ARIMAX</a:t>
                      </a:r>
                      <a:endParaRPr lang="en-US" sz="1275" b="0" i="0" kern="0" dirty="0" spc="-17">
                        <a:solidFill>
                          <a:srgbClr val="3D4A5C"/>
                        </a:solidFill>
                        <a:latin typeface="Geist" pitchFamily="2" charset="0"/>
                        <a:ea typeface="Geist" pitchFamily="2" charset="0"/>
                        <a:cs typeface="Geist" pitchFamily="2" charset="0"/>
                      </a:endParaRPr>
                    </a:p>
                  </a:txBody>
                  <a:tcPr marL="114300" marR="114300" marT="0" marB="6096" anchor="ctr">
                    <a:lnL w="0">
                      <a:noFill/>
                    </a:lnL>
                    <a:lnR w="0">
                      <a:noFill/>
                    </a:lnR>
                    <a:lnT w="0">
                      <a:noFill/>
                    </a:lnT>
                    <a:lnB w="19050"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7">
                          <a:solidFill>
                            <a:srgbClr val="3D4A5C"/>
                          </a:solidFill>
                          <a:latin typeface="Geist" pitchFamily="2" charset="0"/>
                          <a:ea typeface="Geist" pitchFamily="2" charset="0"/>
                          <a:cs typeface="Geist" pitchFamily="2" charset="0"/>
                        </a:rPr>
                        <a:t>0.37 / 0.66</a:t>
                      </a:r>
                      <a:endParaRPr lang="en-US" sz="1275" b="0" i="0" kern="0" dirty="0" spc="-7">
                        <a:solidFill>
                          <a:srgbClr val="3D4A5C"/>
                        </a:solidFill>
                        <a:latin typeface="Geist" pitchFamily="2" charset="0"/>
                        <a:ea typeface="Geist" pitchFamily="2" charset="0"/>
                        <a:cs typeface="Geist" pitchFamily="2" charset="0"/>
                      </a:endParaRPr>
                    </a:p>
                  </a:txBody>
                  <a:tcPr marL="114300" marR="114300" marT="0" marB="6096" anchor="ctr">
                    <a:lnL w="0">
                      <a:noFill/>
                    </a:lnL>
                    <a:lnR w="0">
                      <a:noFill/>
                    </a:lnR>
                    <a:lnT w="0">
                      <a:noFill/>
                    </a:lnT>
                    <a:lnB w="19050" cap="flat" cmpd="sng" algn="ctr">
                      <a:solidFill>
                        <a:srgbClr val="16213E"/>
                      </a:solidFill>
                      <a:prstDash val="solid"/>
                    </a:lnB>
                    <a:noFill/>
                  </a:tcPr>
                </a:tc>
                <a:tc>
                  <a:txBody>
                    <a:bodyPr/>
                    <a:lstStyle/>
                    <a:p>
                      <a:pPr algn="l" marL="0" indent="0">
                        <a:lnSpc>
                          <a:spcPts val="1800"/>
                        </a:lnSpc>
                        <a:spcBef>
                          <a:spcPts val="0"/>
                        </a:spcBef>
                        <a:spcAft>
                          <a:spcPts val="0"/>
                        </a:spcAft>
                        <a:buNone/>
                      </a:pPr>
                      <a:endParaRPr/>
                    </a:p>
                  </a:txBody>
                  <a:tcPr marL="114300" marR="114300" marT="0" marB="0" anchor="ctr">
                    <a:lnL w="0">
                      <a:noFill/>
                    </a:lnL>
                    <a:lnR w="0">
                      <a:noFill/>
                    </a:lnR>
                    <a:lnT w="0">
                      <a:noFill/>
                    </a:lnT>
                    <a:lnB w="19050" cap="flat" cmpd="sng" algn="ctr">
                      <a:solidFill>
                        <a:srgbClr val="16213E"/>
                      </a:solidFill>
                      <a:prstDash val="solid"/>
                    </a:lnB>
                    <a:noFill/>
                  </a:tcPr>
                </a:tc>
                <a:tc>
                  <a:txBody>
                    <a:bodyPr/>
                    <a:lstStyle/>
                    <a:p>
                      <a:pPr algn="l" marL="0" indent="0">
                        <a:lnSpc>
                          <a:spcPts val="1800"/>
                        </a:lnSpc>
                        <a:spcBef>
                          <a:spcPts val="0"/>
                        </a:spcBef>
                        <a:spcAft>
                          <a:spcPts val="0"/>
                        </a:spcAft>
                        <a:buNone/>
                      </a:pPr>
                      <a:endParaRPr/>
                    </a:p>
                  </a:txBody>
                  <a:tcPr marL="114300" marR="114300" marT="0" marB="0" anchor="ctr">
                    <a:lnL w="0">
                      <a:noFill/>
                    </a:lnL>
                    <a:lnR w="0">
                      <a:noFill/>
                    </a:lnR>
                    <a:lnT w="0">
                      <a:noFill/>
                    </a:lnT>
                    <a:lnB w="19050" cap="flat" cmpd="sng" algn="ctr">
                      <a:solidFill>
                        <a:srgbClr val="16213E"/>
                      </a:solidFill>
                      <a:prstDash val="solid"/>
                    </a:lnB>
                    <a:noFill/>
                  </a:tcPr>
                </a:tc>
                <a:tc>
                  <a:txBody>
                    <a:bodyPr/>
                    <a:lstStyle/>
                    <a:p>
                      <a:pPr algn="l" marL="0" indent="0">
                        <a:lnSpc>
                          <a:spcPts val="1800"/>
                        </a:lnSpc>
                        <a:spcBef>
                          <a:spcPts val="0"/>
                        </a:spcBef>
                        <a:spcAft>
                          <a:spcPts val="0"/>
                        </a:spcAft>
                        <a:buNone/>
                      </a:pPr>
                      <a:r>
                        <a:rPr lang="en-US" sz="1275" b="0" i="0" kern="0" dirty="0" spc="-21">
                          <a:solidFill>
                            <a:srgbClr val="3D4A5C"/>
                          </a:solidFill>
                          <a:latin typeface="Geist" pitchFamily="2" charset="0"/>
                          <a:ea typeface="Geist" pitchFamily="2" charset="0"/>
                          <a:cs typeface="Geist" pitchFamily="2" charset="0"/>
                        </a:rPr>
                        <a:t>recent trend</a:t>
                      </a:r>
                      <a:endParaRPr lang="en-US" sz="1275" b="0" i="0" kern="0" dirty="0" spc="-21">
                        <a:solidFill>
                          <a:srgbClr val="3D4A5C"/>
                        </a:solidFill>
                        <a:latin typeface="Geist" pitchFamily="2" charset="0"/>
                        <a:ea typeface="Geist" pitchFamily="2" charset="0"/>
                        <a:cs typeface="Geist" pitchFamily="2" charset="0"/>
                      </a:endParaRPr>
                    </a:p>
                  </a:txBody>
                  <a:tcPr marL="114300" marR="114300" marT="0" marB="6096" anchor="ctr">
                    <a:lnL w="0">
                      <a:noFill/>
                    </a:lnL>
                    <a:lnR w="0">
                      <a:noFill/>
                    </a:lnR>
                    <a:lnT w="0">
                      <a:noFill/>
                    </a:lnT>
                    <a:lnB w="19050" cap="flat" cmpd="sng" algn="ctr">
                      <a:solidFill>
                        <a:srgbClr val="16213E"/>
                      </a:solidFill>
                      <a:prstDash val="solid"/>
                    </a:lnB>
                    <a:noFill/>
                  </a:tcPr>
                </a:tc>
              </a:tr>
            </a:tbl>
          </a:graphicData>
        </a:graphic>
      </p:graphicFrame>
      <p:sp>
        <p:nvSpPr>
          <p:cNvPr id="6" name="Panel"/>
          <p:cNvSpPr/>
          <p:nvPr/>
        </p:nvSpPr>
        <p:spPr>
          <a:xfrm>
            <a:off x="609600" y="4914900"/>
            <a:ext cx="10972800" cy="838200"/>
          </a:xfrm>
          <a:prstGeom prst="roundRect">
            <a:avLst>
              <a:gd name="adj" fmla="val 13636"/>
            </a:avLst>
          </a:prstGeom>
          <a:solidFill>
            <a:srgbClr val="E8EFF2"/>
          </a:solidFill>
          <a:ln>
            <a:noFill/>
          </a:ln>
        </p:spPr>
        <p:txBody>
          <a:bodyPr rtlCol="0" anchor="ctr"/>
          <a:lstStyle/>
          <a:p>
            <a:pPr algn="ctr"/>
          </a:p>
        </p:txBody>
      </p:sp>
      <p:sp>
        <p:nvSpPr>
          <p:cNvPr id="7" name="Text: Note  Each cell: correlation of the 12-m"/>
          <p:cNvSpPr txBox="1"/>
          <p:nvPr/>
        </p:nvSpPr>
        <p:spPr>
          <a:xfrm>
            <a:off x="876300" y="5078349"/>
            <a:ext cx="10439400" cy="495300"/>
          </a:xfrm>
          <a:prstGeom prst="rect">
            <a:avLst/>
          </a:prstGeom>
          <a:noFill/>
        </p:spPr>
        <p:txBody>
          <a:bodyPr wrap="square" lIns="0" tIns="0" rIns="0" bIns="0" anchor="t" rtlCol="0" vert="horz">
            <a:noAutofit/>
          </a:bodyPr>
          <a:lstStyle/>
          <a:p>
            <a:pPr algn="l" marL="0" indent="0">
              <a:lnSpc>
                <a:spcPts val="1950"/>
              </a:lnSpc>
              <a:spcBef>
                <a:spcPts val="0"/>
              </a:spcBef>
              <a:spcAft>
                <a:spcPts val="0"/>
              </a:spcAft>
              <a:buNone/>
            </a:pPr>
            <a:r>
              <a:rPr lang="en-US" sz="1350" b="0" i="0" kern="0" dirty="0" spc="-15">
                <a:solidFill>
                  <a:srgbClr val="1F6F8B"/>
                </a:solidFill>
                <a:latin typeface="Geist SemiBold" pitchFamily="2" charset="0"/>
                <a:ea typeface="Geist SemiBold" pitchFamily="2" charset="0"/>
                <a:cs typeface="Geist SemiBold" pitchFamily="2" charset="0"/>
              </a:rPr>
              <a:t>Note</a:t>
            </a:r>
            <a:r>
              <a:rPr lang="en-US" sz="1350" b="0" i="0" kern="0" dirty="0" spc="-15">
                <a:solidFill>
                  <a:srgbClr val="16213E"/>
                </a:solidFill>
                <a:latin typeface="Geist" pitchFamily="2" charset="0"/>
                <a:ea typeface="Geist" pitchFamily="2" charset="0"/>
                <a:cs typeface="Geist" pitchFamily="2" charset="0"/>
              </a:rPr>
              <a:t>  Each cell: correlation of the 12-month forecast with the actual 12-month change / with the last 3 months' growth, across </a:t>
            </a:r>
            <a:r>
              <a:rPr lang="en-US" sz="1350" b="0" i="0" kern="0" dirty="0" spc="-15">
                <a:solidFill>
                  <a:srgbClr val="16213E"/>
                </a:solidFill>
                <a:latin typeface="Geist" pitchFamily="2" charset="0"/>
                <a:ea typeface="Geist" pitchFamily="2" charset="0"/>
                <a:cs typeface="Geist" pitchFamily="2" charset="0"/>
              </a:rPr>
              <a:t>18 forecast dates.</a:t>
            </a:r>
            <a:endParaRPr lang="en-US" sz="1350" b="0" i="0" kern="0" dirty="0" spc="-15">
              <a:solidFill>
                <a:srgbClr val="16213E"/>
              </a:solidFill>
              <a:latin typeface="Geist" pitchFamily="2" charset="0"/>
              <a:ea typeface="Geist" pitchFamily="2" charset="0"/>
              <a:cs typeface="Geist" pitchFamily="2" charset="0"/>
            </a:endParaRPr>
          </a:p>
        </p:txBody>
      </p:sp>
      <p:sp>
        <p:nvSpPr>
          <p:cNvPr id="8"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9" name="Text: 15"/>
          <p:cNvSpPr txBox="1"/>
          <p:nvPr/>
        </p:nvSpPr>
        <p:spPr>
          <a:xfrm>
            <a:off x="10553710"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spc="3">
                <a:solidFill>
                  <a:srgbClr val="4F5560"/>
                </a:solidFill>
                <a:latin typeface="Geist Medium" pitchFamily="2" charset="0"/>
                <a:ea typeface="Geist Medium" pitchFamily="2" charset="0"/>
                <a:cs typeface="Geist Medium" pitchFamily="2" charset="0"/>
              </a:rPr>
              <a:t>15</a:t>
            </a:r>
            <a:endParaRPr lang="en-US" sz="900" b="0" i="0" kern="0" dirty="0" spc="3">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itle: Crime tracks price, but it didn't predic"/>
          <p:cNvSpPr>
            <a:spLocks noGrp="1"/>
          </p:cNvSpPr>
          <p:nvPr>
            <p:ph type="title"/>
          </p:nvPr>
        </p:nvSpPr>
        <p:spPr>
          <a:xfrm>
            <a:off x="685800" y="614934"/>
            <a:ext cx="10904220" cy="800100"/>
          </a:xfrm>
        </p:spPr>
        <p:txBody>
          <a:bodyPr wrap="square" lIns="0" tIns="0" rIns="0" bIns="0" anchor="t" rtlCol="0" vert="horz">
            <a:noAutofit/>
          </a:bodyPr>
          <a:lstStyle/>
          <a:p>
            <a:pPr algn="l" marL="0" indent="0">
              <a:lnSpc>
                <a:spcPts val="3150"/>
              </a:lnSpc>
              <a:spcBef>
                <a:spcPts val="0"/>
              </a:spcBef>
              <a:spcAft>
                <a:spcPts val="0"/>
              </a:spcAft>
              <a:buNone/>
            </a:pPr>
            <a:r>
              <a:rPr lang="en-US" sz="2700" b="0" i="0" kern="0" dirty="0" spc="-79">
                <a:solidFill>
                  <a:srgbClr val="16213E"/>
                </a:solidFill>
                <a:latin typeface="Outfit SemiBold" pitchFamily="2" charset="0"/>
                <a:ea typeface="Outfit SemiBold" pitchFamily="2" charset="0"/>
                <a:cs typeface="Outfit SemiBold" pitchFamily="2" charset="0"/>
              </a:rPr>
              <a:t>Crime tracks price, but it didn't predict</a:t>
            </a:r>
            <a:br>
              <a:rPr lang="en-US" sz="2700" b="0" i="0" kern="0" dirty="0" spc="-79">
                <a:solidFill>
                  <a:srgbClr val="16213E"/>
                </a:solidFill>
                <a:latin typeface="Outfit SemiBold" pitchFamily="2" charset="0"/>
                <a:ea typeface="Outfit SemiBold" pitchFamily="2" charset="0"/>
                <a:cs typeface="Outfit SemiBold" pitchFamily="2" charset="0"/>
              </a:rPr>
            </a:br>
            <a:r>
              <a:rPr lang="en-US" sz="2700" b="0" i="0" kern="0" dirty="0" spc="-79">
                <a:solidFill>
                  <a:srgbClr val="16213E"/>
                </a:solidFill>
                <a:latin typeface="Outfit SemiBold" pitchFamily="2" charset="0"/>
                <a:ea typeface="Outfit SemiBold" pitchFamily="2" charset="0"/>
                <a:cs typeface="Outfit SemiBold" pitchFamily="2" charset="0"/>
              </a:rPr>
              <a:t>the 2022 drop or today's winners</a:t>
            </a:r>
            <a:endParaRPr lang="en-US" sz="2700" b="0" i="0" kern="0" dirty="0" spc="-79">
              <a:solidFill>
                <a:srgbClr val="16213E"/>
              </a:solidFill>
              <a:latin typeface="Outfit SemiBold" pitchFamily="2" charset="0"/>
              <a:ea typeface="Outfit SemiBold" pitchFamily="2" charset="0"/>
              <a:cs typeface="Outfit SemiBold" pitchFamily="2" charset="0"/>
            </a:endParaRPr>
          </a:p>
        </p:txBody>
      </p:sp>
      <p:sp>
        <p:nvSpPr>
          <p:cNvPr id="3" name="Text: Appendix A6 · Only if asked about crime"/>
          <p:cNvSpPr txBox="1"/>
          <p:nvPr/>
        </p:nvSpPr>
        <p:spPr>
          <a:xfrm>
            <a:off x="685800" y="382905"/>
            <a:ext cx="9525000" cy="190500"/>
          </a:xfrm>
          <a:prstGeom prst="rect">
            <a:avLst/>
          </a:prstGeom>
          <a:noFill/>
        </p:spPr>
        <p:txBody>
          <a:bodyPr wrap="square" lIns="0" tIns="0" rIns="0" bIns="0" anchor="t" rtlCol="0" vert="horz">
            <a:noAutofit/>
          </a:bodyPr>
          <a:lstStyle/>
          <a:p>
            <a:pPr algn="l" marL="0" indent="0">
              <a:lnSpc>
                <a:spcPts val="1500"/>
              </a:lnSpc>
              <a:spcBef>
                <a:spcPts val="0"/>
              </a:spcBef>
              <a:spcAft>
                <a:spcPts val="0"/>
              </a:spcAft>
              <a:buNone/>
            </a:pPr>
            <a:r>
              <a:rPr lang="en-US" sz="1125" b="0" i="0" kern="0" dirty="0" spc="-11">
                <a:solidFill>
                  <a:srgbClr val="1F6F8B"/>
                </a:solidFill>
                <a:latin typeface="Geist SemiBold" pitchFamily="2" charset="0"/>
                <a:ea typeface="Geist SemiBold" pitchFamily="2" charset="0"/>
                <a:cs typeface="Geist SemiBold" pitchFamily="2" charset="0"/>
              </a:rPr>
              <a:t>Appendix A6 · Only if asked about crime</a:t>
            </a:r>
            <a:endParaRPr lang="en-US" sz="1125" b="0" i="0" kern="0" dirty="0" spc="-11">
              <a:solidFill>
                <a:srgbClr val="1F6F8B"/>
              </a:solidFill>
              <a:latin typeface="Geist SemiBold" pitchFamily="2" charset="0"/>
              <a:ea typeface="Geist SemiBold" pitchFamily="2" charset="0"/>
              <a:cs typeface="Geist SemiBold" pitchFamily="2" charset="0"/>
            </a:endParaRPr>
          </a:p>
        </p:txBody>
      </p:sp>
      <p:sp>
        <p:nvSpPr>
          <p:cNvPr id="4" name="Rule"/>
          <p:cNvSpPr/>
          <p:nvPr/>
        </p:nvSpPr>
        <p:spPr>
          <a:xfrm>
            <a:off x="685800" y="1543050"/>
            <a:ext cx="685800" cy="47625"/>
          </a:xfrm>
          <a:prstGeom prst="roundRect">
            <a:avLst>
              <a:gd name="adj" fmla="val 20000"/>
            </a:avLst>
          </a:prstGeom>
          <a:solidFill>
            <a:srgbClr val="B4400B"/>
          </a:solidFill>
          <a:ln>
            <a:noFill/>
          </a:ln>
        </p:spPr>
        <p:txBody>
          <a:bodyPr rtlCol="0" anchor="ctr"/>
          <a:lstStyle/>
          <a:p>
            <a:pPr algn="ctr"/>
          </a:p>
        </p:txBody>
      </p:sp>
      <p:sp>
        <p:nvSpPr>
          <p:cNvPr id="5" name="Plate"/>
          <p:cNvSpPr/>
          <p:nvPr/>
        </p:nvSpPr>
        <p:spPr>
          <a:xfrm>
            <a:off x="609600" y="1885950"/>
            <a:ext cx="10972800" cy="3390900"/>
          </a:xfrm>
          <a:prstGeom prst="roundRect">
            <a:avLst>
              <a:gd name="adj" fmla="val 3370"/>
            </a:avLst>
          </a:prstGeom>
          <a:solidFill>
            <a:srgbClr val="FFFFFF"/>
          </a:solidFill>
          <a:ln>
            <a:noFill/>
          </a:ln>
          <a:effectLst>
            <a:outerShdw blurRad="247650" dist="85725" dir="5400000" algn="t" rotWithShape="0">
              <a:srgbClr val="16213E">
                <a:alpha val="20000"/>
              </a:srgbClr>
            </a:outerShdw>
          </a:effectLst>
        </p:spPr>
        <p:txBody>
          <a:bodyPr rtlCol="0" anchor="ctr"/>
          <a:lstStyle/>
          <a:p>
            <a:pPr algn="ctr"/>
          </a:p>
        </p:txBody>
      </p:sp>
      <p:pic>
        <p:nvPicPr>
          <p:cNvPr id="6" name="Chart image" descr="City of LA, 91 neighborhoods: violent crime against home value (correlation -0.68), and against the 2022-23 drop (p = 0.59) and the last-12-month change (p = 0.68) versus same-price areas"/>
          <p:cNvPicPr>
            <a:picLocks noChangeAspect="1"/>
          </p:cNvPicPr>
          <p:nvPr/>
        </p:nvPicPr>
        <p:blipFill>
          <a:blip r:embed="rId2"/>
          <a:stretch>
            <a:fillRect/>
          </a:stretch>
        </p:blipFill>
        <p:spPr>
          <a:xfrm>
            <a:off x="1335438" y="2000250"/>
            <a:ext cx="9521124" cy="3162300"/>
          </a:xfrm>
          <a:prstGeom prst="rect">
            <a:avLst/>
          </a:prstGeom>
        </p:spPr>
      </p:pic>
      <p:sp>
        <p:nvSpPr>
          <p:cNvPr id="7" name="Panel"/>
          <p:cNvSpPr/>
          <p:nvPr/>
        </p:nvSpPr>
        <p:spPr>
          <a:xfrm>
            <a:off x="609600" y="5543550"/>
            <a:ext cx="10972800" cy="838200"/>
          </a:xfrm>
          <a:prstGeom prst="roundRect">
            <a:avLst>
              <a:gd name="adj" fmla="val 13636"/>
            </a:avLst>
          </a:prstGeom>
          <a:solidFill>
            <a:srgbClr val="F3ECE3"/>
          </a:solidFill>
          <a:ln>
            <a:noFill/>
          </a:ln>
        </p:spPr>
        <p:txBody>
          <a:bodyPr rtlCol="0" anchor="ctr"/>
          <a:lstStyle/>
          <a:p>
            <a:pPr algn="ctr"/>
          </a:p>
        </p:txBody>
      </p:sp>
      <p:sp>
        <p:nvSpPr>
          <p:cNvPr id="8" name="Text: Why it's in the appendix  Crime data cov"/>
          <p:cNvSpPr txBox="1"/>
          <p:nvPr/>
        </p:nvSpPr>
        <p:spPr>
          <a:xfrm>
            <a:off x="876300" y="5705094"/>
            <a:ext cx="11065764" cy="495300"/>
          </a:xfrm>
          <a:prstGeom prst="rect">
            <a:avLst/>
          </a:prstGeom>
          <a:noFill/>
        </p:spPr>
        <p:txBody>
          <a:bodyPr wrap="square" lIns="0" tIns="0" rIns="0" bIns="0" anchor="t" rtlCol="0" vert="horz">
            <a:noAutofit/>
          </a:bodyPr>
          <a:lstStyle/>
          <a:p>
            <a:pPr algn="l" marL="0" indent="0">
              <a:lnSpc>
                <a:spcPts val="1950"/>
              </a:lnSpc>
              <a:spcBef>
                <a:spcPts val="0"/>
              </a:spcBef>
              <a:spcAft>
                <a:spcPts val="0"/>
              </a:spcAft>
              <a:buNone/>
            </a:pPr>
            <a:r>
              <a:rPr lang="en-US" sz="1350" b="0" i="0" kern="0" dirty="0" spc="-13">
                <a:solidFill>
                  <a:srgbClr val="B4400B"/>
                </a:solidFill>
                <a:latin typeface="Geist SemiBold" pitchFamily="2" charset="0"/>
                <a:ea typeface="Geist SemiBold" pitchFamily="2" charset="0"/>
                <a:cs typeface="Geist SemiBold" pitchFamily="2" charset="0"/>
              </a:rPr>
              <a:t>Why it's in the appendix</a:t>
            </a:r>
            <a:r>
              <a:rPr lang="en-US" sz="1350" b="0" i="0" kern="0" dirty="0" spc="-13">
                <a:solidFill>
                  <a:srgbClr val="16213E"/>
                </a:solidFill>
                <a:latin typeface="Geist" pitchFamily="2" charset="0"/>
                <a:ea typeface="Geist" pitchFamily="2" charset="0"/>
                <a:cs typeface="Geist" pitchFamily="2" charset="0"/>
              </a:rPr>
              <a:t>  Crime data covers only the City of LA (91 of 496 neighborhoods), and it adds nothing to price prediction: at</a:t>
            </a:r>
            <a:br>
              <a:rPr lang="en-US" sz="1350" b="0" i="0" kern="0" dirty="0" spc="-13">
                <a:solidFill>
                  <a:srgbClr val="16213E"/>
                </a:solidFill>
                <a:latin typeface="Geist" pitchFamily="2" charset="0"/>
                <a:ea typeface="Geist" pitchFamily="2" charset="0"/>
                <a:cs typeface="Geist" pitchFamily="2" charset="0"/>
              </a:rPr>
            </a:br>
            <a:r>
              <a:rPr lang="en-US" sz="1350" b="0" i="0" kern="0" dirty="0" spc="-13">
                <a:solidFill>
                  <a:srgbClr val="16213E"/>
                </a:solidFill>
                <a:latin typeface="Geist" pitchFamily="2" charset="0"/>
                <a:ea typeface="Geist" pitchFamily="2" charset="0"/>
                <a:cs typeface="Geist" pitchFamily="2" charset="0"/>
              </a:rPr>
              <a:t>the same price level, p = 0.59 and 0.68. Price already carries it.</a:t>
            </a:r>
            <a:endParaRPr lang="en-US" sz="1350" b="0" i="0" kern="0" dirty="0" spc="-13">
              <a:solidFill>
                <a:srgbClr val="16213E"/>
              </a:solidFill>
              <a:latin typeface="Geist" pitchFamily="2" charset="0"/>
              <a:ea typeface="Geist" pitchFamily="2" charset="0"/>
              <a:cs typeface="Geist" pitchFamily="2" charset="0"/>
            </a:endParaRPr>
          </a:p>
        </p:txBody>
      </p:sp>
      <p:sp>
        <p:nvSpPr>
          <p:cNvPr id="9" name="Text: MGMTMSA 437 · Forecasting LA Home Values"/>
          <p:cNvSpPr txBox="1"/>
          <p:nvPr/>
        </p:nvSpPr>
        <p:spPr>
          <a:xfrm>
            <a:off x="685800" y="6496812"/>
            <a:ext cx="6667500" cy="152400"/>
          </a:xfrm>
          <a:prstGeom prst="rect">
            <a:avLst/>
          </a:prstGeom>
          <a:noFill/>
        </p:spPr>
        <p:txBody>
          <a:bodyPr wrap="square" lIns="0" tIns="0" rIns="0" bIns="0" anchor="t" rtlCol="0" vert="horz">
            <a:noAutofit/>
          </a:bodyPr>
          <a:lstStyle/>
          <a:p>
            <a:pPr algn="l" marL="0" indent="0">
              <a:lnSpc>
                <a:spcPts val="1200"/>
              </a:lnSpc>
              <a:spcBef>
                <a:spcPts val="0"/>
              </a:spcBef>
              <a:spcAft>
                <a:spcPts val="0"/>
              </a:spcAft>
              <a:buNone/>
            </a:pPr>
            <a:r>
              <a:rPr lang="en-US" sz="900" b="0" i="0" kern="0" dirty="0" spc="-7">
                <a:solidFill>
                  <a:srgbClr val="4F5560"/>
                </a:solidFill>
                <a:latin typeface="Geist" pitchFamily="2" charset="0"/>
                <a:ea typeface="Geist" pitchFamily="2" charset="0"/>
                <a:cs typeface="Geist" pitchFamily="2" charset="0"/>
              </a:rPr>
              <a:t>MGMTMSA 437 · Forecasting LA Home Values · Data: Zillow ZHVI, FRED, BLS</a:t>
            </a:r>
            <a:endParaRPr lang="en-US" sz="900" b="0" i="0" kern="0" dirty="0" spc="-7">
              <a:solidFill>
                <a:srgbClr val="4F5560"/>
              </a:solidFill>
              <a:latin typeface="Geist" pitchFamily="2" charset="0"/>
              <a:ea typeface="Geist" pitchFamily="2" charset="0"/>
              <a:cs typeface="Geist" pitchFamily="2" charset="0"/>
            </a:endParaRPr>
          </a:p>
        </p:txBody>
      </p:sp>
      <p:sp>
        <p:nvSpPr>
          <p:cNvPr id="10" name="Text: 16"/>
          <p:cNvSpPr txBox="1"/>
          <p:nvPr/>
        </p:nvSpPr>
        <p:spPr>
          <a:xfrm>
            <a:off x="10551824" y="6496812"/>
            <a:ext cx="952500" cy="152400"/>
          </a:xfrm>
          <a:prstGeom prst="rect">
            <a:avLst/>
          </a:prstGeom>
          <a:noFill/>
        </p:spPr>
        <p:txBody>
          <a:bodyPr wrap="square" lIns="0" tIns="0" rIns="0" bIns="0" anchor="t" rtlCol="0" vert="horz">
            <a:noAutofit/>
          </a:bodyPr>
          <a:lstStyle/>
          <a:p>
            <a:pPr algn="r" marL="0" indent="0">
              <a:lnSpc>
                <a:spcPts val="1200"/>
              </a:lnSpc>
              <a:spcBef>
                <a:spcPts val="0"/>
              </a:spcBef>
              <a:spcAft>
                <a:spcPts val="0"/>
              </a:spcAft>
              <a:buNone/>
            </a:pPr>
            <a:r>
              <a:rPr lang="en-US" sz="900" b="0" i="0" kern="0" dirty="0" spc="-8">
                <a:solidFill>
                  <a:srgbClr val="4F5560"/>
                </a:solidFill>
                <a:latin typeface="Geist Medium" pitchFamily="2" charset="0"/>
                <a:ea typeface="Geist Medium" pitchFamily="2" charset="0"/>
                <a:cs typeface="Geist Medium" pitchFamily="2" charset="0"/>
              </a:rPr>
              <a:t>16</a:t>
            </a:r>
            <a:endParaRPr lang="en-US" sz="900" b="0" i="0" kern="0" dirty="0" spc="-8">
              <a:solidFill>
                <a:srgbClr val="4F5560"/>
              </a:solidFill>
              <a:latin typeface="Geist Medium" pitchFamily="2" charset="0"/>
              <a:ea typeface="Geist Medium" pitchFamily="2" charset="0"/>
              <a:cs typeface="Geist Medium" pitchFamily="2" charset="0"/>
            </a:endParaRPr>
          </a:p>
        </p:txBody>
      </p:sp>
    </p:spTree>
  </p:cSld>
  <p:clrMapOvr>
    <a:masterClrMapping/>
  </p:clrMapOvr>
</p:sld>
</file>

<file path=ppt/theme/theme1.xml><?xml version="1.0" encoding="utf-8"?>
<a:theme xmlns:a="http://schemas.openxmlformats.org/drawingml/2006/main" name="Office Theme">
  <a:themeElements>
    <a:clrScheme name="LA Home Values">
      <a:dk1>
        <a:srgbClr val="000000"/>
      </a:dk1>
      <a:lt1>
        <a:srgbClr val="FFFFFF"/>
      </a:lt1>
      <a:dk2>
        <a:srgbClr val="16213E"/>
      </a:dk2>
      <a:lt2>
        <a:srgbClr val="FAF8F4"/>
      </a:lt2>
      <a:accent1>
        <a:srgbClr val="1F6F8B"/>
      </a:accent1>
      <a:accent2>
        <a:srgbClr val="B4400B"/>
      </a:accent2>
      <a:accent3>
        <a:srgbClr val="16213E"/>
      </a:accent3>
      <a:accent4>
        <a:srgbClr val="4F5560"/>
      </a:accent4>
      <a:accent5>
        <a:srgbClr val="B9BFCB"/>
      </a:accent5>
      <a:accent6>
        <a:srgbClr val="3D4A5C"/>
      </a:accent6>
      <a:hlink>
        <a:srgbClr val="1F6F8B"/>
      </a:hlink>
      <a:folHlink>
        <a:srgbClr val="16213E"/>
      </a:folHlink>
    </a:clrScheme>
    <a:fontScheme name="LA Home Values">
      <a:majorFont>
        <a:latin typeface="Outfit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is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LA Home Values</dc:title>
  <dc:subject>MGMTMSA 437 final project, with appendix</dc:subject>
  <dc:creator>Yang Liu, Jinwoo Roh, Yiu-Hon Lee, Thanapol Doungsaeng</dc:creator>
  <cp:keywords>LA home values; forecasting; ARIMAX; AI</cp:keywords>
  <dc:description>generated using python-pptx</dc:description>
  <cp:lastModifiedBy/>
  <cp:revision>1</cp:revision>
  <dcterms:created xsi:type="dcterms:W3CDTF">2013-01-27T09:14:16Z</dcterms:created>
  <dcterms:modified xsi:type="dcterms:W3CDTF">2013-01-27T09:15:58Z</dcterms:modified>
  <cp:category/>
</cp:coreProperties>
</file>